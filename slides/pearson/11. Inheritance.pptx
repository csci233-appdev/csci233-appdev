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90" r:id="rId2"/>
    <p:sldId id="257" r:id="rId3"/>
    <p:sldId id="286" r:id="rId4"/>
    <p:sldId id="287" r:id="rId5"/>
    <p:sldId id="288" r:id="rId6"/>
    <p:sldId id="289" r:id="rId7"/>
    <p:sldId id="291" r:id="rId8"/>
    <p:sldId id="292" r:id="rId9"/>
    <p:sldId id="293" r:id="rId10"/>
    <p:sldId id="294" r:id="rId11"/>
    <p:sldId id="295" r:id="rId12"/>
    <p:sldId id="296" r:id="rId13"/>
    <p:sldId id="297" r:id="rId14"/>
    <p:sldId id="28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8" userDrawn="1">
          <p15:clr>
            <a:srgbClr val="A4A3A4"/>
          </p15:clr>
        </p15:guide>
        <p15:guide id="2" pos="288" userDrawn="1">
          <p15:clr>
            <a:srgbClr val="A4A3A4"/>
          </p15:clr>
        </p15:guide>
        <p15:guide id="3" pos="547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kesh Kumar" initials="RK" lastIdx="8" clrIdx="0">
    <p:extLst>
      <p:ext uri="{19B8F6BF-5375-455C-9EA6-DF929625EA0E}">
        <p15:presenceInfo xmlns:p15="http://schemas.microsoft.com/office/powerpoint/2012/main" userId="S-1-5-21-2752970185-40930380-1894245210-52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65" autoAdjust="0"/>
    <p:restoredTop sz="86891" autoAdjust="0"/>
  </p:normalViewPr>
  <p:slideViewPr>
    <p:cSldViewPr>
      <p:cViewPr varScale="1">
        <p:scale>
          <a:sx n="74" d="100"/>
          <a:sy n="74" d="100"/>
        </p:scale>
        <p:origin x="1690" y="67"/>
      </p:cViewPr>
      <p:guideLst>
        <p:guide orient="horz" pos="1008"/>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08"/>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3/31/2024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3/31/2024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6"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11 -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1" name="TextBox 10">
            <a:extLst>
              <a:ext uri="{FF2B5EF4-FFF2-40B4-BE49-F238E27FC236}">
                <a16:creationId xmlns:a16="http://schemas.microsoft.com/office/drawing/2014/main" id="{6C5D1914-9979-4928-BEEB-4586CCB160A9}"/>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903514"/>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447800"/>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3/31/2024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3"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11 -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3/31/2024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600"/>
            </a:lvl1pPr>
            <a:lvl2pPr>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3/31/2024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8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1200">
                <a:latin typeface="Verdana" panose="020B0604030504040204" pitchFamily="34" charset="0"/>
                <a:ea typeface="Verdana" panose="020B0604030504040204" pitchFamily="34" charset="0"/>
              </a:defRPr>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3/31/2024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11 -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53FB0CCA-42FE-4F49-B329-D58EC7D36F6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24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3/31/2024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2"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8 -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0" name="TextBox 9">
            <a:extLst>
              <a:ext uri="{FF2B5EF4-FFF2-40B4-BE49-F238E27FC236}">
                <a16:creationId xmlns:a16="http://schemas.microsoft.com/office/drawing/2014/main" id="{39F0ED46-ED41-4598-BC5D-77A94B21687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3/31/2024</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3/31/2024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1210909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3154799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3/31/2024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pic>
        <p:nvPicPr>
          <p:cNvPr id="15"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9"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4" name="TextBox 13">
            <a:extLst>
              <a:ext uri="{FF2B5EF4-FFF2-40B4-BE49-F238E27FC236}">
                <a16:creationId xmlns:a16="http://schemas.microsoft.com/office/drawing/2014/main" id="{97929C19-A940-4FDA-BB74-83E573C05348}"/>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3/31/2024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a:t>Click to edit Master title style</a:t>
            </a:r>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1210909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3288" y="1447800"/>
            <a:ext cx="3966312"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3288" y="2271712"/>
            <a:ext cx="3966312"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2400"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3/31/2024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1250598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3/31/2024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
        <p:nvSpPr>
          <p:cNvPr id="10" name="Content Placeholder 3"/>
          <p:cNvSpPr>
            <a:spLocks noGrp="1"/>
          </p:cNvSpPr>
          <p:nvPr>
            <p:ph sz="half" idx="13"/>
          </p:nvPr>
        </p:nvSpPr>
        <p:spPr>
          <a:xfrm>
            <a:off x="458730" y="4044721"/>
            <a:ext cx="396240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732563" y="4055609"/>
            <a:ext cx="3965124"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5103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Content Placeholder 2"/>
          <p:cNvSpPr>
            <a:spLocks noGrp="1"/>
          </p:cNvSpPr>
          <p:nvPr>
            <p:ph idx="13"/>
          </p:nvPr>
        </p:nvSpPr>
        <p:spPr>
          <a:xfrm>
            <a:off x="457200" y="2756648"/>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Content Placeholder 2"/>
          <p:cNvSpPr>
            <a:spLocks noGrp="1"/>
          </p:cNvSpPr>
          <p:nvPr>
            <p:ph idx="14"/>
          </p:nvPr>
        </p:nvSpPr>
        <p:spPr>
          <a:xfrm>
            <a:off x="457200" y="3886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3" name="Content Placeholder 2"/>
          <p:cNvSpPr>
            <a:spLocks noGrp="1"/>
          </p:cNvSpPr>
          <p:nvPr>
            <p:ph idx="15"/>
          </p:nvPr>
        </p:nvSpPr>
        <p:spPr>
          <a:xfrm>
            <a:off x="457200" y="5029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3/31/2024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Tree>
    <p:extLst>
      <p:ext uri="{BB962C8B-B14F-4D97-AF65-F5344CB8AC3E}">
        <p14:creationId xmlns:p14="http://schemas.microsoft.com/office/powerpoint/2010/main" val="203938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3/31/2024</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9" name="Shape 15" descr="Pearson Logo"/>
          <p:cNvPicPr preferRelativeResize="0"/>
          <p:nvPr userDrawn="1"/>
        </p:nvPicPr>
        <p:blipFill rotWithShape="1">
          <a:blip r:embed="rId20" cstate="print">
            <a:alphaModFix/>
          </a:blip>
          <a:srcRect/>
          <a:stretch/>
        </p:blipFill>
        <p:spPr>
          <a:xfrm>
            <a:off x="443972" y="6429709"/>
            <a:ext cx="917999" cy="279914"/>
          </a:xfrm>
          <a:prstGeom prst="rect">
            <a:avLst/>
          </a:prstGeom>
          <a:noFill/>
          <a:ln>
            <a:noFill/>
          </a:ln>
        </p:spPr>
      </p:pic>
      <p:sp>
        <p:nvSpPr>
          <p:cNvPr id="10"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11 -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06B42598-E17E-4AFA-A2E8-BF865C3E5BD4}"/>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2" r:id="rId11"/>
    <p:sldLayoutId id="2147483663" r:id="rId12"/>
    <p:sldLayoutId id="2147483664" r:id="rId13"/>
    <p:sldLayoutId id="2147483665" r:id="rId14"/>
    <p:sldLayoutId id="2147483668" r:id="rId15"/>
    <p:sldLayoutId id="2147483669" r:id="rId16"/>
    <p:sldLayoutId id="2147483670" r:id="rId17"/>
    <p:sldLayoutId id="2147483671" r:id="rId18"/>
  </p:sldLayoutIdLst>
  <p:txStyles>
    <p:title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descr="Assembly Language for x86 Processors, "/>
          <p:cNvSpPr>
            <a:spLocks noGrp="1"/>
          </p:cNvSpPr>
          <p:nvPr>
            <p:ph type="title"/>
          </p:nvPr>
        </p:nvSpPr>
        <p:spPr>
          <a:xfrm>
            <a:off x="457200" y="215372"/>
            <a:ext cx="8458200" cy="623817"/>
          </a:xfrm>
        </p:spPr>
        <p:txBody>
          <a:bodyPr/>
          <a:lstStyle/>
          <a:p>
            <a:r>
              <a:rPr lang="en-US" dirty="0"/>
              <a:t>Starting out with Python</a:t>
            </a:r>
            <a:endParaRPr lang="en-AU" dirty="0"/>
          </a:p>
        </p:txBody>
      </p:sp>
      <p:sp>
        <p:nvSpPr>
          <p:cNvPr id="8" name="Text Placeholder 7"/>
          <p:cNvSpPr>
            <a:spLocks noGrp="1"/>
          </p:cNvSpPr>
          <p:nvPr>
            <p:ph type="body" sz="quarter" idx="13"/>
          </p:nvPr>
        </p:nvSpPr>
        <p:spPr>
          <a:xfrm>
            <a:off x="457200" y="966930"/>
            <a:ext cx="8229600" cy="381000"/>
          </a:xfrm>
        </p:spPr>
        <p:txBody>
          <a:bodyPr/>
          <a:lstStyle/>
          <a:p>
            <a:r>
              <a:rPr lang="en-US" dirty="0"/>
              <a:t>Fifth Edition</a:t>
            </a:r>
          </a:p>
        </p:txBody>
      </p:sp>
      <p:sp>
        <p:nvSpPr>
          <p:cNvPr id="9" name="Text Placeholder 8"/>
          <p:cNvSpPr>
            <a:spLocks noGrp="1"/>
          </p:cNvSpPr>
          <p:nvPr>
            <p:ph type="body" sz="quarter" idx="14"/>
          </p:nvPr>
        </p:nvSpPr>
        <p:spPr/>
        <p:txBody>
          <a:bodyPr/>
          <a:lstStyle/>
          <a:p>
            <a:r>
              <a:rPr lang="en-US" dirty="0"/>
              <a:t>Chapter 11</a:t>
            </a:r>
          </a:p>
        </p:txBody>
      </p:sp>
      <p:sp>
        <p:nvSpPr>
          <p:cNvPr id="10" name="Text Placeholder 9"/>
          <p:cNvSpPr>
            <a:spLocks noGrp="1"/>
          </p:cNvSpPr>
          <p:nvPr>
            <p:ph type="body" sz="quarter" idx="15"/>
          </p:nvPr>
        </p:nvSpPr>
        <p:spPr/>
        <p:txBody>
          <a:bodyPr/>
          <a:lstStyle/>
          <a:p>
            <a:r>
              <a:rPr lang="en-US" altLang="en-US" dirty="0"/>
              <a:t>Inheritance</a:t>
            </a:r>
          </a:p>
        </p:txBody>
      </p:sp>
      <p:sp>
        <p:nvSpPr>
          <p:cNvPr id="14" name="TextBox 13"/>
          <p:cNvSpPr txBox="1"/>
          <p:nvPr/>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descr="Starting out with Python, Fifth edition by Tony Gaddis">
            <a:extLst>
              <a:ext uri="{FF2B5EF4-FFF2-40B4-BE49-F238E27FC236}">
                <a16:creationId xmlns:a16="http://schemas.microsoft.com/office/drawing/2014/main" id="{19AE27C4-80A6-459C-AA51-2752EA991FD3}"/>
              </a:ext>
            </a:extLst>
          </p:cNvPr>
          <p:cNvPicPr>
            <a:picLocks noChangeAspect="1"/>
          </p:cNvPicPr>
          <p:nvPr/>
        </p:nvPicPr>
        <p:blipFill>
          <a:blip r:embed="rId2"/>
          <a:stretch>
            <a:fillRect/>
          </a:stretch>
        </p:blipFill>
        <p:spPr>
          <a:xfrm>
            <a:off x="421783" y="1347930"/>
            <a:ext cx="3813120" cy="4954303"/>
          </a:xfrm>
          <a:prstGeom prst="rect">
            <a:avLst/>
          </a:prstGeom>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42221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2FCD8E3C-DA44-489D-BF88-1EEE26A091C8}"/>
              </a:ext>
            </a:extLst>
          </p:cNvPr>
          <p:cNvSpPr>
            <a:spLocks noGrp="1" noChangeArrowheads="1"/>
          </p:cNvSpPr>
          <p:nvPr>
            <p:ph type="title"/>
          </p:nvPr>
        </p:nvSpPr>
        <p:spPr/>
        <p:txBody>
          <a:bodyPr/>
          <a:lstStyle/>
          <a:p>
            <a:pPr eaLnBrk="1" hangingPunct="1"/>
            <a:r>
              <a:rPr lang="en-US" altLang="en-US" dirty="0"/>
              <a:t>Topics</a:t>
            </a:r>
            <a:endParaRPr lang="he-IL" altLang="en-US" dirty="0"/>
          </a:p>
        </p:txBody>
      </p:sp>
      <p:sp>
        <p:nvSpPr>
          <p:cNvPr id="4099" name="Content Placeholder 2">
            <a:extLst>
              <a:ext uri="{FF2B5EF4-FFF2-40B4-BE49-F238E27FC236}">
                <a16:creationId xmlns:a16="http://schemas.microsoft.com/office/drawing/2014/main" id="{9215FB95-E57B-43D1-8A54-C593B8B59DE6}"/>
              </a:ext>
            </a:extLst>
          </p:cNvPr>
          <p:cNvSpPr>
            <a:spLocks noGrp="1" noChangeArrowheads="1"/>
          </p:cNvSpPr>
          <p:nvPr>
            <p:ph idx="1"/>
          </p:nvPr>
        </p:nvSpPr>
        <p:spPr/>
        <p:txBody>
          <a:bodyPr/>
          <a:lstStyle/>
          <a:p>
            <a:pPr>
              <a:buFontTx/>
              <a:buChar char="•"/>
            </a:pPr>
            <a:r>
              <a:rPr lang="en-US" altLang="en-US" dirty="0"/>
              <a:t>Introduction to Inheritance</a:t>
            </a:r>
          </a:p>
          <a:p>
            <a:pPr>
              <a:buFontTx/>
              <a:buChar char="•"/>
            </a:pPr>
            <a:r>
              <a:rPr lang="en-US" altLang="en-US" dirty="0"/>
              <a:t>Polymorphism</a:t>
            </a:r>
            <a:endParaRPr lang="he-IL"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5370893C-81D3-4E4E-B9DB-546C3209D920}"/>
              </a:ext>
            </a:extLst>
          </p:cNvPr>
          <p:cNvSpPr>
            <a:spLocks noGrp="1" noChangeArrowheads="1"/>
          </p:cNvSpPr>
          <p:nvPr>
            <p:ph type="title"/>
          </p:nvPr>
        </p:nvSpPr>
        <p:spPr/>
        <p:txBody>
          <a:bodyPr/>
          <a:lstStyle/>
          <a:p>
            <a:r>
              <a:rPr lang="en-US" altLang="en-US" dirty="0"/>
              <a:t>Introduction to Inheritance</a:t>
            </a:r>
            <a:r>
              <a:rPr lang="en-US" altLang="en-US" sz="2000" b="0" dirty="0"/>
              <a:t> (1 of 2)</a:t>
            </a:r>
          </a:p>
        </p:txBody>
      </p:sp>
      <p:sp>
        <p:nvSpPr>
          <p:cNvPr id="5123" name="Content Placeholder 2">
            <a:extLst>
              <a:ext uri="{FF2B5EF4-FFF2-40B4-BE49-F238E27FC236}">
                <a16:creationId xmlns:a16="http://schemas.microsoft.com/office/drawing/2014/main" id="{51360CA5-CF2E-4E0C-A7E3-3C1A3DE0264E}"/>
              </a:ext>
            </a:extLst>
          </p:cNvPr>
          <p:cNvSpPr>
            <a:spLocks noGrp="1" noChangeArrowheads="1"/>
          </p:cNvSpPr>
          <p:nvPr>
            <p:ph idx="1"/>
          </p:nvPr>
        </p:nvSpPr>
        <p:spPr/>
        <p:txBody>
          <a:bodyPr/>
          <a:lstStyle/>
          <a:p>
            <a:pPr>
              <a:buFontTx/>
              <a:buChar char="•"/>
            </a:pPr>
            <a:r>
              <a:rPr lang="en-US" altLang="en-US" dirty="0">
                <a:cs typeface="Courier New" panose="02070309020205020404" pitchFamily="49" charset="0"/>
              </a:rPr>
              <a:t>In the real world, many objects are a specialized version of more general objects</a:t>
            </a:r>
          </a:p>
          <a:p>
            <a:pPr lvl="1"/>
            <a:r>
              <a:rPr lang="en-US" altLang="en-US" dirty="0">
                <a:cs typeface="Courier New" panose="02070309020205020404" pitchFamily="49" charset="0"/>
              </a:rPr>
              <a:t>Example: grasshoppers and bees are specialized types of insect</a:t>
            </a:r>
          </a:p>
          <a:p>
            <a:pPr lvl="2"/>
            <a:r>
              <a:rPr lang="en-US" altLang="en-US" dirty="0">
                <a:cs typeface="Courier New" panose="02070309020205020404" pitchFamily="49" charset="0"/>
              </a:rPr>
              <a:t>In addition to the general insect characteristics, they have unique characteristics:</a:t>
            </a:r>
          </a:p>
          <a:p>
            <a:pPr lvl="3"/>
            <a:r>
              <a:rPr lang="en-US" altLang="en-US" dirty="0">
                <a:cs typeface="Courier New" panose="02070309020205020404" pitchFamily="49" charset="0"/>
              </a:rPr>
              <a:t>Grasshoppers can jump</a:t>
            </a:r>
          </a:p>
          <a:p>
            <a:pPr lvl="3"/>
            <a:r>
              <a:rPr lang="en-US" altLang="en-US" dirty="0">
                <a:cs typeface="Courier New" panose="02070309020205020404" pitchFamily="49" charset="0"/>
              </a:rPr>
              <a:t>Bees can sting, make honey, and build hives</a:t>
            </a:r>
          </a:p>
          <a:p>
            <a:pPr>
              <a:buFontTx/>
              <a:buChar char="•"/>
            </a:pP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847D311-7B43-44C4-85D5-C16B1BD9A2DF}"/>
              </a:ext>
            </a:extLst>
          </p:cNvPr>
          <p:cNvSpPr>
            <a:spLocks noGrp="1" noChangeArrowheads="1"/>
          </p:cNvSpPr>
          <p:nvPr>
            <p:ph type="title"/>
          </p:nvPr>
        </p:nvSpPr>
        <p:spPr>
          <a:xfrm>
            <a:off x="457200" y="228600"/>
            <a:ext cx="8229600" cy="916856"/>
          </a:xfrm>
        </p:spPr>
        <p:txBody>
          <a:bodyPr/>
          <a:lstStyle/>
          <a:p>
            <a:r>
              <a:rPr lang="en-US" altLang="en-US" dirty="0"/>
              <a:t>Introduction to Inheritance</a:t>
            </a:r>
            <a:r>
              <a:rPr lang="en-US" altLang="en-US" sz="2000" b="0" dirty="0"/>
              <a:t> (2 of 2)</a:t>
            </a:r>
            <a:endParaRPr lang="en-US" altLang="en-US" sz="2000" dirty="0"/>
          </a:p>
        </p:txBody>
      </p:sp>
      <p:sp>
        <p:nvSpPr>
          <p:cNvPr id="2" name="Text Placeholder 1">
            <a:extLst>
              <a:ext uri="{FF2B5EF4-FFF2-40B4-BE49-F238E27FC236}">
                <a16:creationId xmlns:a16="http://schemas.microsoft.com/office/drawing/2014/main" id="{BBF8839D-57A5-49E0-B636-6B348422469F}"/>
              </a:ext>
            </a:extLst>
          </p:cNvPr>
          <p:cNvSpPr>
            <a:spLocks noGrp="1"/>
          </p:cNvSpPr>
          <p:nvPr>
            <p:ph type="body" sz="quarter" idx="13"/>
          </p:nvPr>
        </p:nvSpPr>
        <p:spPr>
          <a:xfrm>
            <a:off x="457200" y="5791200"/>
            <a:ext cx="8229600" cy="493816"/>
          </a:xfrm>
        </p:spPr>
        <p:txBody>
          <a:bodyPr/>
          <a:lstStyle/>
          <a:p>
            <a:r>
              <a:rPr lang="en-US" b="1" dirty="0"/>
              <a:t>Figure 11-1 </a:t>
            </a:r>
            <a:r>
              <a:rPr lang="en-US" dirty="0"/>
              <a:t>Bumblebees and grasshoppers are specialized versions of an insect</a:t>
            </a:r>
            <a:endParaRPr lang="en-AU" dirty="0"/>
          </a:p>
        </p:txBody>
      </p:sp>
      <p:pic>
        <p:nvPicPr>
          <p:cNvPr id="6147" name="Picture 3" descr="All insects have certain characteristics. In addition to the common insect characteristics, the bumblebee has its own unique characteristics such as the ability to sting. In addition to the common insect characteristics, the grasshopper has its own unique characteristics such as the ability to jump.">
            <a:extLst>
              <a:ext uri="{FF2B5EF4-FFF2-40B4-BE49-F238E27FC236}">
                <a16:creationId xmlns:a16="http://schemas.microsoft.com/office/drawing/2014/main" id="{1B9AE0F0-957B-4862-BB94-24B1B35EB44B}"/>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p:blipFill>
        <p:spPr>
          <a:xfrm>
            <a:off x="1930968" y="1467811"/>
            <a:ext cx="5282064" cy="3657600"/>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B94080F7-C6CD-4673-82BB-7FB29B6FA0C8}"/>
              </a:ext>
            </a:extLst>
          </p:cNvPr>
          <p:cNvSpPr>
            <a:spLocks noGrp="1" noChangeArrowheads="1"/>
          </p:cNvSpPr>
          <p:nvPr>
            <p:ph type="title"/>
          </p:nvPr>
        </p:nvSpPr>
        <p:spPr/>
        <p:txBody>
          <a:bodyPr/>
          <a:lstStyle/>
          <a:p>
            <a:r>
              <a:rPr lang="en-US" altLang="en-US" dirty="0"/>
              <a:t>Inheritance and the “Is a” Relationship</a:t>
            </a:r>
            <a:r>
              <a:rPr lang="en-US" altLang="en-US" sz="3600" b="0" dirty="0"/>
              <a:t> </a:t>
            </a:r>
            <a:r>
              <a:rPr lang="en-US" altLang="en-US" sz="2000" b="0" dirty="0"/>
              <a:t>(1 of 4)</a:t>
            </a:r>
            <a:endParaRPr lang="en-US" altLang="en-US" sz="2000" dirty="0"/>
          </a:p>
        </p:txBody>
      </p:sp>
      <p:sp>
        <p:nvSpPr>
          <p:cNvPr id="7171" name="Content Placeholder 2">
            <a:extLst>
              <a:ext uri="{FF2B5EF4-FFF2-40B4-BE49-F238E27FC236}">
                <a16:creationId xmlns:a16="http://schemas.microsoft.com/office/drawing/2014/main" id="{04A97EDD-C8D4-46A6-8B58-ADF60776A11D}"/>
              </a:ext>
            </a:extLst>
          </p:cNvPr>
          <p:cNvSpPr>
            <a:spLocks noGrp="1" noChangeArrowheads="1"/>
          </p:cNvSpPr>
          <p:nvPr>
            <p:ph idx="1"/>
          </p:nvPr>
        </p:nvSpPr>
        <p:spPr/>
        <p:txBody>
          <a:bodyPr/>
          <a:lstStyle/>
          <a:p>
            <a:pPr>
              <a:buFontTx/>
              <a:buChar char="•"/>
            </a:pPr>
            <a:r>
              <a:rPr lang="en-US" altLang="en-US" dirty="0"/>
              <a:t>“</a:t>
            </a:r>
            <a:r>
              <a:rPr lang="en-US" altLang="en-US" u="sng" dirty="0"/>
              <a:t>Is a” relationship</a:t>
            </a:r>
            <a:r>
              <a:rPr lang="en-US" altLang="en-US" dirty="0"/>
              <a:t>: exists when one object is a specialized version of another object</a:t>
            </a:r>
          </a:p>
          <a:p>
            <a:pPr lvl="1"/>
            <a:r>
              <a:rPr lang="en-US" altLang="en-US" dirty="0"/>
              <a:t>Specialized object has all the characteristics of the general object plus unique characteristics</a:t>
            </a:r>
          </a:p>
          <a:p>
            <a:pPr lvl="1"/>
            <a:r>
              <a:rPr lang="en-US" altLang="en-US" dirty="0"/>
              <a:t>Example: Rectangle is a shape</a:t>
            </a:r>
          </a:p>
          <a:p>
            <a:pPr marL="2109788" lvl="1" indent="0">
              <a:buNone/>
            </a:pPr>
            <a:r>
              <a:rPr lang="en-US" altLang="en-US" dirty="0"/>
              <a:t>Daisy is a flower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5D996B7E-BD8A-4DD4-8B9F-E60ED1D07A54}"/>
              </a:ext>
            </a:extLst>
          </p:cNvPr>
          <p:cNvSpPr>
            <a:spLocks noGrp="1" noChangeArrowheads="1"/>
          </p:cNvSpPr>
          <p:nvPr>
            <p:ph type="title"/>
          </p:nvPr>
        </p:nvSpPr>
        <p:spPr/>
        <p:txBody>
          <a:bodyPr/>
          <a:lstStyle/>
          <a:p>
            <a:r>
              <a:rPr lang="en-US" altLang="en-US" dirty="0"/>
              <a:t>Inheritance and the “Is a” Relationship</a:t>
            </a:r>
            <a:r>
              <a:rPr lang="en-US" altLang="en-US" sz="3600" b="0" dirty="0"/>
              <a:t> </a:t>
            </a:r>
            <a:r>
              <a:rPr lang="en-US" altLang="en-US" sz="2000" b="0" dirty="0"/>
              <a:t>(2 of 4)</a:t>
            </a:r>
            <a:endParaRPr lang="en-US" altLang="en-US" sz="2000" dirty="0"/>
          </a:p>
        </p:txBody>
      </p:sp>
      <p:sp>
        <p:nvSpPr>
          <p:cNvPr id="8195" name="Content Placeholder 2">
            <a:extLst>
              <a:ext uri="{FF2B5EF4-FFF2-40B4-BE49-F238E27FC236}">
                <a16:creationId xmlns:a16="http://schemas.microsoft.com/office/drawing/2014/main" id="{2239A84D-098C-43EF-8014-EF5BB4701630}"/>
              </a:ext>
            </a:extLst>
          </p:cNvPr>
          <p:cNvSpPr>
            <a:spLocks noGrp="1" noChangeArrowheads="1"/>
          </p:cNvSpPr>
          <p:nvPr>
            <p:ph idx="1"/>
          </p:nvPr>
        </p:nvSpPr>
        <p:spPr/>
        <p:txBody>
          <a:bodyPr/>
          <a:lstStyle/>
          <a:p>
            <a:pPr>
              <a:buFontTx/>
              <a:buChar char="•"/>
            </a:pPr>
            <a:r>
              <a:rPr lang="en-US" altLang="en-US" u="sng" dirty="0"/>
              <a:t>Inheritance</a:t>
            </a:r>
            <a:r>
              <a:rPr lang="en-US" altLang="en-US" dirty="0"/>
              <a:t>: used to create an “is a” relationship between classes </a:t>
            </a:r>
          </a:p>
          <a:p>
            <a:pPr>
              <a:buFontTx/>
              <a:buChar char="•"/>
            </a:pPr>
            <a:r>
              <a:rPr lang="en-US" altLang="en-US" u="sng" dirty="0"/>
              <a:t>Superclass (base class)</a:t>
            </a:r>
            <a:r>
              <a:rPr lang="en-US" altLang="en-US" dirty="0"/>
              <a:t>: a general class </a:t>
            </a:r>
          </a:p>
          <a:p>
            <a:pPr>
              <a:buFontTx/>
              <a:buChar char="•"/>
            </a:pPr>
            <a:r>
              <a:rPr lang="en-US" altLang="en-US" u="sng" dirty="0"/>
              <a:t>Subclass (derived class)</a:t>
            </a:r>
            <a:r>
              <a:rPr lang="en-US" altLang="en-US" dirty="0"/>
              <a:t>: a specialized class</a:t>
            </a:r>
          </a:p>
          <a:p>
            <a:pPr lvl="1"/>
            <a:r>
              <a:rPr lang="en-US" altLang="en-US" dirty="0"/>
              <a:t>An extended version of the superclass</a:t>
            </a:r>
          </a:p>
          <a:p>
            <a:pPr lvl="2"/>
            <a:r>
              <a:rPr lang="en-US" altLang="en-US" dirty="0"/>
              <a:t>Inherits attributes and methods of the superclass</a:t>
            </a:r>
          </a:p>
          <a:p>
            <a:pPr lvl="2"/>
            <a:r>
              <a:rPr lang="en-US" altLang="en-US" dirty="0"/>
              <a:t>New attributes and methods can be added</a:t>
            </a:r>
          </a:p>
          <a:p>
            <a:pPr>
              <a:buFontTx/>
              <a:buChar char="•"/>
            </a:pP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9444369-24E1-4F21-8E93-19A4032E01BB}"/>
              </a:ext>
            </a:extLst>
          </p:cNvPr>
          <p:cNvSpPr>
            <a:spLocks noGrp="1" noChangeArrowheads="1"/>
          </p:cNvSpPr>
          <p:nvPr>
            <p:ph type="title"/>
          </p:nvPr>
        </p:nvSpPr>
        <p:spPr/>
        <p:txBody>
          <a:bodyPr/>
          <a:lstStyle/>
          <a:p>
            <a:r>
              <a:rPr lang="en-US" altLang="en-US" dirty="0"/>
              <a:t>Inheritance and the “Is a” Relationship</a:t>
            </a:r>
            <a:r>
              <a:rPr lang="en-US" altLang="en-US" sz="3600" b="0" dirty="0"/>
              <a:t> </a:t>
            </a:r>
            <a:r>
              <a:rPr lang="en-US" altLang="en-US" sz="2000" b="0" dirty="0"/>
              <a:t>(3 of 4)</a:t>
            </a:r>
            <a:endParaRPr lang="en-US" altLang="en-US" sz="2000" dirty="0"/>
          </a:p>
        </p:txBody>
      </p:sp>
      <p:sp>
        <p:nvSpPr>
          <p:cNvPr id="9219" name="Content Placeholder 2">
            <a:extLst>
              <a:ext uri="{FF2B5EF4-FFF2-40B4-BE49-F238E27FC236}">
                <a16:creationId xmlns:a16="http://schemas.microsoft.com/office/drawing/2014/main" id="{C6155D17-0364-4015-B5CA-F6A9280B8C49}"/>
              </a:ext>
            </a:extLst>
          </p:cNvPr>
          <p:cNvSpPr>
            <a:spLocks noGrp="1" noChangeArrowheads="1"/>
          </p:cNvSpPr>
          <p:nvPr>
            <p:ph idx="1"/>
          </p:nvPr>
        </p:nvSpPr>
        <p:spPr/>
        <p:txBody>
          <a:bodyPr/>
          <a:lstStyle/>
          <a:p>
            <a:pPr>
              <a:buFontTx/>
              <a:buChar char="•"/>
            </a:pPr>
            <a:r>
              <a:rPr lang="en-US" altLang="en-US" dirty="0"/>
              <a:t>For example, need to create classes for cars, pickup trucks, and SUVs</a:t>
            </a:r>
          </a:p>
          <a:p>
            <a:pPr>
              <a:buFontTx/>
              <a:buChar char="•"/>
            </a:pPr>
            <a:r>
              <a:rPr lang="en-US" altLang="en-US" dirty="0"/>
              <a:t>All are automobiles</a:t>
            </a:r>
          </a:p>
          <a:p>
            <a:pPr lvl="1"/>
            <a:r>
              <a:rPr lang="en-US" altLang="en-US" dirty="0"/>
              <a:t>Have a make, year model, mileage, and price </a:t>
            </a:r>
          </a:p>
          <a:p>
            <a:pPr lvl="1"/>
            <a:r>
              <a:rPr lang="en-US" altLang="en-US" dirty="0"/>
              <a:t>This can be the attributes for the base class</a:t>
            </a:r>
          </a:p>
          <a:p>
            <a:pPr>
              <a:buFontTx/>
              <a:buChar char="•"/>
            </a:pPr>
            <a:r>
              <a:rPr lang="en-US" altLang="en-US" dirty="0"/>
              <a:t>In addition:</a:t>
            </a:r>
          </a:p>
          <a:p>
            <a:pPr lvl="1"/>
            <a:r>
              <a:rPr lang="en-US" altLang="en-US" dirty="0"/>
              <a:t>Car has a number of doors </a:t>
            </a:r>
          </a:p>
          <a:p>
            <a:pPr lvl="1"/>
            <a:r>
              <a:rPr lang="en-US" altLang="en-US" dirty="0"/>
              <a:t>Pickup truck has a drive type</a:t>
            </a:r>
          </a:p>
          <a:p>
            <a:pPr lvl="1"/>
            <a:r>
              <a:rPr lang="en-US" altLang="en-US" dirty="0"/>
              <a:t>SUV has a passenger capacity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335C7E1B-D2BB-4B48-A077-41084114E68E}"/>
              </a:ext>
            </a:extLst>
          </p:cNvPr>
          <p:cNvSpPr>
            <a:spLocks noGrp="1" noChangeArrowheads="1"/>
          </p:cNvSpPr>
          <p:nvPr>
            <p:ph type="title"/>
          </p:nvPr>
        </p:nvSpPr>
        <p:spPr/>
        <p:txBody>
          <a:bodyPr/>
          <a:lstStyle/>
          <a:p>
            <a:r>
              <a:rPr lang="en-US" altLang="en-US" dirty="0"/>
              <a:t>Inheritance and the “Is a” Relationship</a:t>
            </a:r>
            <a:r>
              <a:rPr lang="en-US" altLang="en-US" sz="3600" b="0" dirty="0"/>
              <a:t> </a:t>
            </a:r>
            <a:r>
              <a:rPr lang="en-US" altLang="en-US" sz="2000" b="0" dirty="0"/>
              <a:t>(4 of 4)</a:t>
            </a:r>
            <a:endParaRPr lang="en-US" altLang="en-US" sz="2000" dirty="0"/>
          </a:p>
        </p:txBody>
      </p:sp>
      <p:sp>
        <p:nvSpPr>
          <p:cNvPr id="10243" name="Content Placeholder 2">
            <a:extLst>
              <a:ext uri="{FF2B5EF4-FFF2-40B4-BE49-F238E27FC236}">
                <a16:creationId xmlns:a16="http://schemas.microsoft.com/office/drawing/2014/main" id="{10CCEED2-DE31-4A1D-9721-713721D6352D}"/>
              </a:ext>
            </a:extLst>
          </p:cNvPr>
          <p:cNvSpPr>
            <a:spLocks noGrp="1" noChangeArrowheads="1"/>
          </p:cNvSpPr>
          <p:nvPr>
            <p:ph idx="1"/>
          </p:nvPr>
        </p:nvSpPr>
        <p:spPr/>
        <p:txBody>
          <a:bodyPr/>
          <a:lstStyle/>
          <a:p>
            <a:pPr>
              <a:buFontTx/>
              <a:buChar char="•"/>
            </a:pPr>
            <a:r>
              <a:rPr lang="en-US" altLang="en-US" dirty="0"/>
              <a:t>In a class definition for a subclass:</a:t>
            </a:r>
          </a:p>
          <a:p>
            <a:pPr lvl="1"/>
            <a:r>
              <a:rPr lang="en-US" altLang="en-US" dirty="0"/>
              <a:t>To indicate inheritance, the superclass name is placed in parentheses after subclass name</a:t>
            </a:r>
          </a:p>
          <a:p>
            <a:pPr lvl="2"/>
            <a:r>
              <a:rPr lang="en-US" altLang="en-US" dirty="0"/>
              <a:t>Example: </a:t>
            </a:r>
            <a:r>
              <a:rPr lang="en-US" altLang="en-US" dirty="0">
                <a:latin typeface="Courier New" panose="02070309020205020404" pitchFamily="49" charset="0"/>
                <a:cs typeface="Courier New" panose="02070309020205020404" pitchFamily="49" charset="0"/>
              </a:rPr>
              <a:t>class Car(Automobile):</a:t>
            </a:r>
          </a:p>
          <a:p>
            <a:pPr lvl="1"/>
            <a:r>
              <a:rPr lang="en-US" altLang="en-US" dirty="0">
                <a:cs typeface="Courier New" panose="02070309020205020404" pitchFamily="49" charset="0"/>
              </a:rPr>
              <a:t>The initializer method of a subclass calls the initializer method of the superclass and then initializes the unique data attributes</a:t>
            </a:r>
          </a:p>
          <a:p>
            <a:pPr lvl="1"/>
            <a:r>
              <a:rPr lang="en-US" altLang="en-US" dirty="0">
                <a:cs typeface="Courier New" panose="02070309020205020404" pitchFamily="49" charset="0"/>
              </a:rPr>
              <a:t>Add method definitions for unique methods</a:t>
            </a:r>
          </a:p>
          <a:p>
            <a:pPr>
              <a:buFontTx/>
              <a:buChar char="•"/>
            </a:pPr>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D2BBDB90-3CE3-4EA2-9C8B-D78ADDEFC2AF}"/>
              </a:ext>
            </a:extLst>
          </p:cNvPr>
          <p:cNvSpPr>
            <a:spLocks noGrp="1" noChangeArrowheads="1"/>
          </p:cNvSpPr>
          <p:nvPr>
            <p:ph type="title"/>
          </p:nvPr>
        </p:nvSpPr>
        <p:spPr/>
        <p:txBody>
          <a:bodyPr/>
          <a:lstStyle/>
          <a:p>
            <a:r>
              <a:rPr lang="en-US" altLang="en-US" dirty="0"/>
              <a:t>Inheritance in UML Diagrams</a:t>
            </a:r>
            <a:r>
              <a:rPr lang="en-US" altLang="en-US" sz="2000" b="0" dirty="0"/>
              <a:t> (1 of 2)</a:t>
            </a:r>
            <a:endParaRPr lang="en-US" altLang="en-US" sz="2000" dirty="0"/>
          </a:p>
        </p:txBody>
      </p:sp>
      <p:sp>
        <p:nvSpPr>
          <p:cNvPr id="11267" name="Content Placeholder 2">
            <a:extLst>
              <a:ext uri="{FF2B5EF4-FFF2-40B4-BE49-F238E27FC236}">
                <a16:creationId xmlns:a16="http://schemas.microsoft.com/office/drawing/2014/main" id="{7FB98517-EEEC-4361-AE51-D587BB85D675}"/>
              </a:ext>
            </a:extLst>
          </p:cNvPr>
          <p:cNvSpPr>
            <a:spLocks noGrp="1" noChangeArrowheads="1"/>
          </p:cNvSpPr>
          <p:nvPr>
            <p:ph idx="1"/>
          </p:nvPr>
        </p:nvSpPr>
        <p:spPr/>
        <p:txBody>
          <a:bodyPr/>
          <a:lstStyle/>
          <a:p>
            <a:pPr>
              <a:buFontTx/>
              <a:buChar char="•"/>
            </a:pPr>
            <a:r>
              <a:rPr lang="en-US" altLang="en-US" dirty="0"/>
              <a:t>In UML diagram, show inheritance by drawing a line with an open arrowhead from subclass to superclass</a:t>
            </a:r>
          </a:p>
          <a:p>
            <a:pPr>
              <a:buFontTx/>
              <a:buChar char="•"/>
            </a:pP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3" descr="A U M L diagram depicts that the classes car, truck, and S U V are subclasses of the superclass automobile.">
            <a:extLst>
              <a:ext uri="{FF2B5EF4-FFF2-40B4-BE49-F238E27FC236}">
                <a16:creationId xmlns:a16="http://schemas.microsoft.com/office/drawing/2014/main" id="{FAB3D54E-CD09-4DE3-B2A2-EC7EA6F1D73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auto">
          <a:xfrm>
            <a:off x="1447800" y="1351601"/>
            <a:ext cx="6248400" cy="4154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A2708B6C-25B8-48E6-A4D9-B27EBC1B3194}"/>
              </a:ext>
            </a:extLst>
          </p:cNvPr>
          <p:cNvSpPr>
            <a:spLocks noGrp="1"/>
          </p:cNvSpPr>
          <p:nvPr>
            <p:ph type="title"/>
          </p:nvPr>
        </p:nvSpPr>
        <p:spPr>
          <a:xfrm>
            <a:off x="457200" y="228600"/>
            <a:ext cx="8229600" cy="685800"/>
          </a:xfrm>
        </p:spPr>
        <p:txBody>
          <a:bodyPr/>
          <a:lstStyle/>
          <a:p>
            <a:r>
              <a:rPr lang="en-US" altLang="en-US" dirty="0"/>
              <a:t>Inheritance in UML Diagrams</a:t>
            </a:r>
            <a:r>
              <a:rPr lang="en-US" altLang="en-US" sz="2000" b="0" dirty="0"/>
              <a:t> (2 of 2)</a:t>
            </a:r>
            <a:endParaRPr lang="en-AU" sz="2000" dirty="0"/>
          </a:p>
        </p:txBody>
      </p:sp>
      <p:sp>
        <p:nvSpPr>
          <p:cNvPr id="3" name="Text Placeholder 2">
            <a:extLst>
              <a:ext uri="{FF2B5EF4-FFF2-40B4-BE49-F238E27FC236}">
                <a16:creationId xmlns:a16="http://schemas.microsoft.com/office/drawing/2014/main" id="{5A689A59-8432-47FB-A2E3-CACFE55C96E5}"/>
              </a:ext>
            </a:extLst>
          </p:cNvPr>
          <p:cNvSpPr>
            <a:spLocks noGrp="1"/>
          </p:cNvSpPr>
          <p:nvPr>
            <p:ph type="body" sz="quarter" idx="13"/>
          </p:nvPr>
        </p:nvSpPr>
        <p:spPr>
          <a:xfrm>
            <a:off x="457200" y="5867400"/>
            <a:ext cx="8229600" cy="417616"/>
          </a:xfrm>
        </p:spPr>
        <p:txBody>
          <a:bodyPr/>
          <a:lstStyle/>
          <a:p>
            <a:r>
              <a:rPr lang="en-US" b="1" dirty="0"/>
              <a:t>Figure 11-2 </a:t>
            </a:r>
            <a:r>
              <a:rPr lang="en-US" dirty="0"/>
              <a:t>UML diagram showing inheritance</a:t>
            </a:r>
            <a:endParaRPr lang="en-A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16B7283B-0EE9-4D1E-8D73-96D04398DBEB}"/>
              </a:ext>
            </a:extLst>
          </p:cNvPr>
          <p:cNvSpPr>
            <a:spLocks noGrp="1" noChangeArrowheads="1"/>
          </p:cNvSpPr>
          <p:nvPr>
            <p:ph type="title"/>
          </p:nvPr>
        </p:nvSpPr>
        <p:spPr/>
        <p:txBody>
          <a:bodyPr/>
          <a:lstStyle/>
          <a:p>
            <a:r>
              <a:rPr lang="en-US" altLang="en-US" dirty="0"/>
              <a:t>Polymorphism</a:t>
            </a:r>
            <a:r>
              <a:rPr lang="en-US" altLang="en-US" sz="2000" b="0" dirty="0"/>
              <a:t> (1 of 2)</a:t>
            </a:r>
            <a:endParaRPr lang="en-US" altLang="en-US" sz="2000" dirty="0"/>
          </a:p>
        </p:txBody>
      </p:sp>
      <p:sp>
        <p:nvSpPr>
          <p:cNvPr id="13315" name="Content Placeholder 2">
            <a:extLst>
              <a:ext uri="{FF2B5EF4-FFF2-40B4-BE49-F238E27FC236}">
                <a16:creationId xmlns:a16="http://schemas.microsoft.com/office/drawing/2014/main" id="{B289DD12-F86E-4439-8733-226ACE714F4C}"/>
              </a:ext>
            </a:extLst>
          </p:cNvPr>
          <p:cNvSpPr>
            <a:spLocks noGrp="1" noChangeArrowheads="1"/>
          </p:cNvSpPr>
          <p:nvPr>
            <p:ph idx="1"/>
          </p:nvPr>
        </p:nvSpPr>
        <p:spPr/>
        <p:txBody>
          <a:bodyPr/>
          <a:lstStyle/>
          <a:p>
            <a:pPr>
              <a:buFontTx/>
              <a:buChar char="•"/>
            </a:pPr>
            <a:r>
              <a:rPr lang="en-US" altLang="en-US" u="sng" dirty="0"/>
              <a:t>Polymorphism</a:t>
            </a:r>
            <a:r>
              <a:rPr lang="en-US" altLang="en-US" dirty="0"/>
              <a:t>: an object’s ability to take different forms</a:t>
            </a:r>
          </a:p>
          <a:p>
            <a:pPr>
              <a:buFontTx/>
              <a:buChar char="•"/>
            </a:pPr>
            <a:r>
              <a:rPr lang="en-US" altLang="en-US" dirty="0">
                <a:cs typeface="Courier New" panose="02070309020205020404" pitchFamily="49" charset="0"/>
              </a:rPr>
              <a:t>Essential ingredients of polymorphic behavior:</a:t>
            </a:r>
          </a:p>
          <a:p>
            <a:pPr lvl="1"/>
            <a:r>
              <a:rPr lang="en-US" altLang="en-US" dirty="0">
                <a:cs typeface="Courier New" panose="02070309020205020404" pitchFamily="49" charset="0"/>
              </a:rPr>
              <a:t>Ability to define a method in a superclass and override it in a subclass</a:t>
            </a:r>
          </a:p>
          <a:p>
            <a:pPr lvl="2"/>
            <a:r>
              <a:rPr lang="en-US" altLang="en-US" dirty="0">
                <a:cs typeface="Courier New" panose="02070309020205020404" pitchFamily="49" charset="0"/>
              </a:rPr>
              <a:t>Subclass defines method with the same name</a:t>
            </a:r>
          </a:p>
          <a:p>
            <a:pPr lvl="1"/>
            <a:r>
              <a:rPr lang="en-US" altLang="en-US" dirty="0">
                <a:cs typeface="Courier New" panose="02070309020205020404" pitchFamily="49" charset="0"/>
              </a:rPr>
              <a:t>Ability to call the correct version of overridden method depending on the type of object that called for it</a:t>
            </a:r>
          </a:p>
          <a:p>
            <a:pPr>
              <a:buFontTx/>
              <a:buChar char="•"/>
            </a:pPr>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DC656369-D5B5-46BA-A408-E20CE9AF759C}"/>
              </a:ext>
            </a:extLst>
          </p:cNvPr>
          <p:cNvSpPr>
            <a:spLocks noGrp="1" noChangeArrowheads="1"/>
          </p:cNvSpPr>
          <p:nvPr>
            <p:ph type="title"/>
          </p:nvPr>
        </p:nvSpPr>
        <p:spPr/>
        <p:txBody>
          <a:bodyPr/>
          <a:lstStyle/>
          <a:p>
            <a:r>
              <a:rPr lang="en-US" altLang="en-US" dirty="0"/>
              <a:t>Polymorphism</a:t>
            </a:r>
            <a:r>
              <a:rPr lang="en-US" altLang="en-US" sz="2000" b="0" dirty="0"/>
              <a:t> (2 of 2)</a:t>
            </a:r>
            <a:endParaRPr lang="en-US" altLang="en-US" sz="2000" dirty="0"/>
          </a:p>
        </p:txBody>
      </p:sp>
      <p:sp>
        <p:nvSpPr>
          <p:cNvPr id="14339" name="Content Placeholder 2">
            <a:extLst>
              <a:ext uri="{FF2B5EF4-FFF2-40B4-BE49-F238E27FC236}">
                <a16:creationId xmlns:a16="http://schemas.microsoft.com/office/drawing/2014/main" id="{7F985ABC-CCAE-416D-84B0-A07E2A63EDAA}"/>
              </a:ext>
            </a:extLst>
          </p:cNvPr>
          <p:cNvSpPr>
            <a:spLocks noGrp="1" noChangeArrowheads="1"/>
          </p:cNvSpPr>
          <p:nvPr>
            <p:ph idx="1"/>
          </p:nvPr>
        </p:nvSpPr>
        <p:spPr/>
        <p:txBody>
          <a:bodyPr/>
          <a:lstStyle/>
          <a:p>
            <a:pPr>
              <a:buFontTx/>
              <a:buChar char="•"/>
            </a:pPr>
            <a:r>
              <a:rPr lang="en-US" altLang="en-US"/>
              <a:t>In previous inheritance examples showed how to override the </a:t>
            </a:r>
            <a:r>
              <a:rPr lang="en-US" altLang="en-US">
                <a:latin typeface="Courier New" panose="02070309020205020404" pitchFamily="49" charset="0"/>
                <a:cs typeface="Courier New" panose="02070309020205020404" pitchFamily="49" charset="0"/>
              </a:rPr>
              <a:t>__init__</a:t>
            </a:r>
            <a:r>
              <a:rPr lang="en-US" altLang="en-US"/>
              <a:t> method</a:t>
            </a:r>
          </a:p>
          <a:p>
            <a:pPr lvl="1"/>
            <a:r>
              <a:rPr lang="en-US" altLang="en-US">
                <a:cs typeface="Courier New" panose="02070309020205020404" pitchFamily="49" charset="0"/>
              </a:rPr>
              <a:t>Called superclass </a:t>
            </a:r>
            <a:r>
              <a:rPr lang="en-US" altLang="en-US">
                <a:latin typeface="Courier New" panose="02070309020205020404" pitchFamily="49" charset="0"/>
                <a:cs typeface="Courier New" panose="02070309020205020404" pitchFamily="49" charset="0"/>
              </a:rPr>
              <a:t>__init__</a:t>
            </a:r>
            <a:r>
              <a:rPr lang="en-US" altLang="en-US">
                <a:cs typeface="Courier New" panose="02070309020205020404" pitchFamily="49" charset="0"/>
              </a:rPr>
              <a:t> method and then added onto that</a:t>
            </a:r>
          </a:p>
          <a:p>
            <a:pPr>
              <a:buFontTx/>
              <a:buChar char="•"/>
            </a:pPr>
            <a:r>
              <a:rPr lang="en-US" altLang="en-US">
                <a:cs typeface="Courier New" panose="02070309020205020404" pitchFamily="49" charset="0"/>
              </a:rPr>
              <a:t>The same can be done for any other method</a:t>
            </a:r>
          </a:p>
          <a:p>
            <a:pPr lvl="1"/>
            <a:r>
              <a:rPr lang="en-US" altLang="en-US">
                <a:cs typeface="Courier New" panose="02070309020205020404" pitchFamily="49" charset="0"/>
              </a:rPr>
              <a:t>The method can call the superclass equivalent and add to it, or do something completely different</a:t>
            </a:r>
          </a:p>
          <a:p>
            <a:pPr>
              <a:buFontTx/>
              <a:buChar char="•"/>
            </a:pP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29AB15E1-BB2F-457F-96A3-CBA5750B914C}"/>
              </a:ext>
            </a:extLst>
          </p:cNvPr>
          <p:cNvSpPr>
            <a:spLocks noGrp="1" noChangeArrowheads="1"/>
          </p:cNvSpPr>
          <p:nvPr>
            <p:ph type="title"/>
          </p:nvPr>
        </p:nvSpPr>
        <p:spPr/>
        <p:txBody>
          <a:bodyPr/>
          <a:lstStyle/>
          <a:p>
            <a:r>
              <a:rPr lang="en-US" altLang="en-US" dirty="0"/>
              <a:t>The </a:t>
            </a:r>
            <a:r>
              <a:rPr lang="en-US" altLang="en-US" dirty="0" err="1">
                <a:latin typeface="Courier New" panose="02070309020205020404" pitchFamily="49" charset="0"/>
                <a:cs typeface="Courier New" panose="02070309020205020404" pitchFamily="49" charset="0"/>
              </a:rPr>
              <a:t>isinstance</a:t>
            </a:r>
            <a:r>
              <a:rPr lang="en-US" altLang="en-US" dirty="0"/>
              <a:t> Function</a:t>
            </a:r>
          </a:p>
        </p:txBody>
      </p:sp>
      <p:sp>
        <p:nvSpPr>
          <p:cNvPr id="15363" name="Content Placeholder 2">
            <a:extLst>
              <a:ext uri="{FF2B5EF4-FFF2-40B4-BE49-F238E27FC236}">
                <a16:creationId xmlns:a16="http://schemas.microsoft.com/office/drawing/2014/main" id="{099323B3-6982-4BB6-AF24-3165B3E08588}"/>
              </a:ext>
            </a:extLst>
          </p:cNvPr>
          <p:cNvSpPr>
            <a:spLocks noGrp="1" noChangeArrowheads="1"/>
          </p:cNvSpPr>
          <p:nvPr>
            <p:ph idx="1"/>
          </p:nvPr>
        </p:nvSpPr>
        <p:spPr/>
        <p:txBody>
          <a:bodyPr/>
          <a:lstStyle/>
          <a:p>
            <a:pPr>
              <a:buFontTx/>
              <a:buChar char="•"/>
            </a:pPr>
            <a:r>
              <a:rPr lang="en-US" altLang="en-US" dirty="0">
                <a:cs typeface="Courier New" panose="02070309020205020404" pitchFamily="49" charset="0"/>
              </a:rPr>
              <a:t>Polymorphism provides great flexibility when designing programs</a:t>
            </a:r>
          </a:p>
          <a:p>
            <a:pPr>
              <a:buFontTx/>
              <a:buChar char="•"/>
            </a:pPr>
            <a:r>
              <a:rPr lang="en-US" altLang="en-US" u="sng" dirty="0" err="1">
                <a:latin typeface="Courier New" panose="02070309020205020404" pitchFamily="49" charset="0"/>
                <a:cs typeface="Courier New" panose="02070309020205020404" pitchFamily="49" charset="0"/>
              </a:rPr>
              <a:t>AttributeError</a:t>
            </a:r>
            <a:r>
              <a:rPr lang="en-US" altLang="en-US" u="sng" dirty="0">
                <a:cs typeface="Courier New" panose="02070309020205020404" pitchFamily="49" charset="0"/>
              </a:rPr>
              <a:t> exception</a:t>
            </a:r>
            <a:r>
              <a:rPr lang="en-US" altLang="en-US" dirty="0">
                <a:cs typeface="Courier New" panose="02070309020205020404" pitchFamily="49" charset="0"/>
              </a:rPr>
              <a:t>: raised when a method is receives an object which is not an instance of the right class</a:t>
            </a:r>
          </a:p>
          <a:p>
            <a:pPr>
              <a:buFontTx/>
              <a:buChar char="•"/>
            </a:pPr>
            <a:r>
              <a:rPr lang="en-US" altLang="en-US" u="sng" dirty="0" err="1">
                <a:latin typeface="Courier New" panose="02070309020205020404" pitchFamily="49" charset="0"/>
                <a:cs typeface="Courier New" panose="02070309020205020404" pitchFamily="49" charset="0"/>
              </a:rPr>
              <a:t>isinstance</a:t>
            </a:r>
            <a:r>
              <a:rPr lang="en-US" altLang="en-US" u="sng" dirty="0">
                <a:cs typeface="Courier New" panose="02070309020205020404" pitchFamily="49" charset="0"/>
              </a:rPr>
              <a:t> function</a:t>
            </a:r>
            <a:r>
              <a:rPr lang="en-US" altLang="en-US" dirty="0">
                <a:cs typeface="Courier New" panose="02070309020205020404" pitchFamily="49" charset="0"/>
              </a:rPr>
              <a:t>: determines whether object is an instance of a class</a:t>
            </a:r>
          </a:p>
          <a:p>
            <a:pPr lvl="1"/>
            <a:r>
              <a:rPr lang="en-US" altLang="en-US" dirty="0">
                <a:cs typeface="Courier New" panose="02070309020205020404" pitchFamily="49" charset="0"/>
              </a:rPr>
              <a:t>Format: </a:t>
            </a:r>
            <a:r>
              <a:rPr lang="en-US" altLang="en-US" dirty="0" err="1">
                <a:latin typeface="Courier New" panose="02070309020205020404" pitchFamily="49" charset="0"/>
                <a:cs typeface="Courier New" panose="02070309020205020404" pitchFamily="49" charset="0"/>
              </a:rPr>
              <a:t>isinstance</a:t>
            </a:r>
            <a:r>
              <a:rPr lang="en-US" altLang="en-US" dirty="0">
                <a:latin typeface="Courier New" panose="02070309020205020404" pitchFamily="49" charset="0"/>
                <a:cs typeface="Courier New" panose="02070309020205020404" pitchFamily="49" charset="0"/>
              </a:rPr>
              <a:t>(</a:t>
            </a:r>
            <a:r>
              <a:rPr lang="en-US" altLang="en-US" i="1" dirty="0">
                <a:latin typeface="Courier New" panose="02070309020205020404" pitchFamily="49" charset="0"/>
                <a:cs typeface="Courier New" panose="02070309020205020404" pitchFamily="49" charset="0"/>
              </a:rPr>
              <a:t>object</a:t>
            </a:r>
            <a:r>
              <a:rPr lang="en-US" altLang="en-US" dirty="0">
                <a:latin typeface="Courier New" panose="02070309020205020404" pitchFamily="49" charset="0"/>
                <a:cs typeface="Courier New" panose="02070309020205020404" pitchFamily="49" charset="0"/>
              </a:rPr>
              <a:t>, </a:t>
            </a:r>
            <a:r>
              <a:rPr lang="en-US" altLang="en-US" i="1" dirty="0">
                <a:latin typeface="Courier New" panose="02070309020205020404" pitchFamily="49" charset="0"/>
                <a:cs typeface="Courier New" panose="02070309020205020404" pitchFamily="49" charset="0"/>
              </a:rPr>
              <a:t>class</a:t>
            </a:r>
            <a:r>
              <a:rPr lang="en-US" altLang="en-US" dirty="0">
                <a:latin typeface="Courier New" panose="02070309020205020404" pitchFamily="49" charset="0"/>
                <a:cs typeface="Courier New" panose="02070309020205020404" pitchFamily="49" charset="0"/>
              </a:rPr>
              <a:t>)</a:t>
            </a:r>
          </a:p>
          <a:p>
            <a:pPr>
              <a:buFontTx/>
              <a:buChar char="•"/>
            </a:pPr>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392D2D7-34E1-4998-8C2D-BBFC1A1B6648}"/>
              </a:ext>
            </a:extLst>
          </p:cNvPr>
          <p:cNvSpPr>
            <a:spLocks noGrp="1" noChangeArrowheads="1"/>
          </p:cNvSpPr>
          <p:nvPr>
            <p:ph type="title"/>
          </p:nvPr>
        </p:nvSpPr>
        <p:spPr/>
        <p:txBody>
          <a:bodyPr/>
          <a:lstStyle/>
          <a:p>
            <a:pPr eaLnBrk="1" hangingPunct="1"/>
            <a:r>
              <a:rPr lang="en-US" altLang="en-US"/>
              <a:t>Summary</a:t>
            </a:r>
            <a:endParaRPr lang="he-IL" altLang="en-US"/>
          </a:p>
        </p:txBody>
      </p:sp>
      <p:sp>
        <p:nvSpPr>
          <p:cNvPr id="16387" name="Content Placeholder 2">
            <a:extLst>
              <a:ext uri="{FF2B5EF4-FFF2-40B4-BE49-F238E27FC236}">
                <a16:creationId xmlns:a16="http://schemas.microsoft.com/office/drawing/2014/main" id="{22C9B505-9038-4B7A-861C-891E887A1644}"/>
              </a:ext>
            </a:extLst>
          </p:cNvPr>
          <p:cNvSpPr>
            <a:spLocks noGrp="1" noChangeArrowheads="1"/>
          </p:cNvSpPr>
          <p:nvPr>
            <p:ph idx="1"/>
          </p:nvPr>
        </p:nvSpPr>
        <p:spPr/>
        <p:txBody>
          <a:bodyPr/>
          <a:lstStyle/>
          <a:p>
            <a:pPr eaLnBrk="1" hangingPunct="1">
              <a:buFontTx/>
              <a:buChar char="•"/>
            </a:pPr>
            <a:r>
              <a:rPr lang="en-US" altLang="en-US" dirty="0"/>
              <a:t>This chapter covered:</a:t>
            </a:r>
          </a:p>
          <a:p>
            <a:pPr lvl="1" eaLnBrk="1" hangingPunct="1"/>
            <a:r>
              <a:rPr lang="en-US" altLang="en-US" dirty="0"/>
              <a:t>Inheritance, including:</a:t>
            </a:r>
          </a:p>
          <a:p>
            <a:pPr lvl="2"/>
            <a:r>
              <a:rPr lang="en-US" altLang="en-US" dirty="0"/>
              <a:t>“Is a” relationships</a:t>
            </a:r>
          </a:p>
          <a:p>
            <a:pPr lvl="2"/>
            <a:r>
              <a:rPr lang="en-US" altLang="en-US" dirty="0"/>
              <a:t>Subclasses and </a:t>
            </a:r>
            <a:r>
              <a:rPr lang="en-US" altLang="en-US" dirty="0" err="1"/>
              <a:t>superclasses</a:t>
            </a:r>
            <a:endParaRPr lang="en-US" altLang="en-US" dirty="0"/>
          </a:p>
          <a:p>
            <a:pPr lvl="2"/>
            <a:r>
              <a:rPr lang="en-US" altLang="en-US" dirty="0"/>
              <a:t>Defining subclasses and initializer methods</a:t>
            </a:r>
          </a:p>
          <a:p>
            <a:pPr lvl="2"/>
            <a:r>
              <a:rPr lang="en-US" altLang="en-US" dirty="0"/>
              <a:t>Depicting inheritance in UML diagrams</a:t>
            </a:r>
          </a:p>
          <a:p>
            <a:pPr lvl="1" eaLnBrk="1" hangingPunct="1"/>
            <a:r>
              <a:rPr lang="en-US" altLang="en-US" dirty="0"/>
              <a:t>Polymorphism</a:t>
            </a:r>
          </a:p>
          <a:p>
            <a:pPr lvl="1" eaLnBrk="1" hangingPunct="1"/>
            <a:r>
              <a:rPr lang="en-US" altLang="en-US" dirty="0"/>
              <a:t>The </a:t>
            </a:r>
            <a:r>
              <a:rPr lang="en-US" altLang="en-US" dirty="0" err="1">
                <a:latin typeface="Courier New" panose="02070309020205020404" pitchFamily="49" charset="0"/>
                <a:cs typeface="Courier New" panose="02070309020205020404" pitchFamily="49" charset="0"/>
              </a:rPr>
              <a:t>isinstance</a:t>
            </a:r>
            <a:r>
              <a:rPr lang="en-US" altLang="en-US" dirty="0"/>
              <a:t> function</a:t>
            </a:r>
          </a:p>
          <a:p>
            <a:pPr lvl="1" eaLnBrk="1" hangingPunct="1"/>
            <a:endParaRPr lang="he-IL" altLang="en-US" dirty="0"/>
          </a:p>
        </p:txBody>
      </p:sp>
    </p:spTree>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8608</TotalTime>
  <Words>601</Words>
  <Application>Microsoft Office PowerPoint</Application>
  <PresentationFormat>On-screen Show (4:3)</PresentationFormat>
  <Paragraphs>72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Courier New</vt:lpstr>
      <vt:lpstr>Times New Roman</vt:lpstr>
      <vt:lpstr>Verdana</vt:lpstr>
      <vt:lpstr>Wingdings</vt:lpstr>
      <vt:lpstr>508 Lecture</vt:lpstr>
      <vt:lpstr>Starting out with Python</vt:lpstr>
      <vt:lpstr>Topics</vt:lpstr>
      <vt:lpstr>Introduction to Inheritance (1 of 2)</vt:lpstr>
      <vt:lpstr>Introduction to Inheritance (2 of 2)</vt:lpstr>
      <vt:lpstr>Inheritance and the “Is a” Relationship (1 of 4)</vt:lpstr>
      <vt:lpstr>Inheritance and the “Is a” Relationship (2 of 4)</vt:lpstr>
      <vt:lpstr>Inheritance and the “Is a” Relationship (3 of 4)</vt:lpstr>
      <vt:lpstr>Inheritance and the “Is a” Relationship (4 of 4)</vt:lpstr>
      <vt:lpstr>Inheritance in UML Diagrams (1 of 2)</vt:lpstr>
      <vt:lpstr>Inheritance in UML Diagrams (2 of 2)</vt:lpstr>
      <vt:lpstr>Polymorphism (1 of 2)</vt:lpstr>
      <vt:lpstr>Polymorphism (2 of 2)</vt:lpstr>
      <vt:lpstr>The isinstance Function</vt:lpstr>
      <vt:lpstr>Summary</vt:lpstr>
    </vt:vector>
  </TitlesOfParts>
  <Company>SPi-Global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Starting out with Python, Fifth Edition</dc:title>
  <dc:subject>Computer Science</dc:subject>
  <dc:creator>Tony Gaddis</dc:creator>
  <cp:keywords>Computer program language</cp:keywords>
  <cp:lastModifiedBy>Kathiravan Natarajan</cp:lastModifiedBy>
  <cp:revision>667</cp:revision>
  <dcterms:created xsi:type="dcterms:W3CDTF">2014-07-14T20:04:21Z</dcterms:created>
  <dcterms:modified xsi:type="dcterms:W3CDTF">2024-04-01T02:51:37Z</dcterms:modified>
  <cp:category>IT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682740</vt:lpwstr>
  </property>
  <property fmtid="{D5CDD505-2E9C-101B-9397-08002B2CF9AE}" pid="3" name="Offisync_UpdateToken">
    <vt:lpwstr>1</vt:lpwstr>
  </property>
  <property fmtid="{D5CDD505-2E9C-101B-9397-08002B2CF9AE}" pid="4" name="Jive_VersionGuid">
    <vt:lpwstr>7b502893-ac4a-4309-967d-6eb652f6b574</vt:lpwstr>
  </property>
  <property fmtid="{D5CDD505-2E9C-101B-9397-08002B2CF9AE}" pid="5" name="Offisync_ProviderInitializationData">
    <vt:lpwstr>https://neo.pearson.com</vt:lpwstr>
  </property>
  <property fmtid="{D5CDD505-2E9C-101B-9397-08002B2CF9AE}" pid="6" name="Offisync_ServerID">
    <vt:lpwstr>7e960520-0e88-4f05-9fa0-24079b61e486</vt:lpwstr>
  </property>
  <property fmtid="{D5CDD505-2E9C-101B-9397-08002B2CF9AE}" pid="7" name="Jive_LatestUserAccountName">
    <vt:lpwstr>sumit.gupta</vt:lpwstr>
  </property>
</Properties>
</file>