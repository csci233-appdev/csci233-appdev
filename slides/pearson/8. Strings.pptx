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handoutMasterIdLst>
    <p:handoutMasterId r:id="rId30"/>
  </p:handoutMasterIdLst>
  <p:sldIdLst>
    <p:sldId id="290" r:id="rId2"/>
    <p:sldId id="257" r:id="rId3"/>
    <p:sldId id="286" r:id="rId4"/>
    <p:sldId id="287" r:id="rId5"/>
    <p:sldId id="312" r:id="rId6"/>
    <p:sldId id="289" r:id="rId7"/>
    <p:sldId id="291" r:id="rId8"/>
    <p:sldId id="292" r:id="rId9"/>
    <p:sldId id="293" r:id="rId10"/>
    <p:sldId id="294" r:id="rId11"/>
    <p:sldId id="295" r:id="rId12"/>
    <p:sldId id="296" r:id="rId13"/>
    <p:sldId id="297" r:id="rId14"/>
    <p:sldId id="313" r:id="rId15"/>
    <p:sldId id="299" r:id="rId16"/>
    <p:sldId id="314" r:id="rId17"/>
    <p:sldId id="301" r:id="rId18"/>
    <p:sldId id="302" r:id="rId19"/>
    <p:sldId id="315" r:id="rId20"/>
    <p:sldId id="304" r:id="rId21"/>
    <p:sldId id="305" r:id="rId22"/>
    <p:sldId id="309" r:id="rId23"/>
    <p:sldId id="310" r:id="rId24"/>
    <p:sldId id="307" r:id="rId25"/>
    <p:sldId id="306" r:id="rId26"/>
    <p:sldId id="311" r:id="rId27"/>
    <p:sldId id="285" r:id="rId2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08" userDrawn="1">
          <p15:clr>
            <a:srgbClr val="A4A3A4"/>
          </p15:clr>
        </p15:guide>
        <p15:guide id="2" pos="288" userDrawn="1">
          <p15:clr>
            <a:srgbClr val="A4A3A4"/>
          </p15:clr>
        </p15:guide>
        <p15:guide id="3" pos="547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akesh Kumar" initials="RK" lastIdx="8" clrIdx="0">
    <p:extLst>
      <p:ext uri="{19B8F6BF-5375-455C-9EA6-DF929625EA0E}">
        <p15:presenceInfo xmlns:p15="http://schemas.microsoft.com/office/powerpoint/2012/main" userId="S-1-5-21-2752970185-40930380-1894245210-5248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FA3"/>
    <a:srgbClr val="D4EAE4"/>
    <a:srgbClr val="00158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165" autoAdjust="0"/>
    <p:restoredTop sz="86891" autoAdjust="0"/>
  </p:normalViewPr>
  <p:slideViewPr>
    <p:cSldViewPr>
      <p:cViewPr varScale="1">
        <p:scale>
          <a:sx n="74" d="100"/>
          <a:sy n="74" d="100"/>
        </p:scale>
        <p:origin x="1690" y="67"/>
      </p:cViewPr>
      <p:guideLst>
        <p:guide orient="horz" pos="1008"/>
        <p:guide pos="288"/>
        <p:guide pos="547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2408"/>
    </p:cViewPr>
  </p:sorterViewPr>
  <p:notesViewPr>
    <p:cSldViewPr>
      <p:cViewPr varScale="1">
        <p:scale>
          <a:sx n="54" d="100"/>
          <a:sy n="54" d="100"/>
        </p:scale>
        <p:origin x="1794" y="7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35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8D874E-E9D5-433B-A149-BDF6BFDD40A8}" type="datetimeFigureOut">
              <a:rPr lang="en-US" smtClean="0"/>
              <a:pPr/>
              <a:t>1/6/2024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DCAA22-461C-45B4-A301-BFCA580174E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01922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051F04-9E25-42C3-8BC5-EC2E8469D95E}" type="datetimeFigureOut">
              <a:rPr lang="en-US" smtClean="0"/>
              <a:pPr/>
              <a:t>1/6/2024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3D6722-9B4D-4E29-B226-C325925A811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9598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 bwMode="white">
          <a:xfrm>
            <a:off x="0" y="0"/>
            <a:ext cx="9144000" cy="3886200"/>
          </a:xfrm>
          <a:prstGeom prst="rect">
            <a:avLst/>
          </a:prstGeom>
          <a:solidFill>
            <a:srgbClr val="007FA3"/>
          </a:solidFill>
          <a:ln>
            <a:solidFill>
              <a:srgbClr val="007F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0"/>
            <a:ext cx="7772400" cy="2838451"/>
          </a:xfrm>
        </p:spPr>
        <p:txBody>
          <a:bodyPr anchor="b">
            <a:no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74687" y="3962400"/>
            <a:ext cx="7794626" cy="1752600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3969" y="6172200"/>
            <a:ext cx="859536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pPr/>
              <a:t>1/6/2024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4" name="Shape 15" descr="Pearson Logo"/>
          <p:cNvPicPr preferRelativeResize="0"/>
          <p:nvPr userDrawn="1"/>
        </p:nvPicPr>
        <p:blipFill rotWithShape="1">
          <a:blip r:embed="rId2" cstate="print">
            <a:alphaModFix/>
          </a:blip>
          <a:srcRect/>
          <a:stretch/>
        </p:blipFill>
        <p:spPr>
          <a:xfrm>
            <a:off x="443972" y="6429709"/>
            <a:ext cx="917999" cy="27991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Slide Number Placeholder 4"/>
          <p:cNvSpPr txBox="1">
            <a:spLocks/>
          </p:cNvSpPr>
          <p:nvPr userDrawn="1"/>
        </p:nvSpPr>
        <p:spPr>
          <a:xfrm>
            <a:off x="7881256" y="6428232"/>
            <a:ext cx="914400" cy="20116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altLang="en-US" sz="1200" b="0" kern="1200" noProof="0" dirty="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8 - </a:t>
            </a:r>
            <a:fld id="{876BFF75-7A20-4B22-803D-E5D1449082FD}" type="slidenum">
              <a:rPr lang="en-US" altLang="en-US" sz="1200" b="0" kern="1200" noProof="0" smtClean="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altLang="en-US" sz="1200" b="0" kern="1200" noProof="0" dirty="0">
              <a:solidFill>
                <a:schemeClr val="tx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C5D1914-9979-4928-BEEB-4586CCB160A9}"/>
              </a:ext>
            </a:extLst>
          </p:cNvPr>
          <p:cNvSpPr txBox="1"/>
          <p:nvPr userDrawn="1"/>
        </p:nvSpPr>
        <p:spPr>
          <a:xfrm>
            <a:off x="1502228" y="6429974"/>
            <a:ext cx="6172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IN" sz="120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Copyright © </a:t>
            </a:r>
            <a:r>
              <a:rPr lang="en-IN" sz="1200" dirty="0">
                <a:latin typeface="Verdana" panose="020B0604030504040204" pitchFamily="34" charset="0"/>
                <a:ea typeface="Verdana" panose="020B0604030504040204" pitchFamily="34" charset="0"/>
              </a:rPr>
              <a:t>2021, 2018, 2015 </a:t>
            </a:r>
            <a:r>
              <a:rPr lang="en-IN" sz="120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Pearson Education, Inc. All Rights Reserved</a:t>
            </a:r>
            <a:endParaRPr lang="en-US" altLang="en-US" sz="1200" b="0" kern="12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79806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Ope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457200" y="215372"/>
            <a:ext cx="8229600" cy="622828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903514"/>
            <a:ext cx="8229600" cy="4789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2000">
                <a:solidFill>
                  <a:srgbClr val="007FA3"/>
                </a:solidFill>
              </a:defRPr>
            </a:lvl1pPr>
            <a:lvl2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Add edition here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5029200" y="1447800"/>
            <a:ext cx="3657600" cy="1600199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3000" baseline="0"/>
            </a:lvl1pPr>
            <a:lvl2pPr marL="0" indent="0">
              <a:spcBef>
                <a:spcPts val="0"/>
              </a:spcBef>
              <a:buNone/>
              <a:defRPr sz="4400"/>
            </a:lvl2pPr>
            <a:lvl3pPr marL="0" indent="0">
              <a:spcBef>
                <a:spcPts val="0"/>
              </a:spcBef>
              <a:buNone/>
              <a:defRPr sz="4400"/>
            </a:lvl3pPr>
            <a:lvl4pPr marL="0" indent="0">
              <a:spcBef>
                <a:spcPts val="0"/>
              </a:spcBef>
              <a:buNone/>
              <a:defRPr sz="4400"/>
            </a:lvl4pPr>
            <a:lvl5pPr marL="0" indent="0">
              <a:spcBef>
                <a:spcPts val="0"/>
              </a:spcBef>
              <a:buNone/>
              <a:defRPr sz="4400"/>
            </a:lvl5pPr>
            <a:lvl6pPr marL="0" indent="0">
              <a:spcBef>
                <a:spcPts val="0"/>
              </a:spcBef>
              <a:buNone/>
              <a:defRPr sz="4400"/>
            </a:lvl6pPr>
            <a:lvl7pPr marL="0" indent="0">
              <a:spcBef>
                <a:spcPts val="0"/>
              </a:spcBef>
              <a:buNone/>
              <a:defRPr sz="4400"/>
            </a:lvl7pPr>
            <a:lvl8pPr marL="0" indent="0">
              <a:spcBef>
                <a:spcPts val="0"/>
              </a:spcBef>
              <a:buNone/>
              <a:defRPr sz="4400"/>
            </a:lvl8pPr>
            <a:lvl9pPr marL="0" indent="0">
              <a:spcBef>
                <a:spcPts val="0"/>
              </a:spcBef>
              <a:buNone/>
              <a:defRPr sz="4400"/>
            </a:lvl9pPr>
          </a:lstStyle>
          <a:p>
            <a:pPr lvl="0"/>
            <a:r>
              <a:rPr lang="en-US" dirty="0"/>
              <a:t>Chapter ##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5" hasCustomPrompt="1"/>
          </p:nvPr>
        </p:nvSpPr>
        <p:spPr>
          <a:xfrm>
            <a:off x="5029200" y="3200400"/>
            <a:ext cx="3657600" cy="2925763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2200"/>
            </a:lvl1pPr>
            <a:lvl2pPr marL="0" indent="0">
              <a:spcBef>
                <a:spcPts val="0"/>
              </a:spcBef>
              <a:buNone/>
              <a:defRPr/>
            </a:lvl2pPr>
            <a:lvl3pPr marL="0" indent="0">
              <a:spcBef>
                <a:spcPts val="0"/>
              </a:spcBef>
              <a:buNone/>
              <a:defRPr/>
            </a:lvl3pPr>
            <a:lvl4pPr marL="0" indent="0">
              <a:spcBef>
                <a:spcPts val="0"/>
              </a:spcBef>
              <a:buNone/>
              <a:defRPr/>
            </a:lvl4pPr>
            <a:lvl5pPr marL="0" indent="0">
              <a:spcBef>
                <a:spcPts val="0"/>
              </a:spcBef>
              <a:buNone/>
              <a:defRPr/>
            </a:lvl5pPr>
            <a:lvl6pPr marL="0" indent="0">
              <a:spcBef>
                <a:spcPts val="0"/>
              </a:spcBef>
              <a:buNone/>
              <a:defRPr/>
            </a:lvl6pPr>
            <a:lvl7pPr marL="0" indent="0">
              <a:spcBef>
                <a:spcPts val="0"/>
              </a:spcBef>
              <a:buNone/>
              <a:defRPr/>
            </a:lvl7pPr>
            <a:lvl8pPr marL="0" indent="0">
              <a:spcBef>
                <a:spcPts val="0"/>
              </a:spcBef>
              <a:buNone/>
              <a:defRPr/>
            </a:lvl8pPr>
            <a:lvl9pPr marL="0" indent="0">
              <a:spcBef>
                <a:spcPts val="0"/>
              </a:spcBef>
              <a:buNone/>
              <a:defRPr/>
            </a:lvl9pPr>
          </a:lstStyle>
          <a:p>
            <a:pPr lvl="0"/>
            <a:r>
              <a:rPr lang="en-US" dirty="0"/>
              <a:t>Chapter title</a:t>
            </a:r>
          </a:p>
        </p:txBody>
      </p:sp>
      <p:sp>
        <p:nvSpPr>
          <p:cNvPr id="16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93969" y="6165337"/>
            <a:ext cx="859536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pPr/>
              <a:t>1/6/2024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2" name="Shape 15" descr="Pearson Logo"/>
          <p:cNvPicPr preferRelativeResize="0"/>
          <p:nvPr userDrawn="1"/>
        </p:nvPicPr>
        <p:blipFill rotWithShape="1">
          <a:blip r:embed="rId2" cstate="print">
            <a:alphaModFix/>
          </a:blip>
          <a:srcRect/>
          <a:stretch/>
        </p:blipFill>
        <p:spPr>
          <a:xfrm>
            <a:off x="443972" y="6429709"/>
            <a:ext cx="917999" cy="279914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Slide Number Placeholder 4"/>
          <p:cNvSpPr txBox="1">
            <a:spLocks/>
          </p:cNvSpPr>
          <p:nvPr userDrawn="1"/>
        </p:nvSpPr>
        <p:spPr>
          <a:xfrm>
            <a:off x="7881256" y="6428232"/>
            <a:ext cx="914400" cy="20116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altLang="en-US" sz="1200" b="0" kern="1200" noProof="0" dirty="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8 - </a:t>
            </a:r>
            <a:fld id="{876BFF75-7A20-4B22-803D-E5D1449082FD}" type="slidenum">
              <a:rPr lang="en-US" altLang="en-US" sz="1200" b="0" kern="1200" noProof="0" smtClean="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altLang="en-US" sz="1200" b="0" kern="1200" noProof="0" dirty="0">
              <a:solidFill>
                <a:schemeClr val="tx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10628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Learning Objectives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457200" y="215372"/>
            <a:ext cx="8229600" cy="622828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Learning Objectives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816430"/>
            <a:ext cx="8229600" cy="4027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rgbClr val="007FA3"/>
                </a:solidFill>
              </a:defRPr>
            </a:lvl1pPr>
            <a:lvl2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Click to add Learning Objective(s)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4"/>
          </p:nvPr>
        </p:nvSpPr>
        <p:spPr>
          <a:xfrm>
            <a:off x="457200" y="1600200"/>
            <a:ext cx="8229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</a:t>
            </a:r>
          </a:p>
          <a:p>
            <a:pPr lvl="6"/>
            <a:r>
              <a:rPr lang="en-US" dirty="0"/>
              <a:t>Seventh</a:t>
            </a:r>
          </a:p>
          <a:p>
            <a:pPr lvl="7"/>
            <a:r>
              <a:rPr lang="en-US" dirty="0"/>
              <a:t>Eighth</a:t>
            </a:r>
          </a:p>
          <a:p>
            <a:pPr lvl="8"/>
            <a:r>
              <a:rPr lang="en-US" dirty="0"/>
              <a:t>Ninth</a:t>
            </a:r>
          </a:p>
        </p:txBody>
      </p:sp>
      <p:sp>
        <p:nvSpPr>
          <p:cNvPr id="12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93969" y="6172200"/>
            <a:ext cx="859536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pPr/>
              <a:t>1/6/2024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24630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rgbClr val="007FA3"/>
              </a:buClr>
              <a:buSzPct val="100000"/>
              <a:defRPr sz="2600"/>
            </a:lvl1pPr>
            <a:lvl2pPr>
              <a:buClr>
                <a:srgbClr val="007FA3"/>
              </a:buClr>
              <a:defRPr sz="2400"/>
            </a:lvl2pPr>
            <a:lvl3pPr>
              <a:buClr>
                <a:srgbClr val="007FA3"/>
              </a:buClr>
              <a:defRPr sz="2200"/>
            </a:lvl3pPr>
            <a:lvl4pPr>
              <a:buClr>
                <a:srgbClr val="007FA3"/>
              </a:buClr>
              <a:defRPr sz="2000"/>
            </a:lvl4pPr>
            <a:lvl5pPr>
              <a:buClr>
                <a:srgbClr val="007FA3"/>
              </a:buClr>
              <a:defRPr sz="1800"/>
            </a:lvl5pPr>
            <a:lvl6pPr>
              <a:buClr>
                <a:srgbClr val="007FA3"/>
              </a:buClr>
              <a:defRPr sz="1600"/>
            </a:lvl6pPr>
            <a:lvl7pPr>
              <a:buClr>
                <a:srgbClr val="007FA3"/>
              </a:buClr>
              <a:defRPr sz="1600"/>
            </a:lvl7pPr>
            <a:lvl8pPr>
              <a:buClr>
                <a:srgbClr val="007FA3"/>
              </a:buClr>
              <a:defRPr sz="1600"/>
            </a:lvl8pPr>
            <a:lvl9pPr>
              <a:buClr>
                <a:srgbClr val="007FA3"/>
              </a:buCl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</a:t>
            </a:r>
          </a:p>
          <a:p>
            <a:pPr lvl="6"/>
            <a:r>
              <a:rPr lang="en-US" dirty="0"/>
              <a:t>Seventh</a:t>
            </a:r>
          </a:p>
          <a:p>
            <a:pPr lvl="7"/>
            <a:r>
              <a:rPr lang="en-US" dirty="0"/>
              <a:t>Eighth</a:t>
            </a:r>
          </a:p>
          <a:p>
            <a:pPr lvl="8"/>
            <a:r>
              <a:rPr lang="en-US" dirty="0"/>
              <a:t>Ninth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3969" y="6172200"/>
            <a:ext cx="859536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0"/>
          </p:nvPr>
        </p:nvSpPr>
        <p:spPr>
          <a:xfrm>
            <a:off x="6335713" y="113072"/>
            <a:ext cx="2133600" cy="182880"/>
          </a:xfrm>
        </p:spPr>
        <p:txBody>
          <a:bodyPr/>
          <a:lstStyle/>
          <a:p>
            <a:fld id="{A9DF6EFB-3F44-496C-A842-1E0B3D3B975A}" type="datetimeFigureOut">
              <a:rPr lang="en-US" smtClean="0"/>
              <a:pPr/>
              <a:t>1/6/2024</a:t>
            </a:fld>
            <a:endParaRPr lang="en-US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69312" y="113072"/>
            <a:ext cx="551783" cy="182880"/>
          </a:xfrm>
        </p:spPr>
        <p:txBody>
          <a:bodyPr/>
          <a:lstStyle/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0909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 Objectiv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18872" indent="-118872">
              <a:buClr>
                <a:srgbClr val="007FA3"/>
              </a:buClr>
              <a:buSzPct val="25000"/>
              <a:defRPr lang="en-US" sz="2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9913" indent="-285750">
              <a:buClr>
                <a:srgbClr val="007FA3"/>
              </a:buClr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buClr>
                <a:srgbClr val="007FA3"/>
              </a:buClr>
              <a:defRPr sz="2000"/>
            </a:lvl3pPr>
            <a:lvl4pPr>
              <a:buClr>
                <a:srgbClr val="007FA3"/>
              </a:buClr>
              <a:defRPr sz="2000"/>
            </a:lvl4pPr>
            <a:lvl5pPr>
              <a:buClr>
                <a:srgbClr val="007FA3"/>
              </a:buClr>
              <a:defRPr sz="2000"/>
            </a:lvl5pPr>
            <a:lvl6pPr>
              <a:buClr>
                <a:srgbClr val="007FA3"/>
              </a:buClr>
              <a:defRPr sz="2000"/>
            </a:lvl6pPr>
            <a:lvl7pPr>
              <a:buClr>
                <a:srgbClr val="007FA3"/>
              </a:buClr>
              <a:defRPr sz="2000"/>
            </a:lvl7pPr>
            <a:lvl8pPr>
              <a:buClr>
                <a:srgbClr val="007FA3"/>
              </a:buClr>
              <a:defRPr sz="2000"/>
            </a:lvl8pPr>
            <a:lvl9pPr>
              <a:buClr>
                <a:srgbClr val="007FA3"/>
              </a:buClr>
              <a:defRPr sz="2000"/>
            </a:lvl9pPr>
          </a:lstStyle>
          <a:p>
            <a:pPr marL="256032" lvl="0" indent="-256032" algn="l" defTabSz="914400" rtl="0" eaLnBrk="1" latinLnBrk="0" hangingPunct="1">
              <a:spcBef>
                <a:spcPts val="1500"/>
              </a:spcBef>
              <a:buClr>
                <a:srgbClr val="007FA3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Click to edit Master text styles</a:t>
            </a:r>
          </a:p>
          <a:p>
            <a:pPr marL="742950" lvl="1" indent="-285750" algn="l" defTabSz="914400" rtl="0" eaLnBrk="1" latinLnBrk="0" hangingPunct="1">
              <a:spcBef>
                <a:spcPts val="600"/>
              </a:spcBef>
              <a:buClr>
                <a:srgbClr val="007FA3"/>
              </a:buClr>
              <a:buFont typeface="Arial" panose="020B0604020202020204" pitchFamily="34" charset="0"/>
              <a:buChar char="–"/>
            </a:pPr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</a:t>
            </a:r>
          </a:p>
          <a:p>
            <a:pPr lvl="6"/>
            <a:r>
              <a:rPr lang="en-US" dirty="0"/>
              <a:t>Seventh</a:t>
            </a:r>
          </a:p>
          <a:p>
            <a:pPr lvl="7"/>
            <a:r>
              <a:rPr lang="en-US" dirty="0"/>
              <a:t>Eighth</a:t>
            </a:r>
          </a:p>
          <a:p>
            <a:pPr lvl="8"/>
            <a:r>
              <a:rPr lang="en-US" dirty="0"/>
              <a:t>Ninth</a:t>
            </a:r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3969" y="6172200"/>
            <a:ext cx="859536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pPr/>
              <a:t>1/6/2024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2008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gure +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 hasCustomPrompt="1"/>
          </p:nvPr>
        </p:nvSpPr>
        <p:spPr>
          <a:xfrm>
            <a:off x="457200" y="228600"/>
            <a:ext cx="8229600" cy="1066800"/>
          </a:xfrm>
        </p:spPr>
        <p:txBody>
          <a:bodyPr anchor="t"/>
          <a:lstStyle>
            <a:lvl1pPr>
              <a:defRPr sz="3400">
                <a:solidFill>
                  <a:srgbClr val="007FA3"/>
                </a:solidFill>
              </a:defRPr>
            </a:lvl1pPr>
          </a:lstStyle>
          <a:p>
            <a:r>
              <a:rPr lang="en-US" dirty="0"/>
              <a:t>Click to add figure number and title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5368160"/>
            <a:ext cx="8229600" cy="916856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1200"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 marL="0" indent="0">
              <a:spcBef>
                <a:spcPts val="0"/>
              </a:spcBef>
              <a:buNone/>
              <a:defRPr sz="1600"/>
            </a:lvl2pPr>
            <a:lvl3pPr marL="0" indent="0">
              <a:spcBef>
                <a:spcPts val="0"/>
              </a:spcBef>
              <a:buNone/>
              <a:defRPr sz="1600"/>
            </a:lvl3pPr>
            <a:lvl4pPr marL="0" indent="0">
              <a:spcBef>
                <a:spcPts val="0"/>
              </a:spcBef>
              <a:buNone/>
              <a:defRPr sz="1600"/>
            </a:lvl4pPr>
            <a:lvl5pPr marL="0" indent="0">
              <a:spcBef>
                <a:spcPts val="0"/>
              </a:spcBef>
              <a:buNone/>
              <a:defRPr sz="1600"/>
            </a:lvl5pPr>
            <a:lvl6pPr marL="0" indent="0">
              <a:spcBef>
                <a:spcPts val="0"/>
              </a:spcBef>
              <a:buNone/>
              <a:defRPr sz="1600"/>
            </a:lvl6pPr>
            <a:lvl7pPr marL="0" indent="0">
              <a:spcBef>
                <a:spcPts val="0"/>
              </a:spcBef>
              <a:buNone/>
              <a:defRPr sz="1600"/>
            </a:lvl7pPr>
            <a:lvl8pPr marL="0" indent="0">
              <a:spcBef>
                <a:spcPts val="0"/>
              </a:spcBef>
              <a:buNone/>
              <a:defRPr sz="1600"/>
            </a:lvl8pPr>
            <a:lvl9pPr marL="0" indent="0">
              <a:spcBef>
                <a:spcPts val="0"/>
              </a:spcBef>
              <a:buNone/>
              <a:defRPr sz="1600"/>
            </a:lvl9pPr>
          </a:lstStyle>
          <a:p>
            <a:pPr lvl="0"/>
            <a:r>
              <a:rPr lang="en-US" dirty="0"/>
              <a:t>Click to add caption</a:t>
            </a:r>
          </a:p>
        </p:txBody>
      </p:sp>
      <p:sp>
        <p:nvSpPr>
          <p:cNvPr id="11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93969" y="6172200"/>
            <a:ext cx="859536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9DF6EFB-3F44-496C-A842-1E0B3D3B975A}" type="datetimeFigureOut">
              <a:rPr lang="en-US" smtClean="0"/>
              <a:pPr/>
              <a:t>1/6/2024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4" name="Shape 15" descr="Pearson Logo"/>
          <p:cNvPicPr preferRelativeResize="0"/>
          <p:nvPr userDrawn="1"/>
        </p:nvPicPr>
        <p:blipFill rotWithShape="1">
          <a:blip r:embed="rId2" cstate="print">
            <a:alphaModFix/>
          </a:blip>
          <a:srcRect/>
          <a:stretch/>
        </p:blipFill>
        <p:spPr>
          <a:xfrm>
            <a:off x="443972" y="6429709"/>
            <a:ext cx="917999" cy="279914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Slide Number Placeholder 4"/>
          <p:cNvSpPr txBox="1">
            <a:spLocks/>
          </p:cNvSpPr>
          <p:nvPr userDrawn="1"/>
        </p:nvSpPr>
        <p:spPr>
          <a:xfrm>
            <a:off x="7881256" y="6428232"/>
            <a:ext cx="914400" cy="20116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altLang="en-US" sz="1200" b="0" kern="1200" noProof="0" dirty="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8 - </a:t>
            </a:r>
            <a:fld id="{876BFF75-7A20-4B22-803D-E5D1449082FD}" type="slidenum">
              <a:rPr lang="en-US" altLang="en-US" sz="1200" b="0" kern="1200" noProof="0" smtClean="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altLang="en-US" sz="1200" b="0" kern="1200" noProof="0" dirty="0">
              <a:solidFill>
                <a:schemeClr val="tx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3FB0CCA-42FE-4F49-B329-D58EC7D36F62}"/>
              </a:ext>
            </a:extLst>
          </p:cNvPr>
          <p:cNvSpPr txBox="1"/>
          <p:nvPr userDrawn="1"/>
        </p:nvSpPr>
        <p:spPr>
          <a:xfrm>
            <a:off x="1502228" y="6429974"/>
            <a:ext cx="6172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IN" sz="120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Copyright © </a:t>
            </a:r>
            <a:r>
              <a:rPr lang="en-IN" sz="1200" dirty="0">
                <a:latin typeface="Verdana" panose="020B0604030504040204" pitchFamily="34" charset="0"/>
                <a:ea typeface="Verdana" panose="020B0604030504040204" pitchFamily="34" charset="0"/>
              </a:rPr>
              <a:t>2021, 2018, 2015 </a:t>
            </a:r>
            <a:r>
              <a:rPr lang="en-IN" sz="120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Pearson Education, Inc. All Rights Reserved</a:t>
            </a:r>
            <a:endParaRPr lang="en-US" altLang="en-US" sz="1200" b="0" kern="12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37960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21637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3"/>
          </p:nvPr>
        </p:nvSpPr>
        <p:spPr>
          <a:xfrm>
            <a:off x="457200" y="3962400"/>
            <a:ext cx="8229600" cy="21637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3969" y="6172200"/>
            <a:ext cx="859536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pPr/>
              <a:t>1/6/2024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47999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447800"/>
            <a:ext cx="7772400" cy="2152651"/>
          </a:xfrm>
        </p:spPr>
        <p:txBody>
          <a:bodyPr anchor="b">
            <a:noAutofit/>
          </a:bodyPr>
          <a:lstStyle>
            <a:lvl1pPr algn="l">
              <a:defRPr sz="3400" b="1" cap="none" baseline="0">
                <a:solidFill>
                  <a:srgbClr val="007FA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4687" y="3962400"/>
            <a:ext cx="7794627" cy="1752600"/>
          </a:xfrm>
        </p:spPr>
        <p:txBody>
          <a:bodyPr anchor="t">
            <a:no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rgbClr val="007FA3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3969" y="6172200"/>
            <a:ext cx="859536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pPr/>
              <a:t>1/6/2024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47041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93969" y="6172200"/>
            <a:ext cx="859536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pPr/>
              <a:t>1/6/2024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51265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93969" y="6172200"/>
            <a:ext cx="859536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9DF6EFB-3F44-496C-A842-1E0B3D3B975A}" type="datetimeFigureOut">
              <a:rPr lang="en-US" smtClean="0"/>
              <a:pPr/>
              <a:t>1/6/2024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Shape 15" descr="Pearson Logo"/>
          <p:cNvPicPr preferRelativeResize="0"/>
          <p:nvPr userDrawn="1"/>
        </p:nvPicPr>
        <p:blipFill rotWithShape="1">
          <a:blip r:embed="rId2" cstate="print">
            <a:alphaModFix/>
          </a:blip>
          <a:srcRect/>
          <a:stretch/>
        </p:blipFill>
        <p:spPr>
          <a:xfrm>
            <a:off x="443972" y="6429709"/>
            <a:ext cx="917999" cy="279914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Slide Number Placeholder 4"/>
          <p:cNvSpPr txBox="1">
            <a:spLocks/>
          </p:cNvSpPr>
          <p:nvPr userDrawn="1"/>
        </p:nvSpPr>
        <p:spPr>
          <a:xfrm>
            <a:off x="7881256" y="6428232"/>
            <a:ext cx="914400" cy="20116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altLang="en-US" sz="1200" b="0" kern="1200" noProof="0" dirty="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8 - </a:t>
            </a:r>
            <a:fld id="{876BFF75-7A20-4B22-803D-E5D1449082FD}" type="slidenum">
              <a:rPr lang="en-US" altLang="en-US" sz="1200" b="0" kern="1200" noProof="0" smtClean="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altLang="en-US" sz="1200" b="0" kern="1200" noProof="0" dirty="0">
              <a:solidFill>
                <a:schemeClr val="tx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9F0ED46-ED41-4598-BC5D-77A94B216872}"/>
              </a:ext>
            </a:extLst>
          </p:cNvPr>
          <p:cNvSpPr txBox="1"/>
          <p:nvPr userDrawn="1"/>
        </p:nvSpPr>
        <p:spPr>
          <a:xfrm>
            <a:off x="1502228" y="6429974"/>
            <a:ext cx="6172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IN" sz="120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Copyright © </a:t>
            </a:r>
            <a:r>
              <a:rPr lang="en-IN" sz="1200" dirty="0">
                <a:latin typeface="Verdana" panose="020B0604030504040204" pitchFamily="34" charset="0"/>
                <a:ea typeface="Verdana" panose="020B0604030504040204" pitchFamily="34" charset="0"/>
              </a:rPr>
              <a:t>2021, 2018, 2015 </a:t>
            </a:r>
            <a:r>
              <a:rPr lang="en-IN" sz="120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Pearson Education, Inc. All Rights Reserved</a:t>
            </a:r>
            <a:endParaRPr lang="en-US" altLang="en-US" sz="1200" b="0" kern="12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11366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9456"/>
            <a:ext cx="8229600" cy="109728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8"/>
          </p:nvPr>
        </p:nvSpPr>
        <p:spPr>
          <a:xfrm>
            <a:off x="457200" y="1457450"/>
            <a:ext cx="8229600" cy="914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57200" y="1599180"/>
            <a:ext cx="2560320" cy="1463040"/>
          </a:xfrm>
          <a:solidFill>
            <a:srgbClr val="C5F3FF"/>
          </a:solidFill>
          <a:ln>
            <a:solidFill>
              <a:srgbClr val="007FA3"/>
            </a:solidFill>
          </a:ln>
        </p:spPr>
        <p:txBody>
          <a:bodyPr lIns="91440" tIns="91440" rIns="91440" bIns="91440" anchor="ctr" anchorCtr="0"/>
          <a:lstStyle>
            <a:lvl1pPr marL="0" indent="0" algn="ctr">
              <a:buFont typeface="Arial" pitchFamily="34" charset="0"/>
              <a:buNone/>
              <a:defRPr sz="2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3291114" y="1601940"/>
            <a:ext cx="2560320" cy="1463040"/>
          </a:xfrm>
          <a:solidFill>
            <a:srgbClr val="C5F3FF"/>
          </a:solidFill>
          <a:ln>
            <a:solidFill>
              <a:srgbClr val="007FA3"/>
            </a:solidFill>
          </a:ln>
        </p:spPr>
        <p:txBody>
          <a:bodyPr lIns="91440" tIns="91440" rIns="91440" bIns="91440" anchor="ctr" anchorCtr="0"/>
          <a:lstStyle>
            <a:lvl1pPr algn="ctr">
              <a:buNone/>
              <a:defRPr sz="22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26480" y="1599180"/>
            <a:ext cx="2560320" cy="1463040"/>
          </a:xfrm>
          <a:solidFill>
            <a:srgbClr val="C5F3FF"/>
          </a:solidFill>
          <a:ln>
            <a:solidFill>
              <a:srgbClr val="007FA3"/>
            </a:solidFill>
          </a:ln>
        </p:spPr>
        <p:txBody>
          <a:bodyPr lIns="91440" tIns="91440" rIns="91440" bIns="91440" anchor="ctr" anchorCtr="0"/>
          <a:lstStyle>
            <a:lvl1pPr marL="0" indent="0" algn="ctr">
              <a:buFont typeface="Arial" pitchFamily="34" charset="0"/>
              <a:buNone/>
              <a:defRPr sz="2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457200" y="3175650"/>
            <a:ext cx="2560320" cy="1463040"/>
          </a:xfrm>
          <a:solidFill>
            <a:srgbClr val="C5F3FF"/>
          </a:solidFill>
          <a:ln>
            <a:solidFill>
              <a:srgbClr val="007FA3"/>
            </a:solidFill>
          </a:ln>
        </p:spPr>
        <p:txBody>
          <a:bodyPr lIns="91440" tIns="91440" rIns="91440" bIns="91440" anchor="ctr" anchorCtr="0"/>
          <a:lstStyle>
            <a:lvl1pPr algn="ctr">
              <a:buNone/>
              <a:defRPr sz="22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0" name="Content Placeholder 3"/>
          <p:cNvSpPr>
            <a:spLocks noGrp="1"/>
          </p:cNvSpPr>
          <p:nvPr>
            <p:ph sz="half" idx="13" hasCustomPrompt="1"/>
          </p:nvPr>
        </p:nvSpPr>
        <p:spPr>
          <a:xfrm>
            <a:off x="3300984" y="3175650"/>
            <a:ext cx="2560320" cy="1463040"/>
          </a:xfrm>
          <a:solidFill>
            <a:srgbClr val="C5F3FF"/>
          </a:solidFill>
          <a:ln>
            <a:solidFill>
              <a:srgbClr val="007FA3"/>
            </a:solidFill>
          </a:ln>
        </p:spPr>
        <p:txBody>
          <a:bodyPr lIns="91440" tIns="91440" rIns="91440" bIns="91440" anchor="ctr" anchorCtr="0"/>
          <a:lstStyle>
            <a:lvl1pPr algn="ctr">
              <a:buNone/>
              <a:defRPr sz="22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1" name="Content Placeholder 5"/>
          <p:cNvSpPr>
            <a:spLocks noGrp="1"/>
          </p:cNvSpPr>
          <p:nvPr>
            <p:ph sz="quarter" idx="14" hasCustomPrompt="1"/>
          </p:nvPr>
        </p:nvSpPr>
        <p:spPr>
          <a:xfrm>
            <a:off x="6128658" y="3171876"/>
            <a:ext cx="2560320" cy="1463040"/>
          </a:xfrm>
          <a:solidFill>
            <a:srgbClr val="C5F3FF"/>
          </a:solidFill>
          <a:ln>
            <a:solidFill>
              <a:srgbClr val="007FA3"/>
            </a:solidFill>
          </a:ln>
        </p:spPr>
        <p:txBody>
          <a:bodyPr lIns="91440" tIns="91440" rIns="91440" bIns="91440" anchor="ctr" anchorCtr="0"/>
          <a:lstStyle>
            <a:lvl1pPr algn="ctr">
              <a:buNone/>
              <a:defRPr sz="22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2" name="Content Placeholder 5"/>
          <p:cNvSpPr>
            <a:spLocks noGrp="1"/>
          </p:cNvSpPr>
          <p:nvPr>
            <p:ph sz="quarter" idx="15" hasCustomPrompt="1"/>
          </p:nvPr>
        </p:nvSpPr>
        <p:spPr>
          <a:xfrm>
            <a:off x="457200" y="4761264"/>
            <a:ext cx="2560320" cy="1463040"/>
          </a:xfrm>
          <a:solidFill>
            <a:srgbClr val="C5F3FF"/>
          </a:solidFill>
          <a:ln>
            <a:solidFill>
              <a:srgbClr val="007FA3"/>
            </a:solidFill>
          </a:ln>
        </p:spPr>
        <p:txBody>
          <a:bodyPr lIns="91440" tIns="91440" rIns="91440" bIns="91440" anchor="ctr" anchorCtr="0"/>
          <a:lstStyle>
            <a:lvl1pPr algn="ctr">
              <a:buNone/>
              <a:defRPr sz="22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6" hasCustomPrompt="1"/>
          </p:nvPr>
        </p:nvSpPr>
        <p:spPr>
          <a:xfrm>
            <a:off x="3299388" y="4761264"/>
            <a:ext cx="2560320" cy="1463040"/>
          </a:xfrm>
          <a:solidFill>
            <a:srgbClr val="C5F3FF"/>
          </a:solidFill>
          <a:ln>
            <a:solidFill>
              <a:srgbClr val="007FA3"/>
            </a:solidFill>
          </a:ln>
        </p:spPr>
        <p:txBody>
          <a:bodyPr lIns="91440" tIns="91440" rIns="91440" bIns="91440" anchor="ctr" anchorCtr="0"/>
          <a:lstStyle>
            <a:lvl1pPr algn="ctr">
              <a:buNone/>
              <a:defRPr sz="22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4" name="Content Placeholder 5"/>
          <p:cNvSpPr>
            <a:spLocks noGrp="1"/>
          </p:cNvSpPr>
          <p:nvPr>
            <p:ph sz="quarter" idx="17" hasCustomPrompt="1"/>
          </p:nvPr>
        </p:nvSpPr>
        <p:spPr>
          <a:xfrm>
            <a:off x="6128658" y="4764312"/>
            <a:ext cx="2560320" cy="1463040"/>
          </a:xfrm>
          <a:solidFill>
            <a:srgbClr val="C5F3FF"/>
          </a:solidFill>
          <a:ln>
            <a:solidFill>
              <a:srgbClr val="007FA3"/>
            </a:solidFill>
          </a:ln>
        </p:spPr>
        <p:txBody>
          <a:bodyPr lIns="91440" tIns="91440" rIns="91440" bIns="91440" anchor="ctr" anchorCtr="0"/>
          <a:lstStyle>
            <a:lvl1pPr algn="ctr">
              <a:buNone/>
              <a:defRPr sz="22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buFont typeface="Arial" pitchFamily="34" charset="0"/>
              <a:buNone/>
              <a:defRPr/>
            </a:lvl1pPr>
          </a:lstStyle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BC1D4-5704-45BB-BA8B-9B7E98161C8B}" type="datetimeFigureOut">
              <a:rPr lang="en-US" smtClean="0"/>
              <a:pPr/>
              <a:t>1/6/2024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04A2B-EE51-41D7-B879-F8E5E9C5105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7165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rgbClr val="007FA3"/>
              </a:buClr>
              <a:buSzPct val="100000"/>
              <a:defRPr sz="2800"/>
            </a:lvl1pPr>
            <a:lvl2pPr>
              <a:buClr>
                <a:srgbClr val="007FA3"/>
              </a:buClr>
              <a:defRPr sz="2400"/>
            </a:lvl2pPr>
            <a:lvl3pPr>
              <a:buClr>
                <a:srgbClr val="007FA3"/>
              </a:buClr>
              <a:defRPr sz="2000"/>
            </a:lvl3pPr>
            <a:lvl4pPr>
              <a:buClr>
                <a:srgbClr val="007FA3"/>
              </a:buClr>
              <a:defRPr sz="2000"/>
            </a:lvl4pPr>
            <a:lvl5pPr>
              <a:buClr>
                <a:srgbClr val="007FA3"/>
              </a:buClr>
              <a:defRPr sz="2000"/>
            </a:lvl5pPr>
            <a:lvl6pPr>
              <a:buClr>
                <a:srgbClr val="007FA3"/>
              </a:buClr>
              <a:defRPr sz="2000"/>
            </a:lvl6pPr>
            <a:lvl7pPr>
              <a:buClr>
                <a:srgbClr val="007FA3"/>
              </a:buClr>
              <a:defRPr sz="2000"/>
            </a:lvl7pPr>
            <a:lvl8pPr>
              <a:buClr>
                <a:srgbClr val="007FA3"/>
              </a:buClr>
              <a:defRPr sz="2000"/>
            </a:lvl8pPr>
            <a:lvl9pPr>
              <a:buClr>
                <a:srgbClr val="007FA3"/>
              </a:buCl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</a:t>
            </a:r>
          </a:p>
          <a:p>
            <a:pPr lvl="6"/>
            <a:r>
              <a:rPr lang="en-US" dirty="0"/>
              <a:t>Seventh</a:t>
            </a:r>
          </a:p>
          <a:p>
            <a:pPr lvl="7"/>
            <a:r>
              <a:rPr lang="en-US" dirty="0"/>
              <a:t>Eighth</a:t>
            </a:r>
          </a:p>
          <a:p>
            <a:pPr lvl="8"/>
            <a:r>
              <a:rPr lang="en-US" dirty="0"/>
              <a:t>Ninth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3969" y="6172200"/>
            <a:ext cx="859536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0"/>
          </p:nvPr>
        </p:nvSpPr>
        <p:spPr>
          <a:xfrm>
            <a:off x="6335713" y="113072"/>
            <a:ext cx="2133600" cy="182880"/>
          </a:xfrm>
        </p:spPr>
        <p:txBody>
          <a:bodyPr/>
          <a:lstStyle/>
          <a:p>
            <a:fld id="{A9DF6EFB-3F44-496C-A842-1E0B3D3B975A}" type="datetimeFigureOut">
              <a:rPr lang="en-US" smtClean="0"/>
              <a:pPr/>
              <a:t>1/6/2024</a:t>
            </a:fld>
            <a:endParaRPr lang="en-US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69312" y="113072"/>
            <a:ext cx="551783" cy="182880"/>
          </a:xfrm>
        </p:spPr>
        <p:txBody>
          <a:bodyPr/>
          <a:lstStyle/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6126480" y="1600200"/>
            <a:ext cx="2560320" cy="1463040"/>
          </a:xfrm>
          <a:solidFill>
            <a:srgbClr val="C5F3FF"/>
          </a:solidFill>
          <a:ln>
            <a:solidFill>
              <a:srgbClr val="007FA3"/>
            </a:solidFill>
          </a:ln>
        </p:spPr>
        <p:txBody>
          <a:bodyPr lIns="91440" tIns="91440" rIns="91440" bIns="91440" anchor="ctr" anchorCtr="0"/>
          <a:lstStyle>
            <a:lvl1pPr marL="0" indent="0" algn="ctr">
              <a:buFont typeface="Arial" pitchFamily="34" charset="0"/>
              <a:buNone/>
              <a:defRPr sz="2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57200" y="1600200"/>
            <a:ext cx="2560320" cy="1463040"/>
          </a:xfrm>
          <a:solidFill>
            <a:srgbClr val="C5F3FF"/>
          </a:solidFill>
          <a:ln>
            <a:solidFill>
              <a:srgbClr val="007FA3"/>
            </a:solidFill>
          </a:ln>
        </p:spPr>
        <p:txBody>
          <a:bodyPr lIns="91440" tIns="91440" rIns="91440" bIns="91440" anchor="ctr" anchorCtr="0"/>
          <a:lstStyle>
            <a:lvl1pPr algn="ctr">
              <a:buNone/>
              <a:defRPr sz="22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3291840" y="1599180"/>
            <a:ext cx="2560320" cy="1463040"/>
          </a:xfrm>
          <a:solidFill>
            <a:srgbClr val="C5F3FF"/>
          </a:solidFill>
          <a:ln>
            <a:solidFill>
              <a:srgbClr val="007FA3"/>
            </a:solidFill>
          </a:ln>
        </p:spPr>
        <p:txBody>
          <a:bodyPr lIns="91440" tIns="91440" rIns="91440" bIns="91440" anchor="ctr" anchorCtr="0"/>
          <a:lstStyle>
            <a:lvl1pPr marL="0" indent="0" algn="ctr">
              <a:buFont typeface="Arial" pitchFamily="34" charset="0"/>
              <a:buNone/>
              <a:defRPr sz="2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2109093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21637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3"/>
          </p:nvPr>
        </p:nvSpPr>
        <p:spPr>
          <a:xfrm>
            <a:off x="457200" y="3962400"/>
            <a:ext cx="8229600" cy="21637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3969" y="6172200"/>
            <a:ext cx="859536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pPr/>
              <a:t>1/6/2024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Text Placeholder 2"/>
          <p:cNvSpPr>
            <a:spLocks noGrp="1"/>
          </p:cNvSpPr>
          <p:nvPr>
            <p:ph type="body" idx="14" hasCustomPrompt="1"/>
          </p:nvPr>
        </p:nvSpPr>
        <p:spPr>
          <a:xfrm>
            <a:off x="6126480" y="1600200"/>
            <a:ext cx="2560320" cy="1463040"/>
          </a:xfrm>
          <a:solidFill>
            <a:srgbClr val="C5F3FF"/>
          </a:solidFill>
          <a:ln>
            <a:solidFill>
              <a:srgbClr val="007FA3"/>
            </a:solidFill>
          </a:ln>
        </p:spPr>
        <p:txBody>
          <a:bodyPr lIns="91440" tIns="91440" rIns="91440" bIns="91440" anchor="ctr" anchorCtr="0"/>
          <a:lstStyle>
            <a:lvl1pPr marL="0" indent="0" algn="ctr">
              <a:buFont typeface="Arial" pitchFamily="34" charset="0"/>
              <a:buNone/>
              <a:defRPr sz="2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7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57200" y="1600200"/>
            <a:ext cx="2560320" cy="1463040"/>
          </a:xfrm>
          <a:solidFill>
            <a:srgbClr val="C5F3FF"/>
          </a:solidFill>
          <a:ln>
            <a:solidFill>
              <a:srgbClr val="007FA3"/>
            </a:solidFill>
          </a:ln>
        </p:spPr>
        <p:txBody>
          <a:bodyPr lIns="91440" tIns="91440" rIns="91440" bIns="91440" anchor="ctr" anchorCtr="0"/>
          <a:lstStyle>
            <a:lvl1pPr algn="ctr">
              <a:buNone/>
              <a:defRPr sz="22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8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3291840" y="1599180"/>
            <a:ext cx="2560320" cy="1463040"/>
          </a:xfrm>
          <a:solidFill>
            <a:srgbClr val="C5F3FF"/>
          </a:solidFill>
          <a:ln>
            <a:solidFill>
              <a:srgbClr val="007FA3"/>
            </a:solidFill>
          </a:ln>
        </p:spPr>
        <p:txBody>
          <a:bodyPr lIns="91440" tIns="91440" rIns="91440" bIns="91440" anchor="ctr" anchorCtr="0"/>
          <a:lstStyle>
            <a:lvl1pPr marL="0" indent="0" algn="ctr">
              <a:buFont typeface="Arial" pitchFamily="34" charset="0"/>
              <a:buNone/>
              <a:defRPr sz="2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1547999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Figure +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 hasCustomPrompt="1"/>
          </p:nvPr>
        </p:nvSpPr>
        <p:spPr>
          <a:xfrm>
            <a:off x="457200" y="228600"/>
            <a:ext cx="8229600" cy="1066800"/>
          </a:xfrm>
        </p:spPr>
        <p:txBody>
          <a:bodyPr anchor="t"/>
          <a:lstStyle>
            <a:lvl1pPr>
              <a:defRPr sz="3400">
                <a:solidFill>
                  <a:srgbClr val="007FA3"/>
                </a:solidFill>
              </a:defRPr>
            </a:lvl1pPr>
          </a:lstStyle>
          <a:p>
            <a:r>
              <a:rPr lang="en-US" dirty="0"/>
              <a:t>Click to add figure number and title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5368160"/>
            <a:ext cx="8229600" cy="916856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800"/>
            </a:lvl1pPr>
            <a:lvl2pPr marL="0" indent="0">
              <a:spcBef>
                <a:spcPts val="0"/>
              </a:spcBef>
              <a:buNone/>
              <a:defRPr sz="1600"/>
            </a:lvl2pPr>
            <a:lvl3pPr marL="0" indent="0">
              <a:spcBef>
                <a:spcPts val="0"/>
              </a:spcBef>
              <a:buNone/>
              <a:defRPr sz="1600"/>
            </a:lvl3pPr>
            <a:lvl4pPr marL="0" indent="0">
              <a:spcBef>
                <a:spcPts val="0"/>
              </a:spcBef>
              <a:buNone/>
              <a:defRPr sz="1600"/>
            </a:lvl4pPr>
            <a:lvl5pPr marL="0" indent="0">
              <a:spcBef>
                <a:spcPts val="0"/>
              </a:spcBef>
              <a:buNone/>
              <a:defRPr sz="1600"/>
            </a:lvl5pPr>
            <a:lvl6pPr marL="0" indent="0">
              <a:spcBef>
                <a:spcPts val="0"/>
              </a:spcBef>
              <a:buNone/>
              <a:defRPr sz="1600"/>
            </a:lvl6pPr>
            <a:lvl7pPr marL="0" indent="0">
              <a:spcBef>
                <a:spcPts val="0"/>
              </a:spcBef>
              <a:buNone/>
              <a:defRPr sz="1600"/>
            </a:lvl7pPr>
            <a:lvl8pPr marL="0" indent="0">
              <a:spcBef>
                <a:spcPts val="0"/>
              </a:spcBef>
              <a:buNone/>
              <a:defRPr sz="1600"/>
            </a:lvl8pPr>
            <a:lvl9pPr marL="0" indent="0">
              <a:spcBef>
                <a:spcPts val="0"/>
              </a:spcBef>
              <a:buNone/>
              <a:defRPr sz="1600"/>
            </a:lvl9pPr>
          </a:lstStyle>
          <a:p>
            <a:pPr lvl="0"/>
            <a:r>
              <a:rPr lang="en-US" dirty="0"/>
              <a:t>Click to add caption</a:t>
            </a:r>
          </a:p>
        </p:txBody>
      </p:sp>
      <p:sp>
        <p:nvSpPr>
          <p:cNvPr id="11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93969" y="6172200"/>
            <a:ext cx="859536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9DF6EFB-3F44-496C-A842-1E0B3D3B975A}" type="datetimeFigureOut">
              <a:rPr lang="en-US" smtClean="0"/>
              <a:pPr/>
              <a:t>1/6/2024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 Placeholder 2"/>
          <p:cNvSpPr>
            <a:spLocks noGrp="1"/>
          </p:cNvSpPr>
          <p:nvPr>
            <p:ph type="body" idx="14" hasCustomPrompt="1"/>
          </p:nvPr>
        </p:nvSpPr>
        <p:spPr>
          <a:xfrm>
            <a:off x="6126480" y="1600200"/>
            <a:ext cx="2560320" cy="1463040"/>
          </a:xfrm>
          <a:solidFill>
            <a:srgbClr val="C5F3FF"/>
          </a:solidFill>
          <a:ln>
            <a:solidFill>
              <a:srgbClr val="007FA3"/>
            </a:solidFill>
          </a:ln>
        </p:spPr>
        <p:txBody>
          <a:bodyPr lIns="91440" tIns="91440" rIns="91440" bIns="91440" anchor="ctr" anchorCtr="0"/>
          <a:lstStyle>
            <a:lvl1pPr marL="0" indent="0" algn="ctr">
              <a:buFont typeface="Arial" pitchFamily="34" charset="0"/>
              <a:buNone/>
              <a:defRPr sz="2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3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57200" y="1600200"/>
            <a:ext cx="2560320" cy="1463040"/>
          </a:xfrm>
          <a:solidFill>
            <a:srgbClr val="C5F3FF"/>
          </a:solidFill>
          <a:ln>
            <a:solidFill>
              <a:srgbClr val="007FA3"/>
            </a:solidFill>
          </a:ln>
        </p:spPr>
        <p:txBody>
          <a:bodyPr lIns="91440" tIns="91440" rIns="91440" bIns="91440" anchor="ctr" anchorCtr="0"/>
          <a:lstStyle>
            <a:lvl1pPr algn="ctr">
              <a:buNone/>
              <a:defRPr sz="22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7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3291840" y="1599180"/>
            <a:ext cx="2560320" cy="1463040"/>
          </a:xfrm>
          <a:solidFill>
            <a:srgbClr val="C5F3FF"/>
          </a:solidFill>
          <a:ln>
            <a:solidFill>
              <a:srgbClr val="007FA3"/>
            </a:solidFill>
          </a:ln>
        </p:spPr>
        <p:txBody>
          <a:bodyPr lIns="91440" tIns="91440" rIns="91440" bIns="91440" anchor="ctr" anchorCtr="0"/>
          <a:lstStyle>
            <a:lvl1pPr marL="0" indent="0" algn="ctr">
              <a:buFont typeface="Arial" pitchFamily="34" charset="0"/>
              <a:buNone/>
              <a:defRPr sz="2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Text</a:t>
            </a:r>
          </a:p>
        </p:txBody>
      </p:sp>
      <p:pic>
        <p:nvPicPr>
          <p:cNvPr id="15" name="Shape 15" descr="Pearson Logo"/>
          <p:cNvPicPr preferRelativeResize="0"/>
          <p:nvPr userDrawn="1"/>
        </p:nvPicPr>
        <p:blipFill rotWithShape="1">
          <a:blip r:embed="rId2" cstate="print">
            <a:alphaModFix/>
          </a:blip>
          <a:srcRect/>
          <a:stretch/>
        </p:blipFill>
        <p:spPr>
          <a:xfrm>
            <a:off x="443972" y="6429709"/>
            <a:ext cx="917999" cy="27991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Slide Number Placeholder 4"/>
          <p:cNvSpPr txBox="1">
            <a:spLocks/>
          </p:cNvSpPr>
          <p:nvPr userDrawn="1"/>
        </p:nvSpPr>
        <p:spPr>
          <a:xfrm>
            <a:off x="7881256" y="6428232"/>
            <a:ext cx="914400" cy="20116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altLang="en-US" sz="1200" b="0" kern="1200" noProof="0" dirty="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3 - </a:t>
            </a:r>
            <a:fld id="{876BFF75-7A20-4B22-803D-E5D1449082FD}" type="slidenum">
              <a:rPr lang="en-US" altLang="en-US" sz="1200" b="0" kern="1200" noProof="0" smtClean="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altLang="en-US" sz="1200" b="0" kern="1200" noProof="0" dirty="0">
              <a:solidFill>
                <a:schemeClr val="tx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7929C19-A940-4FDA-BB74-83E573C05348}"/>
              </a:ext>
            </a:extLst>
          </p:cNvPr>
          <p:cNvSpPr txBox="1"/>
          <p:nvPr userDrawn="1"/>
        </p:nvSpPr>
        <p:spPr>
          <a:xfrm>
            <a:off x="1502228" y="6429974"/>
            <a:ext cx="6172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IN" sz="120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Copyright © </a:t>
            </a:r>
            <a:r>
              <a:rPr lang="en-IN" sz="1200" dirty="0">
                <a:latin typeface="Verdana" panose="020B0604030504040204" pitchFamily="34" charset="0"/>
                <a:ea typeface="Verdana" panose="020B0604030504040204" pitchFamily="34" charset="0"/>
              </a:rPr>
              <a:t>2021, 2018, 2015 </a:t>
            </a:r>
            <a:r>
              <a:rPr lang="en-IN" sz="120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Pearson Education, Inc. All Rights Reserved</a:t>
            </a:r>
            <a:endParaRPr lang="en-US" altLang="en-US" sz="1200" b="0" kern="12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37960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+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457200" y="35256"/>
            <a:ext cx="8229600" cy="109728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69149"/>
            <a:ext cx="8229600" cy="4248459"/>
          </a:xfrm>
        </p:spPr>
        <p:txBody>
          <a:bodyPr/>
          <a:lstStyle>
            <a:lvl1pPr>
              <a:buClr>
                <a:srgbClr val="007FA3"/>
              </a:buClr>
              <a:buSzPct val="100000"/>
              <a:defRPr/>
            </a:lvl1pPr>
            <a:lvl2pPr>
              <a:buClr>
                <a:srgbClr val="007FA3"/>
              </a:buClr>
              <a:defRPr/>
            </a:lvl2pPr>
            <a:lvl3pPr>
              <a:buClr>
                <a:srgbClr val="007FA3"/>
              </a:buClr>
              <a:defRPr/>
            </a:lvl3pPr>
            <a:lvl4pPr>
              <a:buClr>
                <a:srgbClr val="007FA3"/>
              </a:buClr>
              <a:defRPr/>
            </a:lvl4pPr>
            <a:lvl5pPr>
              <a:buClr>
                <a:srgbClr val="007FA3"/>
              </a:buClr>
              <a:defRPr/>
            </a:lvl5pPr>
            <a:lvl6pPr>
              <a:buClr>
                <a:srgbClr val="007FA3"/>
              </a:buClr>
              <a:defRPr/>
            </a:lvl6pPr>
            <a:lvl7pPr>
              <a:buClr>
                <a:srgbClr val="007FA3"/>
              </a:buClr>
              <a:defRPr/>
            </a:lvl7pPr>
            <a:lvl8pPr>
              <a:buClr>
                <a:srgbClr val="007FA3"/>
              </a:buClr>
              <a:defRPr/>
            </a:lvl8pPr>
            <a:lvl9pPr>
              <a:buClr>
                <a:srgbClr val="007FA3"/>
              </a:buClr>
              <a:defRPr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</a:t>
            </a:r>
          </a:p>
          <a:p>
            <a:pPr lvl="6"/>
            <a:r>
              <a:rPr lang="en-US" dirty="0"/>
              <a:t>Seventh</a:t>
            </a:r>
          </a:p>
          <a:p>
            <a:pPr lvl="7"/>
            <a:r>
              <a:rPr lang="en-US" dirty="0"/>
              <a:t>Eighth</a:t>
            </a:r>
          </a:p>
          <a:p>
            <a:pPr lvl="8"/>
            <a:r>
              <a:rPr lang="en-US" dirty="0"/>
              <a:t>Ninth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3969" y="6172200"/>
            <a:ext cx="859536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0"/>
          </p:nvPr>
        </p:nvSpPr>
        <p:spPr>
          <a:xfrm>
            <a:off x="6335713" y="113072"/>
            <a:ext cx="2133600" cy="182880"/>
          </a:xfrm>
        </p:spPr>
        <p:txBody>
          <a:bodyPr/>
          <a:lstStyle/>
          <a:p>
            <a:fld id="{A9DF6EFB-3F44-496C-A842-1E0B3D3B975A}" type="datetimeFigureOut">
              <a:rPr lang="en-US" smtClean="0"/>
              <a:pPr/>
              <a:t>1/6/2024</a:t>
            </a:fld>
            <a:endParaRPr lang="en-US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69312" y="113072"/>
            <a:ext cx="551783" cy="182880"/>
          </a:xfrm>
        </p:spPr>
        <p:txBody>
          <a:bodyPr/>
          <a:lstStyle/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1183944"/>
            <a:ext cx="8229600" cy="457200"/>
          </a:xfrm>
        </p:spPr>
        <p:txBody>
          <a:bodyPr/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400" b="1" kern="1200" dirty="0">
                <a:solidFill>
                  <a:srgbClr val="007FA3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1" name="Rectangle 10"/>
          <p:cNvSpPr/>
          <p:nvPr userDrawn="1"/>
        </p:nvSpPr>
        <p:spPr>
          <a:xfrm>
            <a:off x="228600" y="1641144"/>
            <a:ext cx="457200" cy="228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 err="1"/>
          </a:p>
        </p:txBody>
      </p:sp>
    </p:spTree>
    <p:extLst>
      <p:ext uri="{BB962C8B-B14F-4D97-AF65-F5344CB8AC3E}">
        <p14:creationId xmlns:p14="http://schemas.microsoft.com/office/powerpoint/2010/main" val="12109093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9456"/>
            <a:ext cx="8229600" cy="109728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3288" y="1447800"/>
            <a:ext cx="3966312" cy="823912"/>
          </a:xfrm>
        </p:spPr>
        <p:txBody>
          <a:bodyPr anchor="ctr" anchorCtr="0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3288" y="2271712"/>
            <a:ext cx="3966312" cy="3684588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24401" y="1447800"/>
            <a:ext cx="3962400" cy="823912"/>
          </a:xfrm>
        </p:spPr>
        <p:txBody>
          <a:bodyPr anchor="ctr" anchorCtr="0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24401" y="2271712"/>
            <a:ext cx="3962400" cy="3684588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BC1D4-5704-45BB-BA8B-9B7E98161C8B}" type="datetimeFigureOut">
              <a:rPr lang="en-US" smtClean="0"/>
              <a:pPr/>
              <a:t>1/6/2024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04A2B-EE51-41D7-B879-F8E5E9C5105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5987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9456"/>
            <a:ext cx="8229600" cy="109728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47800"/>
            <a:ext cx="3962400" cy="823912"/>
          </a:xfrm>
        </p:spPr>
        <p:txBody>
          <a:bodyPr anchor="ctr" anchorCtr="0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271712"/>
            <a:ext cx="3962400" cy="1609725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24401" y="1447800"/>
            <a:ext cx="3965124" cy="823912"/>
          </a:xfrm>
        </p:spPr>
        <p:txBody>
          <a:bodyPr anchor="ctr" anchorCtr="0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24401" y="2271712"/>
            <a:ext cx="3965124" cy="1609725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BC1D4-5704-45BB-BA8B-9B7E98161C8B}" type="datetimeFigureOut">
              <a:rPr lang="en-US" smtClean="0"/>
              <a:pPr/>
              <a:t>1/6/2024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04A2B-EE51-41D7-B879-F8E5E9C5105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Content Placeholder 3"/>
          <p:cNvSpPr>
            <a:spLocks noGrp="1"/>
          </p:cNvSpPr>
          <p:nvPr>
            <p:ph sz="half" idx="13"/>
          </p:nvPr>
        </p:nvSpPr>
        <p:spPr>
          <a:xfrm>
            <a:off x="458730" y="4044721"/>
            <a:ext cx="3962400" cy="1855788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5"/>
          <p:cNvSpPr>
            <a:spLocks noGrp="1"/>
          </p:cNvSpPr>
          <p:nvPr>
            <p:ph sz="quarter" idx="14"/>
          </p:nvPr>
        </p:nvSpPr>
        <p:spPr>
          <a:xfrm>
            <a:off x="4732563" y="4055609"/>
            <a:ext cx="3965124" cy="1855788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6510391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990599"/>
          </a:xfrm>
        </p:spPr>
        <p:txBody>
          <a:bodyPr/>
          <a:lstStyle>
            <a:lvl1pPr>
              <a:buClr>
                <a:srgbClr val="007FA3"/>
              </a:buClr>
              <a:buSzPct val="100000"/>
              <a:defRPr sz="2800"/>
            </a:lvl1pPr>
            <a:lvl2pPr>
              <a:buClr>
                <a:srgbClr val="007FA3"/>
              </a:buClr>
              <a:defRPr sz="2400"/>
            </a:lvl2pPr>
            <a:lvl3pPr>
              <a:buClr>
                <a:srgbClr val="007FA3"/>
              </a:buClr>
              <a:defRPr sz="2000"/>
            </a:lvl3pPr>
            <a:lvl4pPr>
              <a:buClr>
                <a:srgbClr val="007FA3"/>
              </a:buClr>
              <a:defRPr sz="2000"/>
            </a:lvl4pPr>
            <a:lvl5pPr>
              <a:buClr>
                <a:srgbClr val="007FA3"/>
              </a:buClr>
              <a:defRPr sz="2000"/>
            </a:lvl5pPr>
            <a:lvl6pPr>
              <a:buClr>
                <a:srgbClr val="007FA3"/>
              </a:buClr>
              <a:defRPr sz="2000"/>
            </a:lvl6pPr>
            <a:lvl7pPr>
              <a:buClr>
                <a:srgbClr val="007FA3"/>
              </a:buClr>
              <a:defRPr sz="2000"/>
            </a:lvl7pPr>
            <a:lvl8pPr>
              <a:buClr>
                <a:srgbClr val="007FA3"/>
              </a:buClr>
              <a:defRPr sz="2000"/>
            </a:lvl8pPr>
            <a:lvl9pPr>
              <a:buClr>
                <a:srgbClr val="007FA3"/>
              </a:buCl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</a:t>
            </a:r>
          </a:p>
          <a:p>
            <a:pPr lvl="6"/>
            <a:r>
              <a:rPr lang="en-US" dirty="0"/>
              <a:t>Seventh</a:t>
            </a:r>
          </a:p>
          <a:p>
            <a:pPr lvl="7"/>
            <a:r>
              <a:rPr lang="en-US" dirty="0"/>
              <a:t>Eighth</a:t>
            </a:r>
          </a:p>
          <a:p>
            <a:pPr lvl="8"/>
            <a:r>
              <a:rPr lang="en-US" dirty="0"/>
              <a:t>Ninth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idx="13"/>
          </p:nvPr>
        </p:nvSpPr>
        <p:spPr>
          <a:xfrm>
            <a:off x="457200" y="2756648"/>
            <a:ext cx="8229600" cy="990599"/>
          </a:xfrm>
        </p:spPr>
        <p:txBody>
          <a:bodyPr/>
          <a:lstStyle>
            <a:lvl1pPr>
              <a:buClr>
                <a:srgbClr val="007FA3"/>
              </a:buClr>
              <a:buSzPct val="100000"/>
              <a:defRPr sz="2800"/>
            </a:lvl1pPr>
            <a:lvl2pPr>
              <a:buClr>
                <a:srgbClr val="007FA3"/>
              </a:buClr>
              <a:defRPr sz="2400"/>
            </a:lvl2pPr>
            <a:lvl3pPr>
              <a:buClr>
                <a:srgbClr val="007FA3"/>
              </a:buClr>
              <a:defRPr sz="2000"/>
            </a:lvl3pPr>
            <a:lvl4pPr>
              <a:buClr>
                <a:srgbClr val="007FA3"/>
              </a:buClr>
              <a:defRPr sz="2000"/>
            </a:lvl4pPr>
            <a:lvl5pPr>
              <a:buClr>
                <a:srgbClr val="007FA3"/>
              </a:buClr>
              <a:defRPr sz="2000"/>
            </a:lvl5pPr>
            <a:lvl6pPr>
              <a:buClr>
                <a:srgbClr val="007FA3"/>
              </a:buClr>
              <a:defRPr sz="2000"/>
            </a:lvl6pPr>
            <a:lvl7pPr>
              <a:buClr>
                <a:srgbClr val="007FA3"/>
              </a:buClr>
              <a:defRPr sz="2000"/>
            </a:lvl7pPr>
            <a:lvl8pPr>
              <a:buClr>
                <a:srgbClr val="007FA3"/>
              </a:buClr>
              <a:defRPr sz="2000"/>
            </a:lvl8pPr>
            <a:lvl9pPr>
              <a:buClr>
                <a:srgbClr val="007FA3"/>
              </a:buCl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</a:t>
            </a:r>
          </a:p>
          <a:p>
            <a:pPr lvl="6"/>
            <a:r>
              <a:rPr lang="en-US" dirty="0"/>
              <a:t>Seventh</a:t>
            </a:r>
          </a:p>
          <a:p>
            <a:pPr lvl="7"/>
            <a:r>
              <a:rPr lang="en-US" dirty="0"/>
              <a:t>Eighth</a:t>
            </a:r>
          </a:p>
          <a:p>
            <a:pPr lvl="8"/>
            <a:r>
              <a:rPr lang="en-US" dirty="0"/>
              <a:t>Ninth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457200" y="3886201"/>
            <a:ext cx="8229600" cy="990599"/>
          </a:xfrm>
        </p:spPr>
        <p:txBody>
          <a:bodyPr/>
          <a:lstStyle>
            <a:lvl1pPr>
              <a:buClr>
                <a:srgbClr val="007FA3"/>
              </a:buClr>
              <a:buSzPct val="100000"/>
              <a:defRPr sz="2800"/>
            </a:lvl1pPr>
            <a:lvl2pPr>
              <a:buClr>
                <a:srgbClr val="007FA3"/>
              </a:buClr>
              <a:defRPr sz="2400"/>
            </a:lvl2pPr>
            <a:lvl3pPr>
              <a:buClr>
                <a:srgbClr val="007FA3"/>
              </a:buClr>
              <a:defRPr sz="2000"/>
            </a:lvl3pPr>
            <a:lvl4pPr>
              <a:buClr>
                <a:srgbClr val="007FA3"/>
              </a:buClr>
              <a:defRPr sz="2000"/>
            </a:lvl4pPr>
            <a:lvl5pPr>
              <a:buClr>
                <a:srgbClr val="007FA3"/>
              </a:buClr>
              <a:defRPr sz="2000"/>
            </a:lvl5pPr>
            <a:lvl6pPr>
              <a:buClr>
                <a:srgbClr val="007FA3"/>
              </a:buClr>
              <a:defRPr sz="2000"/>
            </a:lvl6pPr>
            <a:lvl7pPr>
              <a:buClr>
                <a:srgbClr val="007FA3"/>
              </a:buClr>
              <a:defRPr sz="2000"/>
            </a:lvl7pPr>
            <a:lvl8pPr>
              <a:buClr>
                <a:srgbClr val="007FA3"/>
              </a:buClr>
              <a:defRPr sz="2000"/>
            </a:lvl8pPr>
            <a:lvl9pPr>
              <a:buClr>
                <a:srgbClr val="007FA3"/>
              </a:buCl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</a:t>
            </a:r>
          </a:p>
          <a:p>
            <a:pPr lvl="6"/>
            <a:r>
              <a:rPr lang="en-US" dirty="0"/>
              <a:t>Seventh</a:t>
            </a:r>
          </a:p>
          <a:p>
            <a:pPr lvl="7"/>
            <a:r>
              <a:rPr lang="en-US" dirty="0"/>
              <a:t>Eighth</a:t>
            </a:r>
          </a:p>
          <a:p>
            <a:pPr lvl="8"/>
            <a:r>
              <a:rPr lang="en-US" dirty="0"/>
              <a:t>Ninth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idx="15"/>
          </p:nvPr>
        </p:nvSpPr>
        <p:spPr>
          <a:xfrm>
            <a:off x="457200" y="5029201"/>
            <a:ext cx="8229600" cy="990599"/>
          </a:xfrm>
        </p:spPr>
        <p:txBody>
          <a:bodyPr/>
          <a:lstStyle>
            <a:lvl1pPr>
              <a:buClr>
                <a:srgbClr val="007FA3"/>
              </a:buClr>
              <a:buSzPct val="100000"/>
              <a:defRPr sz="2800"/>
            </a:lvl1pPr>
            <a:lvl2pPr>
              <a:buClr>
                <a:srgbClr val="007FA3"/>
              </a:buClr>
              <a:defRPr sz="2400"/>
            </a:lvl2pPr>
            <a:lvl3pPr>
              <a:buClr>
                <a:srgbClr val="007FA3"/>
              </a:buClr>
              <a:defRPr sz="2000"/>
            </a:lvl3pPr>
            <a:lvl4pPr>
              <a:buClr>
                <a:srgbClr val="007FA3"/>
              </a:buClr>
              <a:defRPr sz="2000"/>
            </a:lvl4pPr>
            <a:lvl5pPr>
              <a:buClr>
                <a:srgbClr val="007FA3"/>
              </a:buClr>
              <a:defRPr sz="2000"/>
            </a:lvl5pPr>
            <a:lvl6pPr>
              <a:buClr>
                <a:srgbClr val="007FA3"/>
              </a:buClr>
              <a:defRPr sz="2000"/>
            </a:lvl6pPr>
            <a:lvl7pPr>
              <a:buClr>
                <a:srgbClr val="007FA3"/>
              </a:buClr>
              <a:defRPr sz="2000"/>
            </a:lvl7pPr>
            <a:lvl8pPr>
              <a:buClr>
                <a:srgbClr val="007FA3"/>
              </a:buClr>
              <a:defRPr sz="2000"/>
            </a:lvl8pPr>
            <a:lvl9pPr>
              <a:buClr>
                <a:srgbClr val="007FA3"/>
              </a:buCl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</a:t>
            </a:r>
          </a:p>
          <a:p>
            <a:pPr lvl="6"/>
            <a:r>
              <a:rPr lang="en-US" dirty="0"/>
              <a:t>Seventh</a:t>
            </a:r>
          </a:p>
          <a:p>
            <a:pPr lvl="7"/>
            <a:r>
              <a:rPr lang="en-US" dirty="0"/>
              <a:t>Eighth</a:t>
            </a:r>
          </a:p>
          <a:p>
            <a:pPr lvl="8"/>
            <a:r>
              <a:rPr lang="en-US" dirty="0"/>
              <a:t>Ninth</a:t>
            </a:r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0"/>
          </p:nvPr>
        </p:nvSpPr>
        <p:spPr>
          <a:xfrm>
            <a:off x="6335713" y="113072"/>
            <a:ext cx="2133600" cy="182880"/>
          </a:xfrm>
        </p:spPr>
        <p:txBody>
          <a:bodyPr/>
          <a:lstStyle/>
          <a:p>
            <a:fld id="{A9DF6EFB-3F44-496C-A842-1E0B3D3B975A}" type="datetimeFigureOut">
              <a:rPr lang="en-US" smtClean="0"/>
              <a:pPr/>
              <a:t>1/6/2024</a:t>
            </a:fld>
            <a:endParaRPr lang="en-US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69312" y="113072"/>
            <a:ext cx="551783" cy="182880"/>
          </a:xfrm>
        </p:spPr>
        <p:txBody>
          <a:bodyPr/>
          <a:lstStyle/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3969" y="6172200"/>
            <a:ext cx="8595360" cy="235463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93807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15372"/>
            <a:ext cx="8229600" cy="109728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</a:t>
            </a:r>
          </a:p>
          <a:p>
            <a:pPr lvl="6"/>
            <a:r>
              <a:rPr lang="en-US" dirty="0"/>
              <a:t>Seventh</a:t>
            </a:r>
          </a:p>
          <a:p>
            <a:pPr lvl="7"/>
            <a:r>
              <a:rPr lang="en-US" dirty="0"/>
              <a:t>Eighth</a:t>
            </a:r>
          </a:p>
          <a:p>
            <a:pPr lvl="8"/>
            <a:r>
              <a:rPr lang="en-US" dirty="0"/>
              <a:t>Ninth</a:t>
            </a:r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3969" y="6172200"/>
            <a:ext cx="8595360" cy="235463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35713" y="113072"/>
            <a:ext cx="2133600" cy="1828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A9DF6EFB-3F44-496C-A842-1E0B3D3B975A}" type="datetimeFigureOut">
              <a:rPr lang="en-US" smtClean="0"/>
              <a:pPr/>
              <a:t>1/6/2024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69312" y="113072"/>
            <a:ext cx="551783" cy="1828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Shape 15" descr="Pearson Logo"/>
          <p:cNvPicPr preferRelativeResize="0"/>
          <p:nvPr userDrawn="1"/>
        </p:nvPicPr>
        <p:blipFill rotWithShape="1">
          <a:blip r:embed="rId20" cstate="print">
            <a:alphaModFix/>
          </a:blip>
          <a:srcRect/>
          <a:stretch/>
        </p:blipFill>
        <p:spPr>
          <a:xfrm>
            <a:off x="443972" y="6429709"/>
            <a:ext cx="917999" cy="279914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Slide Number Placeholder 4"/>
          <p:cNvSpPr txBox="1">
            <a:spLocks/>
          </p:cNvSpPr>
          <p:nvPr userDrawn="1"/>
        </p:nvSpPr>
        <p:spPr>
          <a:xfrm>
            <a:off x="7881256" y="6428232"/>
            <a:ext cx="914400" cy="20116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altLang="en-US" sz="1200" b="0" kern="1200" noProof="0" dirty="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8 - </a:t>
            </a:r>
            <a:fld id="{876BFF75-7A20-4B22-803D-E5D1449082FD}" type="slidenum">
              <a:rPr lang="en-US" altLang="en-US" sz="1200" b="0" kern="1200" noProof="0" smtClean="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altLang="en-US" sz="1200" b="0" kern="1200" noProof="0" dirty="0">
              <a:solidFill>
                <a:schemeClr val="tx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6B42598-E17E-4AFA-A2E8-BF865C3E5BD4}"/>
              </a:ext>
            </a:extLst>
          </p:cNvPr>
          <p:cNvSpPr txBox="1"/>
          <p:nvPr userDrawn="1"/>
        </p:nvSpPr>
        <p:spPr>
          <a:xfrm>
            <a:off x="1502228" y="6429974"/>
            <a:ext cx="6172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IN" sz="120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Copyright © </a:t>
            </a:r>
            <a:r>
              <a:rPr lang="en-IN" sz="1200" dirty="0">
                <a:latin typeface="Verdana" panose="020B0604030504040204" pitchFamily="34" charset="0"/>
                <a:ea typeface="Verdana" panose="020B0604030504040204" pitchFamily="34" charset="0"/>
              </a:rPr>
              <a:t>2021, 2018, 2015 </a:t>
            </a:r>
            <a:r>
              <a:rPr lang="en-IN" sz="120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Pearson Education, Inc. All Rights Reserved</a:t>
            </a:r>
            <a:endParaRPr lang="en-US" altLang="en-US" sz="1200" b="0" kern="12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15700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7" r:id="rId2"/>
    <p:sldLayoutId id="2147483656" r:id="rId3"/>
    <p:sldLayoutId id="2147483650" r:id="rId4"/>
    <p:sldLayoutId id="2147483659" r:id="rId5"/>
    <p:sldLayoutId id="2147483658" r:id="rId6"/>
    <p:sldLayoutId id="2147483660" r:id="rId7"/>
    <p:sldLayoutId id="2147483651" r:id="rId8"/>
    <p:sldLayoutId id="2147483654" r:id="rId9"/>
    <p:sldLayoutId id="2147483655" r:id="rId10"/>
    <p:sldLayoutId id="2147483662" r:id="rId11"/>
    <p:sldLayoutId id="2147483663" r:id="rId12"/>
    <p:sldLayoutId id="2147483664" r:id="rId13"/>
    <p:sldLayoutId id="2147483665" r:id="rId14"/>
    <p:sldLayoutId id="2147483668" r:id="rId15"/>
    <p:sldLayoutId id="2147483669" r:id="rId16"/>
    <p:sldLayoutId id="2147483670" r:id="rId17"/>
    <p:sldLayoutId id="2147483671" r:id="rId18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400" b="1" kern="1200">
          <a:solidFill>
            <a:srgbClr val="007FA3"/>
          </a:solidFill>
          <a:latin typeface="+mj-lt"/>
          <a:ea typeface="+mj-ea"/>
          <a:cs typeface="Times New Roman" panose="02020603050405020304" pitchFamily="18" charset="0"/>
        </a:defRPr>
      </a:lvl1pPr>
    </p:titleStyle>
    <p:bodyStyle>
      <a:lvl1pPr marL="256032" indent="-256032" algn="l" defTabSz="914400" rtl="0" eaLnBrk="1" latinLnBrk="0" hangingPunct="1">
        <a:spcBef>
          <a:spcPts val="1500"/>
        </a:spcBef>
        <a:buClr>
          <a:srgbClr val="007FA3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ts val="600"/>
        </a:spcBef>
        <a:buClr>
          <a:srgbClr val="007FA3"/>
        </a:buClr>
        <a:buFont typeface="Arial" panose="020B0604020202020204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ts val="600"/>
        </a:spcBef>
        <a:buClr>
          <a:srgbClr val="007FA3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ts val="600"/>
        </a:spcBef>
        <a:buClr>
          <a:srgbClr val="007FA3"/>
        </a:buClr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ts val="600"/>
        </a:spcBef>
        <a:buClr>
          <a:srgbClr val="007FA3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ts val="300"/>
        </a:spcBef>
        <a:buClr>
          <a:srgbClr val="007FA3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ts val="300"/>
        </a:spcBef>
        <a:buClr>
          <a:srgbClr val="007FA3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ts val="300"/>
        </a:spcBef>
        <a:buClr>
          <a:srgbClr val="007FA3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ts val="300"/>
        </a:spcBef>
        <a:buClr>
          <a:srgbClr val="007FA3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 descr="Assembly Language for x86 Processors, "/>
          <p:cNvSpPr>
            <a:spLocks noGrp="1"/>
          </p:cNvSpPr>
          <p:nvPr>
            <p:ph type="title"/>
          </p:nvPr>
        </p:nvSpPr>
        <p:spPr>
          <a:xfrm>
            <a:off x="457200" y="215372"/>
            <a:ext cx="8458200" cy="623817"/>
          </a:xfrm>
        </p:spPr>
        <p:txBody>
          <a:bodyPr/>
          <a:lstStyle/>
          <a:p>
            <a:r>
              <a:rPr lang="en-US" dirty="0"/>
              <a:t>Starting out with Python</a:t>
            </a:r>
            <a:endParaRPr lang="en-AU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457200" y="966930"/>
            <a:ext cx="8229600" cy="381000"/>
          </a:xfrm>
        </p:spPr>
        <p:txBody>
          <a:bodyPr/>
          <a:lstStyle/>
          <a:p>
            <a:r>
              <a:rPr lang="en-US" dirty="0"/>
              <a:t>Fifth Edition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Chapter 8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en-US" dirty="0"/>
              <a:t>More About Strings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2228" y="6429974"/>
            <a:ext cx="6172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IN" sz="120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Copyright © </a:t>
            </a:r>
            <a:r>
              <a:rPr lang="en-IN" sz="1200" dirty="0">
                <a:latin typeface="Verdana" panose="020B0604030504040204" pitchFamily="34" charset="0"/>
                <a:ea typeface="Verdana" panose="020B0604030504040204" pitchFamily="34" charset="0"/>
              </a:rPr>
              <a:t>2021, 2018, 2015 </a:t>
            </a:r>
            <a:r>
              <a:rPr lang="en-IN" sz="120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Pearson Education, Inc. All Rights Reserved</a:t>
            </a:r>
            <a:endParaRPr lang="en-US" altLang="en-US" sz="1200" b="0" kern="12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12" name="Picture 11" descr="Starting out with Python, Fifth edition by Tony Gaddis">
            <a:extLst>
              <a:ext uri="{FF2B5EF4-FFF2-40B4-BE49-F238E27FC236}">
                <a16:creationId xmlns:a16="http://schemas.microsoft.com/office/drawing/2014/main" id="{19AE27C4-80A6-459C-AA51-2752EA991F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783" y="1347930"/>
            <a:ext cx="3813120" cy="4954303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422217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9F4E577-1F7A-40A0-B298-BE73BFB82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Topics</a:t>
            </a:r>
            <a:endParaRPr lang="en-AU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DF43A45-D18B-4A55-AF5F-06D47B42FE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Basic String Operations</a:t>
            </a:r>
          </a:p>
          <a:p>
            <a:r>
              <a:rPr lang="en-US" dirty="0"/>
              <a:t>String Slicing</a:t>
            </a:r>
          </a:p>
          <a:p>
            <a:r>
              <a:rPr lang="en-US" dirty="0"/>
              <a:t>Testing, Searching, and Manipulating Strings</a:t>
            </a:r>
            <a:endParaRPr lang="en-AU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>
            <a:extLst>
              <a:ext uri="{FF2B5EF4-FFF2-40B4-BE49-F238E27FC236}">
                <a16:creationId xmlns:a16="http://schemas.microsoft.com/office/drawing/2014/main" id="{1AFC59E1-D39D-4CAB-BD85-170EE67DB8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Basic String Operations</a:t>
            </a:r>
          </a:p>
        </p:txBody>
      </p:sp>
      <p:sp>
        <p:nvSpPr>
          <p:cNvPr id="5123" name="Content Placeholder 2">
            <a:extLst>
              <a:ext uri="{FF2B5EF4-FFF2-40B4-BE49-F238E27FC236}">
                <a16:creationId xmlns:a16="http://schemas.microsoft.com/office/drawing/2014/main" id="{6FCBC890-9931-42FE-AE6B-76864056F09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US" altLang="en-US" dirty="0"/>
              <a:t>Many types of programs perform operations on strings</a:t>
            </a:r>
          </a:p>
          <a:p>
            <a:pPr>
              <a:buFontTx/>
              <a:buChar char="•"/>
            </a:pPr>
            <a:r>
              <a:rPr lang="en-US" altLang="en-US" dirty="0"/>
              <a:t>In Python, many tools for examining and manipulating strings</a:t>
            </a:r>
          </a:p>
          <a:p>
            <a:pPr lvl="1"/>
            <a:r>
              <a:rPr lang="en-US" altLang="en-US" dirty="0"/>
              <a:t>Strings are sequences, so many of the tools that work with sequences work with strings</a:t>
            </a:r>
          </a:p>
          <a:p>
            <a:pPr>
              <a:buFontTx/>
              <a:buChar char="•"/>
            </a:pPr>
            <a:endParaRPr lang="en-US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8D9050D3-CB74-4C68-9EB5-9EFAAC09E1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Accessing the Individual Characters in a String</a:t>
            </a:r>
            <a:r>
              <a:rPr lang="en-US" altLang="en-US" sz="2000" b="0" dirty="0"/>
              <a:t> (1 of 4)</a:t>
            </a:r>
          </a:p>
        </p:txBody>
      </p:sp>
      <p:sp>
        <p:nvSpPr>
          <p:cNvPr id="6147" name="Content Placeholder 2">
            <a:extLst>
              <a:ext uri="{FF2B5EF4-FFF2-40B4-BE49-F238E27FC236}">
                <a16:creationId xmlns:a16="http://schemas.microsoft.com/office/drawing/2014/main" id="{6604EB90-BEF7-4A5D-8209-C7DD151A1D1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US" altLang="en-US" dirty="0">
                <a:cs typeface="Courier New" panose="02070309020205020404" pitchFamily="49" charset="0"/>
              </a:rPr>
              <a:t>To access an individual character in a string:</a:t>
            </a:r>
          </a:p>
          <a:p>
            <a:pPr lvl="1"/>
            <a:r>
              <a:rPr lang="en-US" altLang="en-US" dirty="0">
                <a:cs typeface="Courier New" panose="02070309020205020404" pitchFamily="49" charset="0"/>
              </a:rPr>
              <a:t>Use a 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altLang="en-US" dirty="0">
                <a:cs typeface="Courier New" panose="02070309020205020404" pitchFamily="49" charset="0"/>
              </a:rPr>
              <a:t> loop</a:t>
            </a:r>
          </a:p>
          <a:p>
            <a:pPr lvl="2"/>
            <a:r>
              <a:rPr lang="en-US" altLang="en-US" dirty="0">
                <a:cs typeface="Courier New" panose="02070309020205020404" pitchFamily="49" charset="0"/>
              </a:rPr>
              <a:t>Format: 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alt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character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in </a:t>
            </a:r>
            <a:r>
              <a:rPr lang="en-US" alt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lvl="2"/>
            <a:r>
              <a:rPr lang="en-US" altLang="en-US" dirty="0">
                <a:cs typeface="Courier New" panose="02070309020205020404" pitchFamily="49" charset="0"/>
              </a:rPr>
              <a:t>Useful when need to iterate over the whole string, such as to count the occurrences of a specific character</a:t>
            </a:r>
          </a:p>
          <a:p>
            <a:pPr lvl="1"/>
            <a:r>
              <a:rPr lang="en-US" altLang="en-US" dirty="0">
                <a:cs typeface="Courier New" panose="02070309020205020404" pitchFamily="49" charset="0"/>
              </a:rPr>
              <a:t>Use indexing</a:t>
            </a:r>
          </a:p>
          <a:p>
            <a:pPr lvl="2"/>
            <a:r>
              <a:rPr lang="en-US" altLang="en-US" dirty="0">
                <a:cs typeface="Courier New" panose="02070309020205020404" pitchFamily="49" charset="0"/>
              </a:rPr>
              <a:t>Each character has an index specifying its position in the string, starting at 0</a:t>
            </a:r>
          </a:p>
          <a:p>
            <a:pPr lvl="2"/>
            <a:r>
              <a:rPr lang="en-US" altLang="en-US" dirty="0">
                <a:cs typeface="Courier New" panose="02070309020205020404" pitchFamily="49" charset="0"/>
              </a:rPr>
              <a:t>Format: </a:t>
            </a:r>
            <a:r>
              <a:rPr lang="en-US" alt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character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en-US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my_string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altLang="en-US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pPr>
              <a:buFontTx/>
              <a:buChar char="•"/>
            </a:pPr>
            <a:endParaRPr lang="en-US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2AEBD56-4406-415E-988B-50FB9B449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Accessing the Individual Characters in a String</a:t>
            </a:r>
            <a:r>
              <a:rPr lang="en-US" altLang="en-US" sz="2000" b="0" dirty="0"/>
              <a:t> (2 of 4)</a:t>
            </a:r>
            <a:endParaRPr lang="en-AU" sz="20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D1F5E8A-A0F5-4D9E-8367-6451E570686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5920200"/>
            <a:ext cx="8229600" cy="364816"/>
          </a:xfrm>
        </p:spPr>
        <p:txBody>
          <a:bodyPr/>
          <a:lstStyle/>
          <a:p>
            <a:r>
              <a:rPr lang="en-US" b="1" dirty="0"/>
              <a:t>Figure 8-1 </a:t>
            </a:r>
            <a:r>
              <a:rPr lang="en-US" dirty="0"/>
              <a:t>Iterating over the string 'Juliet'</a:t>
            </a:r>
            <a:endParaRPr lang="en-AU" dirty="0"/>
          </a:p>
        </p:txBody>
      </p:sp>
      <p:pic>
        <p:nvPicPr>
          <p:cNvPr id="6" name="Picture 3" descr="The six iterations of a loop.">
            <a:extLst>
              <a:ext uri="{FF2B5EF4-FFF2-40B4-BE49-F238E27FC236}">
                <a16:creationId xmlns:a16="http://schemas.microsoft.com/office/drawing/2014/main" id="{D77A972F-1EBC-4DF3-A63C-42724DE8DC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828800" y="1447800"/>
            <a:ext cx="5354774" cy="43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58493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>
            <a:extLst>
              <a:ext uri="{FF2B5EF4-FFF2-40B4-BE49-F238E27FC236}">
                <a16:creationId xmlns:a16="http://schemas.microsoft.com/office/drawing/2014/main" id="{EF8787AA-3E99-4D92-B741-81CC53DE99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Accessing the Individual Characters in a String</a:t>
            </a:r>
            <a:r>
              <a:rPr lang="en-US" altLang="en-US" sz="2000" b="0" dirty="0"/>
              <a:t> (3 of 4)</a:t>
            </a:r>
            <a:endParaRPr lang="en-US" altLang="en-US" sz="20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E87839A-0AD2-4481-B0FC-47BFB68724A6}"/>
              </a:ext>
            </a:extLst>
          </p:cNvPr>
          <p:cNvSpPr/>
          <p:nvPr/>
        </p:nvSpPr>
        <p:spPr>
          <a:xfrm>
            <a:off x="3179560" y="3378384"/>
            <a:ext cx="2418932" cy="2923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1300" b="1" dirty="0">
                <a:latin typeface="Verdana" panose="020B0604030504040204" pitchFamily="34" charset="0"/>
                <a:ea typeface="Verdana" panose="020B0604030504040204" pitchFamily="34" charset="0"/>
              </a:rPr>
              <a:t>Figure 8-2 </a:t>
            </a:r>
            <a:r>
              <a:rPr lang="en-AU" sz="1300" dirty="0">
                <a:latin typeface="Verdana" panose="020B0604030504040204" pitchFamily="34" charset="0"/>
                <a:ea typeface="Verdana" panose="020B0604030504040204" pitchFamily="34" charset="0"/>
              </a:rPr>
              <a:t>String indexes</a:t>
            </a:r>
          </a:p>
        </p:txBody>
      </p:sp>
      <p:pic>
        <p:nvPicPr>
          <p:cNvPr id="8195" name="Picture 5" descr="Single quote Roses are red single quote. Each individual in the string is assigned a number as follows. R, 0. o, 1. s, 2. e, 3. s, 4. Space, 5. a, 6. r, 7. e, 8. Space, 9. r, 10. e, 11. d, 12.">
            <a:extLst>
              <a:ext uri="{FF2B5EF4-FFF2-40B4-BE49-F238E27FC236}">
                <a16:creationId xmlns:a16="http://schemas.microsoft.com/office/drawing/2014/main" id="{D3545A9A-84AD-4452-AEC7-3839BD991323}"/>
              </a:ext>
            </a:extLst>
          </p:cNvPr>
          <p:cNvPicPr>
            <a:picLocks noGrp="1" noChangeAspect="1" noChangeArrowheads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52937" y="1905000"/>
            <a:ext cx="5672178" cy="1306513"/>
          </a:xfr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DEA4A80-F13D-4F26-9D38-60420DEF24F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5867400"/>
            <a:ext cx="8229600" cy="417616"/>
          </a:xfrm>
        </p:spPr>
        <p:txBody>
          <a:bodyPr/>
          <a:lstStyle/>
          <a:p>
            <a:r>
              <a:rPr lang="en-US" b="1" dirty="0"/>
              <a:t>Figure 8-3 </a:t>
            </a:r>
            <a:r>
              <a:rPr lang="en-US" dirty="0"/>
              <a:t>Getting a copy of a character from a string</a:t>
            </a:r>
            <a:endParaRPr lang="en-AU" dirty="0"/>
          </a:p>
        </p:txBody>
      </p:sp>
      <p:pic>
        <p:nvPicPr>
          <p:cNvPr id="8196" name="Picture 6" descr="An illustration depicts a string and c h variable. My underscore string extends right to a box with text that reads, single quote Roses are red single quote. c h extends right to a box with text that reads, single quote a single quote.">
            <a:extLst>
              <a:ext uri="{FF2B5EF4-FFF2-40B4-BE49-F238E27FC236}">
                <a16:creationId xmlns:a16="http://schemas.microsoft.com/office/drawing/2014/main" id="{4A07811D-7188-4E5C-87AA-8418ED42C3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709334" y="4232965"/>
            <a:ext cx="5515781" cy="1223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>
            <a:extLst>
              <a:ext uri="{FF2B5EF4-FFF2-40B4-BE49-F238E27FC236}">
                <a16:creationId xmlns:a16="http://schemas.microsoft.com/office/drawing/2014/main" id="{6743CAB8-6B13-429B-B0AB-CA19A7DF26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Accessing the Individual Characters in a String</a:t>
            </a:r>
            <a:r>
              <a:rPr lang="en-US" altLang="en-US" sz="2000" b="0" dirty="0"/>
              <a:t> (4 of 4)</a:t>
            </a:r>
            <a:endParaRPr lang="en-US" altLang="en-US" sz="2000" dirty="0"/>
          </a:p>
        </p:txBody>
      </p:sp>
      <p:sp>
        <p:nvSpPr>
          <p:cNvPr id="9219" name="Content Placeholder 2">
            <a:extLst>
              <a:ext uri="{FF2B5EF4-FFF2-40B4-BE49-F238E27FC236}">
                <a16:creationId xmlns:a16="http://schemas.microsoft.com/office/drawing/2014/main" id="{47F29D7F-4370-4F6A-A843-311EC128DEF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US" alt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IndexError</a:t>
            </a:r>
            <a:r>
              <a:rPr lang="en-US" altLang="en-US" dirty="0">
                <a:cs typeface="Courier New" panose="02070309020205020404" pitchFamily="49" charset="0"/>
              </a:rPr>
              <a:t> exception will occur if:</a:t>
            </a:r>
          </a:p>
          <a:p>
            <a:pPr lvl="1"/>
            <a:r>
              <a:rPr lang="en-US" altLang="en-US" dirty="0">
                <a:cs typeface="Courier New" panose="02070309020205020404" pitchFamily="49" charset="0"/>
              </a:rPr>
              <a:t>You try to use an index that is out of range for the string</a:t>
            </a:r>
          </a:p>
          <a:p>
            <a:pPr lvl="2"/>
            <a:r>
              <a:rPr lang="en-US" altLang="en-US" dirty="0">
                <a:cs typeface="Courier New" panose="02070309020205020404" pitchFamily="49" charset="0"/>
              </a:rPr>
              <a:t>Likely to happen when loop iterates beyond the end of the string</a:t>
            </a:r>
          </a:p>
          <a:p>
            <a:pPr>
              <a:buFontTx/>
              <a:buChar char="•"/>
            </a:pPr>
            <a:r>
              <a:rPr lang="en-US" alt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altLang="en-US" dirty="0">
                <a:cs typeface="Courier New" panose="02070309020205020404" pitchFamily="49" charset="0"/>
              </a:rPr>
              <a:t> function can be used to obtain the length of a string</a:t>
            </a:r>
          </a:p>
          <a:p>
            <a:pPr lvl="1"/>
            <a:r>
              <a:rPr lang="en-US" altLang="en-US" dirty="0">
                <a:cs typeface="Courier New" panose="02070309020205020404" pitchFamily="49" charset="0"/>
              </a:rPr>
              <a:t>Useful to prevent loops from iterating beyond the end of a string</a:t>
            </a:r>
          </a:p>
          <a:p>
            <a:pPr>
              <a:buFontTx/>
              <a:buChar char="•"/>
            </a:pPr>
            <a:endParaRPr lang="en-US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>
            <a:extLst>
              <a:ext uri="{FF2B5EF4-FFF2-40B4-BE49-F238E27FC236}">
                <a16:creationId xmlns:a16="http://schemas.microsoft.com/office/drawing/2014/main" id="{F537A445-2275-4E2B-B752-9E4ADAE746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String Concatenation</a:t>
            </a:r>
          </a:p>
        </p:txBody>
      </p:sp>
      <p:sp>
        <p:nvSpPr>
          <p:cNvPr id="10243" name="Content Placeholder 2">
            <a:extLst>
              <a:ext uri="{FF2B5EF4-FFF2-40B4-BE49-F238E27FC236}">
                <a16:creationId xmlns:a16="http://schemas.microsoft.com/office/drawing/2014/main" id="{24D91CB6-B3DE-48AC-A572-6842B21504C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US" altLang="en-US" u="sng" dirty="0">
                <a:cs typeface="Courier New" panose="02070309020205020404" pitchFamily="49" charset="0"/>
              </a:rPr>
              <a:t>Concatenation</a:t>
            </a:r>
            <a:r>
              <a:rPr lang="en-US" altLang="en-US" dirty="0">
                <a:cs typeface="Courier New" panose="02070309020205020404" pitchFamily="49" charset="0"/>
              </a:rPr>
              <a:t>: appending one string to the end of another string</a:t>
            </a:r>
          </a:p>
          <a:p>
            <a:pPr lvl="1"/>
            <a:r>
              <a:rPr lang="en-US" altLang="en-US" dirty="0">
                <a:cs typeface="Courier New" panose="02070309020205020404" pitchFamily="49" charset="0"/>
              </a:rPr>
              <a:t>Use the 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  <a:r>
              <a:rPr lang="en-US" altLang="en-US" dirty="0">
                <a:cs typeface="Courier New" panose="02070309020205020404" pitchFamily="49" charset="0"/>
              </a:rPr>
              <a:t> operator to produce a string that is a combination of its operands</a:t>
            </a:r>
          </a:p>
          <a:p>
            <a:pPr lvl="1"/>
            <a:r>
              <a:rPr lang="en-US" altLang="en-US" dirty="0">
                <a:cs typeface="Courier New" panose="02070309020205020404" pitchFamily="49" charset="0"/>
              </a:rPr>
              <a:t>The augmented assignment operator 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+=</a:t>
            </a:r>
            <a:r>
              <a:rPr lang="en-US" altLang="en-US" dirty="0">
                <a:cs typeface="Courier New" panose="02070309020205020404" pitchFamily="49" charset="0"/>
              </a:rPr>
              <a:t> can also be used to concatenate strings</a:t>
            </a:r>
          </a:p>
          <a:p>
            <a:pPr lvl="2"/>
            <a:r>
              <a:rPr lang="en-US" altLang="en-US" dirty="0">
                <a:cs typeface="Courier New" panose="02070309020205020404" pitchFamily="49" charset="0"/>
              </a:rPr>
              <a:t>The operand on the left side of the 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+=</a:t>
            </a:r>
            <a:r>
              <a:rPr lang="en-US" altLang="en-US" dirty="0">
                <a:cs typeface="Courier New" panose="02070309020205020404" pitchFamily="49" charset="0"/>
              </a:rPr>
              <a:t> operator must be an existing variable; otherwise, an exception is raised</a:t>
            </a:r>
          </a:p>
          <a:p>
            <a:pPr>
              <a:buFontTx/>
              <a:buChar char="•"/>
            </a:pPr>
            <a:endParaRPr lang="en-US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>
            <a:extLst>
              <a:ext uri="{FF2B5EF4-FFF2-40B4-BE49-F238E27FC236}">
                <a16:creationId xmlns:a16="http://schemas.microsoft.com/office/drawing/2014/main" id="{984A81B4-BD9A-414F-B1DD-48B3A1CDACA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Strings Are Immutable</a:t>
            </a:r>
            <a:r>
              <a:rPr lang="en-US" altLang="en-US" sz="2000" b="0" dirty="0"/>
              <a:t> (1 of 2)</a:t>
            </a:r>
            <a:endParaRPr lang="en-US" altLang="en-US" sz="2000" dirty="0"/>
          </a:p>
        </p:txBody>
      </p:sp>
      <p:sp>
        <p:nvSpPr>
          <p:cNvPr id="11267" name="Content Placeholder 2">
            <a:extLst>
              <a:ext uri="{FF2B5EF4-FFF2-40B4-BE49-F238E27FC236}">
                <a16:creationId xmlns:a16="http://schemas.microsoft.com/office/drawing/2014/main" id="{D6BE8659-4801-44A5-9BB0-519950765E4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US" altLang="en-US" dirty="0"/>
              <a:t>Strings are immutable</a:t>
            </a:r>
          </a:p>
          <a:p>
            <a:pPr lvl="1"/>
            <a:r>
              <a:rPr lang="en-US" altLang="en-US" dirty="0"/>
              <a:t>Once they are created, they cannot be changed</a:t>
            </a:r>
          </a:p>
          <a:p>
            <a:pPr lvl="2"/>
            <a:r>
              <a:rPr lang="en-US" altLang="en-US" dirty="0"/>
              <a:t>Concatenation doesn’t actually change the existing string, but rather creates a new string and assigns the new string to the previously used variable</a:t>
            </a:r>
          </a:p>
          <a:p>
            <a:pPr lvl="1"/>
            <a:r>
              <a:rPr lang="en-US" altLang="en-US" dirty="0"/>
              <a:t>Cannot use an expression of the form </a:t>
            </a:r>
          </a:p>
          <a:p>
            <a:pPr lvl="1"/>
            <a:r>
              <a:rPr lang="en-US" altLang="en-US" dirty="0"/>
              <a:t>	</a:t>
            </a:r>
            <a:r>
              <a:rPr lang="en-US" alt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alt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index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] = </a:t>
            </a:r>
            <a:r>
              <a:rPr lang="en-US" altLang="en-US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new_character</a:t>
            </a:r>
            <a:endParaRPr lang="en-US" altLang="en-US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/>
            <a:r>
              <a:rPr lang="en-US" altLang="en-US" dirty="0">
                <a:cs typeface="Courier New" panose="02070309020205020404" pitchFamily="49" charset="0"/>
              </a:rPr>
              <a:t>Statement of this type will raise an exception</a:t>
            </a:r>
          </a:p>
          <a:p>
            <a:pPr>
              <a:buFontTx/>
              <a:buChar char="•"/>
            </a:pPr>
            <a:endParaRPr lang="en-US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>
            <a:extLst>
              <a:ext uri="{FF2B5EF4-FFF2-40B4-BE49-F238E27FC236}">
                <a16:creationId xmlns:a16="http://schemas.microsoft.com/office/drawing/2014/main" id="{8A1CE491-152E-436D-8F5B-4AEA1B8418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229600" cy="762000"/>
          </a:xfrm>
        </p:spPr>
        <p:txBody>
          <a:bodyPr/>
          <a:lstStyle/>
          <a:p>
            <a:r>
              <a:rPr lang="en-US" altLang="en-US" dirty="0"/>
              <a:t>Strings Are Immutable</a:t>
            </a:r>
            <a:r>
              <a:rPr lang="en-US" altLang="en-US" sz="2000" b="0" dirty="0"/>
              <a:t> (2 of 2)</a:t>
            </a:r>
            <a:endParaRPr lang="en-US" altLang="en-US" sz="20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C53CC88-EF12-4830-8381-0F7892BD878B}"/>
              </a:ext>
            </a:extLst>
          </p:cNvPr>
          <p:cNvSpPr/>
          <p:nvPr/>
        </p:nvSpPr>
        <p:spPr>
          <a:xfrm>
            <a:off x="2163275" y="3351206"/>
            <a:ext cx="4572000" cy="29238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300" b="1" dirty="0">
                <a:latin typeface="Verdana" panose="020B0604030504040204" pitchFamily="34" charset="0"/>
                <a:ea typeface="Verdana" panose="020B0604030504040204" pitchFamily="34" charset="0"/>
              </a:rPr>
              <a:t>Figure 8-4 </a:t>
            </a:r>
            <a:r>
              <a:rPr lang="en-US" sz="1300" dirty="0">
                <a:latin typeface="Verdana" panose="020B0604030504040204" pitchFamily="34" charset="0"/>
                <a:ea typeface="Verdana" panose="020B0604030504040204" pitchFamily="34" charset="0"/>
              </a:rPr>
              <a:t>The string ‘Carmen’ assigned to name</a:t>
            </a:r>
            <a:endParaRPr lang="en-AU" sz="13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2291" name="Picture 3" descr="Name = single quote Carmen single quote. name extends right to a box with text that reads, Carmen.">
            <a:extLst>
              <a:ext uri="{FF2B5EF4-FFF2-40B4-BE49-F238E27FC236}">
                <a16:creationId xmlns:a16="http://schemas.microsoft.com/office/drawing/2014/main" id="{C2D007A8-5552-4C1C-AADB-459DD46344BC}"/>
              </a:ext>
            </a:extLst>
          </p:cNvPr>
          <p:cNvPicPr>
            <a:picLocks noGrp="1" noChangeAspect="1" noChangeArrowheads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36479" y="1524000"/>
            <a:ext cx="4425882" cy="1440000"/>
          </a:xfr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3215CE8-6ADE-4894-80AD-BF33FA06EDF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5858006"/>
            <a:ext cx="8229600" cy="427010"/>
          </a:xfrm>
        </p:spPr>
        <p:txBody>
          <a:bodyPr/>
          <a:lstStyle/>
          <a:p>
            <a:r>
              <a:rPr lang="en-US" b="1" dirty="0"/>
              <a:t>Figure 8-5 </a:t>
            </a:r>
            <a:r>
              <a:rPr lang="en-US" dirty="0"/>
              <a:t>The string ‘Carmen Brown’ assigned to name</a:t>
            </a:r>
            <a:endParaRPr lang="en-AU" dirty="0"/>
          </a:p>
        </p:txBody>
      </p:sp>
      <p:pic>
        <p:nvPicPr>
          <p:cNvPr id="5" name="Picture 4" descr="Name = name + single quote Brown single quote. name extends right to a box with text that reads, Carmen Brown. Another box above this box contains text that reads, Carmen.">
            <a:extLst>
              <a:ext uri="{FF2B5EF4-FFF2-40B4-BE49-F238E27FC236}">
                <a16:creationId xmlns:a16="http://schemas.microsoft.com/office/drawing/2014/main" id="{055FC014-7134-4E23-819F-D61AA97617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400" y="4114800"/>
            <a:ext cx="3466195" cy="1440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>
            <a:extLst>
              <a:ext uri="{FF2B5EF4-FFF2-40B4-BE49-F238E27FC236}">
                <a16:creationId xmlns:a16="http://schemas.microsoft.com/office/drawing/2014/main" id="{B427F31F-9571-4240-BD8D-81B1F49553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String Slicing</a:t>
            </a:r>
          </a:p>
        </p:txBody>
      </p:sp>
      <p:sp>
        <p:nvSpPr>
          <p:cNvPr id="13315" name="Content Placeholder 2">
            <a:extLst>
              <a:ext uri="{FF2B5EF4-FFF2-40B4-BE49-F238E27FC236}">
                <a16:creationId xmlns:a16="http://schemas.microsoft.com/office/drawing/2014/main" id="{E3FB282E-E8BE-41DA-A3B4-120E1387E06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Tx/>
              <a:buChar char="•"/>
            </a:pPr>
            <a:r>
              <a:rPr lang="en-US" altLang="en-US" u="sng" dirty="0">
                <a:cs typeface="Courier New" panose="02070309020205020404" pitchFamily="49" charset="0"/>
              </a:rPr>
              <a:t>Slice</a:t>
            </a:r>
            <a:r>
              <a:rPr lang="en-US" altLang="en-US" dirty="0">
                <a:cs typeface="Courier New" panose="02070309020205020404" pitchFamily="49" charset="0"/>
              </a:rPr>
              <a:t>: span of items taken from a sequence, known as </a:t>
            </a:r>
            <a:r>
              <a:rPr lang="en-US" altLang="en-US" i="1" dirty="0">
                <a:cs typeface="Courier New" panose="02070309020205020404" pitchFamily="49" charset="0"/>
              </a:rPr>
              <a:t>substring</a:t>
            </a:r>
          </a:p>
          <a:p>
            <a:pPr lvl="1"/>
            <a:r>
              <a:rPr lang="en-US" altLang="en-US" dirty="0"/>
              <a:t>Slicing format: </a:t>
            </a:r>
            <a:r>
              <a:rPr lang="en-US" alt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alt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start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: </a:t>
            </a:r>
            <a:r>
              <a:rPr lang="en-US" alt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pPr lvl="2"/>
            <a:r>
              <a:rPr lang="en-US" altLang="en-US" dirty="0">
                <a:cs typeface="Courier New" panose="02070309020205020404" pitchFamily="49" charset="0"/>
              </a:rPr>
              <a:t>Expression will return a string containing a copy of the characters from </a:t>
            </a:r>
            <a:r>
              <a:rPr lang="en-US" alt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start</a:t>
            </a:r>
            <a:r>
              <a:rPr lang="en-US" altLang="en-US" dirty="0">
                <a:cs typeface="Courier New" panose="02070309020205020404" pitchFamily="49" charset="0"/>
              </a:rPr>
              <a:t> up to, but not including, </a:t>
            </a:r>
            <a:r>
              <a:rPr lang="en-US" alt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  <a:endParaRPr lang="en-US" altLang="en-US" i="1" dirty="0">
              <a:cs typeface="Courier New" panose="02070309020205020404" pitchFamily="49" charset="0"/>
            </a:endParaRPr>
          </a:p>
          <a:p>
            <a:pPr lvl="2"/>
            <a:r>
              <a:rPr lang="en-US" altLang="en-US" dirty="0">
                <a:cs typeface="Courier New" panose="02070309020205020404" pitchFamily="49" charset="0"/>
              </a:rPr>
              <a:t>If </a:t>
            </a:r>
            <a:r>
              <a:rPr lang="en-US" alt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start</a:t>
            </a:r>
            <a:r>
              <a:rPr lang="en-US" altLang="en-US" dirty="0">
                <a:cs typeface="Courier New" panose="02070309020205020404" pitchFamily="49" charset="0"/>
              </a:rPr>
              <a:t> not specified, 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altLang="en-US" dirty="0">
                <a:cs typeface="Courier New" panose="02070309020205020404" pitchFamily="49" charset="0"/>
              </a:rPr>
              <a:t> is used for start index</a:t>
            </a:r>
          </a:p>
          <a:p>
            <a:pPr lvl="2"/>
            <a:r>
              <a:rPr lang="en-US" altLang="en-US" dirty="0">
                <a:cs typeface="Courier New" panose="02070309020205020404" pitchFamily="49" charset="0"/>
              </a:rPr>
              <a:t>If </a:t>
            </a:r>
            <a:r>
              <a:rPr lang="en-US" alt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  <a:r>
              <a:rPr lang="en-US" altLang="en-US" dirty="0">
                <a:cs typeface="Courier New" panose="02070309020205020404" pitchFamily="49" charset="0"/>
              </a:rPr>
              <a:t> not specified, </a:t>
            </a:r>
            <a:r>
              <a:rPr lang="en-US" alt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(string)</a:t>
            </a:r>
            <a:r>
              <a:rPr lang="en-US" altLang="en-US" dirty="0">
                <a:cs typeface="Courier New" panose="02070309020205020404" pitchFamily="49" charset="0"/>
              </a:rPr>
              <a:t> is used for end index</a:t>
            </a:r>
          </a:p>
          <a:p>
            <a:pPr lvl="1"/>
            <a:r>
              <a:rPr lang="en-US" altLang="en-US" dirty="0">
                <a:cs typeface="Courier New" panose="02070309020205020404" pitchFamily="49" charset="0"/>
              </a:rPr>
              <a:t>Slicing expressions can include a step value and negative indexes relative to end of string</a:t>
            </a:r>
            <a:endParaRPr lang="he-IL" alt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Tx/>
              <a:buChar char="•"/>
            </a:pPr>
            <a:endParaRPr lang="en-US" alt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0E822401-9BB3-4095-889D-050B7A0A96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Testing, Searching, and Manipulating Strings</a:t>
            </a:r>
          </a:p>
        </p:txBody>
      </p:sp>
      <p:sp>
        <p:nvSpPr>
          <p:cNvPr id="14339" name="Content Placeholder 2">
            <a:extLst>
              <a:ext uri="{FF2B5EF4-FFF2-40B4-BE49-F238E27FC236}">
                <a16:creationId xmlns:a16="http://schemas.microsoft.com/office/drawing/2014/main" id="{C1084AD3-C742-41F8-B36A-715A728353C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US" altLang="en-US" dirty="0"/>
              <a:t>You can use the 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en-US" altLang="en-US" dirty="0"/>
              <a:t> operator to determine whether one string is contained in another string</a:t>
            </a:r>
          </a:p>
          <a:p>
            <a:pPr lvl="1"/>
            <a:r>
              <a:rPr lang="en-US" altLang="en-US" dirty="0"/>
              <a:t>General format: </a:t>
            </a:r>
            <a:r>
              <a:rPr lang="en-US" alt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string1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in </a:t>
            </a:r>
            <a:r>
              <a:rPr lang="en-US" alt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string2</a:t>
            </a:r>
          </a:p>
          <a:p>
            <a:pPr lvl="2"/>
            <a:r>
              <a:rPr lang="en-US" alt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string1 </a:t>
            </a:r>
            <a:r>
              <a:rPr lang="en-US" altLang="en-US" dirty="0">
                <a:cs typeface="Courier New" panose="02070309020205020404" pitchFamily="49" charset="0"/>
              </a:rPr>
              <a:t>and</a:t>
            </a:r>
            <a:r>
              <a:rPr lang="en-US" alt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 string2 </a:t>
            </a:r>
            <a:r>
              <a:rPr lang="en-US" altLang="en-US" dirty="0">
                <a:cs typeface="Courier New" panose="02070309020205020404" pitchFamily="49" charset="0"/>
              </a:rPr>
              <a:t>can be string literals or variables referencing strings</a:t>
            </a:r>
          </a:p>
          <a:p>
            <a:pPr>
              <a:buFontTx/>
              <a:buChar char="•"/>
            </a:pPr>
            <a:r>
              <a:rPr lang="en-US" altLang="en-US" dirty="0">
                <a:cs typeface="Courier New" panose="02070309020205020404" pitchFamily="49" charset="0"/>
              </a:rPr>
              <a:t>Similarly you can use the 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not in</a:t>
            </a:r>
            <a:r>
              <a:rPr lang="en-US" altLang="en-US" dirty="0">
                <a:cs typeface="Courier New" panose="02070309020205020404" pitchFamily="49" charset="0"/>
              </a:rPr>
              <a:t> operator to determine whether one string is not contained in another string</a:t>
            </a:r>
            <a:endParaRPr lang="he-IL" altLang="en-US" dirty="0">
              <a:cs typeface="Courier New" panose="02070309020205020404" pitchFamily="49" charset="0"/>
            </a:endParaRPr>
          </a:p>
          <a:p>
            <a:pPr>
              <a:buFontTx/>
              <a:buChar char="•"/>
            </a:pPr>
            <a:endParaRPr lang="en-US" alt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>
            <a:extLst>
              <a:ext uri="{FF2B5EF4-FFF2-40B4-BE49-F238E27FC236}">
                <a16:creationId xmlns:a16="http://schemas.microsoft.com/office/drawing/2014/main" id="{06D1DFEA-8FF6-412D-B89E-2430A257A44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String Methods</a:t>
            </a:r>
            <a:r>
              <a:rPr lang="en-US" altLang="en-US" sz="2000" b="0" dirty="0"/>
              <a:t> (1 of 7)</a:t>
            </a:r>
            <a:endParaRPr lang="en-US" altLang="en-US" sz="2000" dirty="0"/>
          </a:p>
        </p:txBody>
      </p:sp>
      <p:sp>
        <p:nvSpPr>
          <p:cNvPr id="15363" name="Content Placeholder 2">
            <a:extLst>
              <a:ext uri="{FF2B5EF4-FFF2-40B4-BE49-F238E27FC236}">
                <a16:creationId xmlns:a16="http://schemas.microsoft.com/office/drawing/2014/main" id="{02986F4B-C805-44A6-8909-4EEDEB2D0FB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Tx/>
              <a:buChar char="•"/>
            </a:pPr>
            <a:r>
              <a:rPr lang="en-US" altLang="en-US">
                <a:cs typeface="Courier New" panose="02070309020205020404" pitchFamily="49" charset="0"/>
              </a:rPr>
              <a:t>Strings in Python have many types of methods, divided into different types of operations</a:t>
            </a:r>
          </a:p>
          <a:p>
            <a:pPr lvl="1" eaLnBrk="1" hangingPunct="1"/>
            <a:r>
              <a:rPr lang="en-US" altLang="en-US">
                <a:cs typeface="Courier New" panose="02070309020205020404" pitchFamily="49" charset="0"/>
              </a:rPr>
              <a:t>General format: 							</a:t>
            </a:r>
            <a:r>
              <a:rPr lang="en-US" altLang="en-US" i="1">
                <a:latin typeface="Courier New" panose="02070309020205020404" pitchFamily="49" charset="0"/>
                <a:cs typeface="Courier New" panose="02070309020205020404" pitchFamily="49" charset="0"/>
              </a:rPr>
              <a:t>mystring</a:t>
            </a:r>
            <a:r>
              <a:rPr lang="en-US" altLang="en-US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altLang="en-US" i="1">
                <a:latin typeface="Courier New" panose="02070309020205020404" pitchFamily="49" charset="0"/>
                <a:cs typeface="Courier New" panose="02070309020205020404" pitchFamily="49" charset="0"/>
              </a:rPr>
              <a:t>method</a:t>
            </a:r>
            <a:r>
              <a:rPr lang="en-US" altLang="en-US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i="1">
                <a:latin typeface="Courier New" panose="02070309020205020404" pitchFamily="49" charset="0"/>
                <a:cs typeface="Courier New" panose="02070309020205020404" pitchFamily="49" charset="0"/>
              </a:rPr>
              <a:t>arguments</a:t>
            </a:r>
            <a:r>
              <a:rPr lang="en-US" altLang="en-US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US" altLang="en-US">
              <a:cs typeface="Courier New" panose="02070309020205020404" pitchFamily="49" charset="0"/>
            </a:endParaRPr>
          </a:p>
          <a:p>
            <a:pPr eaLnBrk="1" hangingPunct="1">
              <a:buFontTx/>
              <a:buChar char="•"/>
            </a:pPr>
            <a:r>
              <a:rPr lang="en-US" altLang="en-US">
                <a:cs typeface="Courier New" panose="02070309020205020404" pitchFamily="49" charset="0"/>
              </a:rPr>
              <a:t>Some methods test a string for specific characteristics</a:t>
            </a:r>
          </a:p>
          <a:p>
            <a:pPr lvl="1" eaLnBrk="1" hangingPunct="1"/>
            <a:r>
              <a:rPr lang="en-US" altLang="en-US">
                <a:cs typeface="Courier New" panose="02070309020205020404" pitchFamily="49" charset="0"/>
              </a:rPr>
              <a:t>Generally Boolean methods, that return </a:t>
            </a:r>
            <a:r>
              <a:rPr lang="en-US" altLang="en-US"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lang="en-US" altLang="en-US">
                <a:cs typeface="Courier New" panose="02070309020205020404" pitchFamily="49" charset="0"/>
              </a:rPr>
              <a:t> if a condition exists, and </a:t>
            </a:r>
            <a:r>
              <a:rPr lang="en-US" altLang="en-US"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  <a:r>
              <a:rPr lang="en-US" altLang="en-US">
                <a:cs typeface="Courier New" panose="02070309020205020404" pitchFamily="49" charset="0"/>
              </a:rPr>
              <a:t> otherwise</a:t>
            </a:r>
          </a:p>
          <a:p>
            <a:pPr>
              <a:buFontTx/>
              <a:buChar char="•"/>
            </a:pPr>
            <a:endParaRPr lang="en-US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67182-33CB-421F-8511-49993E7D38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String Methods</a:t>
            </a:r>
            <a:r>
              <a:rPr lang="en-US" altLang="en-US" sz="2000" b="0" dirty="0"/>
              <a:t> (2 of 7)</a:t>
            </a:r>
            <a:endParaRPr lang="en-AU" sz="20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D5F9939-29B1-48F7-80E1-E07B4DE07F07}"/>
              </a:ext>
            </a:extLst>
          </p:cNvPr>
          <p:cNvSpPr/>
          <p:nvPr/>
        </p:nvSpPr>
        <p:spPr>
          <a:xfrm>
            <a:off x="381000" y="1676400"/>
            <a:ext cx="326352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1" dirty="0">
                <a:latin typeface="+mj-lt"/>
              </a:rPr>
              <a:t>Table 8-1 </a:t>
            </a:r>
            <a:r>
              <a:rPr lang="en-US" sz="1400" dirty="0">
                <a:latin typeface="+mj-lt"/>
              </a:rPr>
              <a:t>Some string testing methods</a:t>
            </a:r>
            <a:endParaRPr lang="en-AU" sz="1400" dirty="0">
              <a:latin typeface="+mj-lt"/>
            </a:endParaRP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4192D9C4-D8CA-4329-82AB-1F66EA5BDC1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0948431"/>
              </p:ext>
            </p:extLst>
          </p:nvPr>
        </p:nvGraphicFramePr>
        <p:xfrm>
          <a:off x="457200" y="2209800"/>
          <a:ext cx="8229600" cy="342900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350756923"/>
                    </a:ext>
                  </a:extLst>
                </a:gridCol>
                <a:gridCol w="6324600">
                  <a:extLst>
                    <a:ext uri="{9D8B030D-6E8A-4147-A177-3AD203B41FA5}">
                      <a16:colId xmlns:a16="http://schemas.microsoft.com/office/drawing/2014/main" val="374741792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AU" sz="1400" b="1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Method</a:t>
                      </a:r>
                      <a:endParaRPr lang="en-AU" sz="1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1400" b="1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Description</a:t>
                      </a:r>
                      <a:endParaRPr lang="en-AU" sz="1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15408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AU" sz="1300" b="0" i="0" u="none" strike="noStrike" kern="1200" baseline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isalnum</a:t>
                      </a:r>
                      <a:r>
                        <a:rPr lang="en-AU" sz="1300" b="0" i="0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()</a:t>
                      </a:r>
                      <a:endParaRPr lang="en-AU" sz="13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Returns true if the string contains only alphabetic letters or digits and is at least one character in length. Returns false otherwise.</a:t>
                      </a:r>
                      <a:endParaRPr lang="en-AU" sz="13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97111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AU" sz="1300" b="0" i="0" u="none" strike="noStrike" kern="1200" baseline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isalpha</a:t>
                      </a:r>
                      <a:r>
                        <a:rPr lang="en-AU" sz="1300" b="0" i="0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()</a:t>
                      </a:r>
                      <a:endParaRPr lang="en-AU" sz="13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Returns true if the string contains only alphabetic letters and is at least one character in length. Returns false otherwise.</a:t>
                      </a:r>
                      <a:endParaRPr lang="en-AU" sz="13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935144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AU" sz="1300" b="0" i="0" u="none" strike="noStrike" kern="1200" baseline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isdigit</a:t>
                      </a:r>
                      <a:r>
                        <a:rPr lang="en-AU" sz="1300" b="0" i="0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()</a:t>
                      </a:r>
                      <a:endParaRPr lang="en-AU" sz="13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Returns true if the string contains only numeric digits and is at least one character in length. Returns false otherwise.</a:t>
                      </a:r>
                      <a:endParaRPr lang="en-AU" sz="13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482777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AU" sz="1300" b="0" i="0" u="none" strike="noStrike" kern="1200" baseline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islower</a:t>
                      </a:r>
                      <a:r>
                        <a:rPr lang="en-AU" sz="1300" b="0" i="0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()</a:t>
                      </a:r>
                      <a:endParaRPr lang="en-AU" sz="13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Returns true if all of the alphabetic letters in the string are lowercase, and the string contains at least one alphabetic letter. Returns false otherwise.</a:t>
                      </a:r>
                      <a:endParaRPr lang="en-AU" sz="13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365163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AU" sz="1300" b="0" i="0" u="none" strike="noStrike" kern="1200" baseline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isspace</a:t>
                      </a:r>
                      <a:r>
                        <a:rPr lang="en-AU" sz="1300" b="0" i="0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()</a:t>
                      </a:r>
                      <a:endParaRPr lang="en-AU" sz="13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Returns true if the string contains only whitespace characters and is at least one character in length. Returns false otherwise. (Whitespace characters are spaces, newlines (</a:t>
                      </a:r>
                      <a:r>
                        <a:rPr lang="en-US" sz="1300" b="0" i="0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\n</a:t>
                      </a:r>
                      <a:r>
                        <a:rPr lang="en-US" sz="13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), and tabs (</a:t>
                      </a:r>
                      <a:r>
                        <a:rPr lang="en-US" sz="1300" b="0" i="0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\t</a:t>
                      </a:r>
                      <a:r>
                        <a:rPr lang="en-US" sz="13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).</a:t>
                      </a:r>
                      <a:endParaRPr lang="en-AU" sz="13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010749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AU" sz="1300" b="0" i="0" u="none" strike="noStrike" kern="1200" baseline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isupper</a:t>
                      </a:r>
                      <a:r>
                        <a:rPr lang="en-AU" sz="1300" b="0" i="0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()</a:t>
                      </a:r>
                      <a:endParaRPr lang="en-AU" sz="13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Returns true if all of the alphabetic letters in the string are uppercase, and the string contains at least one alphabetic letter. Returns false otherwise.</a:t>
                      </a:r>
                      <a:endParaRPr lang="en-AU" sz="13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62743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5042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>
            <a:extLst>
              <a:ext uri="{FF2B5EF4-FFF2-40B4-BE49-F238E27FC236}">
                <a16:creationId xmlns:a16="http://schemas.microsoft.com/office/drawing/2014/main" id="{9A8F170C-984A-4D76-93D3-6354638B53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String Methods</a:t>
            </a:r>
            <a:r>
              <a:rPr lang="en-US" altLang="en-US" sz="2000" b="0" dirty="0"/>
              <a:t> (3 of 7)</a:t>
            </a:r>
            <a:endParaRPr lang="en-US" altLang="en-US" sz="2000" dirty="0"/>
          </a:p>
        </p:txBody>
      </p:sp>
      <p:sp>
        <p:nvSpPr>
          <p:cNvPr id="17411" name="Content Placeholder 2">
            <a:extLst>
              <a:ext uri="{FF2B5EF4-FFF2-40B4-BE49-F238E27FC236}">
                <a16:creationId xmlns:a16="http://schemas.microsoft.com/office/drawing/2014/main" id="{C0504313-747D-428C-8ABA-233BC80DEF8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Tx/>
              <a:buChar char="•"/>
            </a:pPr>
            <a:r>
              <a:rPr lang="en-US" altLang="en-US" dirty="0">
                <a:cs typeface="Courier New" panose="02070309020205020404" pitchFamily="49" charset="0"/>
              </a:rPr>
              <a:t>Some methods return a copy of the string, to which modifications have been made</a:t>
            </a:r>
          </a:p>
          <a:p>
            <a:pPr lvl="1" eaLnBrk="1" hangingPunct="1"/>
            <a:r>
              <a:rPr lang="en-US" altLang="en-US" dirty="0">
                <a:cs typeface="Courier New" panose="02070309020205020404" pitchFamily="49" charset="0"/>
              </a:rPr>
              <a:t>Simulate strings as mutable objects</a:t>
            </a:r>
          </a:p>
          <a:p>
            <a:pPr eaLnBrk="1" hangingPunct="1">
              <a:buFontTx/>
              <a:buChar char="•"/>
            </a:pPr>
            <a:r>
              <a:rPr lang="en-US" altLang="en-US" dirty="0">
                <a:cs typeface="Courier New" panose="02070309020205020404" pitchFamily="49" charset="0"/>
              </a:rPr>
              <a:t>String comparisons are case-sensitive</a:t>
            </a:r>
          </a:p>
          <a:p>
            <a:pPr lvl="1" eaLnBrk="1" hangingPunct="1"/>
            <a:r>
              <a:rPr lang="en-US" altLang="en-US" dirty="0">
                <a:cs typeface="Courier New" panose="02070309020205020404" pitchFamily="49" charset="0"/>
              </a:rPr>
              <a:t>Uppercase characters are distinguished from lowercase characters</a:t>
            </a:r>
          </a:p>
          <a:p>
            <a:pPr lvl="1" eaLnBrk="1" hangingPunct="1"/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lower</a:t>
            </a:r>
            <a:r>
              <a:rPr lang="en-US" altLang="en-US" dirty="0">
                <a:cs typeface="Courier New" panose="02070309020205020404" pitchFamily="49" charset="0"/>
              </a:rPr>
              <a:t> and 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upper</a:t>
            </a:r>
            <a:r>
              <a:rPr lang="en-US" altLang="en-US" dirty="0">
                <a:cs typeface="Courier New" panose="02070309020205020404" pitchFamily="49" charset="0"/>
              </a:rPr>
              <a:t> methods can be used for making case-insensitive string comparisons</a:t>
            </a:r>
          </a:p>
          <a:p>
            <a:pPr>
              <a:buFontTx/>
              <a:buChar char="•"/>
            </a:pPr>
            <a:endParaRPr lang="en-US" alt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6D791-06FA-4AB3-9F95-C6C14ADFF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String Methods</a:t>
            </a:r>
            <a:r>
              <a:rPr lang="en-US" altLang="en-US" sz="2000" b="0" dirty="0"/>
              <a:t> (4 of 7)</a:t>
            </a:r>
            <a:endParaRPr lang="en-AU" sz="20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CB1A093-0E32-4707-908A-C36D9003D8EC}"/>
              </a:ext>
            </a:extLst>
          </p:cNvPr>
          <p:cNvSpPr/>
          <p:nvPr/>
        </p:nvSpPr>
        <p:spPr>
          <a:xfrm>
            <a:off x="381000" y="1443558"/>
            <a:ext cx="320421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1" dirty="0">
                <a:latin typeface="+mj-lt"/>
              </a:rPr>
              <a:t>Table 8-2 </a:t>
            </a:r>
            <a:r>
              <a:rPr lang="en-US" sz="1400" dirty="0">
                <a:latin typeface="+mj-lt"/>
              </a:rPr>
              <a:t>String Modification Methods</a:t>
            </a:r>
            <a:endParaRPr lang="en-AU" sz="1400" dirty="0">
              <a:latin typeface="+mj-lt"/>
            </a:endParaRP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C6AF0D1A-E6BE-49AA-AEB7-25523249D3B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65167755"/>
              </p:ext>
            </p:extLst>
          </p:nvPr>
        </p:nvGraphicFramePr>
        <p:xfrm>
          <a:off x="457200" y="1828800"/>
          <a:ext cx="8229600" cy="440436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447800">
                  <a:extLst>
                    <a:ext uri="{9D8B030D-6E8A-4147-A177-3AD203B41FA5}">
                      <a16:colId xmlns:a16="http://schemas.microsoft.com/office/drawing/2014/main" val="2098386770"/>
                    </a:ext>
                  </a:extLst>
                </a:gridCol>
                <a:gridCol w="6781800">
                  <a:extLst>
                    <a:ext uri="{9D8B030D-6E8A-4147-A177-3AD203B41FA5}">
                      <a16:colId xmlns:a16="http://schemas.microsoft.com/office/drawing/2014/main" val="1429164594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r>
                        <a:rPr lang="en-AU" sz="1400" b="1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Method</a:t>
                      </a:r>
                      <a:endParaRPr lang="en-AU" sz="1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1400" b="1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Description</a:t>
                      </a:r>
                      <a:endParaRPr lang="en-AU" sz="1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041946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AU" sz="1300" b="0" i="0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lower()</a:t>
                      </a:r>
                      <a:endParaRPr lang="en-AU" sz="13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Returns a copy of the string with all alphabetic letters converted to lowercase. Any character that is already lowercase, or is not an alphabetic letter, is </a:t>
                      </a:r>
                      <a:r>
                        <a:rPr lang="en-AU" sz="13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unchanged.</a:t>
                      </a:r>
                      <a:endParaRPr lang="en-AU" sz="13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987528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AU" sz="1300" b="0" i="0" u="none" strike="noStrike" kern="1200" baseline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lstrip</a:t>
                      </a:r>
                      <a:r>
                        <a:rPr lang="en-AU" sz="1300" b="0" i="0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()</a:t>
                      </a:r>
                      <a:endParaRPr lang="en-AU" sz="13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Returns a copy of the string with all leading whitespace characters removed. Leading whitespace characters are spaces, newlines (</a:t>
                      </a:r>
                      <a:r>
                        <a:rPr lang="en-US" sz="1300" b="0" i="0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\n</a:t>
                      </a:r>
                      <a:r>
                        <a:rPr lang="en-US" sz="13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), and tabs (</a:t>
                      </a:r>
                      <a:r>
                        <a:rPr lang="en-US" sz="1300" b="0" i="0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\t</a:t>
                      </a:r>
                      <a:r>
                        <a:rPr lang="en-US" sz="13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 that appear at the beginning of the string.</a:t>
                      </a:r>
                      <a:endParaRPr lang="en-AU" sz="13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113009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AU" sz="1300" b="0" i="0" u="none" strike="noStrike" kern="1200" baseline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lstrip</a:t>
                      </a:r>
                      <a:r>
                        <a:rPr lang="en-AU" sz="1300" b="0" i="0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AU" sz="1300" b="0" i="1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char</a:t>
                      </a:r>
                      <a:r>
                        <a:rPr lang="en-AU" sz="1300" b="0" i="0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)</a:t>
                      </a:r>
                      <a:endParaRPr lang="en-AU" sz="13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The </a:t>
                      </a:r>
                      <a:r>
                        <a:rPr lang="en-US" sz="1300" b="0" i="1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char</a:t>
                      </a:r>
                      <a:r>
                        <a:rPr lang="en-US" sz="1300" b="0" i="1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3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argument is a string containing a character. Returns a copy of the string with all instances of </a:t>
                      </a:r>
                      <a:r>
                        <a:rPr lang="en-US" sz="1300" b="0" i="1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char</a:t>
                      </a:r>
                      <a:r>
                        <a:rPr lang="en-US" sz="1300" b="0" i="1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3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that appear at the beginning of the string removed.</a:t>
                      </a:r>
                      <a:endParaRPr lang="en-AU" sz="13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071143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AU" sz="1300" b="0" i="0" u="none" strike="noStrike" kern="1200" baseline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rstrip</a:t>
                      </a:r>
                      <a:r>
                        <a:rPr lang="en-AU" sz="1300" b="0" i="0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()</a:t>
                      </a:r>
                      <a:endParaRPr lang="en-AU" sz="13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Returns a copy of the string with all trailing whitespace characters removed. Trailing whitespace characters are spaces, newlines (</a:t>
                      </a:r>
                      <a:r>
                        <a:rPr lang="en-US" sz="1300" b="0" i="0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\n</a:t>
                      </a:r>
                      <a:r>
                        <a:rPr lang="en-US" sz="13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), and tabs (</a:t>
                      </a:r>
                      <a:r>
                        <a:rPr lang="en-US" sz="1300" b="0" i="0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\t</a:t>
                      </a:r>
                      <a:r>
                        <a:rPr lang="en-US" sz="13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 that appear at the end of the string.</a:t>
                      </a:r>
                      <a:endParaRPr lang="en-AU" sz="13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32587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AU" sz="1300" b="0" i="0" u="none" strike="noStrike" kern="1200" baseline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rstrip</a:t>
                      </a:r>
                      <a:r>
                        <a:rPr lang="en-AU" sz="1300" b="0" i="0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AU" sz="1300" b="0" i="1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char</a:t>
                      </a:r>
                      <a:r>
                        <a:rPr lang="en-AU" sz="1300" b="0" i="0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)</a:t>
                      </a:r>
                      <a:endParaRPr lang="en-AU" sz="13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The </a:t>
                      </a:r>
                      <a:r>
                        <a:rPr lang="en-US" sz="1300" b="0" i="1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char</a:t>
                      </a:r>
                      <a:r>
                        <a:rPr lang="en-US" sz="1300" b="0" i="1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3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argument is a string containing a character. The method returns a copy of the string with all instances of </a:t>
                      </a:r>
                      <a:r>
                        <a:rPr lang="en-US" sz="1300" b="0" i="1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char</a:t>
                      </a:r>
                      <a:r>
                        <a:rPr lang="en-US" sz="1300" b="0" i="1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3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that appear at the end of the </a:t>
                      </a:r>
                      <a:r>
                        <a:rPr lang="en-AU" sz="13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string removed.</a:t>
                      </a:r>
                      <a:endParaRPr lang="en-AU" sz="13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917077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AU" sz="1300" b="0" i="0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strip()</a:t>
                      </a:r>
                      <a:endParaRPr lang="en-AU" sz="13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Returns a copy of the string with all leading and trailing whitespace characters </a:t>
                      </a:r>
                      <a:r>
                        <a:rPr lang="en-AU" sz="13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removed.</a:t>
                      </a:r>
                      <a:endParaRPr lang="en-AU" sz="13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23818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AU" sz="1300" b="0" i="0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strip(</a:t>
                      </a:r>
                      <a:r>
                        <a:rPr lang="en-AU" sz="1300" b="0" i="1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char</a:t>
                      </a:r>
                      <a:r>
                        <a:rPr lang="en-AU" sz="1300" b="0" i="0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)</a:t>
                      </a:r>
                      <a:endParaRPr lang="en-AU" sz="13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Returns a copy of the string with all instances of </a:t>
                      </a:r>
                      <a:r>
                        <a:rPr lang="en-US" sz="1300" b="0" i="1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char</a:t>
                      </a:r>
                      <a:r>
                        <a:rPr lang="en-US" sz="1300" b="0" i="1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3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that appear at the beginning and the end of the string removed.</a:t>
                      </a:r>
                      <a:endParaRPr lang="en-AU" sz="13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629046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AU" sz="1300" b="0" i="0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upper()</a:t>
                      </a:r>
                      <a:endParaRPr lang="en-AU" sz="13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Returns a copy of the string with all alphabetic letters converted to uppercase. Any character that is already uppercase, or is not an alphabetic letter, is unchanged.</a:t>
                      </a:r>
                      <a:endParaRPr lang="en-AU" sz="13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71592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23847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>
            <a:extLst>
              <a:ext uri="{FF2B5EF4-FFF2-40B4-BE49-F238E27FC236}">
                <a16:creationId xmlns:a16="http://schemas.microsoft.com/office/drawing/2014/main" id="{14840570-7BD4-4825-B48A-587B0CDCCF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String Methods</a:t>
            </a:r>
            <a:r>
              <a:rPr lang="en-US" altLang="en-US" sz="2000" b="0" dirty="0"/>
              <a:t> (5 of 7)</a:t>
            </a:r>
            <a:endParaRPr lang="en-US" altLang="en-US" sz="2000" dirty="0"/>
          </a:p>
        </p:txBody>
      </p:sp>
      <p:sp>
        <p:nvSpPr>
          <p:cNvPr id="19459" name="Content Placeholder 2">
            <a:extLst>
              <a:ext uri="{FF2B5EF4-FFF2-40B4-BE49-F238E27FC236}">
                <a16:creationId xmlns:a16="http://schemas.microsoft.com/office/drawing/2014/main" id="{743BBEE0-FAE8-4AE7-BDB0-EB95708EE4A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Tx/>
              <a:buChar char="•"/>
            </a:pPr>
            <a:r>
              <a:rPr lang="en-US" altLang="en-US" dirty="0">
                <a:cs typeface="Courier New" panose="02070309020205020404" pitchFamily="49" charset="0"/>
              </a:rPr>
              <a:t>Programs commonly need to search for substrings</a:t>
            </a:r>
          </a:p>
          <a:p>
            <a:pPr eaLnBrk="1" hangingPunct="1">
              <a:buFontTx/>
              <a:buChar char="•"/>
            </a:pPr>
            <a:r>
              <a:rPr lang="en-US" altLang="en-US" dirty="0">
                <a:cs typeface="Courier New" panose="02070309020205020404" pitchFamily="49" charset="0"/>
              </a:rPr>
              <a:t>Several methods to accomplish this:</a:t>
            </a:r>
          </a:p>
          <a:p>
            <a:pPr lvl="1" eaLnBrk="1" hangingPunct="1"/>
            <a:r>
              <a:rPr lang="en-US" altLang="en-US" u="sng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endswith</a:t>
            </a:r>
            <a:r>
              <a:rPr lang="en-US" altLang="en-US" u="sng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i="1" u="sng" dirty="0">
                <a:latin typeface="Courier New" panose="02070309020205020404" pitchFamily="49" charset="0"/>
                <a:cs typeface="Courier New" panose="02070309020205020404" pitchFamily="49" charset="0"/>
              </a:rPr>
              <a:t>substring</a:t>
            </a:r>
            <a:r>
              <a:rPr lang="en-US" altLang="en-US" u="sng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altLang="en-US" dirty="0">
                <a:cs typeface="Courier New" panose="02070309020205020404" pitchFamily="49" charset="0"/>
              </a:rPr>
              <a:t>: checks if the string ends with </a:t>
            </a:r>
            <a:r>
              <a:rPr lang="en-US" alt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substring</a:t>
            </a:r>
            <a:endParaRPr lang="en-US" altLang="en-US" dirty="0">
              <a:cs typeface="Courier New" panose="02070309020205020404" pitchFamily="49" charset="0"/>
            </a:endParaRPr>
          </a:p>
          <a:p>
            <a:pPr lvl="2"/>
            <a:r>
              <a:rPr lang="en-US" altLang="en-US" dirty="0">
                <a:cs typeface="Courier New" panose="02070309020205020404" pitchFamily="49" charset="0"/>
              </a:rPr>
              <a:t>Returns 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lang="en-US" altLang="en-US" dirty="0">
                <a:cs typeface="Courier New" panose="02070309020205020404" pitchFamily="49" charset="0"/>
              </a:rPr>
              <a:t> or 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</a:p>
          <a:p>
            <a:pPr lvl="1" eaLnBrk="1" hangingPunct="1"/>
            <a:r>
              <a:rPr lang="en-US" altLang="en-US" u="sng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startswith</a:t>
            </a:r>
            <a:r>
              <a:rPr lang="en-US" altLang="en-US" u="sng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i="1" u="sng" dirty="0">
                <a:latin typeface="Courier New" panose="02070309020205020404" pitchFamily="49" charset="0"/>
                <a:cs typeface="Courier New" panose="02070309020205020404" pitchFamily="49" charset="0"/>
              </a:rPr>
              <a:t>substring</a:t>
            </a:r>
            <a:r>
              <a:rPr lang="en-US" altLang="en-US" u="sng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altLang="en-US" dirty="0">
                <a:cs typeface="Courier New" panose="02070309020205020404" pitchFamily="49" charset="0"/>
              </a:rPr>
              <a:t>: checks if the string starts with </a:t>
            </a:r>
            <a:r>
              <a:rPr lang="en-US" alt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substring</a:t>
            </a:r>
          </a:p>
          <a:p>
            <a:pPr lvl="2"/>
            <a:r>
              <a:rPr lang="en-US" altLang="en-US" dirty="0">
                <a:cs typeface="Courier New" panose="02070309020205020404" pitchFamily="49" charset="0"/>
              </a:rPr>
              <a:t>Returns 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lang="en-US" altLang="en-US" dirty="0">
                <a:cs typeface="Courier New" panose="02070309020205020404" pitchFamily="49" charset="0"/>
              </a:rPr>
              <a:t> or 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  <a:endParaRPr lang="en-US" altLang="en-US" dirty="0">
              <a:cs typeface="Courier New" panose="02070309020205020404" pitchFamily="49" charset="0"/>
            </a:endParaRPr>
          </a:p>
          <a:p>
            <a:pPr>
              <a:buFontTx/>
              <a:buChar char="•"/>
            </a:pPr>
            <a:endParaRPr lang="en-US" alt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AAF947B3-ECF0-4B6D-A2BD-520A467AF7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String Methods</a:t>
            </a:r>
            <a:r>
              <a:rPr lang="en-US" altLang="en-US" sz="2000" b="0" dirty="0"/>
              <a:t> (6 of 7)</a:t>
            </a:r>
            <a:endParaRPr lang="en-US" altLang="en-US" sz="2000" dirty="0"/>
          </a:p>
        </p:txBody>
      </p:sp>
      <p:sp>
        <p:nvSpPr>
          <p:cNvPr id="20483" name="Content Placeholder 2">
            <a:extLst>
              <a:ext uri="{FF2B5EF4-FFF2-40B4-BE49-F238E27FC236}">
                <a16:creationId xmlns:a16="http://schemas.microsoft.com/office/drawing/2014/main" id="{777A5F3D-E948-4802-B066-DD9A93E18FF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Tx/>
              <a:buChar char="•"/>
            </a:pPr>
            <a:r>
              <a:rPr lang="en-US" altLang="en-US" dirty="0">
                <a:cs typeface="Courier New" panose="02070309020205020404" pitchFamily="49" charset="0"/>
              </a:rPr>
              <a:t>Several methods to accomplish this (cont’d):</a:t>
            </a:r>
          </a:p>
          <a:p>
            <a:pPr lvl="1" eaLnBrk="1" hangingPunct="1"/>
            <a:r>
              <a:rPr lang="en-US" altLang="en-US" u="sng" dirty="0">
                <a:latin typeface="Courier New" panose="02070309020205020404" pitchFamily="49" charset="0"/>
                <a:cs typeface="Courier New" panose="02070309020205020404" pitchFamily="49" charset="0"/>
              </a:rPr>
              <a:t>find(</a:t>
            </a:r>
            <a:r>
              <a:rPr lang="en-US" altLang="en-US" i="1" u="sng" dirty="0">
                <a:latin typeface="Courier New" panose="02070309020205020404" pitchFamily="49" charset="0"/>
                <a:cs typeface="Courier New" panose="02070309020205020404" pitchFamily="49" charset="0"/>
              </a:rPr>
              <a:t>substring</a:t>
            </a:r>
            <a:r>
              <a:rPr lang="en-US" altLang="en-US" u="sng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altLang="en-US" dirty="0">
                <a:cs typeface="Courier New" panose="02070309020205020404" pitchFamily="49" charset="0"/>
              </a:rPr>
              <a:t>: searches for </a:t>
            </a:r>
            <a:r>
              <a:rPr lang="en-US" alt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substring</a:t>
            </a:r>
            <a:r>
              <a:rPr lang="en-US" altLang="en-US" dirty="0">
                <a:cs typeface="Courier New" panose="02070309020205020404" pitchFamily="49" charset="0"/>
              </a:rPr>
              <a:t>  within the string</a:t>
            </a:r>
          </a:p>
          <a:p>
            <a:pPr lvl="2"/>
            <a:r>
              <a:rPr lang="en-US" altLang="en-US" dirty="0">
                <a:cs typeface="Courier New" panose="02070309020205020404" pitchFamily="49" charset="0"/>
              </a:rPr>
              <a:t>Returns lowest index of the substring, or if the substring is not contained in the string, returns -1</a:t>
            </a:r>
          </a:p>
          <a:p>
            <a:pPr lvl="1" eaLnBrk="1" hangingPunct="1"/>
            <a:r>
              <a:rPr lang="en-US" altLang="en-US" u="sng" dirty="0">
                <a:latin typeface="Courier New" panose="02070309020205020404" pitchFamily="49" charset="0"/>
                <a:cs typeface="Courier New" panose="02070309020205020404" pitchFamily="49" charset="0"/>
              </a:rPr>
              <a:t>replace(</a:t>
            </a:r>
            <a:r>
              <a:rPr lang="en-US" altLang="en-US" i="1" u="sng" dirty="0">
                <a:latin typeface="Courier New" panose="02070309020205020404" pitchFamily="49" charset="0"/>
                <a:cs typeface="Courier New" panose="02070309020205020404" pitchFamily="49" charset="0"/>
              </a:rPr>
              <a:t>substring</a:t>
            </a:r>
            <a:r>
              <a:rPr lang="en-US" altLang="en-US" u="sng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en-US" i="1" u="sng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new_string</a:t>
            </a:r>
            <a:r>
              <a:rPr lang="en-US" altLang="en-US" u="sng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altLang="en-US" dirty="0">
                <a:cs typeface="Courier New" panose="02070309020205020404" pitchFamily="49" charset="0"/>
              </a:rPr>
              <a:t>: </a:t>
            </a:r>
          </a:p>
          <a:p>
            <a:pPr lvl="2"/>
            <a:r>
              <a:rPr lang="en-US" altLang="en-US" dirty="0">
                <a:cs typeface="Courier New" panose="02070309020205020404" pitchFamily="49" charset="0"/>
              </a:rPr>
              <a:t>Returns a copy of the string where every occurrence of </a:t>
            </a:r>
            <a:r>
              <a:rPr lang="en-US" alt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substring</a:t>
            </a:r>
            <a:r>
              <a:rPr lang="en-US" altLang="en-US" dirty="0">
                <a:cs typeface="Courier New" panose="02070309020205020404" pitchFamily="49" charset="0"/>
              </a:rPr>
              <a:t> is replaced with </a:t>
            </a:r>
            <a:r>
              <a:rPr lang="en-US" altLang="en-US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new_string</a:t>
            </a:r>
            <a:endParaRPr lang="en-US" altLang="en-US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Tx/>
              <a:buChar char="•"/>
            </a:pPr>
            <a:endParaRPr lang="en-US" alt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9FCAB-7DB8-419A-A36E-BA097C625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String Methods</a:t>
            </a:r>
            <a:r>
              <a:rPr lang="en-US" altLang="en-US" sz="2000" b="0" dirty="0"/>
              <a:t> (7 of 7)</a:t>
            </a:r>
            <a:endParaRPr lang="en-AU" sz="2000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DD46973C-9254-4CC7-BF02-62C5BCC352E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15491342"/>
              </p:ext>
            </p:extLst>
          </p:nvPr>
        </p:nvGraphicFramePr>
        <p:xfrm>
          <a:off x="457200" y="2590800"/>
          <a:ext cx="8229600" cy="260604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667000">
                  <a:extLst>
                    <a:ext uri="{9D8B030D-6E8A-4147-A177-3AD203B41FA5}">
                      <a16:colId xmlns:a16="http://schemas.microsoft.com/office/drawing/2014/main" val="1323895398"/>
                    </a:ext>
                  </a:extLst>
                </a:gridCol>
                <a:gridCol w="5562600">
                  <a:extLst>
                    <a:ext uri="{9D8B030D-6E8A-4147-A177-3AD203B41FA5}">
                      <a16:colId xmlns:a16="http://schemas.microsoft.com/office/drawing/2014/main" val="4201606910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r>
                        <a:rPr lang="en-AU" sz="1500" b="1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Method</a:t>
                      </a:r>
                      <a:endParaRPr lang="en-AU" sz="15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1500" b="1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Description</a:t>
                      </a:r>
                      <a:endParaRPr lang="en-AU" sz="15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0527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sz="1400" b="0" i="0" u="none" strike="noStrike" kern="1200" baseline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endswith</a:t>
                      </a:r>
                      <a:r>
                        <a:rPr lang="en-AU" sz="1400" b="0" i="1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(substring)</a:t>
                      </a:r>
                      <a:endParaRPr lang="en-AU" sz="14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The </a:t>
                      </a:r>
                      <a:r>
                        <a:rPr lang="en-US" sz="1400" b="0" i="1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substring</a:t>
                      </a:r>
                      <a:r>
                        <a:rPr lang="en-US" sz="1400" b="0" i="1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argument is a string. The method returns true if the string ends with </a:t>
                      </a:r>
                      <a:r>
                        <a:rPr lang="en-US" sz="1400" b="0" i="1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substring</a:t>
                      </a:r>
                      <a:r>
                        <a:rPr lang="en-US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n-AU" sz="1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4247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sz="1400" b="0" i="0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find(</a:t>
                      </a:r>
                      <a:r>
                        <a:rPr lang="en-AU" sz="1400" b="0" i="1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substring</a:t>
                      </a:r>
                      <a:r>
                        <a:rPr lang="en-AU" sz="1400" b="0" i="0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)</a:t>
                      </a:r>
                      <a:endParaRPr lang="en-AU" sz="14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The </a:t>
                      </a:r>
                      <a:r>
                        <a:rPr lang="en-US" sz="1400" b="0" i="1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substring</a:t>
                      </a:r>
                      <a:r>
                        <a:rPr lang="en-US" sz="1400" b="0" i="1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argument is a string. The method returns the lowest index in the string where </a:t>
                      </a:r>
                      <a:r>
                        <a:rPr lang="en-US" sz="1400" b="0" i="1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substring</a:t>
                      </a:r>
                      <a:r>
                        <a:rPr lang="en-US" sz="1400" b="0" i="1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is found. If </a:t>
                      </a:r>
                      <a:r>
                        <a:rPr lang="en-US" sz="1400" b="0" i="1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substring</a:t>
                      </a:r>
                      <a:r>
                        <a:rPr lang="en-US" sz="1400" b="0" i="1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is not found, the method returns −1.</a:t>
                      </a:r>
                      <a:endParaRPr lang="en-AU" sz="1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99621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sz="1400" b="0" i="0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replace(</a:t>
                      </a:r>
                      <a:r>
                        <a:rPr lang="en-AU" sz="1400" b="0" i="1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old, new</a:t>
                      </a:r>
                      <a:r>
                        <a:rPr lang="en-AU" sz="1400" b="0" i="0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)</a:t>
                      </a:r>
                      <a:endParaRPr lang="en-AU" sz="14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The </a:t>
                      </a:r>
                      <a:r>
                        <a:rPr lang="en-US" sz="1400" b="0" i="1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old</a:t>
                      </a:r>
                      <a:r>
                        <a:rPr lang="en-US" sz="1400" b="0" i="1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and </a:t>
                      </a:r>
                      <a:r>
                        <a:rPr lang="en-US" sz="1400" b="0" i="1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new</a:t>
                      </a:r>
                      <a:r>
                        <a:rPr lang="en-US" sz="1400" b="0" i="1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arguments are both strings. The method returns a copy of the string with all instances of </a:t>
                      </a:r>
                      <a:r>
                        <a:rPr lang="en-US" sz="1400" b="0" i="1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old</a:t>
                      </a:r>
                      <a:r>
                        <a:rPr lang="en-US" sz="1400" b="0" i="1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replaced by </a:t>
                      </a:r>
                      <a:r>
                        <a:rPr lang="en-US" sz="1400" b="0" i="1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new</a:t>
                      </a:r>
                      <a:r>
                        <a:rPr lang="en-US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n-AU" sz="1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58695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sz="1400" b="0" i="0" u="none" strike="noStrike" kern="1200" baseline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startswith</a:t>
                      </a:r>
                      <a:r>
                        <a:rPr lang="en-AU" sz="1400" b="0" i="0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AU" sz="1400" b="0" i="1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substring</a:t>
                      </a:r>
                      <a:r>
                        <a:rPr lang="en-AU" sz="1400" b="0" i="0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)</a:t>
                      </a:r>
                      <a:endParaRPr lang="en-AU" sz="14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The </a:t>
                      </a:r>
                      <a:r>
                        <a:rPr lang="en-US" sz="1400" b="0" i="1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substring</a:t>
                      </a:r>
                      <a:r>
                        <a:rPr lang="en-US" sz="1400" b="0" i="1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argument is a string. The method returns true if the string starts with </a:t>
                      </a:r>
                      <a:r>
                        <a:rPr lang="en-US" sz="1400" b="0" i="1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substring</a:t>
                      </a:r>
                      <a:r>
                        <a:rPr lang="en-US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n-AU" sz="14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3768124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9FD0BA4A-D542-4DCE-80C7-28960A97DE92}"/>
              </a:ext>
            </a:extLst>
          </p:cNvPr>
          <p:cNvSpPr/>
          <p:nvPr/>
        </p:nvSpPr>
        <p:spPr>
          <a:xfrm>
            <a:off x="381000" y="1981200"/>
            <a:ext cx="328275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1" dirty="0">
                <a:latin typeface="+mj-lt"/>
              </a:rPr>
              <a:t>Table 8-3 </a:t>
            </a:r>
            <a:r>
              <a:rPr lang="en-US" sz="1400" dirty="0">
                <a:latin typeface="+mj-lt"/>
              </a:rPr>
              <a:t>Search and replace methods</a:t>
            </a:r>
            <a:endParaRPr lang="en-AU" sz="1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1775108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>
            <a:extLst>
              <a:ext uri="{FF2B5EF4-FFF2-40B4-BE49-F238E27FC236}">
                <a16:creationId xmlns:a16="http://schemas.microsoft.com/office/drawing/2014/main" id="{3AAF52CC-16CE-48A3-86D3-2B2406222B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Repetition Operator</a:t>
            </a:r>
          </a:p>
        </p:txBody>
      </p:sp>
      <p:sp>
        <p:nvSpPr>
          <p:cNvPr id="22531" name="Content Placeholder 2">
            <a:extLst>
              <a:ext uri="{FF2B5EF4-FFF2-40B4-BE49-F238E27FC236}">
                <a16:creationId xmlns:a16="http://schemas.microsoft.com/office/drawing/2014/main" id="{9A2FC001-A23C-4851-8B84-7976D98EAC8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US" altLang="en-US" u="sng" dirty="0"/>
              <a:t>Repetition operator</a:t>
            </a:r>
            <a:r>
              <a:rPr lang="en-US" altLang="en-US" dirty="0"/>
              <a:t>: makes multiple copies of a string and joins them together</a:t>
            </a:r>
          </a:p>
          <a:p>
            <a:pPr lvl="1"/>
            <a:r>
              <a:rPr lang="en-US" altLang="en-US" dirty="0"/>
              <a:t>The * symbol is a repetition operator when applied to a string and an integer</a:t>
            </a:r>
          </a:p>
          <a:p>
            <a:pPr lvl="2"/>
            <a:r>
              <a:rPr lang="en-US" altLang="en-US" dirty="0"/>
              <a:t>String is left operand; number is right</a:t>
            </a:r>
          </a:p>
          <a:p>
            <a:pPr lvl="1"/>
            <a:r>
              <a:rPr lang="en-US" altLang="en-US" dirty="0"/>
              <a:t>General format: </a:t>
            </a:r>
            <a:r>
              <a:rPr lang="en-US" altLang="en-US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string_to_copy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* </a:t>
            </a:r>
            <a:r>
              <a:rPr lang="en-US" alt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</a:p>
          <a:p>
            <a:pPr lvl="1"/>
            <a:r>
              <a:rPr lang="en-US" altLang="en-US" dirty="0">
                <a:cs typeface="Courier New" panose="02070309020205020404" pitchFamily="49" charset="0"/>
              </a:rPr>
              <a:t>Variable references a new string which contains multiple copies of the original string</a:t>
            </a:r>
          </a:p>
          <a:p>
            <a:pPr>
              <a:buFontTx/>
              <a:buChar char="•"/>
            </a:pPr>
            <a:endParaRPr lang="en-US" alt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>
            <a:extLst>
              <a:ext uri="{FF2B5EF4-FFF2-40B4-BE49-F238E27FC236}">
                <a16:creationId xmlns:a16="http://schemas.microsoft.com/office/drawing/2014/main" id="{55FE60BE-0E34-4D90-A385-74C92A5E10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Splitting a String</a:t>
            </a:r>
            <a:r>
              <a:rPr lang="en-US" altLang="en-US" sz="2000" b="0" dirty="0"/>
              <a:t> (1 of 2)</a:t>
            </a:r>
            <a:endParaRPr lang="en-US" altLang="en-US" sz="2000" dirty="0"/>
          </a:p>
        </p:txBody>
      </p:sp>
      <p:sp>
        <p:nvSpPr>
          <p:cNvPr id="23555" name="Content Placeholder 2">
            <a:extLst>
              <a:ext uri="{FF2B5EF4-FFF2-40B4-BE49-F238E27FC236}">
                <a16:creationId xmlns:a16="http://schemas.microsoft.com/office/drawing/2014/main" id="{31E718CF-ABB7-4020-A042-930689E34C4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Tx/>
              <a:buChar char="•"/>
            </a:pPr>
            <a:r>
              <a:rPr lang="en-US" altLang="en-US" u="sng" dirty="0">
                <a:latin typeface="Courier New" panose="02070309020205020404" pitchFamily="49" charset="0"/>
                <a:cs typeface="Courier New" panose="02070309020205020404" pitchFamily="49" charset="0"/>
              </a:rPr>
              <a:t>split</a:t>
            </a:r>
            <a:r>
              <a:rPr lang="en-US" altLang="en-US" u="sng" dirty="0"/>
              <a:t> method</a:t>
            </a:r>
            <a:r>
              <a:rPr lang="en-US" altLang="en-US" dirty="0"/>
              <a:t>: returns a list containing the words in the string</a:t>
            </a:r>
          </a:p>
          <a:p>
            <a:pPr lvl="1" eaLnBrk="1" hangingPunct="1"/>
            <a:r>
              <a:rPr lang="en-US" altLang="en-US" dirty="0"/>
              <a:t>By default, uses space as separator</a:t>
            </a:r>
          </a:p>
          <a:p>
            <a:pPr lvl="1" eaLnBrk="1" hangingPunct="1"/>
            <a:r>
              <a:rPr lang="en-US" altLang="en-US" dirty="0"/>
              <a:t>Can specify a different separator by passing it as an argument to the 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split</a:t>
            </a:r>
            <a:r>
              <a:rPr lang="en-US" altLang="en-US" dirty="0"/>
              <a:t> method</a:t>
            </a:r>
            <a:endParaRPr lang="he-IL" altLang="en-US" dirty="0"/>
          </a:p>
          <a:p>
            <a:pPr>
              <a:buFontTx/>
              <a:buChar char="•"/>
            </a:pPr>
            <a:endParaRPr lang="en-US" alt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>
            <a:extLst>
              <a:ext uri="{FF2B5EF4-FFF2-40B4-BE49-F238E27FC236}">
                <a16:creationId xmlns:a16="http://schemas.microsoft.com/office/drawing/2014/main" id="{228385BA-E53F-4F6A-8041-ACD72F288E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Splitting a String</a:t>
            </a:r>
            <a:r>
              <a:rPr lang="en-US" altLang="en-US" sz="2000" b="0" dirty="0"/>
              <a:t> (2 of 2)</a:t>
            </a:r>
            <a:endParaRPr lang="en-US" altLang="en-US" sz="2000" dirty="0"/>
          </a:p>
        </p:txBody>
      </p:sp>
      <p:sp>
        <p:nvSpPr>
          <p:cNvPr id="23555" name="Content Placeholder 2">
            <a:extLst>
              <a:ext uri="{FF2B5EF4-FFF2-40B4-BE49-F238E27FC236}">
                <a16:creationId xmlns:a16="http://schemas.microsoft.com/office/drawing/2014/main" id="{283D1A0E-1557-4076-A3A4-AFF56ADF45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Tx/>
              <a:buChar char="•"/>
              <a:defRPr/>
            </a:pPr>
            <a:r>
              <a:rPr lang="en-US" altLang="en-US" dirty="0">
                <a:latin typeface="+mj-lt"/>
                <a:cs typeface="Courier New" panose="02070309020205020404" pitchFamily="49" charset="0"/>
              </a:rPr>
              <a:t>Examples:</a:t>
            </a:r>
            <a:endParaRPr lang="he-IL" altLang="en-US" dirty="0">
              <a:latin typeface="+mj-lt"/>
            </a:endParaRPr>
          </a:p>
          <a:p>
            <a:pPr>
              <a:buFontTx/>
              <a:buChar char="•"/>
              <a:defRPr/>
            </a:pPr>
            <a:endParaRPr lang="en-US" altLang="en-US" sz="2400" dirty="0">
              <a:latin typeface="+mj-l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26B80B2-8B3C-4726-A30D-CC4DE680EEE3}"/>
              </a:ext>
            </a:extLst>
          </p:cNvPr>
          <p:cNvSpPr txBox="1"/>
          <p:nvPr/>
        </p:nvSpPr>
        <p:spPr>
          <a:xfrm>
            <a:off x="1676400" y="2286000"/>
            <a:ext cx="5545138" cy="16319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40000"/>
                <a:lumOff val="60000"/>
              </a:schemeClr>
            </a:solidFill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000" dirty="0">
                <a:latin typeface="Consolas" panose="020B0609020204030204" pitchFamily="49" charset="0"/>
              </a:rPr>
              <a:t>&gt;&gt;&gt; </a:t>
            </a:r>
            <a:r>
              <a:rPr lang="en-US" sz="2000" dirty="0" err="1">
                <a:latin typeface="Consolas" panose="020B0609020204030204" pitchFamily="49" charset="0"/>
              </a:rPr>
              <a:t>my_string</a:t>
            </a:r>
            <a:r>
              <a:rPr lang="en-US" sz="2000" dirty="0">
                <a:latin typeface="Consolas" panose="020B0609020204030204" pitchFamily="49" charset="0"/>
              </a:rPr>
              <a:t> = 'One two three four'</a:t>
            </a:r>
          </a:p>
          <a:p>
            <a:pPr>
              <a:defRPr/>
            </a:pPr>
            <a:r>
              <a:rPr lang="en-US" sz="2000" dirty="0">
                <a:latin typeface="Consolas" panose="020B0609020204030204" pitchFamily="49" charset="0"/>
              </a:rPr>
              <a:t>&gt;&gt;&gt; </a:t>
            </a:r>
            <a:r>
              <a:rPr lang="en-US" sz="2000" dirty="0" err="1">
                <a:latin typeface="Consolas" panose="020B0609020204030204" pitchFamily="49" charset="0"/>
              </a:rPr>
              <a:t>word_list</a:t>
            </a:r>
            <a:r>
              <a:rPr lang="en-US" sz="2000" dirty="0">
                <a:latin typeface="Consolas" panose="020B0609020204030204" pitchFamily="49" charset="0"/>
              </a:rPr>
              <a:t> = </a:t>
            </a:r>
            <a:r>
              <a:rPr lang="en-US" sz="2000" dirty="0" err="1">
                <a:latin typeface="Consolas" panose="020B0609020204030204" pitchFamily="49" charset="0"/>
              </a:rPr>
              <a:t>my_string.split</a:t>
            </a:r>
            <a:r>
              <a:rPr lang="en-US" sz="2000" dirty="0">
                <a:latin typeface="Consolas" panose="020B0609020204030204" pitchFamily="49" charset="0"/>
              </a:rPr>
              <a:t>()</a:t>
            </a:r>
          </a:p>
          <a:p>
            <a:pPr>
              <a:defRPr/>
            </a:pPr>
            <a:r>
              <a:rPr lang="en-US" sz="2000" dirty="0">
                <a:latin typeface="Consolas" panose="020B0609020204030204" pitchFamily="49" charset="0"/>
              </a:rPr>
              <a:t>&gt;&gt;&gt; </a:t>
            </a:r>
            <a:r>
              <a:rPr lang="en-US" sz="2000" dirty="0" err="1">
                <a:latin typeface="Consolas" panose="020B0609020204030204" pitchFamily="49" charset="0"/>
              </a:rPr>
              <a:t>word_list</a:t>
            </a:r>
            <a:endParaRPr lang="en-US" sz="2000" dirty="0">
              <a:latin typeface="Consolas" panose="020B0609020204030204" pitchFamily="49" charset="0"/>
            </a:endParaRPr>
          </a:p>
          <a:p>
            <a:pPr>
              <a:defRPr/>
            </a:pPr>
            <a:r>
              <a:rPr lang="en-US" sz="2000" dirty="0">
                <a:latin typeface="Consolas" panose="020B0609020204030204" pitchFamily="49" charset="0"/>
              </a:rPr>
              <a:t>['One', 'two', 'three', 'four']</a:t>
            </a:r>
          </a:p>
          <a:p>
            <a:pPr>
              <a:defRPr/>
            </a:pPr>
            <a:r>
              <a:rPr lang="en-US" sz="2000" dirty="0">
                <a:latin typeface="Consolas" panose="020B0609020204030204" pitchFamily="49" charset="0"/>
              </a:rPr>
              <a:t>&gt;&gt;&gt;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043BBE-A0F2-43EC-9094-E073DE519592}"/>
              </a:ext>
            </a:extLst>
          </p:cNvPr>
          <p:cNvSpPr txBox="1"/>
          <p:nvPr/>
        </p:nvSpPr>
        <p:spPr>
          <a:xfrm>
            <a:off x="1676400" y="4312348"/>
            <a:ext cx="5545138" cy="16319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40000"/>
                <a:lumOff val="60000"/>
              </a:schemeClr>
            </a:solidFill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000" dirty="0">
                <a:latin typeface="Consolas" panose="020B0609020204030204" pitchFamily="49" charset="0"/>
              </a:rPr>
              <a:t>&gt;&gt;&gt; </a:t>
            </a:r>
            <a:r>
              <a:rPr lang="en-US" sz="2000" dirty="0" err="1">
                <a:latin typeface="Consolas" panose="020B0609020204030204" pitchFamily="49" charset="0"/>
              </a:rPr>
              <a:t>my_string</a:t>
            </a:r>
            <a:r>
              <a:rPr lang="en-US" sz="2000" dirty="0">
                <a:latin typeface="Consolas" panose="020B0609020204030204" pitchFamily="49" charset="0"/>
              </a:rPr>
              <a:t> = '1/2/3/4/5'</a:t>
            </a:r>
          </a:p>
          <a:p>
            <a:pPr>
              <a:defRPr/>
            </a:pPr>
            <a:r>
              <a:rPr lang="en-US" sz="2000" dirty="0">
                <a:latin typeface="Consolas" panose="020B0609020204030204" pitchFamily="49" charset="0"/>
              </a:rPr>
              <a:t>&gt;&gt;&gt; </a:t>
            </a:r>
            <a:r>
              <a:rPr lang="en-US" sz="2000" dirty="0" err="1">
                <a:latin typeface="Consolas" panose="020B0609020204030204" pitchFamily="49" charset="0"/>
              </a:rPr>
              <a:t>number_list</a:t>
            </a:r>
            <a:r>
              <a:rPr lang="en-US" sz="2000" dirty="0">
                <a:latin typeface="Consolas" panose="020B0609020204030204" pitchFamily="49" charset="0"/>
              </a:rPr>
              <a:t> = </a:t>
            </a:r>
            <a:r>
              <a:rPr lang="en-US" sz="2000" dirty="0" err="1">
                <a:latin typeface="Consolas" panose="020B0609020204030204" pitchFamily="49" charset="0"/>
              </a:rPr>
              <a:t>my_string.split</a:t>
            </a:r>
            <a:r>
              <a:rPr lang="en-US" sz="2000" dirty="0">
                <a:latin typeface="Consolas" panose="020B0609020204030204" pitchFamily="49" charset="0"/>
              </a:rPr>
              <a:t>('/')</a:t>
            </a:r>
          </a:p>
          <a:p>
            <a:pPr>
              <a:defRPr/>
            </a:pPr>
            <a:r>
              <a:rPr lang="en-US" sz="2000" dirty="0">
                <a:latin typeface="Consolas" panose="020B0609020204030204" pitchFamily="49" charset="0"/>
              </a:rPr>
              <a:t>&gt;&gt;&gt; </a:t>
            </a:r>
            <a:r>
              <a:rPr lang="en-US" sz="2000" dirty="0" err="1">
                <a:latin typeface="Consolas" panose="020B0609020204030204" pitchFamily="49" charset="0"/>
              </a:rPr>
              <a:t>number_list</a:t>
            </a:r>
            <a:endParaRPr lang="en-US" sz="2000" dirty="0">
              <a:latin typeface="Consolas" panose="020B0609020204030204" pitchFamily="49" charset="0"/>
            </a:endParaRPr>
          </a:p>
          <a:p>
            <a:pPr>
              <a:defRPr/>
            </a:pPr>
            <a:r>
              <a:rPr lang="en-US" sz="2000" dirty="0">
                <a:latin typeface="Consolas" panose="020B0609020204030204" pitchFamily="49" charset="0"/>
              </a:rPr>
              <a:t>['1', '2', '3', '4', '5']</a:t>
            </a:r>
          </a:p>
          <a:p>
            <a:pPr>
              <a:defRPr/>
            </a:pPr>
            <a:r>
              <a:rPr lang="en-US" sz="2000" dirty="0">
                <a:latin typeface="Consolas" panose="020B0609020204030204" pitchFamily="49" charset="0"/>
              </a:rPr>
              <a:t>&gt;&gt;&gt;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>
            <a:extLst>
              <a:ext uri="{FF2B5EF4-FFF2-40B4-BE49-F238E27FC236}">
                <a16:creationId xmlns:a16="http://schemas.microsoft.com/office/drawing/2014/main" id="{A848F825-0548-476B-B543-5EEE68E9B2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String Tokens</a:t>
            </a:r>
            <a:r>
              <a:rPr lang="en-US" altLang="en-US" sz="2000" b="0" dirty="0"/>
              <a:t> (1 of 4)</a:t>
            </a:r>
            <a:endParaRPr lang="en-US" altLang="en-US" sz="2000" dirty="0"/>
          </a:p>
        </p:txBody>
      </p:sp>
      <p:sp>
        <p:nvSpPr>
          <p:cNvPr id="25603" name="Content Placeholder 2">
            <a:extLst>
              <a:ext uri="{FF2B5EF4-FFF2-40B4-BE49-F238E27FC236}">
                <a16:creationId xmlns:a16="http://schemas.microsoft.com/office/drawing/2014/main" id="{67110C95-A0B9-407F-AF0D-74AC152B58A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US" altLang="en-US" dirty="0"/>
              <a:t>Sometimes a string contains substrings that are separated by a special character</a:t>
            </a:r>
          </a:p>
          <a:p>
            <a:pPr lvl="1"/>
            <a:r>
              <a:rPr lang="en-US" altLang="en-US" sz="2400" dirty="0"/>
              <a:t>Example:</a:t>
            </a:r>
            <a:br>
              <a:rPr lang="en-US" altLang="en-US" dirty="0"/>
            </a:br>
            <a:br>
              <a:rPr lang="en-US" altLang="en-US" dirty="0"/>
            </a:br>
            <a:endParaRPr lang="en-US" altLang="en-US" dirty="0"/>
          </a:p>
          <a:p>
            <a:pPr lvl="1"/>
            <a:r>
              <a:rPr lang="en-US" altLang="en-US" sz="2400" dirty="0"/>
              <a:t>This string contains the substrings </a:t>
            </a:r>
            <a:r>
              <a:rPr lang="en-US" altLang="en-US" sz="2400" i="1" dirty="0"/>
              <a:t>peach</a:t>
            </a:r>
            <a:r>
              <a:rPr lang="en-US" altLang="en-US" sz="2400" dirty="0"/>
              <a:t>, </a:t>
            </a:r>
            <a:r>
              <a:rPr lang="en-US" altLang="en-US" sz="2400" i="1" dirty="0"/>
              <a:t>raspberry</a:t>
            </a:r>
            <a:r>
              <a:rPr lang="en-US" altLang="en-US" sz="2400" dirty="0"/>
              <a:t>, </a:t>
            </a:r>
            <a:r>
              <a:rPr lang="en-US" altLang="en-US" sz="2400" i="1" dirty="0"/>
              <a:t>strawberry</a:t>
            </a:r>
            <a:r>
              <a:rPr lang="en-US" altLang="en-US" sz="2400" dirty="0"/>
              <a:t>, and </a:t>
            </a:r>
            <a:r>
              <a:rPr lang="en-US" altLang="en-US" sz="2400" i="1" dirty="0"/>
              <a:t>vanilla</a:t>
            </a:r>
          </a:p>
          <a:p>
            <a:pPr lvl="1"/>
            <a:r>
              <a:rPr lang="en-US" altLang="en-US" sz="2400" dirty="0"/>
              <a:t>The substrings are separated by the space character</a:t>
            </a:r>
          </a:p>
          <a:p>
            <a:pPr lvl="1"/>
            <a:r>
              <a:rPr lang="en-US" altLang="en-US" sz="2400" dirty="0"/>
              <a:t>The substrings are known as </a:t>
            </a:r>
            <a:r>
              <a:rPr lang="en-US" altLang="en-US" sz="2400" i="1" dirty="0"/>
              <a:t>tokens</a:t>
            </a:r>
            <a:r>
              <a:rPr lang="en-US" altLang="en-US" sz="2400" dirty="0"/>
              <a:t> and the separating character is known as the </a:t>
            </a:r>
            <a:r>
              <a:rPr lang="en-US" altLang="en-US" sz="2400" i="1" dirty="0"/>
              <a:t>delimiter</a:t>
            </a:r>
          </a:p>
        </p:txBody>
      </p:sp>
      <p:sp>
        <p:nvSpPr>
          <p:cNvPr id="25604" name="TextBox 1">
            <a:extLst>
              <a:ext uri="{FF2B5EF4-FFF2-40B4-BE49-F238E27FC236}">
                <a16:creationId xmlns:a16="http://schemas.microsoft.com/office/drawing/2014/main" id="{2308DFC2-E98A-46DD-A9A3-60AFE435E1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0813" y="3048000"/>
            <a:ext cx="682109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'peach raspberry strawberry vanilla'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>
            <a:extLst>
              <a:ext uri="{FF2B5EF4-FFF2-40B4-BE49-F238E27FC236}">
                <a16:creationId xmlns:a16="http://schemas.microsoft.com/office/drawing/2014/main" id="{4815E767-80A9-4B80-9C61-CD2043D3ED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String Tokens</a:t>
            </a:r>
            <a:r>
              <a:rPr lang="en-US" altLang="en-US" sz="2000" b="0" dirty="0"/>
              <a:t> (2 of 4)</a:t>
            </a:r>
            <a:endParaRPr lang="en-US" altLang="en-US" sz="2000" dirty="0"/>
          </a:p>
        </p:txBody>
      </p:sp>
      <p:sp>
        <p:nvSpPr>
          <p:cNvPr id="26627" name="Content Placeholder 2">
            <a:extLst>
              <a:ext uri="{FF2B5EF4-FFF2-40B4-BE49-F238E27FC236}">
                <a16:creationId xmlns:a16="http://schemas.microsoft.com/office/drawing/2014/main" id="{FB947B95-C009-43AC-9A2E-D2C6044B97E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305800" cy="4525963"/>
          </a:xfrm>
        </p:spPr>
        <p:txBody>
          <a:bodyPr/>
          <a:lstStyle/>
          <a:p>
            <a:pPr>
              <a:buFontTx/>
              <a:buChar char="•"/>
            </a:pPr>
            <a:r>
              <a:rPr lang="en-US" altLang="en-US" dirty="0"/>
              <a:t>Example:</a:t>
            </a:r>
            <a:br>
              <a:rPr lang="en-US" altLang="en-US" dirty="0"/>
            </a:br>
            <a:br>
              <a:rPr lang="en-US" altLang="en-US" dirty="0"/>
            </a:br>
            <a:endParaRPr lang="en-US" altLang="en-US" dirty="0"/>
          </a:p>
          <a:p>
            <a:pPr lvl="1"/>
            <a:r>
              <a:rPr lang="en-US" altLang="en-US" sz="2400" dirty="0">
                <a:latin typeface="+mj-lt"/>
              </a:rPr>
              <a:t>This string contains the tokens 17, 92, 81, 12, 46, and 5</a:t>
            </a:r>
          </a:p>
          <a:p>
            <a:pPr lvl="1"/>
            <a:r>
              <a:rPr lang="en-US" altLang="en-US" sz="2400" dirty="0">
                <a:latin typeface="+mj-lt"/>
              </a:rPr>
              <a:t>The delimiter is the ; character</a:t>
            </a:r>
            <a:endParaRPr lang="en-US" altLang="en-US" sz="2400" i="1" dirty="0">
              <a:latin typeface="+mj-lt"/>
            </a:endParaRPr>
          </a:p>
        </p:txBody>
      </p:sp>
      <p:sp>
        <p:nvSpPr>
          <p:cNvPr id="26628" name="TextBox 1">
            <a:extLst>
              <a:ext uri="{FF2B5EF4-FFF2-40B4-BE49-F238E27FC236}">
                <a16:creationId xmlns:a16="http://schemas.microsoft.com/office/drawing/2014/main" id="{D27D1219-014F-487B-B7F5-B7F02DA27F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0813" y="2209800"/>
            <a:ext cx="350288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'17;92;81;12;46;5'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>
            <a:extLst>
              <a:ext uri="{FF2B5EF4-FFF2-40B4-BE49-F238E27FC236}">
                <a16:creationId xmlns:a16="http://schemas.microsoft.com/office/drawing/2014/main" id="{0745D0D3-82D4-437F-8AD1-D32378F71D5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String Tokens</a:t>
            </a:r>
            <a:r>
              <a:rPr lang="en-US" altLang="en-US" sz="2000" b="0" dirty="0"/>
              <a:t> (3 of 4)</a:t>
            </a:r>
            <a:endParaRPr lang="en-US" altLang="en-US" sz="2000" dirty="0"/>
          </a:p>
        </p:txBody>
      </p:sp>
      <p:sp>
        <p:nvSpPr>
          <p:cNvPr id="27651" name="Content Placeholder 2">
            <a:extLst>
              <a:ext uri="{FF2B5EF4-FFF2-40B4-BE49-F238E27FC236}">
                <a16:creationId xmlns:a16="http://schemas.microsoft.com/office/drawing/2014/main" id="{C76CFBF4-53E2-493A-A685-722A42245E3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US" altLang="en-US" i="1" dirty="0">
                <a:latin typeface="+mj-lt"/>
                <a:cs typeface="Courier New" panose="02070309020205020404" pitchFamily="49" charset="0"/>
              </a:rPr>
              <a:t>Tokenizing</a:t>
            </a:r>
            <a:r>
              <a:rPr lang="en-US" altLang="en-US" dirty="0">
                <a:latin typeface="+mj-lt"/>
              </a:rPr>
              <a:t> is the process of breaking a string into tokens</a:t>
            </a:r>
          </a:p>
          <a:p>
            <a:pPr>
              <a:buFontTx/>
              <a:buChar char="•"/>
            </a:pPr>
            <a:r>
              <a:rPr lang="en-US" altLang="en-US" dirty="0">
                <a:latin typeface="+mj-lt"/>
              </a:rPr>
              <a:t>When you tokenize a string, you extract the tokens and store them as individual items</a:t>
            </a:r>
          </a:p>
          <a:p>
            <a:pPr>
              <a:buFontTx/>
              <a:buChar char="•"/>
            </a:pPr>
            <a:r>
              <a:rPr lang="en-US" altLang="en-US" dirty="0">
                <a:latin typeface="+mj-lt"/>
              </a:rPr>
              <a:t>In Python you can use the split method to tokenize a string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>
            <a:extLst>
              <a:ext uri="{FF2B5EF4-FFF2-40B4-BE49-F238E27FC236}">
                <a16:creationId xmlns:a16="http://schemas.microsoft.com/office/drawing/2014/main" id="{60EBCBC3-64F0-4A35-8B4F-D5378E7A8B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String Tokens</a:t>
            </a:r>
            <a:r>
              <a:rPr lang="en-US" altLang="en-US" sz="2000" b="0" dirty="0"/>
              <a:t> (4 of 4)</a:t>
            </a:r>
            <a:endParaRPr lang="en-US" altLang="en-US" sz="2000" dirty="0"/>
          </a:p>
        </p:txBody>
      </p:sp>
      <p:sp>
        <p:nvSpPr>
          <p:cNvPr id="23555" name="Content Placeholder 2">
            <a:extLst>
              <a:ext uri="{FF2B5EF4-FFF2-40B4-BE49-F238E27FC236}">
                <a16:creationId xmlns:a16="http://schemas.microsoft.com/office/drawing/2014/main" id="{B1772182-69A2-43B7-B9B5-337C21CF4F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24400"/>
          </a:xfrm>
        </p:spPr>
        <p:txBody>
          <a:bodyPr/>
          <a:lstStyle/>
          <a:p>
            <a:pPr eaLnBrk="1" hangingPunct="1">
              <a:buFontTx/>
              <a:buChar char="•"/>
              <a:defRPr/>
            </a:pPr>
            <a:r>
              <a:rPr lang="en-US" altLang="en-US" dirty="0">
                <a:latin typeface="+mj-lt"/>
                <a:cs typeface="Courier New" panose="02070309020205020404" pitchFamily="49" charset="0"/>
              </a:rPr>
              <a:t>Examples:</a:t>
            </a:r>
            <a:endParaRPr lang="he-IL" altLang="en-US" dirty="0">
              <a:latin typeface="+mj-lt"/>
            </a:endParaRPr>
          </a:p>
          <a:p>
            <a:pPr>
              <a:buFontTx/>
              <a:buChar char="•"/>
              <a:defRPr/>
            </a:pPr>
            <a:endParaRPr lang="en-US" altLang="en-US" sz="2400" dirty="0"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B3FE334-314D-439E-AB01-7D01F2EF8B63}"/>
              </a:ext>
            </a:extLst>
          </p:cNvPr>
          <p:cNvSpPr txBox="1"/>
          <p:nvPr/>
        </p:nvSpPr>
        <p:spPr>
          <a:xfrm>
            <a:off x="838200" y="2227263"/>
            <a:ext cx="7543800" cy="163121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 str = 'peach raspberry strawberry vanilla'</a:t>
            </a:r>
          </a:p>
          <a:p>
            <a:pPr>
              <a:defRPr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 tokens =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str.split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>
              <a:defRPr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 tokens</a:t>
            </a:r>
          </a:p>
          <a:p>
            <a:pPr>
              <a:defRPr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['peach', 'raspberry', 'strawberry', 'vanilla']</a:t>
            </a:r>
          </a:p>
          <a:p>
            <a:pPr>
              <a:defRPr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9A996C3-4E69-4A36-8075-052EA819EF1D}"/>
              </a:ext>
            </a:extLst>
          </p:cNvPr>
          <p:cNvSpPr txBox="1"/>
          <p:nvPr/>
        </p:nvSpPr>
        <p:spPr>
          <a:xfrm>
            <a:off x="838200" y="4572000"/>
            <a:ext cx="7162800" cy="163036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40000"/>
                <a:lumOff val="60000"/>
              </a:schemeClr>
            </a:solidFill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my_address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= 'www.example.com'</a:t>
            </a:r>
          </a:p>
          <a:p>
            <a:pPr>
              <a:defRPr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 tokens =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my_address.split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('.')</a:t>
            </a:r>
          </a:p>
          <a:p>
            <a:pPr>
              <a:defRPr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 tokens</a:t>
            </a:r>
          </a:p>
          <a:p>
            <a:pPr>
              <a:defRPr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['www', 'example', 'com']</a:t>
            </a:r>
          </a:p>
          <a:p>
            <a:pPr>
              <a:defRPr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>
            <a:extLst>
              <a:ext uri="{FF2B5EF4-FFF2-40B4-BE49-F238E27FC236}">
                <a16:creationId xmlns:a16="http://schemas.microsoft.com/office/drawing/2014/main" id="{2807A75B-8B66-409F-ABFB-35715D3351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Summary</a:t>
            </a:r>
            <a:endParaRPr lang="he-IL" altLang="en-US"/>
          </a:p>
        </p:txBody>
      </p:sp>
      <p:sp>
        <p:nvSpPr>
          <p:cNvPr id="29699" name="Content Placeholder 2">
            <a:extLst>
              <a:ext uri="{FF2B5EF4-FFF2-40B4-BE49-F238E27FC236}">
                <a16:creationId xmlns:a16="http://schemas.microsoft.com/office/drawing/2014/main" id="{DD284FA2-D37F-4535-8053-D1DF56898F9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Tx/>
              <a:buChar char="•"/>
            </a:pPr>
            <a:r>
              <a:rPr lang="en-US" altLang="en-US" dirty="0"/>
              <a:t>This chapter covered:</a:t>
            </a:r>
          </a:p>
          <a:p>
            <a:pPr lvl="1" eaLnBrk="1" hangingPunct="1"/>
            <a:r>
              <a:rPr lang="en-US" altLang="en-US" dirty="0"/>
              <a:t>String operations, including:</a:t>
            </a:r>
          </a:p>
          <a:p>
            <a:pPr lvl="2"/>
            <a:r>
              <a:rPr lang="en-US" altLang="en-US" dirty="0"/>
              <a:t>Methods for iterating over strings</a:t>
            </a:r>
          </a:p>
          <a:p>
            <a:pPr lvl="2"/>
            <a:r>
              <a:rPr lang="en-US" altLang="en-US" dirty="0"/>
              <a:t>Repetition and concatenation operators</a:t>
            </a:r>
          </a:p>
          <a:p>
            <a:pPr lvl="2"/>
            <a:r>
              <a:rPr lang="en-US" altLang="en-US" dirty="0"/>
              <a:t>Strings as immutable objects</a:t>
            </a:r>
          </a:p>
          <a:p>
            <a:pPr lvl="2"/>
            <a:r>
              <a:rPr lang="en-US" altLang="en-US" dirty="0"/>
              <a:t>Slicing strings and testing strings</a:t>
            </a:r>
          </a:p>
          <a:p>
            <a:pPr lvl="2"/>
            <a:r>
              <a:rPr lang="en-US" altLang="en-US" dirty="0"/>
              <a:t>String methods</a:t>
            </a:r>
          </a:p>
          <a:p>
            <a:pPr lvl="2"/>
            <a:r>
              <a:rPr lang="en-US" altLang="en-US" dirty="0"/>
              <a:t>Splitting a string</a:t>
            </a:r>
            <a:endParaRPr lang="he-IL" altLang="en-US" dirty="0"/>
          </a:p>
          <a:p>
            <a:pPr lvl="1" eaLnBrk="1" hangingPunct="1"/>
            <a:endParaRPr lang="he-IL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508 Lecture">
  <a:themeElements>
    <a:clrScheme name="Custom 7">
      <a:dk1>
        <a:sysClr val="windowText" lastClr="000000"/>
      </a:dk1>
      <a:lt1>
        <a:sysClr val="window" lastClr="FFFFFF"/>
      </a:lt1>
      <a:dk2>
        <a:srgbClr val="000000"/>
      </a:dk2>
      <a:lt2>
        <a:srgbClr val="007FA3"/>
      </a:lt2>
      <a:accent1>
        <a:srgbClr val="3C1581"/>
      </a:accent1>
      <a:accent2>
        <a:srgbClr val="1A6C7C"/>
      </a:accent2>
      <a:accent3>
        <a:srgbClr val="CC730D"/>
      </a:accent3>
      <a:accent4>
        <a:srgbClr val="B2AA00"/>
      </a:accent4>
      <a:accent5>
        <a:srgbClr val="1B9332"/>
      </a:accent5>
      <a:accent6>
        <a:srgbClr val="7F7F7F"/>
      </a:accent6>
      <a:hlink>
        <a:srgbClr val="3C1581"/>
      </a:hlink>
      <a:folHlink>
        <a:srgbClr val="7F7F7F"/>
      </a:folHlink>
    </a:clrScheme>
    <a:fontScheme name="Office Classic 2">
      <a:majorFont>
        <a:latin typeface="Arial"/>
        <a:ea typeface=""/>
        <a:cs typeface=""/>
        <a:font script="Jpan" typeface="Arial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Arial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200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sz="2000" dirty="0" err="1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Pearson 508">
      <a:dk1>
        <a:sysClr val="windowText" lastClr="000000"/>
      </a:dk1>
      <a:lt1>
        <a:sysClr val="window" lastClr="FFFFFF"/>
      </a:lt1>
      <a:dk2>
        <a:srgbClr val="000000"/>
      </a:dk2>
      <a:lt2>
        <a:srgbClr val="EEEEEE"/>
      </a:lt2>
      <a:accent1>
        <a:srgbClr val="3C1581"/>
      </a:accent1>
      <a:accent2>
        <a:srgbClr val="1A6C7C"/>
      </a:accent2>
      <a:accent3>
        <a:srgbClr val="CC730D"/>
      </a:accent3>
      <a:accent4>
        <a:srgbClr val="B2AA00"/>
      </a:accent4>
      <a:accent5>
        <a:srgbClr val="1B9332"/>
      </a:accent5>
      <a:accent6>
        <a:srgbClr val="7F7F7F"/>
      </a:accent6>
      <a:hlink>
        <a:srgbClr val="3C1581"/>
      </a:hlink>
      <a:folHlink>
        <a:srgbClr val="7F7F7F"/>
      </a:folHlink>
    </a:clrScheme>
    <a:fontScheme name="Office Classic 2">
      <a:majorFont>
        <a:latin typeface="Arial"/>
        <a:ea typeface=""/>
        <a:cs typeface=""/>
        <a:font script="Jpan" typeface="Arial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Arial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Pearson 508">
      <a:dk1>
        <a:sysClr val="windowText" lastClr="000000"/>
      </a:dk1>
      <a:lt1>
        <a:sysClr val="window" lastClr="FFFFFF"/>
      </a:lt1>
      <a:dk2>
        <a:srgbClr val="000000"/>
      </a:dk2>
      <a:lt2>
        <a:srgbClr val="EEEEEE"/>
      </a:lt2>
      <a:accent1>
        <a:srgbClr val="3C1581"/>
      </a:accent1>
      <a:accent2>
        <a:srgbClr val="1A6C7C"/>
      </a:accent2>
      <a:accent3>
        <a:srgbClr val="CC730D"/>
      </a:accent3>
      <a:accent4>
        <a:srgbClr val="B2AA00"/>
      </a:accent4>
      <a:accent5>
        <a:srgbClr val="1B9332"/>
      </a:accent5>
      <a:accent6>
        <a:srgbClr val="7F7F7F"/>
      </a:accent6>
      <a:hlink>
        <a:srgbClr val="3C1581"/>
      </a:hlink>
      <a:folHlink>
        <a:srgbClr val="7F7F7F"/>
      </a:folHlink>
    </a:clrScheme>
    <a:fontScheme name="Office Classic 2">
      <a:majorFont>
        <a:latin typeface="Arial"/>
        <a:ea typeface=""/>
        <a:cs typeface=""/>
        <a:font script="Jpan" typeface="Arial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Arial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Horizon</Template>
  <TotalTime>8563</TotalTime>
  <Words>1826</Words>
  <Application>Microsoft Office PowerPoint</Application>
  <PresentationFormat>On-screen Show (4:3)</PresentationFormat>
  <Paragraphs>190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4" baseType="lpstr">
      <vt:lpstr>Arial</vt:lpstr>
      <vt:lpstr>Consolas</vt:lpstr>
      <vt:lpstr>Courier New</vt:lpstr>
      <vt:lpstr>Times New Roman</vt:lpstr>
      <vt:lpstr>Verdana</vt:lpstr>
      <vt:lpstr>Wingdings</vt:lpstr>
      <vt:lpstr>508 Lecture</vt:lpstr>
      <vt:lpstr>Starting out with Python</vt:lpstr>
      <vt:lpstr>Topics</vt:lpstr>
      <vt:lpstr>Basic String Operations</vt:lpstr>
      <vt:lpstr>Accessing the Individual Characters in a String (1 of 4)</vt:lpstr>
      <vt:lpstr>Accessing the Individual Characters in a String (2 of 4)</vt:lpstr>
      <vt:lpstr>Accessing the Individual Characters in a String (3 of 4)</vt:lpstr>
      <vt:lpstr>Accessing the Individual Characters in a String (4 of 4)</vt:lpstr>
      <vt:lpstr>String Concatenation</vt:lpstr>
      <vt:lpstr>Strings Are Immutable (1 of 2)</vt:lpstr>
      <vt:lpstr>Strings Are Immutable (2 of 2)</vt:lpstr>
      <vt:lpstr>String Slicing</vt:lpstr>
      <vt:lpstr>Testing, Searching, and Manipulating Strings</vt:lpstr>
      <vt:lpstr>String Methods (1 of 7)</vt:lpstr>
      <vt:lpstr>String Methods (2 of 7)</vt:lpstr>
      <vt:lpstr>String Methods (3 of 7)</vt:lpstr>
      <vt:lpstr>String Methods (4 of 7)</vt:lpstr>
      <vt:lpstr>String Methods (5 of 7)</vt:lpstr>
      <vt:lpstr>String Methods (6 of 7)</vt:lpstr>
      <vt:lpstr>String Methods (7 of 7)</vt:lpstr>
      <vt:lpstr>The Repetition Operator</vt:lpstr>
      <vt:lpstr>Splitting a String (1 of 2)</vt:lpstr>
      <vt:lpstr>Splitting a String (2 of 2)</vt:lpstr>
      <vt:lpstr>String Tokens (1 of 4)</vt:lpstr>
      <vt:lpstr>String Tokens (2 of 4)</vt:lpstr>
      <vt:lpstr>String Tokens (3 of 4)</vt:lpstr>
      <vt:lpstr>String Tokens (4 of 4)</vt:lpstr>
      <vt:lpstr>Summary</vt:lpstr>
    </vt:vector>
  </TitlesOfParts>
  <Company>SPi-Global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Starting out with Python, Fifth Edition</dc:title>
  <dc:subject>Computer Science</dc:subject>
  <dc:creator>Tony Gaddis</dc:creator>
  <cp:keywords>Computer program language</cp:keywords>
  <cp:lastModifiedBy>Kathiravan Natarajan</cp:lastModifiedBy>
  <cp:revision>661</cp:revision>
  <dcterms:created xsi:type="dcterms:W3CDTF">2014-07-14T20:04:21Z</dcterms:created>
  <dcterms:modified xsi:type="dcterms:W3CDTF">2024-01-07T00:13:20Z</dcterms:modified>
  <cp:category>IT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ffisync_UniqueId">
    <vt:lpwstr>682740</vt:lpwstr>
  </property>
  <property fmtid="{D5CDD505-2E9C-101B-9397-08002B2CF9AE}" pid="3" name="Offisync_UpdateToken">
    <vt:lpwstr>1</vt:lpwstr>
  </property>
  <property fmtid="{D5CDD505-2E9C-101B-9397-08002B2CF9AE}" pid="4" name="Jive_VersionGuid">
    <vt:lpwstr>7b502893-ac4a-4309-967d-6eb652f6b574</vt:lpwstr>
  </property>
  <property fmtid="{D5CDD505-2E9C-101B-9397-08002B2CF9AE}" pid="5" name="Offisync_ProviderInitializationData">
    <vt:lpwstr>https://neo.pearson.com</vt:lpwstr>
  </property>
  <property fmtid="{D5CDD505-2E9C-101B-9397-08002B2CF9AE}" pid="6" name="Offisync_ServerID">
    <vt:lpwstr>7e960520-0e88-4f05-9fa0-24079b61e486</vt:lpwstr>
  </property>
  <property fmtid="{D5CDD505-2E9C-101B-9397-08002B2CF9AE}" pid="7" name="Jive_LatestUserAccountName">
    <vt:lpwstr>sumit.gupta</vt:lpwstr>
  </property>
</Properties>
</file>