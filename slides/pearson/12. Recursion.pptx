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90" r:id="rId2"/>
    <p:sldId id="257" r:id="rId3"/>
    <p:sldId id="286" r:id="rId4"/>
    <p:sldId id="287" r:id="rId5"/>
    <p:sldId id="288" r:id="rId6"/>
    <p:sldId id="289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7" r:id="rId17"/>
    <p:sldId id="301" r:id="rId18"/>
    <p:sldId id="302" r:id="rId19"/>
    <p:sldId id="303" r:id="rId20"/>
    <p:sldId id="304" r:id="rId21"/>
    <p:sldId id="305" r:id="rId22"/>
    <p:sldId id="306" r:id="rId23"/>
    <p:sldId id="285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pos="54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kesh Kumar" initials="RK" lastIdx="8" clrIdx="0">
    <p:extLst>
      <p:ext uri="{19B8F6BF-5375-455C-9EA6-DF929625EA0E}">
        <p15:presenceInfo xmlns:p15="http://schemas.microsoft.com/office/powerpoint/2012/main" userId="S-1-5-21-2752970185-40930380-1894245210-52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3"/>
    <a:srgbClr val="D4EAE4"/>
    <a:srgbClr val="0015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00" autoAdjust="0"/>
    <p:restoredTop sz="86891" autoAdjust="0"/>
  </p:normalViewPr>
  <p:slideViewPr>
    <p:cSldViewPr>
      <p:cViewPr varScale="1">
        <p:scale>
          <a:sx n="74" d="100"/>
          <a:sy n="74" d="100"/>
        </p:scale>
        <p:origin x="1234" y="67"/>
      </p:cViewPr>
      <p:guideLst>
        <p:guide orient="horz" pos="100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408"/>
    </p:cViewPr>
  </p:sorterViewPr>
  <p:notesViewPr>
    <p:cSldViewPr>
      <p:cViewPr varScale="1">
        <p:scale>
          <a:sx n="54" d="100"/>
          <a:sy n="54" d="100"/>
        </p:scale>
        <p:origin x="179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687" y="3962400"/>
            <a:ext cx="7794626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12 -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5D1914-9979-4928-BEEB-4586CCB160A9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98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03514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447800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12 -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6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2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18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9913" indent="-285750">
              <a:buClr>
                <a:srgbClr val="007FA3"/>
              </a:buClr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marL="256032" lvl="0" indent="-256032" algn="l" defTabSz="914400" rtl="0" eaLnBrk="1" latinLnBrk="0" hangingPunct="1">
              <a:spcBef>
                <a:spcPts val="1500"/>
              </a:spcBef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Click to edit Master text styles</a:t>
            </a:r>
          </a:p>
          <a:p>
            <a:pPr marL="742950" lvl="1" indent="-28575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–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12 -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B0CCA-42FE-4F49-B329-D58EC7D36F62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47800"/>
            <a:ext cx="77724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4687" y="3962400"/>
            <a:ext cx="7794627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8 -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F0ED46-ED41-4598-BC5D-77A94B216872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136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229600" cy="10972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457200" y="1457450"/>
            <a:ext cx="82296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91114" y="160194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2648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57200" y="317565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3300984" y="317565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6128658" y="3171876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457200" y="4761264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3299388" y="4761264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17" hasCustomPrompt="1"/>
          </p:nvPr>
        </p:nvSpPr>
        <p:spPr>
          <a:xfrm>
            <a:off x="6128658" y="4764312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itchFamily="34" charset="0"/>
              <a:buNone/>
              <a:defRPr/>
            </a:lvl1pPr>
          </a:lstStyle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BC1D4-5704-45BB-BA8B-9B7E98161C8B}" type="datetimeFigureOut">
              <a:rPr lang="en-US" smtClean="0"/>
              <a:pPr/>
              <a:t>3/31/2024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4A2B-EE51-41D7-B879-F8E5E9C51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16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12648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29184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612648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29184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612648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29184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15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929C19-A940-4FDA-BB74-83E573C05348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+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35256"/>
            <a:ext cx="8229600" cy="10972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69149"/>
            <a:ext cx="8229600" cy="424845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/>
            </a:lvl1pPr>
            <a:lvl2pPr>
              <a:buClr>
                <a:srgbClr val="007FA3"/>
              </a:buClr>
              <a:defRPr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83944"/>
            <a:ext cx="8229600" cy="457200"/>
          </a:xfr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007FA3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28600" y="1641144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229600" cy="10972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288" y="1447800"/>
            <a:ext cx="3966312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288" y="2271712"/>
            <a:ext cx="3966312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4401" y="1447800"/>
            <a:ext cx="3962400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4401" y="2271712"/>
            <a:ext cx="3962400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BC1D4-5704-45BB-BA8B-9B7E98161C8B}" type="datetimeFigureOut">
              <a:rPr lang="en-US" smtClean="0"/>
              <a:pPr/>
              <a:t>3/31/2024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4A2B-EE51-41D7-B879-F8E5E9C51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98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229600" cy="10972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3962400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71712"/>
            <a:ext cx="3962400" cy="160972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4401" y="1447800"/>
            <a:ext cx="3965124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4401" y="2271712"/>
            <a:ext cx="3965124" cy="160972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BC1D4-5704-45BB-BA8B-9B7E98161C8B}" type="datetimeFigureOut">
              <a:rPr lang="en-US" smtClean="0"/>
              <a:pPr/>
              <a:t>3/31/2024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4A2B-EE51-41D7-B879-F8E5E9C510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458730" y="4044721"/>
            <a:ext cx="3962400" cy="18557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4"/>
          </p:nvPr>
        </p:nvSpPr>
        <p:spPr>
          <a:xfrm>
            <a:off x="4732563" y="4055609"/>
            <a:ext cx="3965124" cy="18557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510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457200" y="2756648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457200" y="3886201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5"/>
          </p:nvPr>
        </p:nvSpPr>
        <p:spPr>
          <a:xfrm>
            <a:off x="457200" y="5029201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38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969" y="6172200"/>
            <a:ext cx="859536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312" y="113072"/>
            <a:ext cx="5517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hape 15" descr="Pearson Logo"/>
          <p:cNvPicPr preferRelativeResize="0"/>
          <p:nvPr userDrawn="1"/>
        </p:nvPicPr>
        <p:blipFill rotWithShape="1">
          <a:blip r:embed="rId20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12 -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B42598-E17E-4AFA-A2E8-BF865C3E5BD4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57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0" r:id="rId4"/>
    <p:sldLayoutId id="2147483659" r:id="rId5"/>
    <p:sldLayoutId id="2147483658" r:id="rId6"/>
    <p:sldLayoutId id="2147483660" r:id="rId7"/>
    <p:sldLayoutId id="2147483651" r:id="rId8"/>
    <p:sldLayoutId id="2147483654" r:id="rId9"/>
    <p:sldLayoutId id="2147483655" r:id="rId10"/>
    <p:sldLayoutId id="2147483662" r:id="rId11"/>
    <p:sldLayoutId id="2147483663" r:id="rId12"/>
    <p:sldLayoutId id="2147483664" r:id="rId13"/>
    <p:sldLayoutId id="2147483665" r:id="rId14"/>
    <p:sldLayoutId id="2147483668" r:id="rId15"/>
    <p:sldLayoutId id="2147483669" r:id="rId16"/>
    <p:sldLayoutId id="2147483670" r:id="rId17"/>
    <p:sldLayoutId id="2147483671" r:id="rId1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descr="Assembly Language for x86 Processors, "/>
          <p:cNvSpPr>
            <a:spLocks noGrp="1"/>
          </p:cNvSpPr>
          <p:nvPr>
            <p:ph type="title"/>
          </p:nvPr>
        </p:nvSpPr>
        <p:spPr>
          <a:xfrm>
            <a:off x="457200" y="215372"/>
            <a:ext cx="8458200" cy="623817"/>
          </a:xfrm>
        </p:spPr>
        <p:txBody>
          <a:bodyPr/>
          <a:lstStyle/>
          <a:p>
            <a:r>
              <a:rPr lang="en-US" dirty="0"/>
              <a:t>Starting out with Python</a:t>
            </a:r>
            <a:endParaRPr lang="en-AU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7200" y="966930"/>
            <a:ext cx="8229600" cy="381000"/>
          </a:xfrm>
        </p:spPr>
        <p:txBody>
          <a:bodyPr/>
          <a:lstStyle/>
          <a:p>
            <a:r>
              <a:rPr lang="en-US" dirty="0"/>
              <a:t>Fifth Edition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Chapter 12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en-US" dirty="0"/>
              <a:t>Recursion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" name="Picture 11" descr="Starting out with Python, Fifth edition by Tony Gaddis">
            <a:extLst>
              <a:ext uri="{FF2B5EF4-FFF2-40B4-BE49-F238E27FC236}">
                <a16:creationId xmlns:a16="http://schemas.microsoft.com/office/drawing/2014/main" id="{19AE27C4-80A6-459C-AA51-2752EA991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83" y="1347930"/>
            <a:ext cx="3813120" cy="4954303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222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DAF334-58FE-4A37-B180-466BD435B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9BC08F-AF2B-447A-AFC5-4A05DDEAA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Recursion</a:t>
            </a:r>
          </a:p>
          <a:p>
            <a:r>
              <a:rPr lang="en-US" dirty="0"/>
              <a:t>Problem Solving with Recursion</a:t>
            </a:r>
          </a:p>
          <a:p>
            <a:r>
              <a:rPr lang="en-US" dirty="0"/>
              <a:t>Examples of Recursive Algorithms</a:t>
            </a:r>
            <a:endParaRPr lang="en-A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D582BDF7-31AD-415F-B9AF-5807E6ADA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Recursion</a:t>
            </a:r>
            <a:r>
              <a:rPr lang="en-US" altLang="en-US" sz="2000" b="0" dirty="0"/>
              <a:t> (1 of 3)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AA765D2C-647F-417B-99A6-E9E51A8677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u="sng" dirty="0">
                <a:cs typeface="Courier New" panose="02070309020205020404" pitchFamily="49" charset="0"/>
              </a:rPr>
              <a:t>Recursive function</a:t>
            </a:r>
            <a:r>
              <a:rPr lang="en-US" altLang="en-US" dirty="0">
                <a:cs typeface="Courier New" panose="02070309020205020404" pitchFamily="49" charset="0"/>
              </a:rPr>
              <a:t>: a function that calls itself</a:t>
            </a:r>
          </a:p>
          <a:p>
            <a:pPr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Recursive function must have a way to control the number of times it repeats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Usually involves an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if-else</a:t>
            </a:r>
            <a:r>
              <a:rPr lang="en-US" altLang="en-US" dirty="0">
                <a:cs typeface="Courier New" panose="02070309020205020404" pitchFamily="49" charset="0"/>
              </a:rPr>
              <a:t> statement which defines when the function should return a value and when it should call itself</a:t>
            </a:r>
          </a:p>
          <a:p>
            <a:pPr>
              <a:buFontTx/>
              <a:buChar char="•"/>
            </a:pPr>
            <a:r>
              <a:rPr lang="en-US" altLang="en-US" u="sng" dirty="0">
                <a:cs typeface="Courier New" panose="02070309020205020404" pitchFamily="49" charset="0"/>
              </a:rPr>
              <a:t>Depth of recursion</a:t>
            </a:r>
            <a:r>
              <a:rPr lang="en-US" altLang="en-US" dirty="0">
                <a:cs typeface="Courier New" panose="02070309020205020404" pitchFamily="49" charset="0"/>
              </a:rPr>
              <a:t>: the number of times a function calls itself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A diagram depicts six calls to message function.">
            <a:extLst>
              <a:ext uri="{FF2B5EF4-FFF2-40B4-BE49-F238E27FC236}">
                <a16:creationId xmlns:a16="http://schemas.microsoft.com/office/drawing/2014/main" id="{08CDFE24-BF84-4A89-8CB5-C85A1E590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52600" y="1269000"/>
            <a:ext cx="5899757" cy="43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A6502-EC76-48E0-97E9-FB5503F76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/>
          <a:lstStyle/>
          <a:p>
            <a:r>
              <a:rPr lang="en-US" altLang="en-US" dirty="0"/>
              <a:t>Introduction to Recursion</a:t>
            </a:r>
            <a:r>
              <a:rPr lang="en-US" altLang="en-US" sz="2000" b="0" dirty="0"/>
              <a:t> (2 of 3)</a:t>
            </a:r>
            <a:endParaRPr lang="en-AU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673FA-0022-4D17-88F8-0C967BD0C1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867400"/>
            <a:ext cx="8229600" cy="417616"/>
          </a:xfrm>
        </p:spPr>
        <p:txBody>
          <a:bodyPr/>
          <a:lstStyle/>
          <a:p>
            <a:r>
              <a:rPr lang="en-US" b="1" dirty="0"/>
              <a:t>Figure 12-2 </a:t>
            </a:r>
            <a:r>
              <a:rPr lang="en-US" dirty="0"/>
              <a:t>Six calls to the message function</a:t>
            </a:r>
            <a:endParaRPr lang="en-A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5C977085-4A32-40D0-BEB3-3B7B3663D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Recursion</a:t>
            </a:r>
            <a:r>
              <a:rPr lang="en-US" altLang="en-US" sz="2000" b="0" dirty="0"/>
              <a:t> (3 of 3)</a:t>
            </a:r>
            <a:endParaRPr lang="en-US" altLang="en-US" sz="20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80F5FA-02E5-47E3-921E-F321EC64F6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943600"/>
            <a:ext cx="8229600" cy="341416"/>
          </a:xfrm>
        </p:spPr>
        <p:txBody>
          <a:bodyPr/>
          <a:lstStyle/>
          <a:p>
            <a:r>
              <a:rPr lang="en-US" b="1" dirty="0"/>
              <a:t>Figure 12-3 </a:t>
            </a:r>
            <a:r>
              <a:rPr lang="en-US" dirty="0"/>
              <a:t>Control returns to the point after the recursive function call</a:t>
            </a:r>
            <a:endParaRPr lang="en-AU" dirty="0"/>
          </a:p>
        </p:txBody>
      </p:sp>
      <p:pic>
        <p:nvPicPr>
          <p:cNvPr id="7171" name="Picture 3" descr="A code depicts return of control. ">
            <a:extLst>
              <a:ext uri="{FF2B5EF4-FFF2-40B4-BE49-F238E27FC236}">
                <a16:creationId xmlns:a16="http://schemas.microsoft.com/office/drawing/2014/main" id="{F1485476-5B35-410F-8AD6-F1CEE5564205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514" y="2164173"/>
            <a:ext cx="7474971" cy="2335213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3D82EFAF-E1CD-4051-95B4-4F5847E29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Problem Solving with Recursion</a:t>
            </a:r>
            <a:r>
              <a:rPr lang="en-US" altLang="en-US" sz="2000" b="0" dirty="0"/>
              <a:t> (1 of 2)</a:t>
            </a:r>
            <a:endParaRPr lang="en-US" altLang="en-US" sz="2000" dirty="0"/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DF543CB0-0F70-4DA5-A03B-73279381AA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Recursion is a powerful tool for solving repetitive problems</a:t>
            </a:r>
          </a:p>
          <a:p>
            <a:pPr>
              <a:buFontTx/>
              <a:buChar char="•"/>
            </a:pPr>
            <a:r>
              <a:rPr lang="en-US" altLang="en-US" dirty="0"/>
              <a:t>Recursion is never required to solve a problem</a:t>
            </a:r>
          </a:p>
          <a:p>
            <a:pPr lvl="1"/>
            <a:r>
              <a:rPr lang="en-US" altLang="en-US" dirty="0"/>
              <a:t>Any problem that can be solved recursively can be solved with a loop</a:t>
            </a:r>
          </a:p>
          <a:p>
            <a:pPr lvl="1"/>
            <a:r>
              <a:rPr lang="en-US" altLang="en-US" dirty="0"/>
              <a:t>Recursive algorithms usually less efficient than iterative ones</a:t>
            </a:r>
          </a:p>
          <a:p>
            <a:pPr lvl="2"/>
            <a:r>
              <a:rPr lang="en-US" altLang="en-US" dirty="0"/>
              <a:t>Due to </a:t>
            </a:r>
            <a:r>
              <a:rPr lang="en-US" altLang="en-US" i="1" dirty="0"/>
              <a:t>overhead</a:t>
            </a:r>
            <a:r>
              <a:rPr lang="en-US" altLang="en-US" dirty="0"/>
              <a:t> of each function call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A2E158EC-C6FE-402E-AB64-070DCFE661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Problem Solving with Recursion</a:t>
            </a:r>
            <a:r>
              <a:rPr lang="en-US" altLang="en-US" sz="2000" b="0" dirty="0"/>
              <a:t> (2 of 2)</a:t>
            </a:r>
            <a:endParaRPr lang="en-US" altLang="en-US" sz="2000" dirty="0"/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3ADC87C7-BF11-4927-BC64-52835C9558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Some repetitive problems are more easily solved with recursion</a:t>
            </a:r>
          </a:p>
          <a:p>
            <a:pPr>
              <a:buFontTx/>
              <a:buChar char="•"/>
            </a:pPr>
            <a:r>
              <a:rPr lang="en-US" altLang="en-US" dirty="0"/>
              <a:t>General outline of recursive function:</a:t>
            </a:r>
          </a:p>
          <a:p>
            <a:pPr lvl="1"/>
            <a:r>
              <a:rPr lang="en-US" altLang="en-US" dirty="0"/>
              <a:t>If the problem can be solved now without recursion, solve and return</a:t>
            </a:r>
          </a:p>
          <a:p>
            <a:pPr lvl="2"/>
            <a:r>
              <a:rPr lang="en-US" altLang="en-US" dirty="0"/>
              <a:t>Known as the </a:t>
            </a:r>
            <a:r>
              <a:rPr lang="en-US" altLang="en-US" i="1" dirty="0"/>
              <a:t>base case</a:t>
            </a:r>
          </a:p>
          <a:p>
            <a:pPr lvl="1"/>
            <a:r>
              <a:rPr lang="en-US" altLang="en-US" dirty="0"/>
              <a:t>Otherwise, reduce problem to smaller problem of the same structure and call the function again to solve the smaller problem</a:t>
            </a:r>
          </a:p>
          <a:p>
            <a:pPr lvl="2"/>
            <a:r>
              <a:rPr lang="en-US" altLang="en-US" dirty="0"/>
              <a:t>Known as the </a:t>
            </a:r>
            <a:r>
              <a:rPr lang="en-US" altLang="en-US" i="1" dirty="0"/>
              <a:t>recursive case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A5B311FC-CA68-45E4-8C95-D6B6B5C02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Using Recursion to Calculate the Factorial of a Number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B28FA315-4933-4B82-A75B-D6F3FB30B1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In mathematics, the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n!</a:t>
            </a:r>
            <a:r>
              <a:rPr lang="en-US" altLang="en-US" dirty="0"/>
              <a:t> notation represents the factorial of a number </a:t>
            </a:r>
            <a:r>
              <a:rPr lang="en-US" altLang="en-US" i="1" dirty="0"/>
              <a:t>n</a:t>
            </a:r>
          </a:p>
          <a:p>
            <a:pPr lvl="1"/>
            <a:r>
              <a:rPr lang="en-US" altLang="en-US" dirty="0"/>
              <a:t>For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0,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! = 1</a:t>
            </a:r>
          </a:p>
          <a:p>
            <a:pPr lvl="1"/>
            <a:r>
              <a:rPr lang="en-US" altLang="en-US" dirty="0"/>
              <a:t>For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0,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! = 1 x 2 x 3 x … x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The above definition lends itself to recursive programming</a:t>
            </a:r>
          </a:p>
          <a:p>
            <a:pPr lvl="1"/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dirty="0">
                <a:cs typeface="Times New Roman" panose="02020603050405020304" pitchFamily="18" charset="0"/>
              </a:rPr>
              <a:t>= 0 is the base case</a:t>
            </a:r>
          </a:p>
          <a:p>
            <a:pPr lvl="1"/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dirty="0">
                <a:cs typeface="Times New Roman" panose="02020603050405020304" pitchFamily="18" charset="0"/>
              </a:rPr>
              <a:t>&gt; 0 is the recursive case</a:t>
            </a:r>
          </a:p>
          <a:p>
            <a:pPr lvl="2"/>
            <a:r>
              <a:rPr lang="en-US" altLang="en-US" dirty="0">
                <a:cs typeface="Times New Roman" panose="02020603050405020304" pitchFamily="18" charset="0"/>
              </a:rPr>
              <a:t>factorial(</a:t>
            </a:r>
            <a:r>
              <a:rPr lang="en-US" altLang="en-US" i="1" dirty="0">
                <a:cs typeface="Times New Roman" panose="02020603050405020304" pitchFamily="18" charset="0"/>
              </a:rPr>
              <a:t>n</a:t>
            </a:r>
            <a:r>
              <a:rPr lang="en-US" altLang="en-US" dirty="0">
                <a:cs typeface="Times New Roman" panose="02020603050405020304" pitchFamily="18" charset="0"/>
              </a:rPr>
              <a:t>) =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cs typeface="Times New Roman" panose="02020603050405020304" pitchFamily="18" charset="0"/>
              </a:rPr>
              <a:t> x factorial(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en-US" dirty="0">
                <a:cs typeface="Times New Roman" panose="02020603050405020304" pitchFamily="18" charset="0"/>
              </a:rPr>
              <a:t>)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BE76A5C3-74B0-48EB-9097-765EEDE16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Using Recursion</a:t>
            </a:r>
            <a:r>
              <a:rPr lang="en-US" altLang="en-US" sz="2000" b="0" dirty="0"/>
              <a:t> (1 of 3)</a:t>
            </a:r>
            <a:endParaRPr lang="en-US" altLang="en-U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1B826C-0550-4D3C-80EB-2171570A29C1}"/>
              </a:ext>
            </a:extLst>
          </p:cNvPr>
          <p:cNvSpPr/>
          <p:nvPr/>
        </p:nvSpPr>
        <p:spPr>
          <a:xfrm>
            <a:off x="433754" y="2286000"/>
            <a:ext cx="826555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The factorial function uses recursion to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calculate the factorial of its argument,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which is assumed to be nonnegative.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 factorial(num):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if num == 0:</a:t>
            </a:r>
          </a:p>
          <a:p>
            <a:pPr marL="1346200" indent="-13462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 return 1</a:t>
            </a:r>
          </a:p>
          <a:p>
            <a:pPr marL="893763" indent="-893763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else:</a:t>
            </a:r>
          </a:p>
          <a:p>
            <a:pPr marL="1346200" indent="-13462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num * factorial(num – 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 descr="A diagram illustrates the value of number and return value during each call. ">
            <a:extLst>
              <a:ext uri="{FF2B5EF4-FFF2-40B4-BE49-F238E27FC236}">
                <a16:creationId xmlns:a16="http://schemas.microsoft.com/office/drawing/2014/main" id="{E784E971-60ED-4C6E-880C-29FC26226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51281" y="1089000"/>
            <a:ext cx="4241437" cy="46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D994D2-BE72-4650-AF81-B2686A29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09600"/>
          </a:xfrm>
        </p:spPr>
        <p:txBody>
          <a:bodyPr/>
          <a:lstStyle/>
          <a:p>
            <a:r>
              <a:rPr lang="en-US" altLang="en-US" dirty="0"/>
              <a:t>Using Recursion</a:t>
            </a:r>
            <a:r>
              <a:rPr lang="en-US" altLang="en-US" sz="2000" b="0" dirty="0"/>
              <a:t> (2 of 3)</a:t>
            </a:r>
            <a:endParaRPr lang="en-AU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16EA8-4922-4EC2-BD87-84FC185657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829936"/>
            <a:ext cx="8229600" cy="455079"/>
          </a:xfrm>
        </p:spPr>
        <p:txBody>
          <a:bodyPr/>
          <a:lstStyle/>
          <a:p>
            <a:r>
              <a:rPr lang="en-US" b="1" dirty="0"/>
              <a:t>Figure 12-4 </a:t>
            </a:r>
            <a:r>
              <a:rPr lang="en-US" dirty="0"/>
              <a:t>The value of num and the return value during each call of the function</a:t>
            </a:r>
            <a:endParaRPr lang="en-A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5E3E4888-69F7-43DC-8A1A-8732109749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Using Recursion</a:t>
            </a:r>
            <a:r>
              <a:rPr lang="en-US" altLang="en-US" sz="2000" b="0" dirty="0"/>
              <a:t> (3 of 3)</a:t>
            </a:r>
            <a:endParaRPr lang="en-US" altLang="en-US" sz="2000" dirty="0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E0E2AB2C-3CBA-4BDE-B0CC-FAD24C87C8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Since each call to the recursive function reduces the problem:</a:t>
            </a:r>
          </a:p>
          <a:p>
            <a:pPr lvl="1"/>
            <a:r>
              <a:rPr lang="en-US" altLang="en-US" dirty="0"/>
              <a:t>Eventually, it will get to the base case which does not require recursion, and the recursion will stop</a:t>
            </a:r>
          </a:p>
          <a:p>
            <a:pPr>
              <a:buFontTx/>
              <a:buChar char="•"/>
            </a:pPr>
            <a:r>
              <a:rPr lang="en-US" altLang="en-US" dirty="0"/>
              <a:t>Usually the problem is reduced by making one or more parameters smaller at each function call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4B26171-9EEE-4E52-A86B-BD0A21D36B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 and Indirect Recursion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EF1766BA-61D9-4C82-9418-47BA637438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u="sng" dirty="0"/>
              <a:t>Direct recursion</a:t>
            </a:r>
            <a:r>
              <a:rPr lang="en-US" altLang="en-US" dirty="0"/>
              <a:t>: when a function directly calls itself</a:t>
            </a:r>
          </a:p>
          <a:p>
            <a:pPr lvl="1"/>
            <a:r>
              <a:rPr lang="en-US" altLang="en-US" dirty="0"/>
              <a:t>All the examples shown so far were of direct recursion</a:t>
            </a:r>
          </a:p>
          <a:p>
            <a:pPr>
              <a:buFontTx/>
              <a:buChar char="•"/>
            </a:pPr>
            <a:r>
              <a:rPr lang="en-US" altLang="en-US" u="sng" dirty="0"/>
              <a:t>Indirect recursion</a:t>
            </a:r>
            <a:r>
              <a:rPr lang="en-US" altLang="en-US" dirty="0"/>
              <a:t>: when function A calls function B, which in turn calls function A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BC80E2A-D2D5-4C93-AD2F-3EE95DDEA0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Examples of Recursive Algorithms</a:t>
            </a:r>
            <a:r>
              <a:rPr lang="en-US" altLang="en-US" sz="2000" b="0" dirty="0"/>
              <a:t> (1 of 2)</a:t>
            </a:r>
            <a:endParaRPr lang="en-US" altLang="en-US" sz="2000" dirty="0"/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CF9C1B54-5ADD-4956-ABE1-C27EF0D31F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Summing a range of list elements with recursion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Function receives a list containing range of elements to be summed, index of starting item in the range, and index of ending item in the range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Base case: </a:t>
            </a:r>
          </a:p>
          <a:p>
            <a:pPr lvl="2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start index &gt; end index return 0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Recursive case: </a:t>
            </a:r>
          </a:p>
          <a:p>
            <a:pPr lvl="2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current_number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sum(list, start+1, end)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7E8FACE8-6373-4575-8B5A-2364C63B4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Examples of Recursive Algorithms</a:t>
            </a:r>
            <a:r>
              <a:rPr lang="en-US" altLang="en-US" sz="2000" b="0" dirty="0"/>
              <a:t> (2 of 2)</a:t>
            </a:r>
            <a:endParaRPr lang="en-US" alt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41CC54-CEF7-412A-B614-AB4D4E1424C1}"/>
              </a:ext>
            </a:extLst>
          </p:cNvPr>
          <p:cNvSpPr/>
          <p:nvPr/>
        </p:nvSpPr>
        <p:spPr>
          <a:xfrm>
            <a:off x="433754" y="2286000"/>
            <a:ext cx="826555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The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range_sum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function returns the sum of a specified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range of items in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 The start parameter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specifies the index of the starting item. The end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parmeter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specifies the index of the ending item.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range_sum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start, end):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if start &gt; end:</a:t>
            </a:r>
          </a:p>
          <a:p>
            <a:pPr marL="1346200" indent="-13462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0</a:t>
            </a:r>
          </a:p>
          <a:p>
            <a:pPr marL="893763" indent="-893763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else:</a:t>
            </a:r>
          </a:p>
          <a:p>
            <a:pPr marL="1346200" indent="-13462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[start] +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range_sum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num_list,start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+ 1, end)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2896053-2214-4F64-B481-9759DF0774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Fibonacci Series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39347967-2640-4AF9-B6B8-9D06651BED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471892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Fibonacci series: has two base cases</a:t>
            </a:r>
          </a:p>
          <a:p>
            <a:pPr lvl="1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 n = 0 then Fib(n) = 0</a:t>
            </a:r>
          </a:p>
          <a:p>
            <a:pPr lvl="1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 n = 1 then Fib(n) = 1</a:t>
            </a:r>
          </a:p>
          <a:p>
            <a:pPr lvl="1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 n &gt; 1 then Fib(n) = Fib(n-1) + Fib(n-2)</a:t>
            </a:r>
          </a:p>
          <a:p>
            <a:pPr>
              <a:buFontTx/>
              <a:buChar char="•"/>
            </a:pPr>
            <a:r>
              <a:rPr lang="en-US" altLang="en-US" dirty="0"/>
              <a:t>Corresponding function code: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8C0F98-1A26-4AF0-A2B9-B0B1CFAC99BB}"/>
              </a:ext>
            </a:extLst>
          </p:cNvPr>
          <p:cNvSpPr/>
          <p:nvPr/>
        </p:nvSpPr>
        <p:spPr>
          <a:xfrm>
            <a:off x="685800" y="3815477"/>
            <a:ext cx="7848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The fid function returns the nth number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in the Fibonacci series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fib(n):</a:t>
            </a:r>
          </a:p>
          <a:p>
            <a:pPr marL="712788" indent="-712788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n == 0:</a:t>
            </a:r>
          </a:p>
          <a:p>
            <a:pPr marL="984250" indent="-98425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0</a:t>
            </a:r>
          </a:p>
          <a:p>
            <a:pPr marL="712788" indent="-712788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 == 1:</a:t>
            </a:r>
          </a:p>
          <a:p>
            <a:pPr marL="1255713" indent="-1255713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1</a:t>
            </a:r>
          </a:p>
          <a:p>
            <a:pPr marL="712788" indent="-712788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else:</a:t>
            </a:r>
          </a:p>
          <a:p>
            <a:pPr marL="1165225" indent="-1165225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fib(n - 1) + fib(n – 2)</a:t>
            </a:r>
            <a:endParaRPr lang="en-A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A63AC741-210C-415D-94E3-D820F50BF0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Finding the Greatest Common Divisor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BF51D5F7-49FC-44CF-A577-A35C617297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2667000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 sz="2400" dirty="0"/>
              <a:t>Calculation of the greatest common divisor (GCD) of two positive integers</a:t>
            </a:r>
          </a:p>
          <a:p>
            <a:pPr lvl="1"/>
            <a:r>
              <a:rPr lang="en-US" altLang="en-US" sz="2400" dirty="0">
                <a:cs typeface="Courier New" panose="02070309020205020404" pitchFamily="49" charset="0"/>
              </a:rPr>
              <a:t>If x can be evenly divided by y, then </a:t>
            </a:r>
          </a:p>
          <a:p>
            <a:pPr lvl="1"/>
            <a:r>
              <a:rPr lang="en-US" altLang="en-US" sz="2400" dirty="0">
                <a:cs typeface="Courier New" panose="02070309020205020404" pitchFamily="49" charset="0"/>
              </a:rPr>
              <a:t>	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gcd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= y</a:t>
            </a:r>
          </a:p>
          <a:p>
            <a:pPr lvl="1"/>
            <a:r>
              <a:rPr lang="en-US" altLang="en-US" sz="2400" dirty="0">
                <a:cs typeface="Courier New" panose="02070309020205020404" pitchFamily="49" charset="0"/>
              </a:rPr>
              <a:t>Otherwise, </a:t>
            </a:r>
            <a:r>
              <a:rPr lang="en-US" altLang="en-US" sz="2400" dirty="0" err="1">
                <a:cs typeface="Courier New" panose="02070309020205020404" pitchFamily="49" charset="0"/>
              </a:rPr>
              <a:t>gcd</a:t>
            </a:r>
            <a:r>
              <a:rPr lang="en-US" altLang="en-US" sz="2400" dirty="0">
                <a:cs typeface="Courier New" panose="02070309020205020404" pitchFamily="49" charset="0"/>
              </a:rPr>
              <a:t>(</a:t>
            </a:r>
            <a:r>
              <a:rPr lang="en-US" altLang="en-US" sz="2400" dirty="0" err="1">
                <a:cs typeface="Courier New" panose="02070309020205020404" pitchFamily="49" charset="0"/>
              </a:rPr>
              <a:t>x,y</a:t>
            </a:r>
            <a:r>
              <a:rPr lang="en-US" altLang="en-US" sz="2400" dirty="0">
                <a:cs typeface="Courier New" panose="02070309020205020404" pitchFamily="49" charset="0"/>
              </a:rPr>
              <a:t>) = </a:t>
            </a:r>
            <a:r>
              <a:rPr lang="en-US" altLang="en-US" sz="2400" dirty="0" err="1">
                <a:cs typeface="Courier New" panose="02070309020205020404" pitchFamily="49" charset="0"/>
              </a:rPr>
              <a:t>gcd</a:t>
            </a:r>
            <a:r>
              <a:rPr lang="en-US" altLang="en-US" sz="2400" dirty="0">
                <a:cs typeface="Courier New" panose="02070309020205020404" pitchFamily="49" charset="0"/>
              </a:rPr>
              <a:t>(y, remainder of x/y)</a:t>
            </a:r>
          </a:p>
          <a:p>
            <a:pPr>
              <a:buFontTx/>
              <a:buChar char="•"/>
            </a:pPr>
            <a:r>
              <a:rPr lang="en-US" altLang="en-US" sz="2400" dirty="0"/>
              <a:t>Corresponding function code:</a:t>
            </a:r>
            <a:endParaRPr lang="en-US" altLang="en-US" sz="2200" dirty="0"/>
          </a:p>
          <a:p>
            <a:pPr>
              <a:buFontTx/>
              <a:buChar char="•"/>
            </a:pPr>
            <a:endParaRPr lang="en-US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86559B-872D-4B42-B0BF-2D0120D6727F}"/>
              </a:ext>
            </a:extLst>
          </p:cNvPr>
          <p:cNvSpPr/>
          <p:nvPr/>
        </p:nvSpPr>
        <p:spPr>
          <a:xfrm>
            <a:off x="1219200" y="4370084"/>
            <a:ext cx="6526146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The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gcd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function returns the greatest common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divisor of two numbers.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x % y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==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0:</a:t>
            </a:r>
          </a:p>
          <a:p>
            <a:pPr marL="1527175" indent="-1527175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y</a:t>
            </a:r>
          </a:p>
          <a:p>
            <a:pPr marL="984250" indent="-98425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else:</a:t>
            </a:r>
          </a:p>
          <a:p>
            <a:pPr marL="984250" indent="-98425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(x, x % y)</a:t>
            </a:r>
            <a:endParaRPr lang="en-A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396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903C2B6E-E360-45EA-96D8-D2BB8496BE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Towers of Hanoi</a:t>
            </a:r>
            <a:r>
              <a:rPr lang="en-US" altLang="en-US" sz="2000" b="0" dirty="0"/>
              <a:t> (1 of 5)</a:t>
            </a:r>
            <a:endParaRPr lang="en-US" altLang="en-US" sz="2000" dirty="0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6FEEBAFB-4535-4E29-8BF5-99E19E1F0E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Mathematical game commonly used to illustrate the power of recursion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Uses three pegs and a set of discs in decreasing sizes</a:t>
            </a:r>
          </a:p>
          <a:p>
            <a:pPr lvl="1"/>
            <a:r>
              <a:rPr lang="en-US" altLang="en-US" u="sng" dirty="0">
                <a:cs typeface="Courier New" panose="02070309020205020404" pitchFamily="49" charset="0"/>
              </a:rPr>
              <a:t>Goal of the game</a:t>
            </a:r>
            <a:r>
              <a:rPr lang="en-US" altLang="en-US" dirty="0">
                <a:cs typeface="Courier New" panose="02070309020205020404" pitchFamily="49" charset="0"/>
              </a:rPr>
              <a:t>: move the discs from leftmost peg to rightmost peg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Only one disc can be moved at a time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A disc cannot be placed on top of a smaller disc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All discs must be on a peg except while being moved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1B4539B2-BE4B-4A47-B0EF-62B4669DC4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/>
          <a:lstStyle/>
          <a:p>
            <a:r>
              <a:rPr lang="en-US" altLang="en-US" dirty="0"/>
              <a:t>The Towers of Hanoi</a:t>
            </a:r>
            <a:r>
              <a:rPr lang="en-US" altLang="en-US" sz="2000" b="0" dirty="0"/>
              <a:t> (2 of 5)</a:t>
            </a:r>
            <a:endParaRPr lang="en-US" altLang="en-US" sz="20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EAC94C-DCDE-4DBB-874B-7DC4730207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791200"/>
            <a:ext cx="8229600" cy="493816"/>
          </a:xfrm>
        </p:spPr>
        <p:txBody>
          <a:bodyPr/>
          <a:lstStyle/>
          <a:p>
            <a:r>
              <a:rPr lang="en-US" b="1" dirty="0"/>
              <a:t>Figure 12-5 </a:t>
            </a:r>
            <a:r>
              <a:rPr lang="en-US" dirty="0"/>
              <a:t>The pegs and discs in the Tower of Hanoi game</a:t>
            </a:r>
            <a:endParaRPr lang="en-AU" dirty="0"/>
          </a:p>
        </p:txBody>
      </p:sp>
      <p:pic>
        <p:nvPicPr>
          <p:cNvPr id="20483" name="Picture 3" descr="An illustration depicts the Towers of Hanoi.">
            <a:extLst>
              <a:ext uri="{FF2B5EF4-FFF2-40B4-BE49-F238E27FC236}">
                <a16:creationId xmlns:a16="http://schemas.microsoft.com/office/drawing/2014/main" id="{F04EDBC6-731A-491E-B53C-6A96ABAA3A80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2951" y="1828800"/>
            <a:ext cx="8038097" cy="2754313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3" descr="The steps are as follows.&#10;• Original setup. The three discs are placed in the first peg.&#10;• First move, a disc is placed in the third peg. &#10;• Second move, second disc is moved to the second peg.&#10;• Third move, the first disc is placed on top of second disc on the second peg. &#10;• Fourth move, the third disc is placed on the third peg. &#10;• Fifth move, the first peg is moved from the second peg to the first peg.&#10;• Sixth move, the second disc is moved from the second peg to the third peg.&#10;• Seventh move, the first peg is moved from the first peg to the third peg. &#10;">
            <a:extLst>
              <a:ext uri="{FF2B5EF4-FFF2-40B4-BE49-F238E27FC236}">
                <a16:creationId xmlns:a16="http://schemas.microsoft.com/office/drawing/2014/main" id="{B23BA505-2B34-4517-B964-DD5BD2577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25774" y="1090200"/>
            <a:ext cx="5092451" cy="43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247BEF-0A8E-4395-B58B-9AD02B62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/>
          <a:lstStyle/>
          <a:p>
            <a:r>
              <a:rPr lang="en-US" altLang="en-US" dirty="0"/>
              <a:t>The Towers of Hanoi</a:t>
            </a:r>
            <a:r>
              <a:rPr lang="en-US" altLang="en-US" sz="2000" b="0" dirty="0"/>
              <a:t> (3 of 5)</a:t>
            </a:r>
            <a:endParaRPr lang="en-AU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E3D8F-289D-4F73-AE00-131FDF78D3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806490"/>
            <a:ext cx="8229600" cy="478525"/>
          </a:xfrm>
        </p:spPr>
        <p:txBody>
          <a:bodyPr/>
          <a:lstStyle/>
          <a:p>
            <a:r>
              <a:rPr lang="en-US" b="1" dirty="0"/>
              <a:t>Figure 12-6 </a:t>
            </a:r>
            <a:r>
              <a:rPr lang="en-US" dirty="0"/>
              <a:t>Steps for moving three pegs</a:t>
            </a:r>
            <a:endParaRPr lang="en-A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379DC9E3-D6F5-4528-9BF8-999B24254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Towers of Hanoi</a:t>
            </a:r>
            <a:r>
              <a:rPr lang="en-US" altLang="en-US" sz="2000" b="0" dirty="0"/>
              <a:t> (4 of 5)</a:t>
            </a:r>
            <a:endParaRPr lang="en-US" altLang="en-US" sz="2000" dirty="0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8649B7D9-505A-493F-AA97-7C435BE232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u="sng" dirty="0">
                <a:cs typeface="Courier New" panose="02070309020205020404" pitchFamily="49" charset="0"/>
              </a:rPr>
              <a:t>Problem statement</a:t>
            </a:r>
            <a:r>
              <a:rPr lang="en-US" altLang="en-US" dirty="0">
                <a:cs typeface="Courier New" panose="02070309020205020404" pitchFamily="49" charset="0"/>
              </a:rPr>
              <a:t>: move n discs from peg 1 to peg 3 using peg 2 as a temporary peg</a:t>
            </a:r>
          </a:p>
          <a:p>
            <a:pPr>
              <a:buFontTx/>
              <a:buChar char="•"/>
            </a:pPr>
            <a:r>
              <a:rPr lang="en-US" altLang="en-US" u="sng" dirty="0">
                <a:cs typeface="Courier New" panose="02070309020205020404" pitchFamily="49" charset="0"/>
              </a:rPr>
              <a:t>Recursive solution</a:t>
            </a:r>
            <a:r>
              <a:rPr lang="en-US" altLang="en-US" dirty="0"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If n == 1: Move disc from peg 1 to peg 3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Otherwise: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Move n-1 discs from peg 1 to peg 2, using peg 3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Move remaining disc from peg 1 to peg 3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Move n-1 discs from peg 2 to peg 3, using peg 1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B164FE4E-DBEB-4907-963A-77BE212BB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Towers of Hanoi</a:t>
            </a:r>
            <a:r>
              <a:rPr lang="en-US" altLang="en-US" sz="2000" b="0" dirty="0"/>
              <a:t> (5 of 5)</a:t>
            </a:r>
            <a:endParaRPr lang="en-US" alt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208471-643E-42EF-B3A2-5503046E7784}"/>
              </a:ext>
            </a:extLst>
          </p:cNvPr>
          <p:cNvSpPr/>
          <p:nvPr/>
        </p:nvSpPr>
        <p:spPr>
          <a:xfrm>
            <a:off x="457200" y="1752600"/>
            <a:ext cx="81534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The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moveDiscs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function displays a disc move in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the powers of Hanoi game.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The parameters are:</a:t>
            </a:r>
          </a:p>
          <a:p>
            <a:pPr marL="712788" indent="-712788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	num:	  The number of discs to move.</a:t>
            </a:r>
          </a:p>
          <a:p>
            <a:pPr marL="712788" indent="-712788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from_peg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The peg to move from.</a:t>
            </a:r>
          </a:p>
          <a:p>
            <a:pPr marL="712788" indent="-712788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  The peg to move to.</a:t>
            </a:r>
          </a:p>
          <a:p>
            <a:pPr marL="712788" indent="-712788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temp_peg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The temporary peg.</a:t>
            </a:r>
          </a:p>
          <a:p>
            <a:pPr marL="712788" indent="-712788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move_disces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(num,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from_peg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temp_peg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712788" indent="-712788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num &gt; 0:</a:t>
            </a:r>
          </a:p>
          <a:p>
            <a:pPr marL="984250" indent="-98425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move_disces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(num – 1,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from_peg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temp_peg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84250" indent="-98425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print(‘Move a disc from peg’,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from_peg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‘to peg’,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84250" indent="-98425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move_disces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(num – 1,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temp_peg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from_peg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5147325E-D975-4FF6-89EB-C610AC2D73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Recursion versus Looping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F1817C16-BBFE-4B52-B530-2BCC85E1D5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Reasons not to use recursion: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Less efficient: entails function calling overhead that is not necessary with a loop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Usually a solution using a loop is more evident than a recursive solution</a:t>
            </a:r>
          </a:p>
          <a:p>
            <a:pPr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Some problems are more easily solved with recursion than with a loop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Example: Fibonacci, where the mathematical definition lends itself to recursion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40A1F1F3-C391-4DFF-941C-F4B307A384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  <a:endParaRPr lang="he-IL" altLang="en-US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5DCA8DA0-7F10-41D1-863A-ED2631F4A1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/>
              <a:t>This chapter covered:</a:t>
            </a:r>
          </a:p>
          <a:p>
            <a:pPr lvl="1" eaLnBrk="1" hangingPunct="1"/>
            <a:r>
              <a:rPr lang="en-US" altLang="en-US" dirty="0"/>
              <a:t>Definition of recursion</a:t>
            </a:r>
          </a:p>
          <a:p>
            <a:pPr lvl="1" eaLnBrk="1" hangingPunct="1"/>
            <a:r>
              <a:rPr lang="en-US" altLang="en-US" dirty="0"/>
              <a:t>The importance of the base case</a:t>
            </a:r>
          </a:p>
          <a:p>
            <a:pPr lvl="1" eaLnBrk="1" hangingPunct="1"/>
            <a:r>
              <a:rPr lang="en-US" altLang="en-US" dirty="0"/>
              <a:t>The recursive case as reducing the problem size</a:t>
            </a:r>
          </a:p>
          <a:p>
            <a:pPr lvl="1" eaLnBrk="1" hangingPunct="1"/>
            <a:r>
              <a:rPr lang="en-US" altLang="en-US" dirty="0"/>
              <a:t>Direct and indirect recursion</a:t>
            </a:r>
          </a:p>
          <a:p>
            <a:pPr lvl="1" eaLnBrk="1" hangingPunct="1"/>
            <a:r>
              <a:rPr lang="en-US" altLang="en-US" dirty="0"/>
              <a:t>Examples of recursive algorithms</a:t>
            </a:r>
          </a:p>
          <a:p>
            <a:pPr lvl="1" eaLnBrk="1" hangingPunct="1"/>
            <a:r>
              <a:rPr lang="en-US" altLang="en-US" dirty="0"/>
              <a:t>Recursion versus looping</a:t>
            </a:r>
          </a:p>
          <a:p>
            <a:pPr lvl="1" eaLnBrk="1" hangingPunct="1"/>
            <a:endParaRPr lang="he-IL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8667</TotalTime>
  <Words>1356</Words>
  <Application>Microsoft Office PowerPoint</Application>
  <PresentationFormat>On-screen Show (4:3)</PresentationFormat>
  <Paragraphs>149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Courier New</vt:lpstr>
      <vt:lpstr>Times New Roman</vt:lpstr>
      <vt:lpstr>Verdana</vt:lpstr>
      <vt:lpstr>Wingdings</vt:lpstr>
      <vt:lpstr>508 Lecture</vt:lpstr>
      <vt:lpstr>Starting out with Python</vt:lpstr>
      <vt:lpstr>Topics</vt:lpstr>
      <vt:lpstr>Introduction to Recursion (1 of 3)</vt:lpstr>
      <vt:lpstr>Introduction to Recursion (2 of 3)</vt:lpstr>
      <vt:lpstr>Introduction to Recursion (3 of 3)</vt:lpstr>
      <vt:lpstr>Problem Solving with Recursion (1 of 2)</vt:lpstr>
      <vt:lpstr>Problem Solving with Recursion (2 of 2)</vt:lpstr>
      <vt:lpstr>Using Recursion to Calculate the Factorial of a Number</vt:lpstr>
      <vt:lpstr>Using Recursion (1 of 3)</vt:lpstr>
      <vt:lpstr>Using Recursion (2 of 3)</vt:lpstr>
      <vt:lpstr>Using Recursion (3 of 3)</vt:lpstr>
      <vt:lpstr>Direct and Indirect Recursion</vt:lpstr>
      <vt:lpstr>Examples of Recursive Algorithms (1 of 2)</vt:lpstr>
      <vt:lpstr>Examples of Recursive Algorithms (2 of 2)</vt:lpstr>
      <vt:lpstr>The Fibonacci Series</vt:lpstr>
      <vt:lpstr>Finding the Greatest Common Divisor</vt:lpstr>
      <vt:lpstr>The Towers of Hanoi (1 of 5)</vt:lpstr>
      <vt:lpstr>The Towers of Hanoi (2 of 5)</vt:lpstr>
      <vt:lpstr>The Towers of Hanoi (3 of 5)</vt:lpstr>
      <vt:lpstr>The Towers of Hanoi (4 of 5)</vt:lpstr>
      <vt:lpstr>The Towers of Hanoi (5 of 5)</vt:lpstr>
      <vt:lpstr>Recursion versus Looping</vt:lpstr>
      <vt:lpstr>Summary</vt:lpstr>
    </vt:vector>
  </TitlesOfParts>
  <Company>SPi-Global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Starting out with Python, Fifth Edition</dc:title>
  <dc:subject>Computer Science</dc:subject>
  <dc:creator>Tony Gaddis</dc:creator>
  <cp:keywords>Computer program language</cp:keywords>
  <cp:lastModifiedBy>Kathiravan Natarajan</cp:lastModifiedBy>
  <cp:revision>674</cp:revision>
  <dcterms:created xsi:type="dcterms:W3CDTF">2014-07-14T20:04:21Z</dcterms:created>
  <dcterms:modified xsi:type="dcterms:W3CDTF">2024-04-01T02:52:19Z</dcterms:modified>
  <cp:category>IT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UniqueId">
    <vt:lpwstr>682740</vt:lpwstr>
  </property>
  <property fmtid="{D5CDD505-2E9C-101B-9397-08002B2CF9AE}" pid="3" name="Offisync_UpdateToken">
    <vt:lpwstr>1</vt:lpwstr>
  </property>
  <property fmtid="{D5CDD505-2E9C-101B-9397-08002B2CF9AE}" pid="4" name="Jive_VersionGuid">
    <vt:lpwstr>7b502893-ac4a-4309-967d-6eb652f6b574</vt:lpwstr>
  </property>
  <property fmtid="{D5CDD505-2E9C-101B-9397-08002B2CF9AE}" pid="5" name="Offisync_ProviderInitializationData">
    <vt:lpwstr>https://neo.pearson.com</vt:lpwstr>
  </property>
  <property fmtid="{D5CDD505-2E9C-101B-9397-08002B2CF9AE}" pid="6" name="Offisync_ServerID">
    <vt:lpwstr>7e960520-0e88-4f05-9fa0-24079b61e486</vt:lpwstr>
  </property>
  <property fmtid="{D5CDD505-2E9C-101B-9397-08002B2CF9AE}" pid="7" name="Jive_LatestUserAccountName">
    <vt:lpwstr>sumit.gupta</vt:lpwstr>
  </property>
</Properties>
</file>