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29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6" r:id="rId30"/>
    <p:sldId id="284" r:id="rId31"/>
    <p:sldId id="285" r:id="rId32"/>
    <p:sldId id="287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kesh Kumar" initials="RK" lastIdx="8" clrIdx="0">
    <p:extLst>
      <p:ext uri="{19B8F6BF-5375-455C-9EA6-DF929625EA0E}">
        <p15:presenceInfo xmlns:p15="http://schemas.microsoft.com/office/powerpoint/2012/main" userId="S-1-5-21-2752970185-40930380-1894245210-52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00" autoAdjust="0"/>
    <p:restoredTop sz="86891" autoAdjust="0"/>
  </p:normalViewPr>
  <p:slideViewPr>
    <p:cSldViewPr>
      <p:cViewPr varScale="1">
        <p:scale>
          <a:sx n="74" d="100"/>
          <a:sy n="74" d="100"/>
        </p:scale>
        <p:origin x="1234" y="67"/>
      </p:cViewPr>
      <p:guideLst>
        <p:guide orient="horz" pos="100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408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6693A65F-4914-4E78-851D-263DDDEF8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2C3CCD08-C7F5-46B3-9302-9FDA36A56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54B71A10-EC92-4F9C-8568-FA8D1B16F3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B65AE8B-18DA-41AA-A16D-B63C84B13431}" type="slidenum">
              <a:rPr lang="en-US" altLang="en-US"/>
              <a:pPr/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69909509-7D64-4B2B-BB30-5F92F07134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60378320-58E2-4815-B8F3-6A0209EAC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F1394E43-8785-49F1-B0C2-68DED0E10A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BA48CE1-8EE1-4876-8373-B692F6F44967}" type="slidenum">
              <a:rPr lang="en-US" altLang="en-US"/>
              <a:pPr/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66579E8A-B5B0-447D-BEBE-8910DF1F20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97A8A2CC-8791-4850-A1D9-DCA3A5B80A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27D6CFBC-68E5-4CBC-BFF1-D69C905D8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925AF9B-4E77-4558-807C-3D05E1D7DF2A}" type="slidenum">
              <a:rPr lang="en-US" altLang="en-US"/>
              <a:pPr/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0B3B15E3-E309-43D6-8754-005BA37D99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CAA2DB03-4A2B-4096-A730-6370D7DB1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31CA9429-D8D8-42C2-915C-5C1888594C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567DF90-DD2B-411F-B6B1-587E4C2E0E11}" type="slidenum">
              <a:rPr lang="en-US" altLang="en-US"/>
              <a:pPr/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14 -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D1914-9979-4928-BEEB-4586CCB160A9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03514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447800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14 -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6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2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18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913" indent="-285750">
              <a:buClr>
                <a:srgbClr val="007FA3"/>
              </a:buClr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marL="256032" lvl="0" indent="-256032" algn="l" defTabSz="914400" rtl="0" eaLnBrk="1" latinLnBrk="0" hangingPunct="1">
              <a:spcBef>
                <a:spcPts val="15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Click to edit Master text styles</a:t>
            </a:r>
          </a:p>
          <a:p>
            <a:pPr marL="742950" lvl="1" indent="-28575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14 -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B0CCA-42FE-4F49-B329-D58EC7D36F62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8 -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0ED46-ED41-4598-BC5D-77A94B216872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457200" y="1457450"/>
            <a:ext cx="82296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91114" y="160194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2648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57200" y="317565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3300984" y="317565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6128658" y="3171876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457200" y="4761264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3299388" y="4761264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17" hasCustomPrompt="1"/>
          </p:nvPr>
        </p:nvSpPr>
        <p:spPr>
          <a:xfrm>
            <a:off x="6128658" y="4764312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3/31/2024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1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5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929C19-A940-4FDA-BB74-83E573C05348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5256"/>
            <a:ext cx="8229600" cy="10972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9149"/>
            <a:ext cx="8229600" cy="424845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83944"/>
            <a:ext cx="8229600" cy="457200"/>
          </a:xfr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007FA3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28600" y="1641144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288" y="1447800"/>
            <a:ext cx="3966312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288" y="2271712"/>
            <a:ext cx="3966312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1" y="1447800"/>
            <a:ext cx="3962400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1" y="2271712"/>
            <a:ext cx="3962400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3/31/2024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98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3962400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71712"/>
            <a:ext cx="3962400" cy="16097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1" y="1447800"/>
            <a:ext cx="3965124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1" y="2271712"/>
            <a:ext cx="3965124" cy="16097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3/31/2024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458730" y="4044721"/>
            <a:ext cx="3962400" cy="18557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/>
          </p:nvPr>
        </p:nvSpPr>
        <p:spPr>
          <a:xfrm>
            <a:off x="4732563" y="4055609"/>
            <a:ext cx="3965124" cy="18557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510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457200" y="2756648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457200" y="3886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457200" y="5029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80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A3893B5-7323-46D7-9149-FB44220D52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9091BF-13DA-4E7D-B2D9-CA3CAA2CEF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92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hape 15" descr="Pearson Logo"/>
          <p:cNvPicPr preferRelativeResize="0"/>
          <p:nvPr userDrawn="1"/>
        </p:nvPicPr>
        <p:blipFill rotWithShape="1">
          <a:blip r:embed="rId21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14 -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B42598-E17E-4AFA-A2E8-BF865C3E5BD4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59" r:id="rId5"/>
    <p:sldLayoutId id="2147483658" r:id="rId6"/>
    <p:sldLayoutId id="2147483660" r:id="rId7"/>
    <p:sldLayoutId id="2147483651" r:id="rId8"/>
    <p:sldLayoutId id="2147483654" r:id="rId9"/>
    <p:sldLayoutId id="2147483655" r:id="rId10"/>
    <p:sldLayoutId id="2147483662" r:id="rId11"/>
    <p:sldLayoutId id="2147483663" r:id="rId12"/>
    <p:sldLayoutId id="2147483664" r:id="rId13"/>
    <p:sldLayoutId id="2147483665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descr="Assembly Language for x86 Processors, "/>
          <p:cNvSpPr>
            <a:spLocks noGrp="1"/>
          </p:cNvSpPr>
          <p:nvPr>
            <p:ph type="title"/>
          </p:nvPr>
        </p:nvSpPr>
        <p:spPr>
          <a:xfrm>
            <a:off x="457200" y="215372"/>
            <a:ext cx="8458200" cy="623817"/>
          </a:xfrm>
        </p:spPr>
        <p:txBody>
          <a:bodyPr/>
          <a:lstStyle/>
          <a:p>
            <a:r>
              <a:rPr lang="en-US" dirty="0"/>
              <a:t>Starting out with Python</a:t>
            </a:r>
            <a:endParaRPr lang="en-AU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966930"/>
            <a:ext cx="8229600" cy="381000"/>
          </a:xfrm>
        </p:spPr>
        <p:txBody>
          <a:bodyPr/>
          <a:lstStyle/>
          <a:p>
            <a:r>
              <a:rPr lang="en-US" dirty="0"/>
              <a:t>Fifth Edition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Chapter 14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en-US" dirty="0"/>
              <a:t>Database 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11" descr="Starting out with Python, Fifth edition by Tony Gaddis">
            <a:extLst>
              <a:ext uri="{FF2B5EF4-FFF2-40B4-BE49-F238E27FC236}">
                <a16:creationId xmlns:a16="http://schemas.microsoft.com/office/drawing/2014/main" id="{19AE27C4-80A6-459C-AA51-2752EA991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83" y="1347930"/>
            <a:ext cx="3813120" cy="495430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222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B5A856FB-2884-4D1C-A34D-8C7F8197297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2200" dirty="0"/>
              <a:t>Database Management Systems</a:t>
            </a:r>
          </a:p>
          <a:p>
            <a:pPr eaLnBrk="1" hangingPunct="1"/>
            <a:r>
              <a:rPr lang="en-US" altLang="en-US" sz="2200" dirty="0"/>
              <a:t>Tables, Rows, and Columns</a:t>
            </a:r>
          </a:p>
          <a:p>
            <a:pPr eaLnBrk="1" hangingPunct="1"/>
            <a:r>
              <a:rPr lang="en-US" altLang="en-US" sz="2200" dirty="0"/>
              <a:t>Opening and Closing a Database Connection with SQLite</a:t>
            </a:r>
          </a:p>
          <a:p>
            <a:pPr eaLnBrk="1" hangingPunct="1"/>
            <a:r>
              <a:rPr lang="en-US" altLang="en-US" sz="2200" dirty="0"/>
              <a:t>Creating and Deleting Tables</a:t>
            </a:r>
          </a:p>
          <a:p>
            <a:pPr eaLnBrk="1" hangingPunct="1"/>
            <a:r>
              <a:rPr lang="en-US" altLang="en-US" sz="2200" dirty="0"/>
              <a:t>Adding Data to a Table</a:t>
            </a:r>
          </a:p>
          <a:p>
            <a:pPr eaLnBrk="1" hangingPunct="1"/>
            <a:r>
              <a:rPr lang="en-US" altLang="en-US" sz="2200" dirty="0"/>
              <a:t>Querying Data with the SQL SELECT Statement</a:t>
            </a:r>
          </a:p>
        </p:txBody>
      </p:sp>
      <p:sp>
        <p:nvSpPr>
          <p:cNvPr id="5124" name="Content Placeholder 1">
            <a:extLst>
              <a:ext uri="{FF2B5EF4-FFF2-40B4-BE49-F238E27FC236}">
                <a16:creationId xmlns:a16="http://schemas.microsoft.com/office/drawing/2014/main" id="{4664A3AC-910C-4304-A551-4E19EFD7FDA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sz="2200" dirty="0"/>
              <a:t>Updating and Deleting Existing Rows</a:t>
            </a:r>
          </a:p>
          <a:p>
            <a:r>
              <a:rPr lang="en-US" altLang="en-US" sz="2200" dirty="0"/>
              <a:t>More About Primary Keys</a:t>
            </a:r>
          </a:p>
          <a:p>
            <a:r>
              <a:rPr lang="en-US" altLang="en-US" sz="2200" dirty="0"/>
              <a:t>Handling Database Exceptions</a:t>
            </a:r>
          </a:p>
          <a:p>
            <a:r>
              <a:rPr lang="en-US" altLang="en-US" sz="2200" dirty="0"/>
              <a:t>CRUD Operations</a:t>
            </a:r>
          </a:p>
          <a:p>
            <a:r>
              <a:rPr lang="en-US" altLang="en-US" sz="2200" dirty="0"/>
              <a:t>Relational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83DCEF-F364-4219-9CDF-A7AA11DC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4">
            <a:extLst>
              <a:ext uri="{FF2B5EF4-FFF2-40B4-BE49-F238E27FC236}">
                <a16:creationId xmlns:a16="http://schemas.microsoft.com/office/drawing/2014/main" id="{FB79A12A-5361-462B-9F6B-EEC8424276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Storing data in traditional files has its limits</a:t>
            </a:r>
          </a:p>
          <a:p>
            <a:pPr lvl="1" eaLnBrk="1" hangingPunct="1"/>
            <a:r>
              <a:rPr lang="en-US" altLang="en-US" sz="2400" dirty="0"/>
              <a:t>well suited for applications that store only a small amount of data</a:t>
            </a:r>
          </a:p>
          <a:p>
            <a:pPr lvl="1" eaLnBrk="1" hangingPunct="1"/>
            <a:r>
              <a:rPr lang="en-US" altLang="en-US" sz="2400" dirty="0"/>
              <a:t>not practical for applications that must store a large amount of data</a:t>
            </a:r>
          </a:p>
          <a:p>
            <a:pPr lvl="1" eaLnBrk="1" hangingPunct="1"/>
            <a:r>
              <a:rPr lang="en-US" altLang="en-US" sz="2400" dirty="0"/>
              <a:t>simple operations become cumbersome and inefficient as data increases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C27662-2305-47F7-8318-2704BFAB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Management Systems</a:t>
            </a:r>
            <a:r>
              <a:rPr lang="en-AU" sz="2000" b="0" dirty="0"/>
              <a:t> (1 of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4">
            <a:extLst>
              <a:ext uri="{FF2B5EF4-FFF2-40B4-BE49-F238E27FC236}">
                <a16:creationId xmlns:a16="http://schemas.microsoft.com/office/drawing/2014/main" id="{098A2E82-19DF-4C8E-BF04-D66F9AF1C0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altLang="en-US" dirty="0"/>
              <a:t>A </a:t>
            </a:r>
            <a:r>
              <a:rPr lang="en-US" altLang="en-US" i="1" dirty="0"/>
              <a:t>database management system (DBMS)</a:t>
            </a:r>
            <a:r>
              <a:rPr lang="en-US" altLang="en-US" dirty="0"/>
              <a:t> is software that is specifically designed to work with large amounts of data in an efficient and organized manner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is stored using the database management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Applications written in Python or other languages communicate with the DBMS rather than manipulate the data directly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DBMS carries out instructions and sends the results back to the application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6DA460-7411-4CA2-A64A-855C0EFE2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Management Systems</a:t>
            </a:r>
            <a:r>
              <a:rPr lang="en-AU" sz="2000" b="0" dirty="0"/>
              <a:t> (2 of 3)</a:t>
            </a:r>
            <a:endParaRPr lang="en-AU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Group 10">
            <a:extLst>
              <a:ext uri="{FF2B5EF4-FFF2-40B4-BE49-F238E27FC236}">
                <a16:creationId xmlns:a16="http://schemas.microsoft.com/office/drawing/2014/main" id="{818078F3-BA4E-44CF-AA63-CA3DE7225DA3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495800"/>
            <a:ext cx="2286000" cy="923925"/>
            <a:chOff x="2885243" y="5172670"/>
            <a:chExt cx="2286000" cy="923330"/>
          </a:xfrm>
          <a:solidFill>
            <a:srgbClr val="007FA3"/>
          </a:solidFill>
        </p:grpSpPr>
        <p:sp>
          <p:nvSpPr>
            <p:cNvPr id="8210" name="Flowchart: Magnetic Disk 6">
              <a:extLst>
                <a:ext uri="{FF2B5EF4-FFF2-40B4-BE49-F238E27FC236}">
                  <a16:creationId xmlns:a16="http://schemas.microsoft.com/office/drawing/2014/main" id="{2E500FCB-0DA1-40D5-8B76-4CA2DD01D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5243" y="5172670"/>
              <a:ext cx="2286000" cy="923330"/>
            </a:xfrm>
            <a:prstGeom prst="flowChartMagneticDisk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0"/>
            </a:p>
          </p:txBody>
        </p:sp>
        <p:sp>
          <p:nvSpPr>
            <p:cNvPr id="8211" name="TextBox 9">
              <a:extLst>
                <a:ext uri="{FF2B5EF4-FFF2-40B4-BE49-F238E27FC236}">
                  <a16:creationId xmlns:a16="http://schemas.microsoft.com/office/drawing/2014/main" id="{08ACB506-1E69-4421-A843-20561D9EF4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253" y="5626197"/>
              <a:ext cx="671979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Data</a:t>
              </a:r>
            </a:p>
          </p:txBody>
        </p:sp>
      </p:grpSp>
      <p:sp>
        <p:nvSpPr>
          <p:cNvPr id="8196" name="Arrow: Up-Down 14">
            <a:extLst>
              <a:ext uri="{FF2B5EF4-FFF2-40B4-BE49-F238E27FC236}">
                <a16:creationId xmlns:a16="http://schemas.microsoft.com/office/drawing/2014/main" id="{1E80A1BA-FBC1-4C6F-9998-5156EA365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052888"/>
            <a:ext cx="381000" cy="685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007FA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grpSp>
        <p:nvGrpSpPr>
          <p:cNvPr id="8197" name="Group 11">
            <a:extLst>
              <a:ext uri="{FF2B5EF4-FFF2-40B4-BE49-F238E27FC236}">
                <a16:creationId xmlns:a16="http://schemas.microsoft.com/office/drawing/2014/main" id="{D4D8FA08-88A1-46F5-B981-A481636677BC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978150"/>
            <a:ext cx="2286000" cy="1187281"/>
            <a:chOff x="2895600" y="3390900"/>
            <a:chExt cx="2286000" cy="1187281"/>
          </a:xfrm>
          <a:solidFill>
            <a:srgbClr val="007FA3"/>
          </a:solidFill>
        </p:grpSpPr>
        <p:sp>
          <p:nvSpPr>
            <p:cNvPr id="8208" name="Cube 5">
              <a:extLst>
                <a:ext uri="{FF2B5EF4-FFF2-40B4-BE49-F238E27FC236}">
                  <a16:creationId xmlns:a16="http://schemas.microsoft.com/office/drawing/2014/main" id="{67D5EF5C-AFAE-4DFA-872B-8C7EACA1B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3390900"/>
              <a:ext cx="2286000" cy="1181100"/>
            </a:xfrm>
            <a:prstGeom prst="cube">
              <a:avLst>
                <a:gd name="adj" fmla="val 25000"/>
              </a:avLst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 b="0"/>
            </a:p>
          </p:txBody>
        </p:sp>
        <p:sp>
          <p:nvSpPr>
            <p:cNvPr id="8209" name="TextBox 8">
              <a:extLst>
                <a:ext uri="{FF2B5EF4-FFF2-40B4-BE49-F238E27FC236}">
                  <a16:creationId xmlns:a16="http://schemas.microsoft.com/office/drawing/2014/main" id="{08088E6D-C6A7-4D91-B88D-951F1668E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1" y="3701018"/>
              <a:ext cx="1649412" cy="877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700" b="0" dirty="0"/>
                <a:t>Database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700" b="0" dirty="0"/>
                <a:t>Management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700" b="0" dirty="0"/>
                <a:t>System</a:t>
              </a:r>
            </a:p>
          </p:txBody>
        </p:sp>
      </p:grpSp>
      <p:sp>
        <p:nvSpPr>
          <p:cNvPr id="8198" name="Arrow: Up-Down 13">
            <a:extLst>
              <a:ext uri="{FF2B5EF4-FFF2-40B4-BE49-F238E27FC236}">
                <a16:creationId xmlns:a16="http://schemas.microsoft.com/office/drawing/2014/main" id="{D374ED6A-2778-4DA9-A9BC-4C5A0362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514600"/>
            <a:ext cx="381000" cy="6858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007FA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grpSp>
        <p:nvGrpSpPr>
          <p:cNvPr id="8199" name="Group 12">
            <a:extLst>
              <a:ext uri="{FF2B5EF4-FFF2-40B4-BE49-F238E27FC236}">
                <a16:creationId xmlns:a16="http://schemas.microsoft.com/office/drawing/2014/main" id="{37E8616E-30D2-47A6-87E4-8CDA77550E80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676400"/>
            <a:ext cx="2286000" cy="914400"/>
            <a:chOff x="2895600" y="2057400"/>
            <a:chExt cx="2286000" cy="914400"/>
          </a:xfrm>
        </p:grpSpPr>
        <p:sp>
          <p:nvSpPr>
            <p:cNvPr id="8206" name="Cube 4">
              <a:extLst>
                <a:ext uri="{FF2B5EF4-FFF2-40B4-BE49-F238E27FC236}">
                  <a16:creationId xmlns:a16="http://schemas.microsoft.com/office/drawing/2014/main" id="{6B68EDE3-E510-4343-AF01-370A9611F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2057400"/>
              <a:ext cx="2286000" cy="914400"/>
            </a:xfrm>
            <a:prstGeom prst="cube">
              <a:avLst>
                <a:gd name="adj" fmla="val 25000"/>
              </a:avLst>
            </a:prstGeom>
            <a:solidFill>
              <a:srgbClr val="007FA3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 b="0"/>
            </a:p>
          </p:txBody>
        </p:sp>
        <p:sp>
          <p:nvSpPr>
            <p:cNvPr id="8207" name="TextBox 7">
              <a:extLst>
                <a:ext uri="{FF2B5EF4-FFF2-40B4-BE49-F238E27FC236}">
                  <a16:creationId xmlns:a16="http://schemas.microsoft.com/office/drawing/2014/main" id="{F8900450-4508-4FC4-B05A-25352787E6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2438400"/>
              <a:ext cx="20826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 dirty="0"/>
                <a:t>Python Application</a:t>
              </a:r>
            </a:p>
          </p:txBody>
        </p:sp>
      </p:grpSp>
      <p:sp>
        <p:nvSpPr>
          <p:cNvPr id="8200" name="Left Arrow 5">
            <a:extLst>
              <a:ext uri="{FF2B5EF4-FFF2-40B4-BE49-F238E27FC236}">
                <a16:creationId xmlns:a16="http://schemas.microsoft.com/office/drawing/2014/main" id="{EA6D9591-0BA0-45B4-A21D-C6F76A84BE7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28725" y="2676525"/>
            <a:ext cx="514350" cy="381000"/>
          </a:xfrm>
          <a:prstGeom prst="leftArrow">
            <a:avLst>
              <a:gd name="adj1" fmla="val 50000"/>
              <a:gd name="adj2" fmla="val 49988"/>
            </a:avLst>
          </a:prstGeom>
          <a:solidFill>
            <a:srgbClr val="007FA3"/>
          </a:solidFill>
          <a:ln w="9525" algn="ctr">
            <a:solidFill>
              <a:srgbClr val="007FA3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20CC05A4-3BDA-45FA-9BA2-FDD72DEB1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1619250"/>
            <a:ext cx="2895600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n-lt"/>
              </a:rPr>
              <a:t>The application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n-lt"/>
              </a:rPr>
              <a:t>sends a command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n-lt"/>
              </a:rPr>
              <a:t>to the DBMS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7FCA0541-2ACE-4C08-8AAE-49663A426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3143250"/>
            <a:ext cx="2895600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n-lt"/>
              </a:rPr>
              <a:t>The DBMS executes the command on the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DE3240-FE80-4FCB-8BF2-4EAA7B6C3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600200"/>
            <a:ext cx="2895600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n-lt"/>
              </a:rPr>
              <a:t>The application uses the result in its computation</a:t>
            </a:r>
          </a:p>
        </p:txBody>
      </p:sp>
      <p:sp>
        <p:nvSpPr>
          <p:cNvPr id="8204" name="Left Arrow 13">
            <a:extLst>
              <a:ext uri="{FF2B5EF4-FFF2-40B4-BE49-F238E27FC236}">
                <a16:creationId xmlns:a16="http://schemas.microsoft.com/office/drawing/2014/main" id="{4422B66D-AAA5-43A0-BF09-3C831804F7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43700" y="2754313"/>
            <a:ext cx="533400" cy="381000"/>
          </a:xfrm>
          <a:prstGeom prst="leftArrow">
            <a:avLst>
              <a:gd name="adj1" fmla="val 50000"/>
              <a:gd name="adj2" fmla="val 49998"/>
            </a:avLst>
          </a:prstGeom>
          <a:solidFill>
            <a:srgbClr val="007FA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02FD0A58-461B-4A75-9659-964080FF5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475" y="3273425"/>
            <a:ext cx="2895600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n-lt"/>
              </a:rPr>
              <a:t>The DBMS sends the result back to the application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DF31A8-712C-41C8-ACAA-30EC9A89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Management Systems</a:t>
            </a:r>
            <a:r>
              <a:rPr lang="en-AU" sz="2000" b="0" dirty="0"/>
              <a:t> (3 of 3)</a:t>
            </a:r>
            <a:endParaRPr lang="en-A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2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BA0FDD-16C0-4BC7-B3D0-4608066E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BDCDFF-B624-4E77-AE6D-441F66225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SQL stands for structured query language</a:t>
            </a:r>
          </a:p>
          <a:p>
            <a:pPr>
              <a:spcBef>
                <a:spcPts val="600"/>
              </a:spcBef>
            </a:pPr>
            <a:r>
              <a:rPr lang="en-US" dirty="0"/>
              <a:t>A standard language for working with database management systems</a:t>
            </a:r>
          </a:p>
          <a:p>
            <a:pPr>
              <a:spcBef>
                <a:spcPts val="600"/>
              </a:spcBef>
            </a:pPr>
            <a:r>
              <a:rPr lang="en-US" dirty="0"/>
              <a:t>Not used as a general programming language</a:t>
            </a:r>
          </a:p>
          <a:p>
            <a:pPr>
              <a:spcBef>
                <a:spcPts val="600"/>
              </a:spcBef>
            </a:pPr>
            <a:r>
              <a:rPr lang="en-US" dirty="0"/>
              <a:t>Consists of several key words, used to construct statements</a:t>
            </a:r>
          </a:p>
          <a:p>
            <a:pPr>
              <a:spcBef>
                <a:spcPts val="600"/>
              </a:spcBef>
            </a:pPr>
            <a:r>
              <a:rPr lang="en-US" dirty="0"/>
              <a:t>SQL statements are strings passed from the application to the DBMS using API method calls</a:t>
            </a:r>
          </a:p>
          <a:p>
            <a:pPr>
              <a:spcBef>
                <a:spcPts val="600"/>
              </a:spcBef>
            </a:pPr>
            <a:r>
              <a:rPr lang="en-US" dirty="0"/>
              <a:t>Serve as instructions for the DBMS to carry out operations on its data</a:t>
            </a:r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3">
            <a:extLst>
              <a:ext uri="{FF2B5EF4-FFF2-40B4-BE49-F238E27FC236}">
                <a16:creationId xmlns:a16="http://schemas.microsoft.com/office/drawing/2014/main" id="{74B68206-F0C3-4D41-AAC9-679173DBA3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In this class we use the SQLite database management system</a:t>
            </a:r>
          </a:p>
          <a:p>
            <a:pPr>
              <a:buFontTx/>
              <a:buChar char="•"/>
            </a:pPr>
            <a:r>
              <a:rPr lang="en-US" altLang="en-US" dirty="0"/>
              <a:t>It is easy to use</a:t>
            </a:r>
          </a:p>
          <a:p>
            <a:pPr>
              <a:buFontTx/>
              <a:buChar char="•"/>
            </a:pPr>
            <a:r>
              <a:rPr lang="en-US" altLang="en-US" dirty="0"/>
              <a:t>It is automatically installed with Python in a module named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</a:p>
          <a:p>
            <a:pPr>
              <a:buFontTx/>
              <a:buChar char="•"/>
            </a:pPr>
            <a:r>
              <a:rPr lang="en-US" altLang="en-US" dirty="0"/>
              <a:t>Use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 import </a:t>
            </a:r>
            <a:r>
              <a:rPr lang="en-US" altLang="en-US" dirty="0"/>
              <a:t>statement:</a:t>
            </a:r>
          </a:p>
        </p:txBody>
      </p:sp>
      <p:sp>
        <p:nvSpPr>
          <p:cNvPr id="10244" name="TextBox 1">
            <a:extLst>
              <a:ext uri="{FF2B5EF4-FFF2-40B4-BE49-F238E27FC236}">
                <a16:creationId xmlns:a16="http://schemas.microsoft.com/office/drawing/2014/main" id="{650BF445-2DFE-4DB6-88E9-941951F73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769094"/>
            <a:ext cx="31918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Courier New" panose="02070309020205020404" pitchFamily="49" charset="0"/>
                <a:cs typeface="Courier New" panose="02070309020205020404" pitchFamily="49" charset="0"/>
              </a:rPr>
              <a:t>import sqlite3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93CAA6-D44E-4C0A-8D3D-816C7490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CF2BC65F-2872-4BFD-9D60-D369B30E7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Tables, Rows, and Columns</a:t>
            </a:r>
            <a:r>
              <a:rPr lang="en-AU" sz="2000" b="0" dirty="0"/>
              <a:t> (1 of 3)</a:t>
            </a:r>
            <a:endParaRPr lang="en-US" altLang="en-US" sz="2000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307792CB-5B09-4909-B2EB-330E7ABC58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Tx/>
              <a:buChar char="•"/>
            </a:pPr>
            <a:r>
              <a:rPr lang="en-US" altLang="en-US" dirty="0"/>
              <a:t>A database management system stores data in a </a:t>
            </a:r>
            <a:r>
              <a:rPr lang="en-US" altLang="en-US" i="1" dirty="0"/>
              <a:t>database</a:t>
            </a:r>
          </a:p>
          <a:p>
            <a:pPr>
              <a:spcBef>
                <a:spcPts val="600"/>
              </a:spcBef>
              <a:buFontTx/>
              <a:buChar char="•"/>
            </a:pPr>
            <a:r>
              <a:rPr lang="en-US" altLang="en-US" dirty="0"/>
              <a:t>A database is organized into one or more </a:t>
            </a:r>
            <a:r>
              <a:rPr lang="en-US" altLang="en-US" i="1" dirty="0"/>
              <a:t>tables</a:t>
            </a:r>
          </a:p>
          <a:p>
            <a:pPr>
              <a:spcBef>
                <a:spcPts val="600"/>
              </a:spcBef>
              <a:buFontTx/>
              <a:buChar char="•"/>
            </a:pPr>
            <a:r>
              <a:rPr lang="en-US" altLang="en-US" dirty="0"/>
              <a:t>Each table holds a collection of related data, organized into </a:t>
            </a:r>
            <a:r>
              <a:rPr lang="en-US" altLang="en-US" i="1" dirty="0"/>
              <a:t>rows</a:t>
            </a:r>
            <a:r>
              <a:rPr lang="en-US" altLang="en-US" dirty="0"/>
              <a:t> and </a:t>
            </a:r>
            <a:r>
              <a:rPr lang="en-US" altLang="en-US" i="1" dirty="0"/>
              <a:t>columns</a:t>
            </a:r>
          </a:p>
          <a:p>
            <a:pPr>
              <a:spcBef>
                <a:spcPts val="600"/>
              </a:spcBef>
              <a:buFontTx/>
              <a:buChar char="•"/>
            </a:pPr>
            <a:r>
              <a:rPr lang="en-US" altLang="en-US" dirty="0"/>
              <a:t>A row is a complete set of data about a single item, divided into columns</a:t>
            </a:r>
          </a:p>
          <a:p>
            <a:pPr>
              <a:spcBef>
                <a:spcPts val="600"/>
              </a:spcBef>
              <a:buFontTx/>
              <a:buChar char="•"/>
            </a:pPr>
            <a:r>
              <a:rPr lang="en-US" altLang="en-US" dirty="0"/>
              <a:t>Each column is an individual piece of data about the item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415DD495-58CD-478B-AB2B-25EB6C270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Tables, Rows, and Columns</a:t>
            </a:r>
            <a:r>
              <a:rPr lang="en-AU" sz="2000" b="0" dirty="0"/>
              <a:t> (2 of 3)</a:t>
            </a:r>
            <a:endParaRPr lang="en-US" altLang="en-US" sz="2000" dirty="0"/>
          </a:p>
        </p:txBody>
      </p:sp>
      <p:grpSp>
        <p:nvGrpSpPr>
          <p:cNvPr id="12291" name="Group 39">
            <a:extLst>
              <a:ext uri="{FF2B5EF4-FFF2-40B4-BE49-F238E27FC236}">
                <a16:creationId xmlns:a16="http://schemas.microsoft.com/office/drawing/2014/main" id="{BE387402-64B0-4AB8-8220-12DF996CE6A7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057400"/>
            <a:ext cx="5170488" cy="2105025"/>
            <a:chOff x="1001114" y="1742851"/>
            <a:chExt cx="5171086" cy="2105249"/>
          </a:xfrm>
        </p:grpSpPr>
        <p:grpSp>
          <p:nvGrpSpPr>
            <p:cNvPr id="12292" name="Group 18">
              <a:extLst>
                <a:ext uri="{FF2B5EF4-FFF2-40B4-BE49-F238E27FC236}">
                  <a16:creationId xmlns:a16="http://schemas.microsoft.com/office/drawing/2014/main" id="{6E4CFB33-8296-4394-82C6-18CE63615B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7400" y="2400300"/>
              <a:ext cx="4114800" cy="1447800"/>
              <a:chOff x="1447800" y="1981200"/>
              <a:chExt cx="3200400" cy="1143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8FDE29F-343A-4D39-BA78-8D2D44E57CD0}"/>
                  </a:ext>
                </a:extLst>
              </p:cNvPr>
              <p:cNvSpPr/>
              <p:nvPr/>
            </p:nvSpPr>
            <p:spPr bwMode="auto">
              <a:xfrm>
                <a:off x="1447430" y="1981078"/>
                <a:ext cx="3200770" cy="1143122"/>
              </a:xfrm>
              <a:prstGeom prst="rect">
                <a:avLst/>
              </a:prstGeom>
              <a:solidFill>
                <a:srgbClr val="007FA3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en-US"/>
              </a:p>
            </p:txBody>
          </p:sp>
          <p:cxnSp>
            <p:nvCxnSpPr>
              <p:cNvPr id="12312" name="Straight Connector 10">
                <a:extLst>
                  <a:ext uri="{FF2B5EF4-FFF2-40B4-BE49-F238E27FC236}">
                    <a16:creationId xmlns:a16="http://schemas.microsoft.com/office/drawing/2014/main" id="{075C5064-F326-4F18-A338-AD2A458C7C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447800" y="2209800"/>
                <a:ext cx="32004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313" name="Straight Connector 11">
                <a:extLst>
                  <a:ext uri="{FF2B5EF4-FFF2-40B4-BE49-F238E27FC236}">
                    <a16:creationId xmlns:a16="http://schemas.microsoft.com/office/drawing/2014/main" id="{60083BA8-DBC0-48FA-B9E0-6DBDD877C0E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447800" y="2438400"/>
                <a:ext cx="32004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314" name="Straight Connector 12">
                <a:extLst>
                  <a:ext uri="{FF2B5EF4-FFF2-40B4-BE49-F238E27FC236}">
                    <a16:creationId xmlns:a16="http://schemas.microsoft.com/office/drawing/2014/main" id="{65CA8D84-45DA-44BF-90EA-1CD856967B5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447800" y="2667000"/>
                <a:ext cx="32004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315" name="Straight Connector 13">
                <a:extLst>
                  <a:ext uri="{FF2B5EF4-FFF2-40B4-BE49-F238E27FC236}">
                    <a16:creationId xmlns:a16="http://schemas.microsoft.com/office/drawing/2014/main" id="{4F23BAE6-9ACC-4B83-A943-6A861F18BB7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447800" y="2895600"/>
                <a:ext cx="32004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316" name="Straight Connector 15">
                <a:extLst>
                  <a:ext uri="{FF2B5EF4-FFF2-40B4-BE49-F238E27FC236}">
                    <a16:creationId xmlns:a16="http://schemas.microsoft.com/office/drawing/2014/main" id="{D8B3D7D9-A7D4-4E67-B387-BEDCD3C5E73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86000" y="1981200"/>
                <a:ext cx="0" cy="114300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317" name="Straight Connector 16">
                <a:extLst>
                  <a:ext uri="{FF2B5EF4-FFF2-40B4-BE49-F238E27FC236}">
                    <a16:creationId xmlns:a16="http://schemas.microsoft.com/office/drawing/2014/main" id="{67AD5DCA-B318-4AE2-8C59-555AE89147C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971800" y="1981200"/>
                <a:ext cx="0" cy="114300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318" name="Straight Connector 17">
                <a:extLst>
                  <a:ext uri="{FF2B5EF4-FFF2-40B4-BE49-F238E27FC236}">
                    <a16:creationId xmlns:a16="http://schemas.microsoft.com/office/drawing/2014/main" id="{D936461B-A6D5-4969-8B55-021B654BB9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733800" y="1981200"/>
                <a:ext cx="0" cy="114300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2293" name="TextBox 19">
              <a:extLst>
                <a:ext uri="{FF2B5EF4-FFF2-40B4-BE49-F238E27FC236}">
                  <a16:creationId xmlns:a16="http://schemas.microsoft.com/office/drawing/2014/main" id="{3F01FD3A-CDA5-45DA-BF26-DE0AA2204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114" y="2361441"/>
              <a:ext cx="5934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/>
                <a:t>Row</a:t>
              </a:r>
            </a:p>
          </p:txBody>
        </p:sp>
        <p:cxnSp>
          <p:nvCxnSpPr>
            <p:cNvPr id="12294" name="Straight Arrow Connector 21">
              <a:extLst>
                <a:ext uri="{FF2B5EF4-FFF2-40B4-BE49-F238E27FC236}">
                  <a16:creationId xmlns:a16="http://schemas.microsoft.com/office/drawing/2014/main" id="{B4A853FC-F564-405A-983F-055247576B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67543" y="2555288"/>
              <a:ext cx="489857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295" name="TextBox 22">
              <a:extLst>
                <a:ext uri="{FF2B5EF4-FFF2-40B4-BE49-F238E27FC236}">
                  <a16:creationId xmlns:a16="http://schemas.microsoft.com/office/drawing/2014/main" id="{835651BD-EAB3-438B-A98E-03080C221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190" y="2647696"/>
              <a:ext cx="5934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/>
                <a:t>Row</a:t>
              </a:r>
            </a:p>
          </p:txBody>
        </p:sp>
        <p:cxnSp>
          <p:nvCxnSpPr>
            <p:cNvPr id="12296" name="Straight Arrow Connector 23">
              <a:extLst>
                <a:ext uri="{FF2B5EF4-FFF2-40B4-BE49-F238E27FC236}">
                  <a16:creationId xmlns:a16="http://schemas.microsoft.com/office/drawing/2014/main" id="{6580FF8A-9F97-4514-8BCC-27AAEA5026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72619" y="2841543"/>
              <a:ext cx="489857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297" name="TextBox 24">
              <a:extLst>
                <a:ext uri="{FF2B5EF4-FFF2-40B4-BE49-F238E27FC236}">
                  <a16:creationId xmlns:a16="http://schemas.microsoft.com/office/drawing/2014/main" id="{04BE8E8B-A6C6-4E81-8750-FA33C0C52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7854" y="2933951"/>
              <a:ext cx="5934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/>
                <a:t>Row</a:t>
              </a:r>
            </a:p>
          </p:txBody>
        </p:sp>
        <p:cxnSp>
          <p:nvCxnSpPr>
            <p:cNvPr id="12298" name="Straight Arrow Connector 25">
              <a:extLst>
                <a:ext uri="{FF2B5EF4-FFF2-40B4-BE49-F238E27FC236}">
                  <a16:creationId xmlns:a16="http://schemas.microsoft.com/office/drawing/2014/main" id="{9ECBB513-2238-4B82-B4F5-C4A0B0F80C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74283" y="3127798"/>
              <a:ext cx="489857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299" name="TextBox 26">
              <a:extLst>
                <a:ext uri="{FF2B5EF4-FFF2-40B4-BE49-F238E27FC236}">
                  <a16:creationId xmlns:a16="http://schemas.microsoft.com/office/drawing/2014/main" id="{A18FDED9-1CF4-4045-A82E-1F51748A2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518" y="3220565"/>
              <a:ext cx="5934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/>
                <a:t>Row</a:t>
              </a:r>
            </a:p>
          </p:txBody>
        </p:sp>
        <p:cxnSp>
          <p:nvCxnSpPr>
            <p:cNvPr id="12300" name="Straight Arrow Connector 27">
              <a:extLst>
                <a:ext uri="{FF2B5EF4-FFF2-40B4-BE49-F238E27FC236}">
                  <a16:creationId xmlns:a16="http://schemas.microsoft.com/office/drawing/2014/main" id="{668FE356-B920-4D0D-9894-45F7B936A8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75947" y="3414412"/>
              <a:ext cx="489857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1" name="TextBox 28">
              <a:extLst>
                <a:ext uri="{FF2B5EF4-FFF2-40B4-BE49-F238E27FC236}">
                  <a16:creationId xmlns:a16="http://schemas.microsoft.com/office/drawing/2014/main" id="{A7EF0CCF-0940-4C79-801F-AB87136AA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114" y="3507179"/>
              <a:ext cx="5934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/>
                <a:t>Row</a:t>
              </a:r>
            </a:p>
          </p:txBody>
        </p:sp>
        <p:cxnSp>
          <p:nvCxnSpPr>
            <p:cNvPr id="12302" name="Straight Arrow Connector 29">
              <a:extLst>
                <a:ext uri="{FF2B5EF4-FFF2-40B4-BE49-F238E27FC236}">
                  <a16:creationId xmlns:a16="http://schemas.microsoft.com/office/drawing/2014/main" id="{9F9A3F55-E0F7-44F3-ACBD-7C69B01D0B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67543" y="3701026"/>
              <a:ext cx="489857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3" name="Straight Arrow Connector 30">
              <a:extLst>
                <a:ext uri="{FF2B5EF4-FFF2-40B4-BE49-F238E27FC236}">
                  <a16:creationId xmlns:a16="http://schemas.microsoft.com/office/drawing/2014/main" id="{2C4D65EF-57B3-4473-815F-FC16B02E46A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0800" y="2019300"/>
              <a:ext cx="0" cy="38100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4" name="TextBox 32">
              <a:extLst>
                <a:ext uri="{FF2B5EF4-FFF2-40B4-BE49-F238E27FC236}">
                  <a16:creationId xmlns:a16="http://schemas.microsoft.com/office/drawing/2014/main" id="{3DF209B5-3C44-4F40-8BAB-D34E1BBEA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5806" y="1752600"/>
              <a:ext cx="88998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/>
                <a:t>Column</a:t>
              </a:r>
              <a:endParaRPr lang="en-US" altLang="en-US" sz="1800" b="0"/>
            </a:p>
          </p:txBody>
        </p:sp>
        <p:cxnSp>
          <p:nvCxnSpPr>
            <p:cNvPr id="12305" name="Straight Arrow Connector 33">
              <a:extLst>
                <a:ext uri="{FF2B5EF4-FFF2-40B4-BE49-F238E27FC236}">
                  <a16:creationId xmlns:a16="http://schemas.microsoft.com/office/drawing/2014/main" id="{46BB2CFE-FD10-4315-A8C8-A30893BAA76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61955" y="2009551"/>
              <a:ext cx="0" cy="38100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6" name="TextBox 34">
              <a:extLst>
                <a:ext uri="{FF2B5EF4-FFF2-40B4-BE49-F238E27FC236}">
                  <a16:creationId xmlns:a16="http://schemas.microsoft.com/office/drawing/2014/main" id="{2B6D5AE7-F2F8-40C8-AAF1-D4A8C10E8B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961" y="1742851"/>
              <a:ext cx="88998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/>
                <a:t>Column</a:t>
              </a:r>
              <a:endParaRPr lang="en-US" altLang="en-US" sz="1800" b="0"/>
            </a:p>
          </p:txBody>
        </p:sp>
        <p:cxnSp>
          <p:nvCxnSpPr>
            <p:cNvPr id="12307" name="Straight Arrow Connector 35">
              <a:extLst>
                <a:ext uri="{FF2B5EF4-FFF2-40B4-BE49-F238E27FC236}">
                  <a16:creationId xmlns:a16="http://schemas.microsoft.com/office/drawing/2014/main" id="{827978FB-1108-4940-BF9B-22D8D0A4C46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61823" y="2033395"/>
              <a:ext cx="0" cy="38100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8" name="TextBox 36">
              <a:extLst>
                <a:ext uri="{FF2B5EF4-FFF2-40B4-BE49-F238E27FC236}">
                  <a16:creationId xmlns:a16="http://schemas.microsoft.com/office/drawing/2014/main" id="{F66B91D5-879F-47AD-B767-CAF2A695C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6829" y="1766695"/>
              <a:ext cx="88998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/>
                <a:t>Column</a:t>
              </a:r>
              <a:endParaRPr lang="en-US" altLang="en-US" sz="1800" b="0"/>
            </a:p>
          </p:txBody>
        </p:sp>
        <p:cxnSp>
          <p:nvCxnSpPr>
            <p:cNvPr id="12309" name="Straight Arrow Connector 37">
              <a:extLst>
                <a:ext uri="{FF2B5EF4-FFF2-40B4-BE49-F238E27FC236}">
                  <a16:creationId xmlns:a16="http://schemas.microsoft.com/office/drawing/2014/main" id="{423D5B49-C564-483C-9267-9503BE04A96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81999" y="2019300"/>
              <a:ext cx="0" cy="38100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10" name="TextBox 38">
              <a:extLst>
                <a:ext uri="{FF2B5EF4-FFF2-40B4-BE49-F238E27FC236}">
                  <a16:creationId xmlns:a16="http://schemas.microsoft.com/office/drawing/2014/main" id="{A67678DE-A27B-405A-BEA4-4EA83143E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7005" y="1752600"/>
              <a:ext cx="88998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/>
                <a:t>Column</a:t>
              </a:r>
              <a:endParaRPr lang="en-US" altLang="en-US" sz="1800" b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C20E10C-9E5B-4F6E-9619-A74181A4C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Tables, Rows, and Columns</a:t>
            </a:r>
            <a:r>
              <a:rPr lang="en-AU" sz="2000" b="0" dirty="0"/>
              <a:t> (3 of 3)</a:t>
            </a:r>
            <a:endParaRPr lang="en-US" altLang="en-US" sz="2000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E662468-1DCA-44BD-B7FE-0B6871869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355039"/>
              </p:ext>
            </p:extLst>
          </p:nvPr>
        </p:nvGraphicFramePr>
        <p:xfrm>
          <a:off x="3810000" y="2286000"/>
          <a:ext cx="4419600" cy="2468880"/>
        </p:xfrm>
        <a:graphic>
          <a:graphicData uri="http://schemas.openxmlformats.org/drawingml/2006/table">
            <a:tbl>
              <a:tblPr firstRow="1" firstCol="1" bandRow="1"/>
              <a:tblGrid>
                <a:gridCol w="241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Katie Allen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555-1234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Jill Ammons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555-5678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Kevin Brown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555-9012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Elisa Garcia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555-3456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Jeff Jenkins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555-7890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Leo Killian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555-1122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Marcia Potemkin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555-3344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2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Kelsey Rose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555-5566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3347" name="Straight Arrow Connector 40">
            <a:extLst>
              <a:ext uri="{FF2B5EF4-FFF2-40B4-BE49-F238E27FC236}">
                <a16:creationId xmlns:a16="http://schemas.microsoft.com/office/drawing/2014/main" id="{772784F5-6CB4-4890-BB67-24E37F463D8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76600" y="3241675"/>
            <a:ext cx="457200" cy="0"/>
          </a:xfrm>
          <a:prstGeom prst="straightConnector1">
            <a:avLst/>
          </a:prstGeom>
          <a:noFill/>
          <a:ln w="38100" algn="ctr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2CDFFE0-3EB3-49CF-A5EE-2383F5876E36}"/>
              </a:ext>
            </a:extLst>
          </p:cNvPr>
          <p:cNvSpPr txBox="1"/>
          <p:nvPr/>
        </p:nvSpPr>
        <p:spPr>
          <a:xfrm>
            <a:off x="1066800" y="2640013"/>
            <a:ext cx="25146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This row contains data about one person:</a:t>
            </a:r>
          </a:p>
          <a:p>
            <a:pPr>
              <a:defRPr/>
            </a:pPr>
            <a:r>
              <a:rPr lang="en-US" dirty="0"/>
              <a:t>Name: Kevin Brown</a:t>
            </a:r>
          </a:p>
          <a:p>
            <a:pPr>
              <a:defRPr/>
            </a:pPr>
            <a:r>
              <a:rPr lang="en-US" dirty="0"/>
              <a:t>Phone: 555-9012</a:t>
            </a:r>
          </a:p>
        </p:txBody>
      </p:sp>
      <p:sp>
        <p:nvSpPr>
          <p:cNvPr id="13349" name="Rectangle 42">
            <a:extLst>
              <a:ext uri="{FF2B5EF4-FFF2-40B4-BE49-F238E27FC236}">
                <a16:creationId xmlns:a16="http://schemas.microsoft.com/office/drawing/2014/main" id="{1C3337BB-3AB9-4541-8046-41D900B9D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124200"/>
            <a:ext cx="4419600" cy="228600"/>
          </a:xfrm>
          <a:prstGeom prst="rect">
            <a:avLst/>
          </a:prstGeom>
          <a:noFill/>
          <a:ln w="31750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6EC33B9-24A7-4BAE-9245-1A3431EFC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Column Data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80ACC6-EAA6-44E1-9329-0F4B7D78C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452389"/>
              </p:ext>
            </p:extLst>
          </p:nvPr>
        </p:nvGraphicFramePr>
        <p:xfrm>
          <a:off x="914400" y="2209800"/>
          <a:ext cx="7391400" cy="1820870"/>
        </p:xfrm>
        <a:graphic>
          <a:graphicData uri="http://schemas.openxmlformats.org/drawingml/2006/table">
            <a:tbl>
              <a:tblPr firstRow="1" firstCol="1" bandRow="1"/>
              <a:tblGrid>
                <a:gridCol w="1917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4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7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SQLite Data Type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Corresponding Python Data Type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63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NULL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SabonLTPro-Roman"/>
                          <a:cs typeface="Times New Roman" panose="02020603050405020304" pitchFamily="18" charset="0"/>
                        </a:rPr>
                        <a:t>Unknown value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None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63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INTEGER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SabonLTPro-Roman"/>
                          <a:cs typeface="Times New Roman" panose="02020603050405020304" pitchFamily="18" charset="0"/>
                        </a:rPr>
                        <a:t>Integer number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int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63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REAL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SabonLTPro-Roman"/>
                          <a:cs typeface="Times New Roman" panose="02020603050405020304" pitchFamily="18" charset="0"/>
                        </a:rPr>
                        <a:t>Real number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float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63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TEXT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SabonLTPro-Roman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str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63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BLOB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SabonLTPro-Roman"/>
                          <a:cs typeface="Times New Roman" panose="02020603050405020304" pitchFamily="18" charset="0"/>
                        </a:rPr>
                        <a:t>Binary Large Object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SabonLTPro-Roman"/>
                          <a:cs typeface="Times New Roman" panose="02020603050405020304" pitchFamily="18" charset="0"/>
                        </a:rPr>
                        <a:t>Can be any object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7580C3C-1C1C-4F15-9A19-B36681C29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Primary Keys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B322B60C-2E61-4B33-B513-88BDF8BD55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Tx/>
              <a:buChar char="•"/>
            </a:pPr>
            <a:r>
              <a:rPr lang="en-US" altLang="en-US" dirty="0"/>
              <a:t>A </a:t>
            </a:r>
            <a:r>
              <a:rPr lang="en-US" altLang="en-US" i="1" dirty="0"/>
              <a:t>primary key</a:t>
            </a:r>
            <a:r>
              <a:rPr lang="en-US" altLang="en-US" dirty="0"/>
              <a:t> is a column that holds a unique value for each row in a database table</a:t>
            </a:r>
          </a:p>
          <a:p>
            <a:pPr>
              <a:spcBef>
                <a:spcPts val="600"/>
              </a:spcBef>
              <a:buFontTx/>
              <a:buChar char="•"/>
            </a:pPr>
            <a:r>
              <a:rPr lang="en-US" altLang="en-US" dirty="0"/>
              <a:t>The primary key is used to identify a specific row</a:t>
            </a:r>
          </a:p>
          <a:p>
            <a:pPr>
              <a:spcBef>
                <a:spcPts val="600"/>
              </a:spcBef>
              <a:buFontTx/>
              <a:buChar char="•"/>
            </a:pPr>
            <a:r>
              <a:rPr lang="en-US" altLang="en-US" dirty="0"/>
              <a:t>Example:</a:t>
            </a:r>
          </a:p>
          <a:p>
            <a:pPr lvl="1"/>
            <a:r>
              <a:rPr lang="en-US" altLang="en-US" dirty="0"/>
              <a:t>A table stores employee data, and one of the columns holds employee ID numbers</a:t>
            </a:r>
          </a:p>
          <a:p>
            <a:pPr lvl="1"/>
            <a:r>
              <a:rPr lang="en-US" altLang="en-US" dirty="0"/>
              <a:t>Because each employee’s ID number is unique, this column can be used as the primary key</a:t>
            </a:r>
            <a:endParaRPr lang="en-US" altLang="en-US" sz="2000" dirty="0"/>
          </a:p>
          <a:p>
            <a:pPr>
              <a:buFontTx/>
              <a:buChar char="•"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982F3967-1BA2-4547-8466-81EEEE3A6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An identity column is a column that contains unique values that are generated by the DBMS</a:t>
            </a:r>
          </a:p>
          <a:p>
            <a:pPr>
              <a:buFontTx/>
              <a:buChar char="•"/>
            </a:pPr>
            <a:r>
              <a:rPr lang="en-US" altLang="en-US" dirty="0"/>
              <a:t>Identity columns typically contain integers that are autoincremented</a:t>
            </a:r>
          </a:p>
          <a:p>
            <a:pPr>
              <a:buFontTx/>
              <a:buChar char="•"/>
            </a:pPr>
            <a:r>
              <a:rPr lang="en-US" altLang="en-US" dirty="0"/>
              <a:t>When a table does not have a column that contains unique values, an identity column can be created and used as the primary key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8D74AA-6265-48D7-AF9B-8B510A9C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Identity Columns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116721-0682-48AC-8EE1-708B4D3A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Null Values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613CA0-9631-4864-B78B-B487E8FC4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column contains no data, it is said to be null</a:t>
            </a:r>
          </a:p>
          <a:p>
            <a:r>
              <a:rPr lang="en-US" dirty="0"/>
              <a:t>Sometimes this is OK</a:t>
            </a:r>
          </a:p>
          <a:p>
            <a:r>
              <a:rPr lang="en-US" dirty="0"/>
              <a:t>However, a primary key can never be null</a:t>
            </a:r>
          </a:p>
          <a:p>
            <a:r>
              <a:rPr lang="en-US" dirty="0"/>
              <a:t>You can apply a constraint to a column to prevent it from being null</a:t>
            </a:r>
            <a:endParaRPr lang="en-A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A40BBAE9-C32C-4851-84F7-66AB2FC228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Typical process of using an SQLite database:</a:t>
            </a:r>
          </a:p>
        </p:txBody>
      </p:sp>
      <p:sp>
        <p:nvSpPr>
          <p:cNvPr id="18436" name="TextBox 3">
            <a:extLst>
              <a:ext uri="{FF2B5EF4-FFF2-40B4-BE49-F238E27FC236}">
                <a16:creationId xmlns:a16="http://schemas.microsoft.com/office/drawing/2014/main" id="{68215EAA-F84A-4C4E-A5B9-52E3047D6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971800"/>
            <a:ext cx="55626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en-US" sz="2400" b="0" i="1" dirty="0"/>
              <a:t>Connect to the database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400" b="0" i="1" dirty="0"/>
              <a:t>Get a cursor for the database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400" b="0" i="1" dirty="0"/>
              <a:t>Perform operations on the database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400" b="0" i="1" dirty="0"/>
              <a:t>Commit changes to the database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400" b="0" i="1" dirty="0"/>
              <a:t>Close the connection to the database</a:t>
            </a:r>
            <a:endParaRPr lang="en-US" altLang="en-US" sz="2400" b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2DB947-50C5-4016-817C-D80FEEC1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Connections</a:t>
            </a:r>
            <a:r>
              <a:rPr lang="en-AU" sz="2000" b="0" dirty="0"/>
              <a:t> (1 of 2)</a:t>
            </a:r>
            <a:endParaRPr lang="en-AU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2">
            <a:extLst>
              <a:ext uri="{FF2B5EF4-FFF2-40B4-BE49-F238E27FC236}">
                <a16:creationId xmlns:a16="http://schemas.microsoft.com/office/drawing/2014/main" id="{3C7F828D-5FDF-4955-96B6-28D16E872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820862"/>
            <a:ext cx="8458200" cy="424731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 sqlite3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def main():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4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 = sqlite3.connect('</a:t>
            </a:r>
            <a:r>
              <a:rPr lang="en-US" altLang="en-US" sz="1800" b="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contacts.db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')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 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 = </a:t>
            </a:r>
            <a:r>
              <a:rPr lang="en-US" altLang="en-US" sz="1800" b="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conn.cursor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7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 </a:t>
            </a:r>
            <a:r>
              <a:rPr lang="en-US" altLang="en-US" sz="1800" b="0" i="1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Insert code here to perform operations on the 		database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9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800" b="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conn.commit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800" b="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conn.close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12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 Execute the main function.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14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__name__ == '__main__':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15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main()</a:t>
            </a:r>
            <a:endParaRPr lang="en-US" altLang="en-US" sz="18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1172CB-5E61-4CBA-81B2-E5869C1718D2}"/>
              </a:ext>
            </a:extLst>
          </p:cNvPr>
          <p:cNvSpPr txBox="1"/>
          <p:nvPr/>
        </p:nvSpPr>
        <p:spPr>
          <a:xfrm>
            <a:off x="5715000" y="1868455"/>
            <a:ext cx="3124200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400" dirty="0">
                <a:solidFill>
                  <a:srgbClr val="000000"/>
                </a:solidFill>
              </a:rPr>
              <a:t>The 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</a:t>
            </a:r>
            <a:r>
              <a:rPr lang="en-US" sz="1400" dirty="0">
                <a:solidFill>
                  <a:srgbClr val="000000"/>
                </a:solidFill>
              </a:rPr>
              <a:t> method returns a 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sz="1400" dirty="0">
                <a:solidFill>
                  <a:srgbClr val="000000"/>
                </a:solidFill>
              </a:rPr>
              <a:t> object for the database.</a:t>
            </a:r>
          </a:p>
        </p:txBody>
      </p:sp>
      <p:cxnSp>
        <p:nvCxnSpPr>
          <p:cNvPr id="19461" name="Straight Connector 10">
            <a:extLst>
              <a:ext uri="{FF2B5EF4-FFF2-40B4-BE49-F238E27FC236}">
                <a16:creationId xmlns:a16="http://schemas.microsoft.com/office/drawing/2014/main" id="{50C55869-F1F8-4B92-B6C6-A38800042BEB}"/>
              </a:ext>
            </a:extLst>
          </p:cNvPr>
          <p:cNvCxnSpPr>
            <a:cxnSpLocks/>
          </p:cNvCxnSpPr>
          <p:nvPr/>
        </p:nvCxnSpPr>
        <p:spPr bwMode="auto">
          <a:xfrm flipH="1">
            <a:off x="3917706" y="1930400"/>
            <a:ext cx="1797294" cy="71872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901E1E-9BB4-4A27-9795-488C0A17AC92}"/>
              </a:ext>
            </a:extLst>
          </p:cNvPr>
          <p:cNvSpPr txBox="1"/>
          <p:nvPr/>
        </p:nvSpPr>
        <p:spPr>
          <a:xfrm>
            <a:off x="6629400" y="2881241"/>
            <a:ext cx="2133600" cy="523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400" dirty="0">
                <a:solidFill>
                  <a:srgbClr val="000000"/>
                </a:solidFill>
              </a:rPr>
              <a:t>If the database does not exist, it will be created.</a:t>
            </a:r>
          </a:p>
        </p:txBody>
      </p:sp>
      <p:cxnSp>
        <p:nvCxnSpPr>
          <p:cNvPr id="19463" name="Straight Connector 14">
            <a:extLst>
              <a:ext uri="{FF2B5EF4-FFF2-40B4-BE49-F238E27FC236}">
                <a16:creationId xmlns:a16="http://schemas.microsoft.com/office/drawing/2014/main" id="{06B68C3B-64FC-4AAA-A155-2D5C715A6B6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038850" y="3174928"/>
            <a:ext cx="533400" cy="152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BF9F643-A583-4573-9AAA-558AD7AD295E}"/>
              </a:ext>
            </a:extLst>
          </p:cNvPr>
          <p:cNvSpPr txBox="1"/>
          <p:nvPr/>
        </p:nvSpPr>
        <p:spPr>
          <a:xfrm>
            <a:off x="5527431" y="4328319"/>
            <a:ext cx="3124200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400" dirty="0">
                <a:solidFill>
                  <a:srgbClr val="000000"/>
                </a:solidFill>
              </a:rPr>
              <a:t>The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</a:t>
            </a:r>
            <a:r>
              <a:rPr lang="en-US" sz="1400" dirty="0">
                <a:solidFill>
                  <a:srgbClr val="000000"/>
                </a:solidFill>
              </a:rPr>
              <a:t> method saves changes to the database.</a:t>
            </a:r>
          </a:p>
        </p:txBody>
      </p:sp>
      <p:cxnSp>
        <p:nvCxnSpPr>
          <p:cNvPr id="19465" name="Straight Connector 16">
            <a:extLst>
              <a:ext uri="{FF2B5EF4-FFF2-40B4-BE49-F238E27FC236}">
                <a16:creationId xmlns:a16="http://schemas.microsoft.com/office/drawing/2014/main" id="{FC6109A1-CFD8-4944-B21C-0D6C9D32799A}"/>
              </a:ext>
            </a:extLst>
          </p:cNvPr>
          <p:cNvCxnSpPr>
            <a:cxnSpLocks/>
            <a:stCxn id="16" idx="1"/>
          </p:cNvCxnSpPr>
          <p:nvPr/>
        </p:nvCxnSpPr>
        <p:spPr bwMode="auto">
          <a:xfrm flipH="1">
            <a:off x="3993907" y="4605318"/>
            <a:ext cx="1533524" cy="1827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7F0ABB0-25A6-4BA2-A982-B2D820F79D2C}"/>
              </a:ext>
            </a:extLst>
          </p:cNvPr>
          <p:cNvSpPr txBox="1"/>
          <p:nvPr/>
        </p:nvSpPr>
        <p:spPr>
          <a:xfrm>
            <a:off x="5527431" y="4928394"/>
            <a:ext cx="3124200" cy="5222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400" dirty="0">
                <a:solidFill>
                  <a:srgbClr val="000000"/>
                </a:solidFill>
              </a:rPr>
              <a:t>The 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sz="1400" dirty="0">
                <a:solidFill>
                  <a:srgbClr val="000000"/>
                </a:solidFill>
              </a:rPr>
              <a:t> method closes the connection to the database.</a:t>
            </a:r>
          </a:p>
        </p:txBody>
      </p:sp>
      <p:cxnSp>
        <p:nvCxnSpPr>
          <p:cNvPr id="19467" name="Straight Connector 22">
            <a:extLst>
              <a:ext uri="{FF2B5EF4-FFF2-40B4-BE49-F238E27FC236}">
                <a16:creationId xmlns:a16="http://schemas.microsoft.com/office/drawing/2014/main" id="{E4A2637F-ECDD-42CD-9C31-D8C6E2E8075C}"/>
              </a:ext>
            </a:extLst>
          </p:cNvPr>
          <p:cNvCxnSpPr>
            <a:cxnSpLocks/>
            <a:stCxn id="21" idx="1"/>
          </p:cNvCxnSpPr>
          <p:nvPr/>
        </p:nvCxnSpPr>
        <p:spPr bwMode="auto">
          <a:xfrm flipH="1" flipV="1">
            <a:off x="3917706" y="4928394"/>
            <a:ext cx="1609725" cy="2603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81CE6539-F5D9-4E24-812A-1DEB4F00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Database Connections</a:t>
            </a:r>
            <a:r>
              <a:rPr lang="en-AU" sz="2000" b="0" dirty="0"/>
              <a:t> (2 of 2)</a:t>
            </a:r>
            <a:endParaRPr lang="en-AU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3B56D39-ECCD-4D3A-A7E8-FE264DDF4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Passing SQL Statements to the DBMS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E9F00BCA-653C-472E-A5A8-E2B7BB3A0B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6002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To execute an SQL statement on an SQLite database:</a:t>
            </a:r>
          </a:p>
          <a:p>
            <a:pPr lvl="1"/>
            <a:r>
              <a:rPr lang="en-US" altLang="en-US" sz="2400" dirty="0"/>
              <a:t>Construct a string that holds the SQL statement</a:t>
            </a:r>
          </a:p>
          <a:p>
            <a:pPr lvl="1"/>
            <a:r>
              <a:rPr lang="en-US" altLang="en-US" sz="2400" dirty="0"/>
              <a:t>Pass the string to the </a:t>
            </a:r>
            <a:r>
              <a:rPr lang="en-US" altLang="en-US" sz="2400" dirty="0">
                <a:latin typeface="Courier New" panose="02070309020205020404" pitchFamily="49" charset="0"/>
              </a:rPr>
              <a:t>Cursor</a:t>
            </a:r>
            <a:r>
              <a:rPr lang="en-US" altLang="en-US" sz="2400" dirty="0"/>
              <a:t> object’s </a:t>
            </a:r>
            <a:r>
              <a:rPr lang="en-US" altLang="en-US" sz="2400" dirty="0">
                <a:latin typeface="Courier New" panose="02070309020205020404" pitchFamily="49" charset="0"/>
              </a:rPr>
              <a:t>execute</a:t>
            </a:r>
            <a:r>
              <a:rPr lang="en-US" altLang="en-US" sz="2400" dirty="0"/>
              <a:t> method</a:t>
            </a:r>
          </a:p>
        </p:txBody>
      </p:sp>
      <p:sp>
        <p:nvSpPr>
          <p:cNvPr id="20484" name="TextBox 3">
            <a:extLst>
              <a:ext uri="{FF2B5EF4-FFF2-40B4-BE49-F238E27FC236}">
                <a16:creationId xmlns:a16="http://schemas.microsoft.com/office/drawing/2014/main" id="{3B044C55-2AAA-4996-96CC-C3C9EF6D3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487948"/>
            <a:ext cx="4240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</a:t>
            </a:r>
            <a:r>
              <a:rPr lang="en-US" altLang="en-US" sz="24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.execute</a:t>
            </a:r>
            <a:r>
              <a:rPr lang="en-US" altLang="en-US" sz="24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b="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SQLstring</a:t>
            </a:r>
            <a:r>
              <a:rPr lang="en-US" altLang="en-US" sz="24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9C4CE26A-829E-4CB1-8302-64EA8D8A5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a Table</a:t>
            </a:r>
            <a:r>
              <a:rPr lang="en-AU" sz="2000" b="0" dirty="0"/>
              <a:t> (1 of 5)</a:t>
            </a:r>
            <a:endParaRPr lang="en-US" altLang="en-US" sz="2000" dirty="0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6BD29CEF-DD48-4965-8B44-C02FE05DF8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To add a table, use the SQL statement </a:t>
            </a:r>
            <a:r>
              <a:rPr lang="en-US" altLang="en-US" dirty="0">
                <a:latin typeface="Courier New" panose="02070309020205020404" pitchFamily="49" charset="0"/>
              </a:rPr>
              <a:t>CREATE TABLE</a:t>
            </a:r>
            <a:endParaRPr lang="en-US" altLang="en-US" dirty="0"/>
          </a:p>
          <a:p>
            <a:pPr lvl="1"/>
            <a:r>
              <a:rPr lang="en-US" altLang="en-US" sz="2400" dirty="0"/>
              <a:t>General Format: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r>
              <a:rPr lang="en-US" altLang="en-US" sz="2400" dirty="0"/>
              <a:t>Example: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21508" name="TextBox 3">
            <a:extLst>
              <a:ext uri="{FF2B5EF4-FFF2-40B4-BE49-F238E27FC236}">
                <a16:creationId xmlns:a16="http://schemas.microsoft.com/office/drawing/2014/main" id="{46FB3603-07B4-4C1C-B4E7-2E5D0808A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52" y="2796756"/>
            <a:ext cx="7749948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altLang="en-US" sz="1800" b="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ColumnName1 DataType1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ColumnName2 DataType2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...)</a:t>
            </a:r>
          </a:p>
        </p:txBody>
      </p:sp>
      <p:sp>
        <p:nvSpPr>
          <p:cNvPr id="21509" name="TextBox 4">
            <a:extLst>
              <a:ext uri="{FF2B5EF4-FFF2-40B4-BE49-F238E27FC236}">
                <a16:creationId xmlns:a16="http://schemas.microsoft.com/office/drawing/2014/main" id="{9896E6CE-F8F8-4FF2-85F9-894BF4FC7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652" y="4724400"/>
            <a:ext cx="716280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Inventory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TEXT, Price REAL)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2ABD4FD6-9D85-4C34-B2B4-07BD0FDD7E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To designate a column as the primary key, use the </a:t>
            </a:r>
            <a:r>
              <a:rPr lang="en-US" altLang="en-US" dirty="0">
                <a:latin typeface="Courier New" panose="02070309020205020404" pitchFamily="49" charset="0"/>
              </a:rPr>
              <a:t>PRIMARY KEY</a:t>
            </a:r>
            <a:r>
              <a:rPr lang="en-US" altLang="en-US" dirty="0"/>
              <a:t> constraint after the column's data type</a:t>
            </a:r>
          </a:p>
          <a:p>
            <a:pPr lvl="1"/>
            <a:r>
              <a:rPr lang="en-US" altLang="en-US" sz="2400" dirty="0"/>
              <a:t>Example: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22532" name="TextBox 4">
            <a:extLst>
              <a:ext uri="{FF2B5EF4-FFF2-40B4-BE49-F238E27FC236}">
                <a16:creationId xmlns:a16="http://schemas.microsoft.com/office/drawing/2014/main" id="{2D295EC8-CF1F-4512-8A17-9B6B891ED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319079"/>
            <a:ext cx="7162800" cy="922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Inventory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ItemID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INTEGER PRIMARY KEY,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TEXT,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Price REAL)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E239E-0FF7-45E8-8776-4641E0D57A1D}"/>
              </a:ext>
            </a:extLst>
          </p:cNvPr>
          <p:cNvSpPr txBox="1"/>
          <p:nvPr/>
        </p:nvSpPr>
        <p:spPr>
          <a:xfrm>
            <a:off x="1600200" y="5116511"/>
            <a:ext cx="5867400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rgbClr val="000000"/>
                </a:solidFill>
              </a:rPr>
              <a:t>In SQLite, any column that is an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 PRIMARY KEY</a:t>
            </a:r>
            <a:r>
              <a:rPr lang="en-US" sz="1600" dirty="0">
                <a:solidFill>
                  <a:srgbClr val="000000"/>
                </a:solidFill>
              </a:rPr>
              <a:t> automatically becomes an autoincremented identity column.</a:t>
            </a:r>
          </a:p>
        </p:txBody>
      </p:sp>
      <p:cxnSp>
        <p:nvCxnSpPr>
          <p:cNvPr id="22534" name="Straight Arrow Connector 7">
            <a:extLst>
              <a:ext uri="{FF2B5EF4-FFF2-40B4-BE49-F238E27FC236}">
                <a16:creationId xmlns:a16="http://schemas.microsoft.com/office/drawing/2014/main" id="{958519FF-4497-4554-AA1A-8671C20367C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172200" y="3810000"/>
            <a:ext cx="990600" cy="1306511"/>
          </a:xfrm>
          <a:prstGeom prst="straightConnector1">
            <a:avLst/>
          </a:prstGeom>
          <a:noFill/>
          <a:ln w="9525" algn="ctr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C1B8E364-F0C5-4467-BC82-FEF58F1E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Creating a Table</a:t>
            </a:r>
            <a:r>
              <a:rPr lang="en-AU" sz="2000" b="0" dirty="0"/>
              <a:t> (2 of 5)</a:t>
            </a:r>
            <a:endParaRPr lang="en-AU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3BBF9C7B-6AAC-423C-A2B2-CE5C6A801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a Table</a:t>
            </a:r>
            <a:r>
              <a:rPr lang="en-AU" sz="2000" b="0" dirty="0"/>
              <a:t> (3 of 5)</a:t>
            </a:r>
            <a:endParaRPr lang="en-US" altLang="en-US" sz="2000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793F173D-1E8A-4A25-B223-43511994BF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NOT NULL</a:t>
            </a:r>
            <a:r>
              <a:rPr lang="en-US" altLang="en-US" dirty="0"/>
              <a:t> constraint specifies that a column cannot be left empty:</a:t>
            </a:r>
          </a:p>
          <a:p>
            <a:pPr lvl="1"/>
            <a:r>
              <a:rPr lang="en-US" altLang="en-US" sz="2400" dirty="0"/>
              <a:t>Example: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23556" name="TextBox 4">
            <a:extLst>
              <a:ext uri="{FF2B5EF4-FFF2-40B4-BE49-F238E27FC236}">
                <a16:creationId xmlns:a16="http://schemas.microsoft.com/office/drawing/2014/main" id="{214F7A9A-4CD7-499D-AFE9-2FCE9B076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401218"/>
            <a:ext cx="8382000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Inventory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ItemID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INTEGER PRIMARY KEY NOT NULL,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TEXT,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Price REAL)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B6C091B1-0FF4-4AD8-8BEA-214023099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a Table</a:t>
            </a:r>
            <a:r>
              <a:rPr lang="en-AU" sz="2000" b="0" dirty="0"/>
              <a:t> (4 of 5)</a:t>
            </a:r>
            <a:endParaRPr lang="en-US" altLang="en-US" sz="2000" dirty="0"/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725440BC-23AF-4120-ACE3-4E85F4B19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05" y="1524000"/>
            <a:ext cx="8458200" cy="33239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 sqlite3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endParaRPr lang="en-US" altLang="en-US" sz="14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def main():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4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 = sqlite3.connect('</a:t>
            </a:r>
            <a:r>
              <a:rPr lang="en-US" altLang="en-US" sz="1400" b="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inventory.db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 = </a:t>
            </a:r>
            <a:r>
              <a:rPr lang="en-US" altLang="en-US" sz="1400" b="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conn.cursor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6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  </a:t>
            </a:r>
            <a:r>
              <a:rPr lang="en-US" altLang="en-US" sz="1400" b="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sql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'''CREATE TABLE Inventory (</a:t>
            </a:r>
            <a:r>
              <a:rPr lang="en-US" altLang="en-US" sz="1400" b="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ItemID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 PRIMARY KEY NOT NULL,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7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             </a:t>
            </a:r>
            <a:r>
              <a:rPr lang="en-US" altLang="en-US" sz="1400" b="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ItemName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TEXT,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8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                                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Price REAL)'''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9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  </a:t>
            </a:r>
            <a:r>
              <a:rPr lang="en-US" altLang="en-US" sz="1400" b="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cur.execute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1400" b="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sql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  </a:t>
            </a:r>
            <a:r>
              <a:rPr lang="en-US" altLang="en-US" sz="1400" b="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conn.commit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11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  </a:t>
            </a:r>
            <a:r>
              <a:rPr lang="en-US" altLang="en-US" sz="1400" b="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conn.close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12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endParaRPr lang="en-US" altLang="en-US" sz="14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13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 Execute the main function.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14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__name__ == '__main__':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7FA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15</a:t>
            </a:r>
            <a:r>
              <a:rPr lang="en-US" altLang="en-US" sz="14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  </a:t>
            </a:r>
            <a:r>
              <a:rPr lang="en-US" altLang="en-US" sz="1400" b="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main()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1BB9E63-4632-4B87-95C9-85E53D0DA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a Table</a:t>
            </a:r>
            <a:r>
              <a:rPr lang="en-AU" sz="2000" b="0" dirty="0"/>
              <a:t> (5 of 5)</a:t>
            </a:r>
            <a:endParaRPr lang="en-US" altLang="en-US" sz="2000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16434943-2B61-42DA-B719-B8C09A79F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Creating a table only if it does not already exist:</a:t>
            </a:r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r>
              <a:rPr lang="en-US" altLang="en-US" sz="2400" dirty="0"/>
              <a:t>Deleting a table:</a:t>
            </a:r>
            <a:endParaRPr lang="en-US" altLang="en-US" sz="2000" dirty="0"/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25604" name="TextBox 4">
            <a:extLst>
              <a:ext uri="{FF2B5EF4-FFF2-40B4-BE49-F238E27FC236}">
                <a16:creationId xmlns:a16="http://schemas.microsoft.com/office/drawing/2014/main" id="{D2DCA059-A130-4CA8-847E-A7E1CE5BB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28850"/>
            <a:ext cx="7696200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IF NOT EXIST Inventory (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ItemID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INTEGER PRIMARY KEY NOT NULL,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TEXT,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Price REAL)</a:t>
            </a:r>
          </a:p>
        </p:txBody>
      </p:sp>
      <p:sp>
        <p:nvSpPr>
          <p:cNvPr id="25605" name="TextBox 5">
            <a:extLst>
              <a:ext uri="{FF2B5EF4-FFF2-40B4-BE49-F238E27FC236}">
                <a16:creationId xmlns:a16="http://schemas.microsoft.com/office/drawing/2014/main" id="{4B9296D7-CAEE-4581-9336-D00608DB4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408488"/>
            <a:ext cx="7162800" cy="368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DROP TABLE Inventory</a:t>
            </a:r>
          </a:p>
        </p:txBody>
      </p:sp>
      <p:sp>
        <p:nvSpPr>
          <p:cNvPr id="25606" name="TextBox 6">
            <a:extLst>
              <a:ext uri="{FF2B5EF4-FFF2-40B4-BE49-F238E27FC236}">
                <a16:creationId xmlns:a16="http://schemas.microsoft.com/office/drawing/2014/main" id="{F50A630F-3A6E-45FC-B1D8-61ED65672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073650"/>
            <a:ext cx="7162800" cy="368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DROP TABLE IF EXISTS Inventory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4C3CCDB7-3675-48F1-A158-23D03E007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Adding Data to a Table</a:t>
            </a:r>
            <a:r>
              <a:rPr lang="en-AU" sz="2000" b="0" dirty="0"/>
              <a:t> (1 of 4)</a:t>
            </a:r>
            <a:endParaRPr lang="en-US" altLang="en-US" sz="2000" dirty="0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0D2EF5CF-FDF9-4D60-96F6-540F6CDD68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To add data to a table, 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altLang="en-US" dirty="0"/>
              <a:t> statement</a:t>
            </a:r>
          </a:p>
          <a:p>
            <a:pPr lvl="1"/>
            <a:r>
              <a:rPr lang="en-US" altLang="en-US" sz="2400" dirty="0"/>
              <a:t>General Format: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r>
              <a:rPr lang="en-US" altLang="en-US" sz="2400" dirty="0"/>
              <a:t>Example: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26628" name="TextBox 3">
            <a:extLst>
              <a:ext uri="{FF2B5EF4-FFF2-40B4-BE49-F238E27FC236}">
                <a16:creationId xmlns:a16="http://schemas.microsoft.com/office/drawing/2014/main" id="{50F5E826-B2E3-42D0-9F7E-CEDA5423A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940" y="2782887"/>
            <a:ext cx="8006460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ColumnName1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ColumnName2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...)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VALUES (</a:t>
            </a: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Value1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Value2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8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...)</a:t>
            </a:r>
          </a:p>
        </p:txBody>
      </p:sp>
      <p:sp>
        <p:nvSpPr>
          <p:cNvPr id="26629" name="TextBox 4">
            <a:extLst>
              <a:ext uri="{FF2B5EF4-FFF2-40B4-BE49-F238E27FC236}">
                <a16:creationId xmlns:a16="http://schemas.microsoft.com/office/drawing/2014/main" id="{5E0917BD-3CA1-48E4-95A9-1F7A817DE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4833938"/>
            <a:ext cx="7500938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Inventory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ItemID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Price)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VALUES (1, "Paint Brush", 8.99)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7CDF167-8175-46ED-899F-0B49C71ED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Adding Data to a Table</a:t>
            </a:r>
            <a:r>
              <a:rPr lang="en-AU" sz="2000" b="0" dirty="0"/>
              <a:t> (2 of 4)</a:t>
            </a:r>
            <a:endParaRPr lang="en-US" altLang="en-US" sz="2000" dirty="0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DC9C85ED-98B5-4B0D-8C2C-9B31BD8159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If you omit the value of an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 PRIMARY KEY</a:t>
            </a:r>
            <a:r>
              <a:rPr lang="en-US" altLang="en-US" dirty="0"/>
              <a:t>, SQLite will provide an auto-generated value for that column</a:t>
            </a:r>
          </a:p>
          <a:p>
            <a:pPr lvl="1"/>
            <a:r>
              <a:rPr lang="en-US" altLang="en-US" sz="2000" dirty="0"/>
              <a:t>Example (assume the Inventory table has an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altLang="en-US" sz="2000" dirty="0"/>
              <a:t>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PRIMARY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sz="2000" dirty="0"/>
              <a:t> column named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ItemID</a:t>
            </a:r>
            <a:r>
              <a:rPr lang="en-US" altLang="en-US" sz="2000" dirty="0"/>
              <a:t>):</a:t>
            </a:r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r>
              <a:rPr lang="en-US" altLang="en-US" sz="2000" dirty="0"/>
              <a:t>This statement will produce a new row with an auto-generated integer value assigned to the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ItemID</a:t>
            </a:r>
            <a:r>
              <a:rPr lang="en-US" altLang="en-US" sz="2000" dirty="0"/>
              <a:t> column, “Paint Brush” will be assigned to the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2000" dirty="0"/>
              <a:t> column, and 8.99 will be assigned to the </a:t>
            </a:r>
            <a:r>
              <a:rPr lang="en-US" altLang="en-US" sz="2000" dirty="0">
                <a:latin typeface="Courier New" panose="02070309020205020404" pitchFamily="49" charset="0"/>
              </a:rPr>
              <a:t>Price</a:t>
            </a:r>
            <a:r>
              <a:rPr lang="en-US" altLang="en-US" sz="2000" dirty="0"/>
              <a:t> column</a:t>
            </a:r>
          </a:p>
        </p:txBody>
      </p:sp>
      <p:sp>
        <p:nvSpPr>
          <p:cNvPr id="27652" name="TextBox 4">
            <a:extLst>
              <a:ext uri="{FF2B5EF4-FFF2-40B4-BE49-F238E27FC236}">
                <a16:creationId xmlns:a16="http://schemas.microsoft.com/office/drawing/2014/main" id="{4E480220-A4C4-43D4-AFFE-ECA7B64B5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21088"/>
            <a:ext cx="7500938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Inventory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Price)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VALUES ("Paint Brush", 8.99)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5B722184-3EE5-48CC-8439-2FEF9107D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Adding Data to a Table</a:t>
            </a:r>
            <a:r>
              <a:rPr lang="en-AU" sz="2000" b="0" dirty="0"/>
              <a:t> (3 of 4)</a:t>
            </a:r>
            <a:endParaRPr lang="en-US" altLang="en-US" sz="2000" dirty="0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35A16847-5F7E-4661-BC4C-23FBE63D1A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28676" name="TextBox 3">
            <a:extLst>
              <a:ext uri="{FF2B5EF4-FFF2-40B4-BE49-F238E27FC236}">
                <a16:creationId xmlns:a16="http://schemas.microsoft.com/office/drawing/2014/main" id="{3898D8AA-EFB3-4537-9AB5-7D7684FE4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8" y="2286000"/>
            <a:ext cx="8075612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conn = sqlite3.connect('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inventory.db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cur =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conn.cursor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cur.execute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('''INSERT INTO Inventory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Price)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VALUES ("Screwdriver", 4.99)''')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cur.execute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('''INSERT INTO Inventory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Price)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VALUES ("Hammer", 12.99)''')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cur.execute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('''INSERT INTO Inventory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Price)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VALUES ("Vice Grips", 14.99)''')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conn.commit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conn.close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887723E1-FC32-42DA-859F-AE6E045E12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Adding Data to a Table</a:t>
            </a:r>
            <a:r>
              <a:rPr lang="en-AU" sz="2000" b="0" dirty="0"/>
              <a:t> (4 of 4)</a:t>
            </a:r>
            <a:endParaRPr lang="en-US" altLang="en-US" sz="2000" dirty="0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1681C9F7-309C-44C2-805D-944D25D1F0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Inserting multiple rows with one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altLang="en-US" dirty="0"/>
              <a:t> statement: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29700" name="TextBox 3">
            <a:extLst>
              <a:ext uri="{FF2B5EF4-FFF2-40B4-BE49-F238E27FC236}">
                <a16:creationId xmlns:a16="http://schemas.microsoft.com/office/drawing/2014/main" id="{6DF788C0-7035-4985-A00A-8E8D9C4EB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694" y="2767280"/>
            <a:ext cx="8456612" cy="13234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cur.execute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('''INSERT INTO Inventory (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Price)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VALUES ("Screwdriver", 4.99),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("Hammer", 12.99),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("Vice Grips", 14.99)''')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AB0E655C-6625-458F-A619-A13AB3481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Inserting the Value of a Variable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DE305D41-F10E-4120-B324-46CAE816F1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You can insert the value of a variable into an SQL statement by using question-mark placeholders: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30724" name="TextBox 3">
            <a:extLst>
              <a:ext uri="{FF2B5EF4-FFF2-40B4-BE49-F238E27FC236}">
                <a16:creationId xmlns:a16="http://schemas.microsoft.com/office/drawing/2014/main" id="{9C9DD9A7-CDE5-41B5-A881-1DFE2C07B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352800"/>
            <a:ext cx="8458200" cy="16312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item_name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"Wrench"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price = 16.99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cur.execute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('''INSERT INTO Inventory (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ItemName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Price)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VALUES (?, ?)''',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(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item_name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price))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63B629A5-6F1C-46A8-9B1F-67DCDD3F51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</a:t>
            </a:r>
            <a:r>
              <a:rPr lang="en-AU" sz="2000" b="0" dirty="0"/>
              <a:t> (1 of 5)</a:t>
            </a:r>
            <a:endParaRPr lang="en-US" altLang="en-US" sz="2000" dirty="0"/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59608AD7-078F-4474-9C9F-3299FF4BEB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 is used to retrieve specified rows from a table</a:t>
            </a:r>
            <a:endParaRPr lang="en-US" altLang="en-US" sz="2400" dirty="0"/>
          </a:p>
          <a:p>
            <a:pPr lvl="1" eaLnBrk="1" hangingPunct="1"/>
            <a:r>
              <a:rPr lang="en-US" altLang="en-US" sz="2200" dirty="0"/>
              <a:t>General format:</a:t>
            </a:r>
          </a:p>
          <a:p>
            <a:pPr lvl="1" eaLnBrk="1" hangingPunct="1"/>
            <a:endParaRPr lang="en-US" altLang="en-US" sz="2000" dirty="0"/>
          </a:p>
          <a:p>
            <a:pPr eaLnBrk="1" hangingPunct="1">
              <a:buFontTx/>
              <a:buChar char="•"/>
            </a:pPr>
            <a:endParaRPr lang="en-US" altLang="en-US" sz="2400" dirty="0"/>
          </a:p>
          <a:p>
            <a:pPr lvl="1" eaLnBrk="1" hangingPunct="1"/>
            <a:endParaRPr lang="en-US" alt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en-US" altLang="en-US" sz="2200" dirty="0"/>
              <a:t> is one or more column names</a:t>
            </a:r>
          </a:p>
          <a:p>
            <a:pPr lvl="1" eaLnBrk="1" hangingPunct="1"/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altLang="en-US" sz="2200" dirty="0"/>
              <a:t> is a table name</a:t>
            </a:r>
          </a:p>
          <a:p>
            <a:pPr lvl="1"/>
            <a:endParaRPr lang="en-US" altLang="en-US" sz="2400" dirty="0"/>
          </a:p>
        </p:txBody>
      </p:sp>
      <p:sp>
        <p:nvSpPr>
          <p:cNvPr id="31748" name="TextBox 4">
            <a:extLst>
              <a:ext uri="{FF2B5EF4-FFF2-40B4-BE49-F238E27FC236}">
                <a16:creationId xmlns:a16="http://schemas.microsoft.com/office/drawing/2014/main" id="{636ED929-B836-4244-948A-AA20DF318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8251" y="3228975"/>
            <a:ext cx="40318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5A750BA5-A94C-4EFE-82A0-92E9E997A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</a:t>
            </a:r>
            <a:r>
              <a:rPr lang="en-AU" sz="2000" b="0" dirty="0"/>
              <a:t> (2 of 5)</a:t>
            </a:r>
            <a:endParaRPr lang="en-US" altLang="en-US" sz="2000" dirty="0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58BB6BB4-B164-40D8-B518-F10AED8A0F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sz="2000" dirty="0"/>
              <a:t>Example 1:</a:t>
            </a:r>
            <a:br>
              <a:rPr lang="en-US" altLang="en-US" sz="2000" dirty="0"/>
            </a:br>
            <a:endParaRPr lang="en-US" altLang="en-US" sz="2000" dirty="0"/>
          </a:p>
          <a:p>
            <a:pPr lvl="1" eaLnBrk="1" hangingPunct="1"/>
            <a:r>
              <a:rPr lang="en-US" altLang="en-US" sz="2000" dirty="0"/>
              <a:t>Retrieves the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US" altLang="en-US" sz="2000" dirty="0"/>
              <a:t> column from every row in the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2000" dirty="0"/>
              <a:t> table</a:t>
            </a:r>
          </a:p>
          <a:p>
            <a:pPr lvl="1" eaLnBrk="1" hangingPunct="1">
              <a:buFontTx/>
              <a:buNone/>
            </a:pPr>
            <a:endParaRPr lang="en-US" altLang="en-US" sz="1600" dirty="0"/>
          </a:p>
          <a:p>
            <a:pPr eaLnBrk="1" hangingPunct="1">
              <a:buFontTx/>
              <a:buChar char="•"/>
            </a:pPr>
            <a:r>
              <a:rPr lang="en-US" altLang="en-US" sz="2000" dirty="0"/>
              <a:t>Example 2:</a:t>
            </a:r>
          </a:p>
          <a:p>
            <a:pPr lvl="1" eaLnBrk="1" hangingPunct="1"/>
            <a:r>
              <a:rPr lang="en-US" altLang="en-US" sz="2000" dirty="0"/>
              <a:t>Multiple column names are separated with a comma</a:t>
            </a:r>
          </a:p>
          <a:p>
            <a:pPr lvl="1" eaLnBrk="1" hangingPunct="1"/>
            <a:r>
              <a:rPr lang="en-US" altLang="en-US" sz="2000" dirty="0"/>
              <a:t>Retrieves the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US" altLang="en-US" sz="2000" dirty="0"/>
              <a:t> and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US" altLang="en-US" sz="2000" dirty="0"/>
              <a:t> columns from every row in the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2000" dirty="0"/>
              <a:t> table</a:t>
            </a:r>
            <a:br>
              <a:rPr lang="en-US" altLang="en-US" sz="2000" dirty="0"/>
            </a:br>
            <a:endParaRPr lang="en-US" altLang="en-US" sz="2000" dirty="0"/>
          </a:p>
          <a:p>
            <a:pPr eaLnBrk="1" hangingPunct="1">
              <a:buFontTx/>
              <a:buChar char="•"/>
            </a:pPr>
            <a:r>
              <a:rPr lang="en-US" altLang="en-US" sz="2000" dirty="0"/>
              <a:t>Example 3:</a:t>
            </a:r>
          </a:p>
          <a:p>
            <a:pPr lvl="1" eaLnBrk="1" hangingPunct="1"/>
            <a:r>
              <a:rPr lang="en-US" altLang="en-US" sz="2000" dirty="0"/>
              <a:t>The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sz="2000" dirty="0"/>
              <a:t> character can be used to retrieve all columns in the table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32772" name="TextBox 7">
            <a:extLst>
              <a:ext uri="{FF2B5EF4-FFF2-40B4-BE49-F238E27FC236}">
                <a16:creationId xmlns:a16="http://schemas.microsoft.com/office/drawing/2014/main" id="{798303DC-823E-4742-B9AA-AB9E0FE0D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083" y="1556408"/>
            <a:ext cx="5109091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Description FROM Products</a:t>
            </a:r>
          </a:p>
        </p:txBody>
      </p:sp>
      <p:sp>
        <p:nvSpPr>
          <p:cNvPr id="32773" name="TextBox 5">
            <a:extLst>
              <a:ext uri="{FF2B5EF4-FFF2-40B4-BE49-F238E27FC236}">
                <a16:creationId xmlns:a16="http://schemas.microsoft.com/office/drawing/2014/main" id="{FB4D1099-4E06-429B-A02D-D9F8E4A74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083" y="3361174"/>
            <a:ext cx="6186310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Description, Price FROM Products</a:t>
            </a:r>
          </a:p>
        </p:txBody>
      </p:sp>
      <p:sp>
        <p:nvSpPr>
          <p:cNvPr id="32774" name="TextBox 6">
            <a:extLst>
              <a:ext uri="{FF2B5EF4-FFF2-40B4-BE49-F238E27FC236}">
                <a16:creationId xmlns:a16="http://schemas.microsoft.com/office/drawing/2014/main" id="{5FB600D2-9AA0-42F8-B1A9-D102B5015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083" y="5165940"/>
            <a:ext cx="3570208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4626C862-0080-46E5-8423-8FD8F98BB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</a:t>
            </a:r>
            <a:r>
              <a:rPr lang="en-AU" sz="2000" b="0" dirty="0"/>
              <a:t> (3 of 5)</a:t>
            </a:r>
            <a:endParaRPr lang="en-US" altLang="en-US" sz="2000" dirty="0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E6B45ECF-AB75-4351-8432-AF9035B7F0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In Python, using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 with SQLite is a two-step process:</a:t>
            </a:r>
          </a:p>
          <a:p>
            <a:pPr lvl="2"/>
            <a:r>
              <a:rPr lang="en-US" altLang="en-US" sz="2000" dirty="0"/>
              <a:t>Execute the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sz="2000" dirty="0"/>
              <a:t> statement</a:t>
            </a:r>
          </a:p>
          <a:p>
            <a:pPr lvl="3"/>
            <a:r>
              <a:rPr lang="en-US" altLang="en-US" sz="1800" dirty="0"/>
              <a:t>Pass the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sz="1800" dirty="0"/>
              <a:t> statement as a string to the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altLang="en-US" sz="1800" dirty="0"/>
              <a:t> object’s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en-US" altLang="en-US" sz="1800" dirty="0"/>
              <a:t> method.</a:t>
            </a:r>
          </a:p>
          <a:p>
            <a:pPr lvl="3"/>
            <a:r>
              <a:rPr lang="en-US" altLang="en-US" sz="1800" dirty="0"/>
              <a:t>The DBMS retrieves the results of the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sz="1800" dirty="0"/>
              <a:t> statement, but it does not return those results to your program</a:t>
            </a:r>
          </a:p>
          <a:p>
            <a:pPr lvl="2"/>
            <a:r>
              <a:rPr lang="en-US" altLang="en-US" sz="2000" dirty="0"/>
              <a:t>Fetch the results</a:t>
            </a:r>
          </a:p>
          <a:p>
            <a:pPr lvl="3"/>
            <a:r>
              <a:rPr lang="en-US" altLang="en-US" sz="1800" dirty="0"/>
              <a:t>Call either the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fetchall</a:t>
            </a:r>
            <a:r>
              <a:rPr lang="en-US" altLang="en-US" sz="1800" dirty="0"/>
              <a:t> method or the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fetchone</a:t>
            </a:r>
            <a:r>
              <a:rPr lang="en-US" altLang="en-US" sz="1800" dirty="0"/>
              <a:t> method to fetch the results</a:t>
            </a:r>
          </a:p>
          <a:p>
            <a:pPr lvl="3"/>
            <a:r>
              <a:rPr lang="en-US" altLang="en-US" sz="1800" dirty="0"/>
              <a:t>Both of these are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Cursor object </a:t>
            </a:r>
            <a:r>
              <a:rPr lang="en-US" altLang="en-US" sz="1800" dirty="0"/>
              <a:t>methods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B07419A7-6BFA-4AC0-9A83-A3C8E5C85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</a:t>
            </a:r>
            <a:r>
              <a:rPr lang="en-AU" sz="2000" b="0" dirty="0"/>
              <a:t> (4 of 5)</a:t>
            </a:r>
            <a:endParaRPr lang="en-US" altLang="en-US" sz="2000" dirty="0"/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1BD39A4D-5362-49B2-B3C2-8C55560CCE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 (using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fetchall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sz="2200" dirty="0"/>
              <a:t>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fetchall</a:t>
            </a:r>
            <a:r>
              <a:rPr lang="en-US" altLang="en-US" sz="2200" dirty="0"/>
              <a:t> method returns a list containing all the rows that result from a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sz="2200" dirty="0"/>
              <a:t> statement</a:t>
            </a:r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34820" name="TextBox 3">
            <a:extLst>
              <a:ext uri="{FF2B5EF4-FFF2-40B4-BE49-F238E27FC236}">
                <a16:creationId xmlns:a16="http://schemas.microsoft.com/office/drawing/2014/main" id="{275837C7-6C27-4276-AF21-72495730C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986842"/>
            <a:ext cx="8382000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conn = sqlite3.connect('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chocolate.db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cur =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conn.cursor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cur.execute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('SELECT Description,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FROM Products')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results =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cur.fetchall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for row in results: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print(f'{row[0]:30} {row[1]:5}')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conn.close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A59DD273-0454-4B91-A1C6-02E7C488A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</a:t>
            </a:r>
            <a:r>
              <a:rPr lang="en-AU" sz="2000" b="0" dirty="0"/>
              <a:t> (5 of 5)</a:t>
            </a:r>
            <a:endParaRPr lang="en-US" altLang="en-US" sz="2000" dirty="0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9671FEF8-436E-438E-A5A1-DAB1887E27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 (using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fetchone</a:t>
            </a:r>
            <a:r>
              <a:rPr lang="en-US" altLang="en-US" dirty="0"/>
              <a:t>):</a:t>
            </a:r>
          </a:p>
          <a:p>
            <a:pPr lvl="1"/>
            <a:r>
              <a:rPr lang="en-US" altLang="en-US" sz="2400" dirty="0"/>
              <a:t>The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fetchone</a:t>
            </a:r>
            <a:r>
              <a:rPr lang="en-US" altLang="en-US" sz="2400" dirty="0"/>
              <a:t> method returns only one row each time it is called, as a tuple</a:t>
            </a:r>
          </a:p>
          <a:p>
            <a:pPr lvl="1"/>
            <a:endParaRPr lang="en-US" altLang="en-US" sz="2400" dirty="0"/>
          </a:p>
        </p:txBody>
      </p:sp>
      <p:sp>
        <p:nvSpPr>
          <p:cNvPr id="35844" name="TextBox 3">
            <a:extLst>
              <a:ext uri="{FF2B5EF4-FFF2-40B4-BE49-F238E27FC236}">
                <a16:creationId xmlns:a16="http://schemas.microsoft.com/office/drawing/2014/main" id="{C04B5777-A633-4002-8D2A-98400AAE7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24200"/>
            <a:ext cx="8382000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conn = sqlite3.connect('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chocolate.db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cur =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conn.cursor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cur.execute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('SELECT Description,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FROM Products')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row =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cur.fetchone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while (row != None):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print(f'{row[0]:30} {row[1]:5}')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row =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cur.fetchone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conn.close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050BB4AB-AD51-4ACF-81CB-EBA63453D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Specifying Search Criteria with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/>
              <a:t> Clause</a:t>
            </a:r>
            <a:r>
              <a:rPr lang="en-AU" sz="2000" b="0" dirty="0"/>
              <a:t> (1 of 6)</a:t>
            </a:r>
            <a:endParaRPr lang="en-US" alt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9BF5B-6638-4E10-B3F2-24929BE27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/>
              <a:t> clause can be used with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 to specify search criteria</a:t>
            </a:r>
          </a:p>
          <a:p>
            <a:pPr eaLnBrk="1" hangingPunct="1">
              <a:defRPr/>
            </a:pPr>
            <a:r>
              <a:rPr lang="en-US" altLang="en-US" dirty="0"/>
              <a:t>When you 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/>
              <a:t> clause, only the rows that meet the search criteria will be returned in the result set</a:t>
            </a:r>
          </a:p>
          <a:p>
            <a:pPr lvl="1" eaLnBrk="1" hangingPunct="1">
              <a:defRPr/>
            </a:pPr>
            <a:r>
              <a:rPr lang="en-US" altLang="en-US" sz="2200" dirty="0"/>
              <a:t>General format:</a:t>
            </a:r>
            <a:endParaRPr lang="en-US" alt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en-US" sz="22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Criteria</a:t>
            </a:r>
            <a:r>
              <a:rPr lang="en-US" altLang="en-US" sz="2200" dirty="0"/>
              <a:t> is a conditional expression</a:t>
            </a:r>
          </a:p>
        </p:txBody>
      </p:sp>
      <p:sp>
        <p:nvSpPr>
          <p:cNvPr id="36868" name="TextBox 4">
            <a:extLst>
              <a:ext uri="{FF2B5EF4-FFF2-40B4-BE49-F238E27FC236}">
                <a16:creationId xmlns:a16="http://schemas.microsoft.com/office/drawing/2014/main" id="{E1AFA999-FB4E-4E11-BA92-C41A4EBF0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267200"/>
            <a:ext cx="6340198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Criteria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2ADC1952-CA43-4BE3-A4E1-C7FA517E3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Specifying Search Criteria with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/>
              <a:t> Clause</a:t>
            </a:r>
            <a:r>
              <a:rPr lang="en-AU" sz="2000" b="0" dirty="0"/>
              <a:t> (2 of 6)</a:t>
            </a:r>
            <a:endParaRPr lang="en-US" altLang="en-US" sz="2000" dirty="0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89736A68-1B2E-4C0B-A3DE-818BD15707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Example:</a:t>
            </a:r>
          </a:p>
          <a:p>
            <a:pPr eaLnBrk="1" hangingPunct="1">
              <a:buFontTx/>
              <a:buChar char="•"/>
            </a:pPr>
            <a:endParaRPr lang="en-US" altLang="en-US" sz="2400" dirty="0"/>
          </a:p>
          <a:p>
            <a:pPr eaLnBrk="1" hangingPunct="1">
              <a:buFontTx/>
              <a:buChar char="•"/>
            </a:pPr>
            <a:endParaRPr lang="en-US" altLang="en-US" sz="2400" dirty="0"/>
          </a:p>
          <a:p>
            <a:pPr lvl="1" eaLnBrk="1" hangingPunct="1"/>
            <a:r>
              <a:rPr lang="en-US" altLang="en-US" sz="2200" dirty="0"/>
              <a:t>The first part of the statement,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</a:t>
            </a:r>
            <a:r>
              <a:rPr lang="en-US" altLang="en-US" sz="2200" dirty="0"/>
              <a:t>, specifies that we want every column</a:t>
            </a:r>
          </a:p>
          <a:p>
            <a:pPr lvl="1" eaLnBrk="1" hangingPunct="1"/>
            <a:endParaRPr lang="en-US" altLang="en-US" sz="1800" dirty="0"/>
          </a:p>
          <a:p>
            <a:pPr lvl="1" eaLnBrk="1" hangingPunct="1"/>
            <a:r>
              <a:rPr lang="en-US" altLang="en-US" sz="2200" dirty="0"/>
              <a:t>The </a:t>
            </a:r>
            <a:r>
              <a:rPr lang="en-US" altLang="en-US" sz="2200" dirty="0">
                <a:latin typeface="Courier New" panose="02070309020205020404" pitchFamily="49" charset="0"/>
              </a:rPr>
              <a:t>WHERE</a:t>
            </a:r>
            <a:r>
              <a:rPr lang="en-US" altLang="en-US" sz="2200" dirty="0"/>
              <a:t> clause specifies that we want only the rows in which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200" dirty="0"/>
              <a:t> column is greater than 10.00</a:t>
            </a:r>
          </a:p>
        </p:txBody>
      </p:sp>
      <p:sp>
        <p:nvSpPr>
          <p:cNvPr id="37892" name="TextBox 4">
            <a:extLst>
              <a:ext uri="{FF2B5EF4-FFF2-40B4-BE49-F238E27FC236}">
                <a16:creationId xmlns:a16="http://schemas.microsoft.com/office/drawing/2014/main" id="{413C63CA-0D54-4784-A3C8-D614ACFEF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349" y="2286000"/>
            <a:ext cx="7571304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 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&gt; 10.00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F12EB199-4363-4314-A5A3-825B663D5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Specifying Search Criteria with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/>
              <a:t> Clause</a:t>
            </a:r>
            <a:r>
              <a:rPr lang="en-AU" sz="2000" b="0" dirty="0"/>
              <a:t> (3 of 6)</a:t>
            </a:r>
            <a:endParaRPr lang="en-US" altLang="en-US" sz="2000" dirty="0"/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6111CFDD-C372-403A-BD97-B651B8DBF4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Example:</a:t>
            </a:r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eaLnBrk="1" hangingPunct="1">
              <a:buFontTx/>
              <a:buChar char="•"/>
            </a:pPr>
            <a:endParaRPr lang="en-US" altLang="en-US" sz="2400" dirty="0"/>
          </a:p>
          <a:p>
            <a:pPr lvl="1" eaLnBrk="1" hangingPunct="1"/>
            <a:r>
              <a:rPr lang="en-US" altLang="en-US" sz="2200" dirty="0"/>
              <a:t>The first part of the statement,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</a:t>
            </a:r>
            <a:r>
              <a:rPr lang="en-US" altLang="en-US" sz="2200" dirty="0"/>
              <a:t>, specifies that we want every column</a:t>
            </a:r>
            <a:endParaRPr lang="en-US" altLang="en-US" sz="1800" dirty="0"/>
          </a:p>
          <a:p>
            <a:pPr lvl="1" eaLnBrk="1" hangingPunct="1"/>
            <a:r>
              <a:rPr lang="en-US" altLang="en-US" sz="2200" dirty="0"/>
              <a:t>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sz="2200" dirty="0"/>
              <a:t> clause specifies that we want only the rows in which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200" dirty="0"/>
              <a:t> column is less than 100</a:t>
            </a:r>
          </a:p>
        </p:txBody>
      </p:sp>
      <p:sp>
        <p:nvSpPr>
          <p:cNvPr id="38916" name="TextBox 4">
            <a:extLst>
              <a:ext uri="{FF2B5EF4-FFF2-40B4-BE49-F238E27FC236}">
                <a16:creationId xmlns:a16="http://schemas.microsoft.com/office/drawing/2014/main" id="{90A37096-F40C-44E6-BA5C-6DAC1C7FE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37" y="2286000"/>
            <a:ext cx="7263527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 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 100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A513F402-8D35-47A5-B724-28A585FAD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Specifying Search Criteria with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/>
              <a:t> Clause</a:t>
            </a:r>
            <a:r>
              <a:rPr lang="en-AU" sz="2000" b="0" dirty="0"/>
              <a:t> (4 of 6)</a:t>
            </a:r>
            <a:endParaRPr lang="en-US" altLang="en-US" sz="2000" dirty="0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FF08AB98-4E9F-4A05-83D5-79192E68B4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SQL Relational Operators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CF309C-98FA-491F-94B9-C26A1F717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266054"/>
              </p:ext>
            </p:extLst>
          </p:nvPr>
        </p:nvGraphicFramePr>
        <p:xfrm>
          <a:off x="2744788" y="2819400"/>
          <a:ext cx="3654425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6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US" sz="16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&gt;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Greater-Than</a:t>
                      </a:r>
                      <a:endParaRPr lang="en-US" sz="1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&lt;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Less-Than</a:t>
                      </a:r>
                      <a:endParaRPr lang="en-US" sz="1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&gt;=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Greater-Than or Equal-To</a:t>
                      </a:r>
                      <a:endParaRPr lang="en-US" sz="1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&lt;=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Less-Than or Equal-To</a:t>
                      </a:r>
                      <a:endParaRPr lang="en-US" sz="1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==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Equal-To</a:t>
                      </a:r>
                      <a:endParaRPr lang="en-US" sz="1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=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Equal-To</a:t>
                      </a:r>
                      <a:endParaRPr lang="en-US" sz="1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!=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Equal-To</a:t>
                      </a:r>
                      <a:endParaRPr lang="en-US" sz="1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&lt;&gt;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Equal-To</a:t>
                      </a:r>
                      <a:endParaRPr lang="en-US" sz="1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F1E5FC53-1795-4B59-A1FA-EABB0E7A5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Specifying Search Criteria with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/>
              <a:t> Clause</a:t>
            </a:r>
            <a:r>
              <a:rPr lang="en-AU" sz="2000" b="0" dirty="0"/>
              <a:t> (5 of 6)</a:t>
            </a:r>
            <a:endParaRPr lang="en-US" altLang="en-US" sz="2000" dirty="0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73FAAA85-C10D-435B-85A5-870A500270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SQL Logical Operators: </a:t>
            </a:r>
            <a:r>
              <a:rPr lang="en-US" altLang="en-US" dirty="0">
                <a:latin typeface="Courier New" panose="02070309020205020404" pitchFamily="49" charset="0"/>
              </a:rPr>
              <a:t>AND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anose="02070309020205020404" pitchFamily="49" charset="0"/>
              </a:rPr>
              <a:t>OR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anose="02070309020205020404" pitchFamily="49" charset="0"/>
              </a:rPr>
              <a:t>NOT</a:t>
            </a:r>
          </a:p>
        </p:txBody>
      </p:sp>
      <p:sp>
        <p:nvSpPr>
          <p:cNvPr id="40964" name="TextBox 4">
            <a:extLst>
              <a:ext uri="{FF2B5EF4-FFF2-40B4-BE49-F238E27FC236}">
                <a16:creationId xmlns:a16="http://schemas.microsoft.com/office/drawing/2014/main" id="{99CE2287-651C-4564-A357-BE3CD72AC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286000"/>
            <a:ext cx="7162800" cy="7078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&gt; 3.00 AND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 100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965" name="TextBox 5">
            <a:extLst>
              <a:ext uri="{FF2B5EF4-FFF2-40B4-BE49-F238E27FC236}">
                <a16:creationId xmlns:a16="http://schemas.microsoft.com/office/drawing/2014/main" id="{E9788488-EBFA-4A7A-83E0-D2F996C97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325813"/>
            <a:ext cx="7109639" cy="7078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&gt; 10.00 OR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 50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966" name="TextBox 7">
            <a:extLst>
              <a:ext uri="{FF2B5EF4-FFF2-40B4-BE49-F238E27FC236}">
                <a16:creationId xmlns:a16="http://schemas.microsoft.com/office/drawing/2014/main" id="{D43E0115-B000-400F-B46D-C1B9BE8D9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813" y="4419600"/>
            <a:ext cx="6508750" cy="708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NOT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&gt; 5.00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4D9C5D5A-1618-49E6-B223-FB1A1E11D4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Specifying Search Criteria with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/>
              <a:t> Clause</a:t>
            </a:r>
            <a:r>
              <a:rPr lang="en-AU" sz="2000" b="0" dirty="0"/>
              <a:t> (6 of 6)</a:t>
            </a:r>
            <a:endParaRPr lang="en-US" altLang="en-US" sz="2000" dirty="0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AF812A73-9AD2-4476-AA23-E3AC322036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Using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altLang="en-US" dirty="0"/>
              <a:t> Operator</a:t>
            </a:r>
          </a:p>
          <a:p>
            <a:pPr lvl="1" eaLnBrk="1" hangingPunct="1"/>
            <a:r>
              <a:rPr lang="en-US" altLang="en-US" sz="2200" dirty="0"/>
              <a:t>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altLang="en-US" sz="2200" dirty="0"/>
              <a:t> operator can be used to search for a substring</a:t>
            </a:r>
          </a:p>
          <a:p>
            <a:pPr lvl="1" eaLnBrk="1" hangingPunct="1"/>
            <a:r>
              <a:rPr lang="en-US" altLang="en-US" sz="2200" dirty="0"/>
              <a:t>Example:</a:t>
            </a:r>
            <a:br>
              <a:rPr lang="en-US" altLang="en-US" sz="2000" dirty="0"/>
            </a:br>
            <a:endParaRPr lang="en-US" altLang="en-US" sz="2000" dirty="0"/>
          </a:p>
          <a:p>
            <a:pPr lvl="1" eaLnBrk="1" hangingPunct="1"/>
            <a:endParaRPr lang="en-US" altLang="en-US" sz="2000" dirty="0"/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lvl="1" eaLnBrk="1" hangingPunct="1"/>
            <a:r>
              <a:rPr lang="en-US" altLang="en-US" sz="2200" dirty="0">
                <a:cs typeface="Courier New" panose="02070309020205020404" pitchFamily="49" charset="0"/>
              </a:rPr>
              <a:t>The 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200" dirty="0">
                <a:cs typeface="Courier New" panose="02070309020205020404" pitchFamily="49" charset="0"/>
              </a:rPr>
              <a:t> symbol </a:t>
            </a:r>
            <a:r>
              <a:rPr lang="en-US" altLang="en-US" sz="2200" dirty="0"/>
              <a:t>is used as a wildcard for multiple characters</a:t>
            </a:r>
          </a:p>
          <a:p>
            <a:pPr lvl="1" eaLnBrk="1" hangingPunct="1"/>
            <a:r>
              <a:rPr lang="en-US" altLang="en-US" sz="2200" dirty="0"/>
              <a:t>This statement returns all the rows in which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US" altLang="en-US" sz="2200" dirty="0"/>
              <a:t> column contains the string </a:t>
            </a:r>
            <a:r>
              <a:rPr lang="en-US" altLang="en-US" sz="2200" dirty="0">
                <a:latin typeface="Courier New" panose="02070309020205020404" pitchFamily="49" charset="0"/>
              </a:rPr>
              <a:t>"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US" altLang="en-US" sz="2200" dirty="0">
                <a:latin typeface="Courier New" panose="02070309020205020404" pitchFamily="49" charset="0"/>
              </a:rPr>
              <a:t>"</a:t>
            </a:r>
            <a:r>
              <a:rPr lang="en-US" altLang="en-US" sz="2200" dirty="0"/>
              <a:t> with any characters before it and any characters after it.</a:t>
            </a:r>
          </a:p>
          <a:p>
            <a:pPr lvl="1" eaLnBrk="1" hangingPunct="1"/>
            <a:endParaRPr lang="en-US" altLang="en-US" sz="2000" dirty="0">
              <a:latin typeface="Courier New" panose="02070309020205020404" pitchFamily="49" charset="0"/>
            </a:endParaRPr>
          </a:p>
        </p:txBody>
      </p:sp>
      <p:sp>
        <p:nvSpPr>
          <p:cNvPr id="41988" name="TextBox 8">
            <a:extLst>
              <a:ext uri="{FF2B5EF4-FFF2-40B4-BE49-F238E27FC236}">
                <a16:creationId xmlns:a16="http://schemas.microsoft.com/office/drawing/2014/main" id="{AB5A5EFF-1F63-4AE4-B81F-FC61E43EF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3074988"/>
            <a:ext cx="6477000" cy="708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Description LIKE "%Bar%"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CB7D92A5-0A2C-4063-B18D-00DE452DC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Sorting the Results of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Query</a:t>
            </a:r>
            <a:r>
              <a:rPr lang="en-AU" sz="3600" b="0" dirty="0"/>
              <a:t> </a:t>
            </a:r>
            <a:r>
              <a:rPr lang="en-AU" sz="2000" b="0" dirty="0"/>
              <a:t>(1 of 2)</a:t>
            </a:r>
            <a:endParaRPr lang="en-US" altLang="en-US" sz="2000" dirty="0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3B67AFD8-F086-4226-B712-B67BD8C860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Use the </a:t>
            </a:r>
            <a:r>
              <a:rPr lang="en-US" altLang="en-US" dirty="0">
                <a:latin typeface="Courier New" panose="02070309020205020404" pitchFamily="49" charset="0"/>
              </a:rPr>
              <a:t>ORDER BY </a:t>
            </a:r>
            <a:r>
              <a:rPr lang="en-US" altLang="en-US" dirty="0"/>
              <a:t>clause to sort the results of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query</a:t>
            </a:r>
          </a:p>
          <a:p>
            <a:pPr lvl="1" eaLnBrk="1" hangingPunct="1"/>
            <a:r>
              <a:rPr lang="en-US" altLang="en-US" sz="2200" dirty="0"/>
              <a:t>Example 1:</a:t>
            </a:r>
            <a:br>
              <a:rPr lang="en-US" altLang="en-US" sz="2000" dirty="0"/>
            </a:br>
            <a:endParaRPr lang="en-US" altLang="en-US" sz="2000" dirty="0"/>
          </a:p>
          <a:p>
            <a:pPr lvl="1" eaLnBrk="1" hangingPunct="1"/>
            <a:endParaRPr lang="en-US" altLang="en-US" sz="2000" dirty="0"/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lvl="1" eaLnBrk="1" hangingPunct="1"/>
            <a:r>
              <a:rPr lang="en-US" altLang="en-US" sz="2200" dirty="0">
                <a:cs typeface="Courier New" panose="02070309020205020404" pitchFamily="49" charset="0"/>
              </a:rPr>
              <a:t>This statement will retrieve all the rows in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2200" dirty="0">
                <a:cs typeface="Courier New" panose="02070309020205020404" pitchFamily="49" charset="0"/>
              </a:rPr>
              <a:t> table, ordered by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200" dirty="0">
                <a:cs typeface="Courier New" panose="02070309020205020404" pitchFamily="49" charset="0"/>
              </a:rPr>
              <a:t> column</a:t>
            </a:r>
          </a:p>
          <a:p>
            <a:pPr lvl="1" eaLnBrk="1" hangingPunct="1"/>
            <a:r>
              <a:rPr lang="en-US" altLang="en-US" sz="2200" dirty="0">
                <a:cs typeface="Courier New" panose="02070309020205020404" pitchFamily="49" charset="0"/>
              </a:rPr>
              <a:t>The list will be sorted in ascending order on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200" dirty="0">
                <a:cs typeface="Courier New" panose="02070309020205020404" pitchFamily="49" charset="0"/>
              </a:rPr>
              <a:t> column, meaning that the lowest-priced products will appear first</a:t>
            </a:r>
            <a:endParaRPr lang="en-US" altLang="en-US" sz="2200" dirty="0">
              <a:latin typeface="Courier New" panose="02070309020205020404" pitchFamily="49" charset="0"/>
            </a:endParaRPr>
          </a:p>
        </p:txBody>
      </p:sp>
      <p:sp>
        <p:nvSpPr>
          <p:cNvPr id="43012" name="TextBox 8">
            <a:extLst>
              <a:ext uri="{FF2B5EF4-FFF2-40B4-BE49-F238E27FC236}">
                <a16:creationId xmlns:a16="http://schemas.microsoft.com/office/drawing/2014/main" id="{623832B5-24AB-427D-A827-54CBF9543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3228975"/>
            <a:ext cx="7124700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 ORDER BY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B391B9C3-8F17-4FD2-A717-27F676F10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Sorting the Results of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Query</a:t>
            </a:r>
            <a:r>
              <a:rPr lang="en-AU" sz="3600" b="0" dirty="0"/>
              <a:t> </a:t>
            </a:r>
            <a:r>
              <a:rPr lang="en-AU" sz="2000" b="0" dirty="0"/>
              <a:t>(2 of 2)</a:t>
            </a:r>
            <a:endParaRPr lang="en-US" altLang="en-US" sz="2000" dirty="0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F8C4F53B-2234-4D0A-907B-6D64D82E06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/>
              <a:t>clause to sort the results of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query</a:t>
            </a:r>
          </a:p>
          <a:p>
            <a:pPr lvl="1" eaLnBrk="1" hangingPunct="1"/>
            <a:r>
              <a:rPr lang="en-US" altLang="en-US" sz="2200" dirty="0"/>
              <a:t>Example 2:</a:t>
            </a:r>
            <a:br>
              <a:rPr lang="en-US" altLang="en-US" sz="2000" dirty="0"/>
            </a:br>
            <a:endParaRPr lang="en-US" altLang="en-US" sz="2000" dirty="0"/>
          </a:p>
          <a:p>
            <a:pPr lvl="1" eaLnBrk="1" hangingPunct="1"/>
            <a:endParaRPr lang="en-US" altLang="en-US" sz="2000" dirty="0"/>
          </a:p>
          <a:p>
            <a:pPr lvl="1" eaLnBrk="1" hangingPunct="1"/>
            <a:endParaRPr lang="en-US" altLang="en-US" sz="2000" dirty="0"/>
          </a:p>
          <a:p>
            <a:pPr eaLnBrk="1" hangingPunct="1">
              <a:buFontTx/>
              <a:buChar char="•"/>
            </a:pPr>
            <a:endParaRPr lang="en-US" altLang="en-US" sz="2000" dirty="0"/>
          </a:p>
          <a:p>
            <a:pPr lvl="1" eaLnBrk="1" hangingPunct="1"/>
            <a:r>
              <a:rPr lang="en-US" altLang="en-US" sz="2200" dirty="0">
                <a:cs typeface="Courier New" panose="02070309020205020404" pitchFamily="49" charset="0"/>
              </a:rPr>
              <a:t>This statement will retrieve the rows in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2200" dirty="0">
                <a:cs typeface="Courier New" panose="02070309020205020404" pitchFamily="49" charset="0"/>
              </a:rPr>
              <a:t> table in which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200" dirty="0">
                <a:cs typeface="Courier New" panose="02070309020205020404" pitchFamily="49" charset="0"/>
              </a:rPr>
              <a:t> is greater than 9.00, ordered by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200" dirty="0">
                <a:cs typeface="Courier New" panose="02070309020205020404" pitchFamily="49" charset="0"/>
              </a:rPr>
              <a:t> column</a:t>
            </a:r>
          </a:p>
        </p:txBody>
      </p:sp>
      <p:sp>
        <p:nvSpPr>
          <p:cNvPr id="45060" name="TextBox 8">
            <a:extLst>
              <a:ext uri="{FF2B5EF4-FFF2-40B4-BE49-F238E27FC236}">
                <a16:creationId xmlns:a16="http://schemas.microsoft.com/office/drawing/2014/main" id="{AD48E51E-5EFD-436D-B561-36690E06F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124200"/>
            <a:ext cx="6477000" cy="1016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&gt; 9.00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5C568810-1C16-42CA-9C8C-ADBBE31537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Aggregate Functions</a:t>
            </a:r>
            <a:r>
              <a:rPr lang="en-AU" sz="2000" b="0" dirty="0"/>
              <a:t> (1 of 2)</a:t>
            </a:r>
            <a:endParaRPr lang="en-US" altLang="en-US" sz="2000" dirty="0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8EC7D482-F712-44BB-AC41-C96B4BF13C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altLang="en-US" dirty="0">
                <a:cs typeface="Courier New" panose="02070309020205020404" pitchFamily="49" charset="0"/>
              </a:rPr>
              <a:t> function 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Calculates the average value in a particular column</a:t>
            </a:r>
          </a:p>
          <a:p>
            <a:pPr lvl="1" eaLnBrk="1" hangingPunct="1">
              <a:buFontTx/>
              <a:buChar char="•"/>
            </a:pPr>
            <a:endParaRPr lang="en-US" altLang="en-US" sz="1600" dirty="0">
              <a:cs typeface="Courier New" panose="02070309020205020404" pitchFamily="49" charset="0"/>
            </a:endParaRPr>
          </a:p>
          <a:p>
            <a:pPr lvl="1" eaLnBrk="1" hangingPunct="1">
              <a:buFontTx/>
              <a:buChar char="•"/>
            </a:pPr>
            <a:endParaRPr lang="en-US" altLang="en-US" sz="1600" dirty="0">
              <a:cs typeface="Courier New" panose="02070309020205020404" pitchFamily="49" charset="0"/>
            </a:endParaRPr>
          </a:p>
          <a:p>
            <a:pPr lvl="1" eaLnBrk="1" hangingPunct="1">
              <a:buFontTx/>
              <a:buChar char="•"/>
            </a:pPr>
            <a:endParaRPr lang="en-US" altLang="en-US" sz="1600" dirty="0"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endParaRPr lang="en-US" altLang="en-US" sz="2000" dirty="0">
              <a:cs typeface="Courier New" panose="02070309020205020404" pitchFamily="49" charset="0"/>
            </a:endParaRP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altLang="en-US" dirty="0">
                <a:cs typeface="Courier New" panose="02070309020205020404" pitchFamily="49" charset="0"/>
              </a:rPr>
              <a:t> function 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Calculates the sum of a column’s values</a:t>
            </a:r>
          </a:p>
          <a:p>
            <a:pPr eaLnBrk="1" hangingPunct="1">
              <a:buFontTx/>
              <a:buChar char="•"/>
            </a:pPr>
            <a:endParaRPr lang="en-US" altLang="en-US" sz="2000" dirty="0">
              <a:cs typeface="Courier New" panose="02070309020205020404" pitchFamily="49" charset="0"/>
            </a:endParaRPr>
          </a:p>
          <a:p>
            <a:pPr eaLnBrk="1" hangingPunct="1">
              <a:buFontTx/>
              <a:buChar char="•"/>
            </a:pPr>
            <a:endParaRPr lang="en-US" altLang="en-US" sz="2000" dirty="0">
              <a:cs typeface="Courier New" panose="02070309020205020404" pitchFamily="49" charset="0"/>
            </a:endParaRPr>
          </a:p>
        </p:txBody>
      </p:sp>
      <p:sp>
        <p:nvSpPr>
          <p:cNvPr id="47108" name="TextBox 8">
            <a:extLst>
              <a:ext uri="{FF2B5EF4-FFF2-40B4-BE49-F238E27FC236}">
                <a16:creationId xmlns:a16="http://schemas.microsoft.com/office/drawing/2014/main" id="{772A5545-29C6-4E9B-841D-400EE9B4C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126" y="2403265"/>
            <a:ext cx="6477000" cy="400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AVG(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FROM Products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109" name="TextBox 8">
            <a:extLst>
              <a:ext uri="{FF2B5EF4-FFF2-40B4-BE49-F238E27FC236}">
                <a16:creationId xmlns:a16="http://schemas.microsoft.com/office/drawing/2014/main" id="{AB405CC2-708F-4CA4-8D51-0AF7D1CF4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905" y="4956175"/>
            <a:ext cx="6477000" cy="400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SUM(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FROM Products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110" name="TextBox 8">
            <a:extLst>
              <a:ext uri="{FF2B5EF4-FFF2-40B4-BE49-F238E27FC236}">
                <a16:creationId xmlns:a16="http://schemas.microsoft.com/office/drawing/2014/main" id="{65F3EE7F-51AB-40CF-9ADD-510C02032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486400"/>
            <a:ext cx="6477000" cy="708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SUM(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FROM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&gt; 100.00</a:t>
            </a:r>
          </a:p>
        </p:txBody>
      </p:sp>
      <p:sp>
        <p:nvSpPr>
          <p:cNvPr id="47111" name="TextBox 8">
            <a:extLst>
              <a:ext uri="{FF2B5EF4-FFF2-40B4-BE49-F238E27FC236}">
                <a16:creationId xmlns:a16="http://schemas.microsoft.com/office/drawing/2014/main" id="{B80CF098-F708-4522-8D18-88D407CF8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126" y="2938252"/>
            <a:ext cx="6477000" cy="708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AVG(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FROM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&gt; 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343E7414-31AD-42FF-96EF-F51ED960C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Aggregate Functions</a:t>
            </a:r>
            <a:r>
              <a:rPr lang="en-AU" sz="2000" b="0" dirty="0"/>
              <a:t> (2 of 2)</a:t>
            </a:r>
            <a:endParaRPr lang="en-US" altLang="en-US" sz="2000" dirty="0"/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1795F02D-82EE-4FD8-9836-E3C04B459A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sz="2400" dirty="0">
                <a:cs typeface="Courier New" panose="02070309020205020404" pitchFamily="49" charset="0"/>
              </a:rPr>
              <a:t>The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altLang="en-US" sz="2400" dirty="0">
                <a:cs typeface="Courier New" panose="02070309020205020404" pitchFamily="49" charset="0"/>
              </a:rPr>
              <a:t> and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altLang="en-US" sz="2400" dirty="0">
                <a:cs typeface="Courier New" panose="02070309020205020404" pitchFamily="49" charset="0"/>
              </a:rPr>
              <a:t> functions </a:t>
            </a:r>
          </a:p>
          <a:p>
            <a:pPr lvl="1"/>
            <a:r>
              <a:rPr lang="en-US" altLang="en-US" sz="2200" dirty="0">
                <a:cs typeface="Courier New" panose="02070309020205020404" pitchFamily="49" charset="0"/>
              </a:rPr>
              <a:t>Calculate the minimum and maximum values found in a column</a:t>
            </a:r>
          </a:p>
          <a:p>
            <a:pPr lvl="1" eaLnBrk="1" hangingPunct="1">
              <a:buFontTx/>
              <a:buChar char="•"/>
            </a:pPr>
            <a:endParaRPr lang="en-US" altLang="en-US" sz="1600" dirty="0">
              <a:cs typeface="Courier New" panose="02070309020205020404" pitchFamily="49" charset="0"/>
            </a:endParaRPr>
          </a:p>
          <a:p>
            <a:pPr lvl="1" eaLnBrk="1" hangingPunct="1">
              <a:buFontTx/>
              <a:buChar char="•"/>
            </a:pPr>
            <a:endParaRPr lang="en-US" altLang="en-US" sz="1600" dirty="0"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endParaRPr lang="en-US" altLang="en-US" sz="2000" dirty="0">
              <a:cs typeface="Courier New" panose="02070309020205020404" pitchFamily="49" charset="0"/>
            </a:endParaRPr>
          </a:p>
          <a:p>
            <a:pPr eaLnBrk="1" hangingPunct="1">
              <a:buFontTx/>
              <a:buChar char="•"/>
            </a:pPr>
            <a:r>
              <a:rPr lang="en-US" altLang="en-US" sz="2400" dirty="0">
                <a:cs typeface="Courier New" panose="02070309020205020404" pitchFamily="49" charset="0"/>
              </a:rPr>
              <a:t>The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altLang="en-US" sz="2400" dirty="0">
                <a:cs typeface="Courier New" panose="02070309020205020404" pitchFamily="49" charset="0"/>
              </a:rPr>
              <a:t> function </a:t>
            </a:r>
          </a:p>
          <a:p>
            <a:pPr lvl="1"/>
            <a:r>
              <a:rPr lang="en-US" altLang="en-US" sz="2200" dirty="0">
                <a:cs typeface="Courier New" panose="02070309020205020404" pitchFamily="49" charset="0"/>
              </a:rPr>
              <a:t>Can be used to determine the number of rows in a table</a:t>
            </a:r>
          </a:p>
          <a:p>
            <a:pPr eaLnBrk="1" hangingPunct="1">
              <a:buFontTx/>
              <a:buChar char="•"/>
            </a:pPr>
            <a:endParaRPr lang="en-US" altLang="en-US" sz="2000" dirty="0">
              <a:cs typeface="Courier New" panose="02070309020205020404" pitchFamily="49" charset="0"/>
            </a:endParaRPr>
          </a:p>
        </p:txBody>
      </p:sp>
      <p:sp>
        <p:nvSpPr>
          <p:cNvPr id="49156" name="TextBox 8">
            <a:extLst>
              <a:ext uri="{FF2B5EF4-FFF2-40B4-BE49-F238E27FC236}">
                <a16:creationId xmlns:a16="http://schemas.microsoft.com/office/drawing/2014/main" id="{22A76ED6-F7A5-4226-9A9E-6DA109B9E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2667000"/>
            <a:ext cx="6477000" cy="400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MIN(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FROM Products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157" name="TextBox 8">
            <a:extLst>
              <a:ext uri="{FF2B5EF4-FFF2-40B4-BE49-F238E27FC236}">
                <a16:creationId xmlns:a16="http://schemas.microsoft.com/office/drawing/2014/main" id="{961DA7CF-A17A-4CE4-9FD7-75980A60D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246438"/>
            <a:ext cx="6477000" cy="400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MAX(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FROM Products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158" name="TextBox 8">
            <a:extLst>
              <a:ext uri="{FF2B5EF4-FFF2-40B4-BE49-F238E27FC236}">
                <a16:creationId xmlns:a16="http://schemas.microsoft.com/office/drawing/2014/main" id="{64DFD635-8DED-4D00-A3FB-4A3264BCD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800600"/>
            <a:ext cx="6477000" cy="400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COUNT(*) FROM Products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159" name="TextBox 8">
            <a:extLst>
              <a:ext uri="{FF2B5EF4-FFF2-40B4-BE49-F238E27FC236}">
                <a16:creationId xmlns:a16="http://schemas.microsoft.com/office/drawing/2014/main" id="{C0445FB0-89A9-4028-AA81-E88617007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381625"/>
            <a:ext cx="6477000" cy="708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COUNT(*) FROM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 10.00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E47C1ADF-80E1-460F-8B10-97997D3DC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Updating Rows</a:t>
            </a:r>
            <a:r>
              <a:rPr lang="en-AU" sz="2000" b="0" dirty="0"/>
              <a:t> (1 of 6)</a:t>
            </a:r>
            <a:endParaRPr lang="en-US" alt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6317D-588C-48CC-B037-15379663C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In SQL, the </a:t>
            </a:r>
            <a:r>
              <a:rPr lang="en-US" sz="2400" dirty="0">
                <a:latin typeface="Courier New" panose="02070309020205020404" pitchFamily="49" charset="0"/>
              </a:rPr>
              <a:t>UPDATE</a:t>
            </a:r>
            <a:r>
              <a:rPr lang="en-US" sz="2400" dirty="0"/>
              <a:t> statement changes the contents of an existing row in a table</a:t>
            </a:r>
          </a:p>
          <a:p>
            <a:pPr lvl="1">
              <a:defRPr/>
            </a:pPr>
            <a:r>
              <a:rPr lang="en-US" sz="2200" dirty="0"/>
              <a:t>General Format:</a:t>
            </a:r>
          </a:p>
          <a:p>
            <a:pPr lvl="1">
              <a:defRPr/>
            </a:pPr>
            <a:endParaRPr lang="en-US" sz="20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/>
          </a:p>
          <a:p>
            <a:pPr lvl="1">
              <a:defRPr/>
            </a:pP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200" dirty="0"/>
              <a:t> is a table name</a:t>
            </a:r>
          </a:p>
          <a:p>
            <a:pPr lvl="1">
              <a:defRPr/>
            </a:pP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sz="2200" dirty="0"/>
              <a:t> is a column name</a:t>
            </a:r>
          </a:p>
          <a:p>
            <a:pPr lvl="1">
              <a:defRPr/>
            </a:pP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sz="2200" dirty="0"/>
              <a:t> is the value to store in the column</a:t>
            </a:r>
          </a:p>
          <a:p>
            <a:pPr lvl="1">
              <a:defRPr/>
            </a:pP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Criteria</a:t>
            </a:r>
            <a:r>
              <a:rPr lang="en-US" sz="2200" dirty="0"/>
              <a:t> is a conditional expression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400" dirty="0"/>
          </a:p>
        </p:txBody>
      </p:sp>
      <p:sp>
        <p:nvSpPr>
          <p:cNvPr id="51204" name="TextBox 4">
            <a:extLst>
              <a:ext uri="{FF2B5EF4-FFF2-40B4-BE49-F238E27FC236}">
                <a16:creationId xmlns:a16="http://schemas.microsoft.com/office/drawing/2014/main" id="{AC9949D1-46D9-487E-AC59-1E73FB098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048000"/>
            <a:ext cx="3657600" cy="1016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Criteria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CEDB62A3-43FC-4E27-8D26-92386FD07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Updating Rows</a:t>
            </a:r>
            <a:r>
              <a:rPr lang="en-AU" sz="2000" b="0" dirty="0"/>
              <a:t> (2 of 6)</a:t>
            </a:r>
            <a:endParaRPr lang="en-US" altLang="en-US" sz="2000" dirty="0"/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A61C0794-5CDF-49A3-8701-0B1B4E235A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Example:</a:t>
            </a:r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lvl="1"/>
            <a:r>
              <a:rPr lang="en-US" altLang="en-US" sz="2200" dirty="0"/>
              <a:t>This statement will update all rows in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2200" dirty="0"/>
              <a:t> table, in which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US" altLang="en-US" sz="2200" dirty="0"/>
              <a:t> is "Chocolate Truffles"</a:t>
            </a:r>
          </a:p>
          <a:p>
            <a:pPr lvl="1"/>
            <a:r>
              <a:rPr lang="en-US" altLang="en-US" sz="2200" dirty="0"/>
              <a:t>For each of those rows, it will change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200" dirty="0"/>
              <a:t> column to 13.99</a:t>
            </a:r>
          </a:p>
        </p:txBody>
      </p:sp>
      <p:sp>
        <p:nvSpPr>
          <p:cNvPr id="52228" name="TextBox 4">
            <a:extLst>
              <a:ext uri="{FF2B5EF4-FFF2-40B4-BE49-F238E27FC236}">
                <a16:creationId xmlns:a16="http://schemas.microsoft.com/office/drawing/2014/main" id="{30C55877-CDC4-4126-B892-FB09DBA77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362200"/>
            <a:ext cx="6781800" cy="1015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UPDATE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13.99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Description == "Chocolate Truffles"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DA20EE24-3AF2-4C8F-BA40-AD88FBD9A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Updating Rows</a:t>
            </a:r>
            <a:r>
              <a:rPr lang="en-AU" sz="2000" b="0" dirty="0"/>
              <a:t> (3 of 6)</a:t>
            </a:r>
            <a:endParaRPr lang="en-US" altLang="en-US" sz="2000" dirty="0"/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57670A0E-2B7B-4A1C-98E9-42542A0719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Example:</a:t>
            </a:r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lvl="1"/>
            <a:r>
              <a:rPr lang="en-US" altLang="en-US" sz="2200" dirty="0"/>
              <a:t>This statement will update all rows in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2200" dirty="0"/>
              <a:t> table, in which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US" altLang="en-US" sz="2200" dirty="0"/>
              <a:t> is "Semisweet Chocolate Bar"</a:t>
            </a:r>
          </a:p>
          <a:p>
            <a:pPr lvl="1"/>
            <a:r>
              <a:rPr lang="en-US" altLang="en-US" sz="2200" dirty="0"/>
              <a:t>For each of those rows, it will change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altLang="en-US" sz="2200" dirty="0"/>
              <a:t> column to 2</a:t>
            </a:r>
          </a:p>
        </p:txBody>
      </p:sp>
      <p:sp>
        <p:nvSpPr>
          <p:cNvPr id="53252" name="TextBox 4">
            <a:extLst>
              <a:ext uri="{FF2B5EF4-FFF2-40B4-BE49-F238E27FC236}">
                <a16:creationId xmlns:a16="http://schemas.microsoft.com/office/drawing/2014/main" id="{043A9416-23E1-4DE2-BC19-B17466039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362200"/>
            <a:ext cx="7315200" cy="1015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UPDATE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SET Description = "Semisweet Chocolate Bar"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== 2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D59FD8D8-80E5-46E4-8D73-535337B19C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Updating Rows</a:t>
            </a:r>
            <a:r>
              <a:rPr lang="en-AU" sz="2000" b="0" dirty="0"/>
              <a:t> (4 of 6)</a:t>
            </a:r>
            <a:endParaRPr lang="en-US" altLang="en-US" sz="2000" dirty="0"/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3543272D-B22C-4356-B3E3-79AAB8B14A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 (updates multiple columns):</a:t>
            </a:r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lvl="1"/>
            <a:r>
              <a:rPr lang="en-US" altLang="en-US" sz="2200" dirty="0"/>
              <a:t>This statement will update all rows in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sz="2200" dirty="0"/>
              <a:t> table, in which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US" altLang="en-US" sz="2200" dirty="0"/>
              <a:t> contains "Bar"</a:t>
            </a:r>
          </a:p>
          <a:p>
            <a:pPr lvl="1"/>
            <a:r>
              <a:rPr lang="en-US" altLang="en-US" sz="2200" dirty="0"/>
              <a:t>For each of those rows, it will change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200" dirty="0"/>
              <a:t> column to 8.99 and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200" dirty="0"/>
              <a:t> column to 100</a:t>
            </a:r>
          </a:p>
        </p:txBody>
      </p:sp>
      <p:sp>
        <p:nvSpPr>
          <p:cNvPr id="54276" name="TextBox 4">
            <a:extLst>
              <a:ext uri="{FF2B5EF4-FFF2-40B4-BE49-F238E27FC236}">
                <a16:creationId xmlns:a16="http://schemas.microsoft.com/office/drawing/2014/main" id="{11EF1EDD-FC46-4D0E-99B0-C561F35C2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209800"/>
            <a:ext cx="6477000" cy="1323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UPDATE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RetailPrice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8.99,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Description LIKE "%Bar%"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EB1AC739-DD9D-434B-9B53-B647B8530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Updating Rows</a:t>
            </a:r>
            <a:r>
              <a:rPr lang="en-AU" sz="2000" b="0" dirty="0"/>
              <a:t> (5 of 6)</a:t>
            </a:r>
            <a:endParaRPr lang="en-US" altLang="en-US" sz="2000" dirty="0"/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BDE957DD-441C-47E6-BB3D-4A0C640E3D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Determining the number of rows updated:</a:t>
            </a:r>
          </a:p>
          <a:p>
            <a:pPr lvl="1"/>
            <a:r>
              <a:rPr lang="en-US" altLang="en-US" sz="2200" dirty="0"/>
              <a:t>To determine the number of rows updated, get the value of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altLang="en-US" sz="2200" dirty="0"/>
              <a:t> object’s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rowcount</a:t>
            </a:r>
            <a:r>
              <a:rPr lang="en-US" altLang="en-US" sz="2200" dirty="0"/>
              <a:t> attribute</a:t>
            </a:r>
          </a:p>
          <a:p>
            <a:pPr>
              <a:buFontTx/>
              <a:buChar char="•"/>
            </a:pPr>
            <a:r>
              <a:rPr lang="en-US" altLang="en-US" dirty="0"/>
              <a:t>Example:</a:t>
            </a:r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</p:txBody>
      </p:sp>
      <p:sp>
        <p:nvSpPr>
          <p:cNvPr id="55300" name="TextBox 4">
            <a:extLst>
              <a:ext uri="{FF2B5EF4-FFF2-40B4-BE49-F238E27FC236}">
                <a16:creationId xmlns:a16="http://schemas.microsoft.com/office/drawing/2014/main" id="{3A9235E3-3928-4227-83ED-CF68086C9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626584"/>
            <a:ext cx="7848600" cy="163121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cur.execute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('''UPDATE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SET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WHERE Description LIKE "%Bar%"''')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conn.commit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rows_updated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cur.rowcount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FB9B00D2-FD3B-4E99-9F6C-B936E2993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Updating Rows</a:t>
            </a:r>
            <a:r>
              <a:rPr lang="en-AU" sz="2000" b="0" dirty="0"/>
              <a:t> (6 of 6)</a:t>
            </a:r>
            <a:endParaRPr lang="en-US" altLang="en-US" sz="2000" dirty="0"/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226F0D45-2B6D-41AD-8047-284C7F4D90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Warning!</a:t>
            </a:r>
          </a:p>
          <a:p>
            <a:pPr lvl="1"/>
            <a:r>
              <a:rPr lang="en-US" altLang="en-US" dirty="0"/>
              <a:t>Don’t leave out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/>
              <a:t> clause unless you want to update every row in the table!</a:t>
            </a:r>
          </a:p>
          <a:p>
            <a:pPr lvl="1"/>
            <a:r>
              <a:rPr lang="en-US" altLang="en-US" dirty="0"/>
              <a:t>For example, this SQL statement sets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dirty="0"/>
              <a:t> to 0 in every row of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dirty="0"/>
              <a:t> table:</a:t>
            </a:r>
          </a:p>
        </p:txBody>
      </p:sp>
      <p:sp>
        <p:nvSpPr>
          <p:cNvPr id="56324" name="TextBox 4">
            <a:extLst>
              <a:ext uri="{FF2B5EF4-FFF2-40B4-BE49-F238E27FC236}">
                <a16:creationId xmlns:a16="http://schemas.microsoft.com/office/drawing/2014/main" id="{3DF9F946-0BCD-402D-9B61-0791A61B9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147545"/>
            <a:ext cx="5334000" cy="708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UPDATE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UnitsOnHand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</p:txBody>
      </p:sp>
      <p:sp>
        <p:nvSpPr>
          <p:cNvPr id="56325" name="Right Brace 4">
            <a:extLst>
              <a:ext uri="{FF2B5EF4-FFF2-40B4-BE49-F238E27FC236}">
                <a16:creationId xmlns:a16="http://schemas.microsoft.com/office/drawing/2014/main" id="{061A1A7E-4E0E-4659-81DA-9E0DDF135C3C}"/>
              </a:ext>
            </a:extLst>
          </p:cNvPr>
          <p:cNvSpPr>
            <a:spLocks/>
          </p:cNvSpPr>
          <p:nvPr/>
        </p:nvSpPr>
        <p:spPr bwMode="auto">
          <a:xfrm>
            <a:off x="4589585" y="4245970"/>
            <a:ext cx="304800" cy="6096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56326" name="TextBox 5">
            <a:extLst>
              <a:ext uri="{FF2B5EF4-FFF2-40B4-BE49-F238E27FC236}">
                <a16:creationId xmlns:a16="http://schemas.microsoft.com/office/drawing/2014/main" id="{E6D79397-36DB-4F8A-A31D-FB6E659B5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698" y="4353920"/>
            <a:ext cx="993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solidFill>
                  <a:srgbClr val="007FA3"/>
                </a:solidFill>
              </a:rPr>
              <a:t>Careful!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D36DB14-8640-42A1-A9F5-F37E562BB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Deleting Rows</a:t>
            </a:r>
            <a:r>
              <a:rPr lang="en-AU" sz="2000" b="0" dirty="0"/>
              <a:t> (1 of 4)</a:t>
            </a:r>
            <a:endParaRPr lang="en-US" alt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74007-216D-4A5F-B867-BBA5EAE24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 SQL, the </a:t>
            </a:r>
            <a:r>
              <a:rPr lang="en-US" dirty="0">
                <a:latin typeface="Courier New" panose="02070309020205020404" pitchFamily="49" charset="0"/>
              </a:rPr>
              <a:t>DELETE</a:t>
            </a:r>
            <a:r>
              <a:rPr lang="en-US" dirty="0"/>
              <a:t> statement deletes one or more rows</a:t>
            </a:r>
          </a:p>
          <a:p>
            <a:pPr lvl="1">
              <a:defRPr/>
            </a:pPr>
            <a:r>
              <a:rPr lang="en-US" sz="2200" dirty="0"/>
              <a:t>General Format:</a:t>
            </a:r>
          </a:p>
          <a:p>
            <a:pPr lvl="1">
              <a:defRPr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400" dirty="0"/>
          </a:p>
          <a:p>
            <a:pPr lvl="1">
              <a:defRPr/>
            </a:pP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200" dirty="0"/>
              <a:t> is a table name</a:t>
            </a:r>
          </a:p>
          <a:p>
            <a:pPr lvl="1">
              <a:defRPr/>
            </a:pPr>
            <a:r>
              <a:rPr 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Criteria</a:t>
            </a:r>
            <a:r>
              <a:rPr lang="en-US" sz="2200" dirty="0"/>
              <a:t> is a conditional expression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400" dirty="0"/>
          </a:p>
        </p:txBody>
      </p:sp>
      <p:sp>
        <p:nvSpPr>
          <p:cNvPr id="57348" name="TextBox 4">
            <a:extLst>
              <a:ext uri="{FF2B5EF4-FFF2-40B4-BE49-F238E27FC236}">
                <a16:creationId xmlns:a16="http://schemas.microsoft.com/office/drawing/2014/main" id="{D9304900-3A89-4D20-B7AA-4ECEC163F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971800"/>
            <a:ext cx="3657600" cy="708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DELETE FROM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sz="2000" b="0" i="1" dirty="0">
                <a:latin typeface="Courier New" panose="02070309020205020404" pitchFamily="49" charset="0"/>
                <a:cs typeface="Courier New" panose="02070309020205020404" pitchFamily="49" charset="0"/>
              </a:rPr>
              <a:t>Criteria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8C4A0AE8-94D6-4F3C-9697-29FCBE8CF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Deleting Rows</a:t>
            </a:r>
            <a:r>
              <a:rPr lang="en-AU" sz="2000" b="0" dirty="0"/>
              <a:t> (2 of 4)</a:t>
            </a:r>
            <a:endParaRPr lang="en-US" alt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0AB94-0183-4C22-AA22-FEBF45AFB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 1: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000" dirty="0"/>
          </a:p>
          <a:p>
            <a:pPr lvl="1">
              <a:defRPr/>
            </a:pPr>
            <a:r>
              <a:rPr lang="en-US" sz="2200" dirty="0"/>
              <a:t>This statement will delete all rows in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sz="2200" dirty="0"/>
              <a:t> table in which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sz="2200" dirty="0"/>
              <a:t> is 10</a:t>
            </a:r>
          </a:p>
          <a:p>
            <a:pPr>
              <a:defRPr/>
            </a:pPr>
            <a:r>
              <a:rPr lang="en-US" dirty="0"/>
              <a:t>Example 2: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400" dirty="0"/>
          </a:p>
          <a:p>
            <a:pPr lvl="1">
              <a:defRPr/>
            </a:pPr>
            <a:endParaRPr lang="en-US" sz="2000" dirty="0"/>
          </a:p>
          <a:p>
            <a:pPr lvl="1">
              <a:defRPr/>
            </a:pPr>
            <a:r>
              <a:rPr lang="en-US" sz="2200" dirty="0"/>
              <a:t>This statement will delete all rows in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sz="2200" dirty="0"/>
              <a:t> table in which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sz="2200" dirty="0"/>
              <a:t> ends with "Bar"</a:t>
            </a:r>
          </a:p>
        </p:txBody>
      </p:sp>
      <p:sp>
        <p:nvSpPr>
          <p:cNvPr id="58372" name="TextBox 4">
            <a:extLst>
              <a:ext uri="{FF2B5EF4-FFF2-40B4-BE49-F238E27FC236}">
                <a16:creationId xmlns:a16="http://schemas.microsoft.com/office/drawing/2014/main" id="{7E396516-06B5-4F3D-B0AA-CFAA6BB2E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209800"/>
            <a:ext cx="6858000" cy="4001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DELETE FROM Products WHERE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== 10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8373" name="TextBox 4">
            <a:extLst>
              <a:ext uri="{FF2B5EF4-FFF2-40B4-BE49-F238E27FC236}">
                <a16:creationId xmlns:a16="http://schemas.microsoft.com/office/drawing/2014/main" id="{67C131F7-D442-4EB6-B90F-382F61392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7239000" cy="7078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DELETE FROM Products WHERE Description LIKE "%Bar"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53FBB609-DC7C-44E3-A345-79A05F52C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Deleting Rows</a:t>
            </a:r>
            <a:r>
              <a:rPr lang="en-AU" sz="2000" b="0" dirty="0"/>
              <a:t> (3 of 4)</a:t>
            </a:r>
            <a:endParaRPr lang="en-US" altLang="en-US" sz="2000" dirty="0"/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24380B0-B1CF-4B76-B369-AD4C2B74D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Warning!</a:t>
            </a:r>
          </a:p>
          <a:p>
            <a:pPr lvl="1"/>
            <a:r>
              <a:rPr lang="en-US" altLang="en-US" dirty="0"/>
              <a:t>Don’t leave out the </a:t>
            </a:r>
            <a:r>
              <a:rPr lang="en-US" altLang="en-US" dirty="0">
                <a:latin typeface="Courier New" panose="02070309020205020404" pitchFamily="49" charset="0"/>
              </a:rPr>
              <a:t>WHERE</a:t>
            </a:r>
            <a:r>
              <a:rPr lang="en-US" altLang="en-US" dirty="0"/>
              <a:t> clause unless you want to delete every row in the table!</a:t>
            </a:r>
          </a:p>
          <a:p>
            <a:pPr lvl="1"/>
            <a:r>
              <a:rPr lang="en-US" altLang="en-US" dirty="0"/>
              <a:t>For example, this SQL statement deletes every row in the </a:t>
            </a:r>
            <a:r>
              <a:rPr lang="en-US" altLang="en-US" dirty="0">
                <a:latin typeface="Courier New" panose="02070309020205020404" pitchFamily="49" charset="0"/>
              </a:rPr>
              <a:t>Products</a:t>
            </a:r>
            <a:r>
              <a:rPr lang="en-US" altLang="en-US" dirty="0"/>
              <a:t> table:</a:t>
            </a:r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</p:txBody>
      </p:sp>
      <p:sp>
        <p:nvSpPr>
          <p:cNvPr id="59396" name="TextBox 4">
            <a:extLst>
              <a:ext uri="{FF2B5EF4-FFF2-40B4-BE49-F238E27FC236}">
                <a16:creationId xmlns:a16="http://schemas.microsoft.com/office/drawing/2014/main" id="{25BDD838-2A8A-4458-BC6F-01F5C8FEC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962400"/>
            <a:ext cx="5334000" cy="400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DELETE FROM Products</a:t>
            </a:r>
          </a:p>
        </p:txBody>
      </p:sp>
      <p:sp>
        <p:nvSpPr>
          <p:cNvPr id="59397" name="Right Brace 4">
            <a:extLst>
              <a:ext uri="{FF2B5EF4-FFF2-40B4-BE49-F238E27FC236}">
                <a16:creationId xmlns:a16="http://schemas.microsoft.com/office/drawing/2014/main" id="{02C76A61-61CD-42B9-8EE8-8982223291A9}"/>
              </a:ext>
            </a:extLst>
          </p:cNvPr>
          <p:cNvSpPr>
            <a:spLocks/>
          </p:cNvSpPr>
          <p:nvPr/>
        </p:nvSpPr>
        <p:spPr bwMode="auto">
          <a:xfrm>
            <a:off x="4665785" y="4031606"/>
            <a:ext cx="304800" cy="299252"/>
          </a:xfrm>
          <a:prstGeom prst="rightBrace">
            <a:avLst>
              <a:gd name="adj1" fmla="val 8350"/>
              <a:gd name="adj2" fmla="val 50000"/>
            </a:avLst>
          </a:prstGeom>
          <a:noFill/>
          <a:ln w="28575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7FA3"/>
              </a:solidFill>
            </a:endParaRPr>
          </a:p>
        </p:txBody>
      </p:sp>
      <p:sp>
        <p:nvSpPr>
          <p:cNvPr id="59398" name="TextBox 5">
            <a:extLst>
              <a:ext uri="{FF2B5EF4-FFF2-40B4-BE49-F238E27FC236}">
                <a16:creationId xmlns:a16="http://schemas.microsoft.com/office/drawing/2014/main" id="{8883F74C-472A-4C21-B4FC-57682D4D0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0585" y="3977481"/>
            <a:ext cx="992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solidFill>
                  <a:srgbClr val="007FA3"/>
                </a:solidFill>
              </a:rPr>
              <a:t>Careful!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6FF1905E-B07A-457F-8139-80B693385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Deleting Rows</a:t>
            </a:r>
            <a:r>
              <a:rPr lang="en-AU" sz="2000" b="0" dirty="0"/>
              <a:t> (4 of 4)</a:t>
            </a:r>
            <a:endParaRPr lang="en-US" altLang="en-US" sz="2000" dirty="0"/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99A7ED58-C53E-4433-A100-47E5A1B434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Determining the number of rows deleted:</a:t>
            </a:r>
          </a:p>
          <a:p>
            <a:pPr lvl="1"/>
            <a:r>
              <a:rPr lang="en-US" altLang="en-US" sz="2200" dirty="0"/>
              <a:t>To determine the number of rows deleted, get the value of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altLang="en-US" sz="2200" dirty="0"/>
              <a:t> object’s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rowcount</a:t>
            </a:r>
            <a:r>
              <a:rPr lang="en-US" altLang="en-US" sz="2200" dirty="0"/>
              <a:t> attribute</a:t>
            </a:r>
          </a:p>
          <a:p>
            <a:pPr>
              <a:buFontTx/>
              <a:buChar char="•"/>
            </a:pPr>
            <a:r>
              <a:rPr lang="en-US" altLang="en-US" dirty="0"/>
              <a:t>Example:</a:t>
            </a:r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  <a:p>
            <a:pPr>
              <a:buFontTx/>
              <a:buChar char="•"/>
            </a:pPr>
            <a:endParaRPr lang="en-US" altLang="en-US" sz="2400" dirty="0"/>
          </a:p>
        </p:txBody>
      </p:sp>
      <p:sp>
        <p:nvSpPr>
          <p:cNvPr id="60420" name="TextBox 4">
            <a:extLst>
              <a:ext uri="{FF2B5EF4-FFF2-40B4-BE49-F238E27FC236}">
                <a16:creationId xmlns:a16="http://schemas.microsoft.com/office/drawing/2014/main" id="{2D146A59-9235-41EF-A487-A5049112B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657600"/>
            <a:ext cx="7162800" cy="163121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cur.execute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('''DELETE Products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WHERE Description LIKE "%Chips%"''')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conn.commit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rows_updated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cur.rowcount</a:t>
            </a:r>
            <a:r>
              <a:rPr lang="en-US" altLang="en-US" sz="20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sz="20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CCAFA4C3-4891-4686-BC30-A1FD96E72C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About Primary Keys</a:t>
            </a:r>
            <a:r>
              <a:rPr lang="en-AU" sz="2000" b="0" dirty="0"/>
              <a:t> (1 of 5)</a:t>
            </a:r>
            <a:endParaRPr lang="en-US" altLang="en-US" sz="2000" dirty="0"/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5ED6972B-E65F-497C-9CEA-60FD06680C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General rules to remember about primary keys:</a:t>
            </a:r>
          </a:p>
          <a:p>
            <a:pPr lvl="1"/>
            <a:r>
              <a:rPr lang="en-US" altLang="en-US" sz="2400" dirty="0"/>
              <a:t>Primary keys must hold a value. They cannot be </a:t>
            </a:r>
            <a:r>
              <a:rPr lang="en-US" altLang="en-US" sz="2400" dirty="0">
                <a:latin typeface="Courier New" panose="02070309020205020404" pitchFamily="49" charset="0"/>
              </a:rPr>
              <a:t>NULL</a:t>
            </a:r>
          </a:p>
          <a:p>
            <a:pPr lvl="1"/>
            <a:r>
              <a:rPr lang="en-US" altLang="en-US" sz="2400" dirty="0"/>
              <a:t>Each row’s primary key value must be unique. No two rows in a table can have the same primary key</a:t>
            </a:r>
          </a:p>
          <a:p>
            <a:pPr lvl="1"/>
            <a:r>
              <a:rPr lang="en-US" altLang="en-US" sz="2400" dirty="0"/>
              <a:t>A table can have only one primary key. However, multiple columns can be combined create a composite key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8F3D8F32-B202-4C9A-9A4A-B7EA4C95B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About Primary Keys</a:t>
            </a:r>
            <a:r>
              <a:rPr lang="en-AU" sz="2000" b="0" dirty="0"/>
              <a:t> (2 of 5)</a:t>
            </a:r>
            <a:endParaRPr lang="en-US" altLang="en-US" sz="2000" dirty="0"/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0BA7EC1B-767E-46E6-83AA-4FBE47C341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RowID</a:t>
            </a:r>
            <a:r>
              <a:rPr lang="en-US" altLang="en-US" dirty="0"/>
              <a:t> column in SQLite</a:t>
            </a:r>
          </a:p>
          <a:p>
            <a:pPr lvl="1"/>
            <a:r>
              <a:rPr lang="en-US" altLang="en-US" dirty="0"/>
              <a:t>Tables in SQLite automatically have an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altLang="en-US" dirty="0"/>
              <a:t> column named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RowID</a:t>
            </a:r>
            <a:endParaRPr lang="en-US" altLang="en-US" dirty="0"/>
          </a:p>
          <a:p>
            <a:pPr lvl="1"/>
            <a:r>
              <a:rPr lang="en-US" altLang="en-US" dirty="0"/>
              <a:t>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RowID</a:t>
            </a:r>
            <a:r>
              <a:rPr lang="en-US" altLang="en-US" dirty="0"/>
              <a:t> column is autoincremented</a:t>
            </a:r>
          </a:p>
          <a:p>
            <a:pPr lvl="2"/>
            <a:r>
              <a:rPr lang="en-US" altLang="en-US" dirty="0"/>
              <a:t>Each time a new row is added to the table,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RowID</a:t>
            </a:r>
            <a:r>
              <a:rPr lang="en-US" altLang="en-US" dirty="0"/>
              <a:t> column is assigned an integer value that is 1 greater than the largest value currently stored in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RowID</a:t>
            </a:r>
            <a:r>
              <a:rPr lang="en-US" altLang="en-US" dirty="0"/>
              <a:t> column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D866E790-C1E8-491E-A070-C915A6EDE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About Primary Keys</a:t>
            </a:r>
            <a:r>
              <a:rPr lang="en-AU" sz="2000" b="0" dirty="0"/>
              <a:t> (3 of 5)</a:t>
            </a:r>
            <a:endParaRPr lang="en-US" altLang="en-US" sz="2000" dirty="0"/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E68A1E5E-B2D3-40BA-8AE9-8697524670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Integer Primary Keys in SQLite</a:t>
            </a:r>
          </a:p>
          <a:p>
            <a:pPr lvl="1"/>
            <a:r>
              <a:rPr lang="en-US" altLang="en-US" dirty="0"/>
              <a:t>When you designate a column as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PRIMARY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/>
              <a:t>, that column becomes an alias for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RowID</a:t>
            </a:r>
            <a:r>
              <a:rPr lang="en-US" altLang="en-US" dirty="0"/>
              <a:t> column</a:t>
            </a:r>
          </a:p>
          <a:p>
            <a:pPr lvl="1"/>
            <a:r>
              <a:rPr lang="en-US" altLang="en-US" dirty="0"/>
              <a:t>Any time you are working with a table’s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PRIMARY KEY</a:t>
            </a:r>
            <a:r>
              <a:rPr lang="en-US" altLang="en-US" dirty="0"/>
              <a:t>, you are actually working with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RowID</a:t>
            </a:r>
            <a:r>
              <a:rPr lang="en-US" altLang="en-US" dirty="0"/>
              <a:t> column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F4F4B8B6-5633-483B-8C66-A7717A2AF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About Primary Keys</a:t>
            </a:r>
            <a:r>
              <a:rPr lang="en-AU" sz="2000" b="0" dirty="0"/>
              <a:t> (4 of 5)</a:t>
            </a:r>
            <a:endParaRPr lang="en-US" altLang="en-US" sz="2000" dirty="0"/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A787FE31-BDE7-413C-A6FE-B1DBD5E906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Primary Keys Other Than INTEGER</a:t>
            </a:r>
          </a:p>
          <a:p>
            <a:pPr lvl="1"/>
            <a:r>
              <a:rPr lang="en-US" altLang="en-US" sz="2200" dirty="0"/>
              <a:t>You can designate any type of column as the primary key</a:t>
            </a:r>
          </a:p>
          <a:p>
            <a:pPr lvl="1"/>
            <a:endParaRPr lang="en-US" altLang="en-US" sz="2200" dirty="0"/>
          </a:p>
          <a:p>
            <a:pPr lvl="1"/>
            <a:endParaRPr lang="en-US" altLang="en-US" sz="2000" dirty="0">
              <a:latin typeface="Courier New" panose="02070309020205020404" pitchFamily="49" charset="0"/>
            </a:endParaRPr>
          </a:p>
          <a:p>
            <a:pPr lvl="1"/>
            <a:endParaRPr lang="en-US" altLang="en-US" sz="2000" dirty="0">
              <a:latin typeface="Courier New" panose="02070309020205020404" pitchFamily="49" charset="0"/>
            </a:endParaRPr>
          </a:p>
          <a:p>
            <a:pPr lvl="1"/>
            <a:endParaRPr lang="en-US" altLang="en-US" sz="2000" dirty="0">
              <a:latin typeface="Courier New" panose="02070309020205020404" pitchFamily="49" charset="0"/>
            </a:endParaRPr>
          </a:p>
          <a:p>
            <a:pPr lvl="1"/>
            <a:r>
              <a:rPr lang="en-US" altLang="en-US" sz="2200" dirty="0"/>
              <a:t>Be sure to use the </a:t>
            </a:r>
            <a:r>
              <a:rPr lang="en-US" altLang="en-US" sz="2200" dirty="0">
                <a:latin typeface="Courier New" panose="02070309020205020404" pitchFamily="49" charset="0"/>
              </a:rPr>
              <a:t>NOT</a:t>
            </a:r>
            <a:r>
              <a:rPr lang="en-US" altLang="en-US" sz="2200" dirty="0"/>
              <a:t> </a:t>
            </a:r>
            <a:r>
              <a:rPr lang="en-US" altLang="en-US" sz="2200" dirty="0">
                <a:latin typeface="Courier New" panose="02070309020205020404" pitchFamily="49" charset="0"/>
              </a:rPr>
              <a:t>NULL</a:t>
            </a:r>
            <a:r>
              <a:rPr lang="en-US" altLang="en-US" sz="2200" dirty="0"/>
              <a:t> constraint with primary keys</a:t>
            </a:r>
          </a:p>
          <a:p>
            <a:pPr lvl="1"/>
            <a:r>
              <a:rPr lang="en-US" altLang="en-US" sz="2200" dirty="0"/>
              <a:t>When using a non-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altLang="en-US" sz="2200" dirty="0"/>
              <a:t> primary key in SQLite, you must provide the value for the primary key when inserting rows</a:t>
            </a:r>
          </a:p>
          <a:p>
            <a:pPr lvl="1"/>
            <a:r>
              <a:rPr lang="en-US" altLang="en-US" sz="2200" dirty="0"/>
              <a:t>When inserting rows, be sure to assign a unique, non-null value to the primary key column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endParaRPr lang="en-US" altLang="en-US" sz="2000" dirty="0"/>
          </a:p>
        </p:txBody>
      </p:sp>
      <p:sp>
        <p:nvSpPr>
          <p:cNvPr id="64516" name="TextBox 4">
            <a:extLst>
              <a:ext uri="{FF2B5EF4-FFF2-40B4-BE49-F238E27FC236}">
                <a16:creationId xmlns:a16="http://schemas.microsoft.com/office/drawing/2014/main" id="{A36FA1E6-2006-48B3-8795-77C6EC89B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590800"/>
            <a:ext cx="8534400" cy="92333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Employees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EmployeeID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TEXT PRIMARY KEY NOT NULL,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Name TEXT,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PayRate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REAL)</a:t>
            </a:r>
            <a:endParaRPr lang="en-US" altLang="en-US" sz="18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A7580D81-A953-4F8A-BA7F-CD62DC4AD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About Primary Keys</a:t>
            </a:r>
            <a:r>
              <a:rPr lang="en-AU" sz="2000" b="0" dirty="0"/>
              <a:t> (5 of 5)</a:t>
            </a:r>
            <a:endParaRPr lang="en-US" altLang="en-US" sz="2000" dirty="0"/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9588D243-C98A-422B-B207-E5C9D0CA74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Composite Keys</a:t>
            </a:r>
          </a:p>
          <a:p>
            <a:pPr lvl="1"/>
            <a:r>
              <a:rPr lang="en-US" altLang="en-US" sz="2400" dirty="0"/>
              <a:t>You can combine two or more columns to create a composite key</a:t>
            </a:r>
          </a:p>
          <a:p>
            <a:pPr lvl="1"/>
            <a:r>
              <a:rPr lang="en-US" altLang="en-US" sz="2400" dirty="0"/>
              <a:t>Sometimes this is necessary in order to have unique values in the primary key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endParaRPr lang="en-US" altLang="en-US" sz="2400" dirty="0"/>
          </a:p>
        </p:txBody>
      </p:sp>
      <p:sp>
        <p:nvSpPr>
          <p:cNvPr id="65540" name="TextBox 4">
            <a:extLst>
              <a:ext uri="{FF2B5EF4-FFF2-40B4-BE49-F238E27FC236}">
                <a16:creationId xmlns:a16="http://schemas.microsoft.com/office/drawing/2014/main" id="{718D9796-FCB8-4FD5-BADE-B0DF62BC7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35" y="4114800"/>
            <a:ext cx="8305800" cy="12003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Classrooms 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RoomNumber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INTEGER NOT NULL,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Building TEXT NOT NULL,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Seats INTEGER,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PRIMARY KEY(</a:t>
            </a:r>
            <a:r>
              <a:rPr lang="en-US" altLang="en-US" sz="18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RoomNumber</a:t>
            </a:r>
            <a:r>
              <a:rPr lang="en-US" altLang="en-US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Building))</a:t>
            </a:r>
            <a:endParaRPr lang="en-US" altLang="en-US" sz="1800" b="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6D676676-2E18-48F4-ADE2-EB50831E3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/>
          <a:lstStyle/>
          <a:p>
            <a:r>
              <a:rPr lang="en-US" altLang="en-US" dirty="0"/>
              <a:t>Handling Database Exceptions in SQLite</a:t>
            </a:r>
            <a:r>
              <a:rPr lang="en-AU" sz="2000" b="0" dirty="0"/>
              <a:t> (1 of 2)</a:t>
            </a:r>
            <a:endParaRPr lang="en-US" altLang="en-US" sz="2000" dirty="0"/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9CCE3837-3C58-41C7-AAF7-4E12EA4783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sqlite3</a:t>
            </a:r>
            <a:r>
              <a:rPr lang="en-US" altLang="en-US" sz="2400" dirty="0"/>
              <a:t> module defines an exception named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US" altLang="en-US" sz="2400" dirty="0"/>
              <a:t> that is thrown any time a database error occurs</a:t>
            </a:r>
          </a:p>
          <a:p>
            <a:pPr>
              <a:buFontTx/>
              <a:buChar char="•"/>
            </a:pPr>
            <a:r>
              <a:rPr lang="en-US" altLang="en-US" sz="2400" dirty="0"/>
              <a:t>It is a good practice to write database code inside a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 sz="2400" dirty="0"/>
              <a:t>/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US" altLang="en-US" sz="2400" dirty="0"/>
              <a:t> statement that catches possible exceptions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CAA40849-3882-4B57-90A0-B296B65D9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5372"/>
            <a:ext cx="8229600" cy="1003828"/>
          </a:xfrm>
        </p:spPr>
        <p:txBody>
          <a:bodyPr/>
          <a:lstStyle/>
          <a:p>
            <a:r>
              <a:rPr lang="en-US" altLang="en-US" dirty="0"/>
              <a:t>Handling Database Exceptions in SQLite</a:t>
            </a:r>
            <a:r>
              <a:rPr lang="en-AU" sz="2000" b="0" dirty="0"/>
              <a:t> (2 of 2)</a:t>
            </a:r>
            <a:endParaRPr lang="en-US" altLang="en-US" sz="2000" dirty="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ED71A2C-BE9D-44ED-AE0B-D4818D378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86694"/>
            <a:ext cx="7924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</a:t>
            </a: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 = None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2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try: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3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 = sqlite3.connect(</a:t>
            </a:r>
            <a:r>
              <a:rPr lang="en-US" altLang="en-US" sz="1800" b="0" i="1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DatabaseName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4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 = </a:t>
            </a:r>
            <a:r>
              <a:rPr lang="en-US" altLang="en-US" sz="1800" b="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conn.Cursor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5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6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 </a:t>
            </a:r>
            <a:r>
              <a:rPr lang="en-US" altLang="en-US" sz="1800" b="0" i="1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Perform database operations here.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7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8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except sqlite3.Error: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9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 </a:t>
            </a:r>
            <a:r>
              <a:rPr lang="en-US" altLang="en-US" sz="1800" b="0" i="1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Respond to the database exception.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11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12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except Exception: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13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14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 </a:t>
            </a:r>
            <a:r>
              <a:rPr lang="en-US" altLang="en-US" sz="1800" b="0" i="1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Respond to the general exception.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15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16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finally: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17     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conn != None: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1473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18         </a:t>
            </a:r>
            <a:r>
              <a:rPr lang="en-US" altLang="en-US" sz="1800" b="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conn.close</a:t>
            </a:r>
            <a:r>
              <a:rPr lang="en-US" altLang="en-US" sz="1800" b="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  <a:endParaRPr lang="en-US" altLang="en-US" sz="1200" b="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8E35EB30-39C6-4F6F-8B31-43A85D9D3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CRUD Operations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61FE017D-CD02-4E58-92BF-46D13F6D0E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CRUD: The four basic operations that a database application performs</a:t>
            </a:r>
            <a:endParaRPr lang="en-US" altLang="en-US" sz="2800" dirty="0"/>
          </a:p>
          <a:p>
            <a:pPr lvl="1"/>
            <a:r>
              <a:rPr lang="en-US" altLang="en-US" sz="2200" b="1" dirty="0"/>
              <a:t>Create</a:t>
            </a:r>
            <a:r>
              <a:rPr lang="en-US" altLang="en-US" sz="2200" dirty="0"/>
              <a:t>—The process of creating new set of data in the database. It is achieved with an SQL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altLang="en-US" sz="2200" dirty="0"/>
              <a:t> statement</a:t>
            </a:r>
          </a:p>
          <a:p>
            <a:pPr lvl="1"/>
            <a:r>
              <a:rPr lang="en-US" altLang="en-US" sz="2200" b="1" dirty="0"/>
              <a:t>Read</a:t>
            </a:r>
            <a:r>
              <a:rPr lang="en-US" altLang="en-US" sz="2200" dirty="0"/>
              <a:t>—The process of reading an existing set of data from the database. It is achieved with an SQL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sz="2200" dirty="0"/>
              <a:t> statement</a:t>
            </a:r>
          </a:p>
          <a:p>
            <a:pPr lvl="1"/>
            <a:r>
              <a:rPr lang="en-US" altLang="en-US" sz="2200" b="1" dirty="0"/>
              <a:t>Update</a:t>
            </a:r>
            <a:r>
              <a:rPr lang="en-US" altLang="en-US" sz="2200" dirty="0"/>
              <a:t>—The process of changing, or updating, an existing set of data in the database. It is achieved with an SQL </a:t>
            </a:r>
            <a:r>
              <a:rPr lang="en-US" altLang="en-US" sz="2200" dirty="0">
                <a:latin typeface="Courier New" panose="02070309020205020404" pitchFamily="49" charset="0"/>
              </a:rPr>
              <a:t>UPDATE</a:t>
            </a:r>
            <a:r>
              <a:rPr lang="en-US" altLang="en-US" sz="2200" dirty="0"/>
              <a:t> statement</a:t>
            </a:r>
          </a:p>
          <a:p>
            <a:pPr lvl="1"/>
            <a:r>
              <a:rPr lang="en-US" altLang="en-US" sz="2200" b="1" dirty="0"/>
              <a:t>Delete</a:t>
            </a:r>
            <a:r>
              <a:rPr lang="en-US" altLang="en-US" sz="2200" dirty="0"/>
              <a:t>—The process of deleting a set of data from the database. It is achieved with an SQL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en-US" sz="2200" dirty="0"/>
              <a:t> statement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79587E99-06E7-4B1A-A773-B15B4889D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Relational Data</a:t>
            </a:r>
            <a:r>
              <a:rPr lang="en-AU" sz="2000" b="0" dirty="0"/>
              <a:t> (1 of 4)</a:t>
            </a:r>
            <a:endParaRPr lang="en-US" altLang="en-US" sz="2000" dirty="0"/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0C46A725-491E-4322-A8FC-8753690514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In a relational database, a column from one table can be associated with a column from other tables</a:t>
            </a:r>
          </a:p>
          <a:p>
            <a:pPr>
              <a:buFontTx/>
              <a:buChar char="•"/>
            </a:pPr>
            <a:r>
              <a:rPr lang="en-US" altLang="en-US" dirty="0"/>
              <a:t>Relational design can reduce duplicated data within a database</a:t>
            </a:r>
          </a:p>
          <a:p>
            <a:pPr>
              <a:buFontTx/>
              <a:buChar char="•"/>
            </a:pPr>
            <a:r>
              <a:rPr lang="en-US" altLang="en-US" dirty="0"/>
              <a:t>Duplication of data can lead to problems</a:t>
            </a:r>
          </a:p>
          <a:p>
            <a:pPr lvl="1"/>
            <a:r>
              <a:rPr lang="en-US" altLang="en-US" sz="2400" dirty="0"/>
              <a:t>Wasted storage space</a:t>
            </a:r>
          </a:p>
          <a:p>
            <a:pPr lvl="1"/>
            <a:r>
              <a:rPr lang="en-US" altLang="en-US" sz="2400" dirty="0"/>
              <a:t>Can lead to inconsistent and conflicting data stored in the database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7130EDFA-55CD-425E-814B-6B08AF809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Relational Data</a:t>
            </a:r>
            <a:r>
              <a:rPr lang="en-AU" sz="2000" b="0" dirty="0"/>
              <a:t> (2 of 4)</a:t>
            </a:r>
            <a:endParaRPr lang="en-US" altLang="en-US" sz="2000" dirty="0"/>
          </a:p>
        </p:txBody>
      </p:sp>
      <p:sp>
        <p:nvSpPr>
          <p:cNvPr id="70659" name="Content Placeholder 11">
            <a:extLst>
              <a:ext uri="{FF2B5EF4-FFF2-40B4-BE49-F238E27FC236}">
                <a16:creationId xmlns:a16="http://schemas.microsoft.com/office/drawing/2014/main" id="{5EE24B00-7539-499D-9526-03AA6F7E7E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For example, the following table contains duplicated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DC7B86-C68B-41F5-B793-7EBFFDD4D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016568"/>
              </p:ext>
            </p:extLst>
          </p:nvPr>
        </p:nvGraphicFramePr>
        <p:xfrm>
          <a:off x="685800" y="3211513"/>
          <a:ext cx="7543800" cy="1951039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1545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5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Employee 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Name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Position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Department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City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Arlene Meyers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Director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Research and Development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San Jose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Janelle Grant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Engineer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Manufacturing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Austin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Jack Smith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Manager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Marketing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New York City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Sonia Alvarado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Auditor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Accounting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Boston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Renee Kincaid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Designer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Marketing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New York City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Curt Green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Supervisor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Manufacturing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Austin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0696" name="Oval 5">
            <a:extLst>
              <a:ext uri="{FF2B5EF4-FFF2-40B4-BE49-F238E27FC236}">
                <a16:creationId xmlns:a16="http://schemas.microsoft.com/office/drawing/2014/main" id="{8C0DCE98-3BF9-4E6C-A441-1E0632895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914775"/>
            <a:ext cx="1447800" cy="334963"/>
          </a:xfrm>
          <a:prstGeom prst="ellipse">
            <a:avLst/>
          </a:prstGeom>
          <a:noFill/>
          <a:ln w="31750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0697" name="Oval 6">
            <a:extLst>
              <a:ext uri="{FF2B5EF4-FFF2-40B4-BE49-F238E27FC236}">
                <a16:creationId xmlns:a16="http://schemas.microsoft.com/office/drawing/2014/main" id="{245709BC-18E4-4857-AE1D-8D60DD365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903788"/>
            <a:ext cx="1447800" cy="334962"/>
          </a:xfrm>
          <a:prstGeom prst="ellipse">
            <a:avLst/>
          </a:prstGeom>
          <a:noFill/>
          <a:ln w="31750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0698" name="Oval 7">
            <a:extLst>
              <a:ext uri="{FF2B5EF4-FFF2-40B4-BE49-F238E27FC236}">
                <a16:creationId xmlns:a16="http://schemas.microsoft.com/office/drawing/2014/main" id="{C8B26327-DFEE-4C04-806A-7941F303D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938" y="3914775"/>
            <a:ext cx="1447800" cy="287338"/>
          </a:xfrm>
          <a:prstGeom prst="ellipse">
            <a:avLst/>
          </a:prstGeom>
          <a:noFill/>
          <a:ln w="31750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0699" name="Oval 8">
            <a:extLst>
              <a:ext uri="{FF2B5EF4-FFF2-40B4-BE49-F238E27FC236}">
                <a16:creationId xmlns:a16="http://schemas.microsoft.com/office/drawing/2014/main" id="{FCA4BDCE-40CE-44F1-8193-2E8A7AB31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938" y="4630738"/>
            <a:ext cx="1447800" cy="288925"/>
          </a:xfrm>
          <a:prstGeom prst="ellipse">
            <a:avLst/>
          </a:prstGeom>
          <a:noFill/>
          <a:ln w="31750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0700" name="Oval 9">
            <a:extLst>
              <a:ext uri="{FF2B5EF4-FFF2-40B4-BE49-F238E27FC236}">
                <a16:creationId xmlns:a16="http://schemas.microsoft.com/office/drawing/2014/main" id="{67E6ACC9-8723-4590-9118-308A084D1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575" y="4179888"/>
            <a:ext cx="1447800" cy="288925"/>
          </a:xfrm>
          <a:prstGeom prst="ellipse">
            <a:avLst/>
          </a:prstGeom>
          <a:noFill/>
          <a:ln w="31750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0701" name="Oval 10">
            <a:extLst>
              <a:ext uri="{FF2B5EF4-FFF2-40B4-BE49-F238E27FC236}">
                <a16:creationId xmlns:a16="http://schemas.microsoft.com/office/drawing/2014/main" id="{193DA242-67D4-49EF-971D-AF5412398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575" y="4921250"/>
            <a:ext cx="1447800" cy="288925"/>
          </a:xfrm>
          <a:prstGeom prst="ellipse">
            <a:avLst/>
          </a:prstGeom>
          <a:noFill/>
          <a:ln w="31750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6E3A1066-83D1-4E10-BE3F-845D97F95D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Relational Data</a:t>
            </a:r>
            <a:r>
              <a:rPr lang="en-AU" sz="2000" b="0" dirty="0"/>
              <a:t> (3 of 4)</a:t>
            </a:r>
            <a:endParaRPr lang="en-US" altLang="en-US" sz="2000" dirty="0"/>
          </a:p>
        </p:txBody>
      </p:sp>
      <p:sp>
        <p:nvSpPr>
          <p:cNvPr id="71683" name="Content Placeholder 11">
            <a:extLst>
              <a:ext uri="{FF2B5EF4-FFF2-40B4-BE49-F238E27FC236}">
                <a16:creationId xmlns:a16="http://schemas.microsoft.com/office/drawing/2014/main" id="{4C977F4D-71A7-4BE5-AFB4-20558EA9CF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In a relational design we would separate the data into multiple tables </a:t>
            </a:r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7822C3-EF42-48CC-BF54-7C7BF47F2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971453"/>
              </p:ext>
            </p:extLst>
          </p:nvPr>
        </p:nvGraphicFramePr>
        <p:xfrm>
          <a:off x="533400" y="3581400"/>
          <a:ext cx="2057400" cy="111283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Departments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42EA2150-0683-41B9-A376-F0C751C7B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989604"/>
              </p:ext>
            </p:extLst>
          </p:nvPr>
        </p:nvGraphicFramePr>
        <p:xfrm>
          <a:off x="3543300" y="3581400"/>
          <a:ext cx="2057400" cy="222567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Employees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EmployeeID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Position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DepartmentID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LocationID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D9C20022-8D5D-44F4-9456-D5BCB0DC3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91108"/>
              </p:ext>
            </p:extLst>
          </p:nvPr>
        </p:nvGraphicFramePr>
        <p:xfrm>
          <a:off x="6553200" y="3581400"/>
          <a:ext cx="2057400" cy="111283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Locations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LocationID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City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1720" name="Group 16">
            <a:extLst>
              <a:ext uri="{FF2B5EF4-FFF2-40B4-BE49-F238E27FC236}">
                <a16:creationId xmlns:a16="http://schemas.microsoft.com/office/drawing/2014/main" id="{C30B50C9-6C74-4159-8019-6314BD7CAE4B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133850"/>
            <a:ext cx="952500" cy="1123950"/>
            <a:chOff x="2590800" y="4133850"/>
            <a:chExt cx="952500" cy="1123950"/>
          </a:xfrm>
        </p:grpSpPr>
        <p:cxnSp>
          <p:nvCxnSpPr>
            <p:cNvPr id="71725" name="Straight Connector 17">
              <a:extLst>
                <a:ext uri="{FF2B5EF4-FFF2-40B4-BE49-F238E27FC236}">
                  <a16:creationId xmlns:a16="http://schemas.microsoft.com/office/drawing/2014/main" id="{B5C1FD11-D347-4221-B70B-993950B4CF5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0800" y="4137660"/>
              <a:ext cx="381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1726" name="Straight Connector 18">
              <a:extLst>
                <a:ext uri="{FF2B5EF4-FFF2-40B4-BE49-F238E27FC236}">
                  <a16:creationId xmlns:a16="http://schemas.microsoft.com/office/drawing/2014/main" id="{36470739-0245-466E-A7E7-D6A7023CC1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133850"/>
              <a:ext cx="0" cy="112014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1727" name="Straight Connector 19">
              <a:extLst>
                <a:ext uri="{FF2B5EF4-FFF2-40B4-BE49-F238E27FC236}">
                  <a16:creationId xmlns:a16="http://schemas.microsoft.com/office/drawing/2014/main" id="{5C2D690F-36D9-4A9D-B053-87D766B675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71800" y="5253990"/>
              <a:ext cx="5715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71721" name="Group 20">
            <a:extLst>
              <a:ext uri="{FF2B5EF4-FFF2-40B4-BE49-F238E27FC236}">
                <a16:creationId xmlns:a16="http://schemas.microsoft.com/office/drawing/2014/main" id="{40F3EB3E-525E-4547-9D8F-E5580634DA52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4133850"/>
            <a:ext cx="952500" cy="1477963"/>
            <a:chOff x="5600700" y="4133850"/>
            <a:chExt cx="952500" cy="1478316"/>
          </a:xfrm>
        </p:grpSpPr>
        <p:cxnSp>
          <p:nvCxnSpPr>
            <p:cNvPr id="71722" name="Straight Connector 21">
              <a:extLst>
                <a:ext uri="{FF2B5EF4-FFF2-40B4-BE49-F238E27FC236}">
                  <a16:creationId xmlns:a16="http://schemas.microsoft.com/office/drawing/2014/main" id="{CAE4AF6F-2263-4B90-BAC2-D7B6BF98A47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00700" y="5612166"/>
              <a:ext cx="4953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1723" name="Straight Connector 22">
              <a:extLst>
                <a:ext uri="{FF2B5EF4-FFF2-40B4-BE49-F238E27FC236}">
                  <a16:creationId xmlns:a16="http://schemas.microsoft.com/office/drawing/2014/main" id="{FD3B46B5-7005-439E-87B3-E2FC84F1601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096000" y="4133850"/>
              <a:ext cx="0" cy="147831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1724" name="Straight Connector 23">
              <a:extLst>
                <a:ext uri="{FF2B5EF4-FFF2-40B4-BE49-F238E27FC236}">
                  <a16:creationId xmlns:a16="http://schemas.microsoft.com/office/drawing/2014/main" id="{338D213A-2032-4218-AB2B-320D6BACBB2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96000" y="4133850"/>
              <a:ext cx="4572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159B0E7C-D88E-4119-BC73-036E145CDD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Relational Data</a:t>
            </a:r>
            <a:r>
              <a:rPr lang="en-AU" sz="2000" b="0" dirty="0"/>
              <a:t> (4 of 4)</a:t>
            </a:r>
            <a:endParaRPr lang="en-US" altLang="en-US" sz="2000" dirty="0"/>
          </a:p>
        </p:txBody>
      </p:sp>
      <p:sp>
        <p:nvSpPr>
          <p:cNvPr id="72707" name="Content Placeholder 11">
            <a:extLst>
              <a:ext uri="{FF2B5EF4-FFF2-40B4-BE49-F238E27FC236}">
                <a16:creationId xmlns:a16="http://schemas.microsoft.com/office/drawing/2014/main" id="{E6FD7F1C-4082-41A5-8AEC-43881B557A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When a row is added to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altLang="en-US" dirty="0"/>
              <a:t> table:</a:t>
            </a:r>
          </a:p>
          <a:p>
            <a:pPr lvl="1"/>
            <a:r>
              <a:rPr lang="en-US" altLang="en-US" sz="2200" dirty="0"/>
              <a:t>Instead of storing a department name, we store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DepartmentID</a:t>
            </a:r>
            <a:r>
              <a:rPr lang="en-US" altLang="en-US" sz="2200" dirty="0"/>
              <a:t> of the employee’s department</a:t>
            </a:r>
          </a:p>
          <a:p>
            <a:pPr lvl="1"/>
            <a:r>
              <a:rPr lang="en-US" altLang="en-US" sz="2200" dirty="0"/>
              <a:t>Instead of storing the name of a city, we store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LocationID</a:t>
            </a:r>
            <a:r>
              <a:rPr lang="en-US" altLang="en-US" sz="2200" dirty="0"/>
              <a:t> of the employee’s department</a:t>
            </a:r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E6401B28-335D-4B0F-A8F2-9195A092F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718858"/>
              </p:ext>
            </p:extLst>
          </p:nvPr>
        </p:nvGraphicFramePr>
        <p:xfrm>
          <a:off x="2051050" y="3886200"/>
          <a:ext cx="1306513" cy="134059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30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31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Departments Table</a:t>
                      </a:r>
                    </a:p>
                  </a:txBody>
                  <a:tcPr marL="50659" marR="50659" marT="25313" marB="2531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31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/>
                        <a:t>DepartmentID</a:t>
                      </a:r>
                      <a:r>
                        <a:rPr lang="en-US" sz="1300" dirty="0"/>
                        <a:t> (PK)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50659" marR="50659" marT="25313" marB="253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31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/>
                        <a:t>DepartmentName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50659" marR="50659" marT="25313" marB="253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7DA752C0-F744-4261-821F-0575246B6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421147"/>
              </p:ext>
            </p:extLst>
          </p:nvPr>
        </p:nvGraphicFramePr>
        <p:xfrm>
          <a:off x="3886200" y="3886200"/>
          <a:ext cx="1139825" cy="22243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5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Employees Table</a:t>
                      </a:r>
                    </a:p>
                  </a:txBody>
                  <a:tcPr marL="50659" marR="50659" marT="25346" marB="25346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EmployeeID</a:t>
                      </a:r>
                      <a:r>
                        <a:rPr lang="en-US" sz="1400" dirty="0"/>
                        <a:t> (PK)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50659" marR="50659" marT="25346" marB="253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50659" marR="50659" marT="25346" marB="253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Position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50659" marR="50659" marT="25346" marB="2534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DepartmentID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50659" marR="50659" marT="25346" marB="2534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5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LocationID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50659" marR="50659" marT="25346" marB="2534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FCB4AF79-7CD7-4F84-90BA-F4174CF97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762615"/>
              </p:ext>
            </p:extLst>
          </p:nvPr>
        </p:nvGraphicFramePr>
        <p:xfrm>
          <a:off x="5711825" y="3859213"/>
          <a:ext cx="1139825" cy="121906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8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Locations Table</a:t>
                      </a:r>
                    </a:p>
                  </a:txBody>
                  <a:tcPr marL="50659" marR="50659" marT="25378" marB="25378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LocationID</a:t>
                      </a:r>
                      <a:r>
                        <a:rPr lang="en-US" sz="1400" dirty="0"/>
                        <a:t> (PK)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50659" marR="50659" marT="25378" marB="2537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City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50659" marR="50659" marT="25378" marB="2537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2744" name="Group 16">
            <a:extLst>
              <a:ext uri="{FF2B5EF4-FFF2-40B4-BE49-F238E27FC236}">
                <a16:creationId xmlns:a16="http://schemas.microsoft.com/office/drawing/2014/main" id="{3E4A66F7-F050-41CD-9FCA-D4FA6301B65D}"/>
              </a:ext>
            </a:extLst>
          </p:cNvPr>
          <p:cNvGrpSpPr>
            <a:grpSpLocks/>
          </p:cNvGrpSpPr>
          <p:nvPr/>
        </p:nvGrpSpPr>
        <p:grpSpPr bwMode="auto">
          <a:xfrm>
            <a:off x="3357563" y="4191000"/>
            <a:ext cx="527050" cy="622300"/>
            <a:chOff x="2590800" y="4133850"/>
            <a:chExt cx="952500" cy="1123950"/>
          </a:xfrm>
        </p:grpSpPr>
        <p:cxnSp>
          <p:nvCxnSpPr>
            <p:cNvPr id="72749" name="Straight Connector 17">
              <a:extLst>
                <a:ext uri="{FF2B5EF4-FFF2-40B4-BE49-F238E27FC236}">
                  <a16:creationId xmlns:a16="http://schemas.microsoft.com/office/drawing/2014/main" id="{CBE69A8D-1D3E-4CE2-BCB3-6ACDF059A7B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0800" y="4137660"/>
              <a:ext cx="381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2750" name="Straight Connector 18">
              <a:extLst>
                <a:ext uri="{FF2B5EF4-FFF2-40B4-BE49-F238E27FC236}">
                  <a16:creationId xmlns:a16="http://schemas.microsoft.com/office/drawing/2014/main" id="{9BC3A49A-6C67-4E68-8425-BFBDF51975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133850"/>
              <a:ext cx="0" cy="112014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2751" name="Straight Connector 19">
              <a:extLst>
                <a:ext uri="{FF2B5EF4-FFF2-40B4-BE49-F238E27FC236}">
                  <a16:creationId xmlns:a16="http://schemas.microsoft.com/office/drawing/2014/main" id="{751E137A-9A16-4BB4-8D0E-262901D00C4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71800" y="5253990"/>
              <a:ext cx="5715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72745" name="Group 20">
            <a:extLst>
              <a:ext uri="{FF2B5EF4-FFF2-40B4-BE49-F238E27FC236}">
                <a16:creationId xmlns:a16="http://schemas.microsoft.com/office/drawing/2014/main" id="{07B06F29-396E-435D-A4B4-59C6A8288D0C}"/>
              </a:ext>
            </a:extLst>
          </p:cNvPr>
          <p:cNvGrpSpPr>
            <a:grpSpLocks/>
          </p:cNvGrpSpPr>
          <p:nvPr/>
        </p:nvGrpSpPr>
        <p:grpSpPr bwMode="auto">
          <a:xfrm>
            <a:off x="5019675" y="4183063"/>
            <a:ext cx="681038" cy="819150"/>
            <a:chOff x="5600700" y="4133850"/>
            <a:chExt cx="1229264" cy="1478316"/>
          </a:xfrm>
        </p:grpSpPr>
        <p:cxnSp>
          <p:nvCxnSpPr>
            <p:cNvPr id="72746" name="Straight Connector 21">
              <a:extLst>
                <a:ext uri="{FF2B5EF4-FFF2-40B4-BE49-F238E27FC236}">
                  <a16:creationId xmlns:a16="http://schemas.microsoft.com/office/drawing/2014/main" id="{802FB6D8-CC99-4C94-946A-885EA7ECD60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00700" y="5612166"/>
              <a:ext cx="4953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2747" name="Straight Connector 22">
              <a:extLst>
                <a:ext uri="{FF2B5EF4-FFF2-40B4-BE49-F238E27FC236}">
                  <a16:creationId xmlns:a16="http://schemas.microsoft.com/office/drawing/2014/main" id="{CED46A93-93EA-4870-90BA-B15C81F35B0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096000" y="4133850"/>
              <a:ext cx="0" cy="147831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2748" name="Straight Connector 23">
              <a:extLst>
                <a:ext uri="{FF2B5EF4-FFF2-40B4-BE49-F238E27FC236}">
                  <a16:creationId xmlns:a16="http://schemas.microsoft.com/office/drawing/2014/main" id="{D33D4AF8-9B35-4BC1-8CE9-69ECA8F491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96000" y="4133852"/>
              <a:ext cx="733964" cy="1416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C301D8B1-9C37-4EFB-B79E-FAD2D0678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Foreign Keys</a:t>
            </a:r>
            <a:r>
              <a:rPr lang="en-AU" sz="2000" b="0" dirty="0"/>
              <a:t> (1 of 3)</a:t>
            </a:r>
            <a:endParaRPr lang="en-US" altLang="en-US" sz="2000" dirty="0"/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74CDE9E6-64BA-48E1-AE84-435EBF84FA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382000" cy="4525963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A foreign key is a column in one table that references a primary key in another table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CF36AFB-5331-4C6A-AD99-31DA8F337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782656"/>
              </p:ext>
            </p:extLst>
          </p:nvPr>
        </p:nvGraphicFramePr>
        <p:xfrm>
          <a:off x="533400" y="3581400"/>
          <a:ext cx="2057400" cy="111283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Departments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5F2FEB-12C6-4BA1-ACCF-5CB607AEC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809782"/>
              </p:ext>
            </p:extLst>
          </p:nvPr>
        </p:nvGraphicFramePr>
        <p:xfrm>
          <a:off x="3543300" y="3581400"/>
          <a:ext cx="2057400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Employees Table</a:t>
                      </a:r>
                    </a:p>
                  </a:txBody>
                  <a:tcPr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EmployeeID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Position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DepartmentID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 (FK)</a:t>
                      </a:r>
                      <a:endParaRPr lang="en-US" sz="16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LocationID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 (FK)</a:t>
                      </a:r>
                      <a:endParaRPr lang="en-US" sz="16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04594EB-210A-4DA0-BC8F-E4A7AFECD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580899"/>
              </p:ext>
            </p:extLst>
          </p:nvPr>
        </p:nvGraphicFramePr>
        <p:xfrm>
          <a:off x="6553200" y="3581400"/>
          <a:ext cx="2057400" cy="111283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Locations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LocationID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City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3753" name="Group 6">
            <a:extLst>
              <a:ext uri="{FF2B5EF4-FFF2-40B4-BE49-F238E27FC236}">
                <a16:creationId xmlns:a16="http://schemas.microsoft.com/office/drawing/2014/main" id="{7F2A8CA2-9993-4FD4-A8A8-9F8A72085127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133850"/>
            <a:ext cx="952500" cy="1123950"/>
            <a:chOff x="2590800" y="4133850"/>
            <a:chExt cx="952500" cy="1123950"/>
          </a:xfrm>
        </p:grpSpPr>
        <p:cxnSp>
          <p:nvCxnSpPr>
            <p:cNvPr id="73758" name="Straight Connector 7">
              <a:extLst>
                <a:ext uri="{FF2B5EF4-FFF2-40B4-BE49-F238E27FC236}">
                  <a16:creationId xmlns:a16="http://schemas.microsoft.com/office/drawing/2014/main" id="{53CC05E2-6C19-4001-AFD6-C3258762A9A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0800" y="4137660"/>
              <a:ext cx="381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3759" name="Straight Connector 8">
              <a:extLst>
                <a:ext uri="{FF2B5EF4-FFF2-40B4-BE49-F238E27FC236}">
                  <a16:creationId xmlns:a16="http://schemas.microsoft.com/office/drawing/2014/main" id="{780C5B1F-825D-42AD-A6A6-0E45D9579C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133850"/>
              <a:ext cx="0" cy="112014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3760" name="Straight Connector 9">
              <a:extLst>
                <a:ext uri="{FF2B5EF4-FFF2-40B4-BE49-F238E27FC236}">
                  <a16:creationId xmlns:a16="http://schemas.microsoft.com/office/drawing/2014/main" id="{98A00883-24ED-4F90-9759-DB116733CDC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71800" y="5253990"/>
              <a:ext cx="5715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73754" name="Group 10">
            <a:extLst>
              <a:ext uri="{FF2B5EF4-FFF2-40B4-BE49-F238E27FC236}">
                <a16:creationId xmlns:a16="http://schemas.microsoft.com/office/drawing/2014/main" id="{400D63A8-F315-4318-A970-58FF76E85A7F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4133850"/>
            <a:ext cx="952500" cy="1477963"/>
            <a:chOff x="5600700" y="4133850"/>
            <a:chExt cx="952500" cy="1478316"/>
          </a:xfrm>
        </p:grpSpPr>
        <p:cxnSp>
          <p:nvCxnSpPr>
            <p:cNvPr id="73755" name="Straight Connector 11">
              <a:extLst>
                <a:ext uri="{FF2B5EF4-FFF2-40B4-BE49-F238E27FC236}">
                  <a16:creationId xmlns:a16="http://schemas.microsoft.com/office/drawing/2014/main" id="{C14B7E51-538F-4745-8234-C4BB5094CDE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00700" y="5612166"/>
              <a:ext cx="4953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3756" name="Straight Connector 12">
              <a:extLst>
                <a:ext uri="{FF2B5EF4-FFF2-40B4-BE49-F238E27FC236}">
                  <a16:creationId xmlns:a16="http://schemas.microsoft.com/office/drawing/2014/main" id="{4050D025-5DB6-4409-B0D3-6A9DD4E804F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096000" y="4133850"/>
              <a:ext cx="0" cy="147831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3757" name="Straight Connector 13">
              <a:extLst>
                <a:ext uri="{FF2B5EF4-FFF2-40B4-BE49-F238E27FC236}">
                  <a16:creationId xmlns:a16="http://schemas.microsoft.com/office/drawing/2014/main" id="{8E34D7DC-D31E-4A4E-9B81-FB5E163ADC6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96000" y="4133850"/>
              <a:ext cx="4572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C4A07ADD-7988-4246-8016-286196A87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Foreign Keys</a:t>
            </a:r>
            <a:r>
              <a:rPr lang="en-AU" sz="2000" b="0" dirty="0"/>
              <a:t> (2 of 3)</a:t>
            </a:r>
            <a:endParaRPr lang="en-US" altLang="en-US" sz="2000" dirty="0"/>
          </a:p>
        </p:txBody>
      </p:sp>
      <p:sp>
        <p:nvSpPr>
          <p:cNvPr id="74755" name="Content Placeholder 2">
            <a:extLst>
              <a:ext uri="{FF2B5EF4-FFF2-40B4-BE49-F238E27FC236}">
                <a16:creationId xmlns:a16="http://schemas.microsoft.com/office/drawing/2014/main" id="{2B226735-3416-4080-A926-C62263EBB6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382000" cy="4525963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When a row is added to the </a:t>
            </a:r>
            <a:r>
              <a:rPr lang="en-US" altLang="en-US" sz="2400" dirty="0">
                <a:latin typeface="Courier New" panose="02070309020205020404" pitchFamily="49" charset="0"/>
              </a:rPr>
              <a:t>Employees</a:t>
            </a:r>
            <a:r>
              <a:rPr lang="en-US" altLang="en-US" sz="2400" dirty="0"/>
              <a:t> table, the value stored in the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DepartmentID</a:t>
            </a:r>
            <a:r>
              <a:rPr lang="en-US" altLang="en-US" sz="2400" dirty="0"/>
              <a:t> column must match a value already stored in the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DepartmentID</a:t>
            </a:r>
            <a:r>
              <a:rPr lang="en-US" altLang="en-US" sz="2400" dirty="0"/>
              <a:t> column of the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altLang="en-US" sz="2400" dirty="0"/>
              <a:t> table</a:t>
            </a:r>
          </a:p>
          <a:p>
            <a:pPr lvl="1"/>
            <a:r>
              <a:rPr lang="en-US" altLang="en-US" sz="2200" dirty="0"/>
              <a:t>This creates a relationship between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altLang="en-US" sz="2200" dirty="0"/>
              <a:t> table and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altLang="en-US" sz="2200" dirty="0"/>
              <a:t> table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FFCE218-A861-4216-AFA4-C92DD2D63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029749"/>
              </p:ext>
            </p:extLst>
          </p:nvPr>
        </p:nvGraphicFramePr>
        <p:xfrm>
          <a:off x="533400" y="4114800"/>
          <a:ext cx="2057400" cy="111283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Departments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1665EE-BA48-45D1-84D5-D39DE4D98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102531"/>
              </p:ext>
            </p:extLst>
          </p:nvPr>
        </p:nvGraphicFramePr>
        <p:xfrm>
          <a:off x="3543300" y="4114800"/>
          <a:ext cx="2057400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Employees Table</a:t>
                      </a:r>
                    </a:p>
                  </a:txBody>
                  <a:tcPr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EmployeeID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Position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DepartmentID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 (FK)</a:t>
                      </a:r>
                      <a:endParaRPr lang="en-US" sz="16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LocationID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 (FK)</a:t>
                      </a:r>
                      <a:endParaRPr lang="en-US" sz="16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E3CC16B4-4580-4053-B6E4-E23F62E17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8854"/>
              </p:ext>
            </p:extLst>
          </p:nvPr>
        </p:nvGraphicFramePr>
        <p:xfrm>
          <a:off x="6553200" y="4114800"/>
          <a:ext cx="2057400" cy="111283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Locations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LocationID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City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4777" name="Group 6">
            <a:extLst>
              <a:ext uri="{FF2B5EF4-FFF2-40B4-BE49-F238E27FC236}">
                <a16:creationId xmlns:a16="http://schemas.microsoft.com/office/drawing/2014/main" id="{F59820D0-7D13-4EFB-AB38-BFF529D241D0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667250"/>
            <a:ext cx="952500" cy="1123950"/>
            <a:chOff x="2590800" y="4133850"/>
            <a:chExt cx="952500" cy="1123950"/>
          </a:xfrm>
        </p:grpSpPr>
        <p:cxnSp>
          <p:nvCxnSpPr>
            <p:cNvPr id="74782" name="Straight Connector 7">
              <a:extLst>
                <a:ext uri="{FF2B5EF4-FFF2-40B4-BE49-F238E27FC236}">
                  <a16:creationId xmlns:a16="http://schemas.microsoft.com/office/drawing/2014/main" id="{F3F8F4B7-83CD-4EFC-B543-7130D3D1E93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0800" y="4137660"/>
              <a:ext cx="381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4783" name="Straight Connector 8">
              <a:extLst>
                <a:ext uri="{FF2B5EF4-FFF2-40B4-BE49-F238E27FC236}">
                  <a16:creationId xmlns:a16="http://schemas.microsoft.com/office/drawing/2014/main" id="{7B4EEE31-9C2D-4A94-851A-2793F22B09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133850"/>
              <a:ext cx="0" cy="112014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4784" name="Straight Connector 9">
              <a:extLst>
                <a:ext uri="{FF2B5EF4-FFF2-40B4-BE49-F238E27FC236}">
                  <a16:creationId xmlns:a16="http://schemas.microsoft.com/office/drawing/2014/main" id="{3C289155-68B5-4F13-93B2-CFF50A44F1B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71800" y="5253990"/>
              <a:ext cx="5715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74778" name="Group 10">
            <a:extLst>
              <a:ext uri="{FF2B5EF4-FFF2-40B4-BE49-F238E27FC236}">
                <a16:creationId xmlns:a16="http://schemas.microsoft.com/office/drawing/2014/main" id="{4BCEBA4F-EDAF-42D7-B3D2-F7AE2D442B7C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4667250"/>
            <a:ext cx="952500" cy="1477963"/>
            <a:chOff x="5600700" y="4133850"/>
            <a:chExt cx="952500" cy="1478316"/>
          </a:xfrm>
        </p:grpSpPr>
        <p:cxnSp>
          <p:nvCxnSpPr>
            <p:cNvPr id="74779" name="Straight Connector 11">
              <a:extLst>
                <a:ext uri="{FF2B5EF4-FFF2-40B4-BE49-F238E27FC236}">
                  <a16:creationId xmlns:a16="http://schemas.microsoft.com/office/drawing/2014/main" id="{630A48E2-B7C3-42E0-938A-69FF503A495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00700" y="5612166"/>
              <a:ext cx="4953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4780" name="Straight Connector 12">
              <a:extLst>
                <a:ext uri="{FF2B5EF4-FFF2-40B4-BE49-F238E27FC236}">
                  <a16:creationId xmlns:a16="http://schemas.microsoft.com/office/drawing/2014/main" id="{B099127D-04B5-4A3E-B153-FAE252B5BB1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096000" y="4133850"/>
              <a:ext cx="0" cy="147831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4781" name="Straight Connector 13">
              <a:extLst>
                <a:ext uri="{FF2B5EF4-FFF2-40B4-BE49-F238E27FC236}">
                  <a16:creationId xmlns:a16="http://schemas.microsoft.com/office/drawing/2014/main" id="{1D202F97-BDD2-4900-AAF3-44949EE287B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96000" y="4144058"/>
              <a:ext cx="4572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740F185A-FA43-4B7D-815F-8B53BDAC3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Foreign Keys</a:t>
            </a:r>
            <a:r>
              <a:rPr lang="en-AU" sz="2000" b="0" dirty="0"/>
              <a:t> (3 of 3)</a:t>
            </a:r>
            <a:endParaRPr lang="en-US" altLang="en-US" sz="2000" dirty="0"/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37466E8B-5448-4352-9E8E-17D8C90256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382000" cy="4525963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Likewise, the value stored in the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LocationID</a:t>
            </a:r>
            <a:r>
              <a:rPr lang="en-US" altLang="en-US" sz="2400" dirty="0"/>
              <a:t> column of the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altLang="en-US" sz="2400" dirty="0"/>
              <a:t> table must match a value already stored in the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LocationID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/>
              <a:t>column of the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Locations</a:t>
            </a:r>
            <a:r>
              <a:rPr lang="en-US" altLang="en-US" sz="2400" dirty="0"/>
              <a:t> table</a:t>
            </a:r>
          </a:p>
          <a:p>
            <a:pPr lvl="1"/>
            <a:r>
              <a:rPr lang="en-US" altLang="en-US" sz="2200" dirty="0"/>
              <a:t>This creates a relationship between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altLang="en-US" sz="2200" dirty="0"/>
              <a:t> table and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Locations</a:t>
            </a:r>
            <a:r>
              <a:rPr lang="en-US" altLang="en-US" sz="2200" dirty="0"/>
              <a:t> table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F59B9ED-683D-4CAC-ABB3-48BE83D7A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995756"/>
              </p:ext>
            </p:extLst>
          </p:nvPr>
        </p:nvGraphicFramePr>
        <p:xfrm>
          <a:off x="533400" y="3886200"/>
          <a:ext cx="2057400" cy="111283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Departments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823D6B-0623-4048-9B54-E086A09B8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998922"/>
              </p:ext>
            </p:extLst>
          </p:nvPr>
        </p:nvGraphicFramePr>
        <p:xfrm>
          <a:off x="3543300" y="3886200"/>
          <a:ext cx="2057400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Employees Table</a:t>
                      </a:r>
                    </a:p>
                  </a:txBody>
                  <a:tcPr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EmployeeID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Position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DepartmentID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 (FK)</a:t>
                      </a:r>
                      <a:endParaRPr lang="en-US" sz="16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LocationID</a:t>
                      </a:r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 (FK)</a:t>
                      </a:r>
                      <a:endParaRPr lang="en-US" sz="16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6AA9919-DA07-407B-8FDF-3B6FB7EDE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93930"/>
              </p:ext>
            </p:extLst>
          </p:nvPr>
        </p:nvGraphicFramePr>
        <p:xfrm>
          <a:off x="6553200" y="3886200"/>
          <a:ext cx="2057400" cy="111283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Locations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LocationID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City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5801" name="Group 6">
            <a:extLst>
              <a:ext uri="{FF2B5EF4-FFF2-40B4-BE49-F238E27FC236}">
                <a16:creationId xmlns:a16="http://schemas.microsoft.com/office/drawing/2014/main" id="{DB2C5071-E2FE-423C-8BF4-6BFDC2D0CCA1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438650"/>
            <a:ext cx="952500" cy="1123950"/>
            <a:chOff x="2590800" y="4133850"/>
            <a:chExt cx="952500" cy="1123950"/>
          </a:xfrm>
        </p:grpSpPr>
        <p:cxnSp>
          <p:nvCxnSpPr>
            <p:cNvPr id="75806" name="Straight Connector 7">
              <a:extLst>
                <a:ext uri="{FF2B5EF4-FFF2-40B4-BE49-F238E27FC236}">
                  <a16:creationId xmlns:a16="http://schemas.microsoft.com/office/drawing/2014/main" id="{8C747742-0E3D-4560-94C8-882BDE67118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0800" y="4137660"/>
              <a:ext cx="381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5807" name="Straight Connector 8">
              <a:extLst>
                <a:ext uri="{FF2B5EF4-FFF2-40B4-BE49-F238E27FC236}">
                  <a16:creationId xmlns:a16="http://schemas.microsoft.com/office/drawing/2014/main" id="{54F50BF5-81AF-4D38-BF6A-8D1C92A674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133850"/>
              <a:ext cx="0" cy="112014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5808" name="Straight Connector 9">
              <a:extLst>
                <a:ext uri="{FF2B5EF4-FFF2-40B4-BE49-F238E27FC236}">
                  <a16:creationId xmlns:a16="http://schemas.microsoft.com/office/drawing/2014/main" id="{4B6DF249-C1A6-48E2-A645-283EB049F8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71800" y="5253990"/>
              <a:ext cx="5715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75802" name="Group 10">
            <a:extLst>
              <a:ext uri="{FF2B5EF4-FFF2-40B4-BE49-F238E27FC236}">
                <a16:creationId xmlns:a16="http://schemas.microsoft.com/office/drawing/2014/main" id="{1938F7BF-AF39-45DB-86DB-3520616428B5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4438650"/>
            <a:ext cx="952500" cy="1477963"/>
            <a:chOff x="5600700" y="4133850"/>
            <a:chExt cx="952500" cy="1478316"/>
          </a:xfrm>
        </p:grpSpPr>
        <p:cxnSp>
          <p:nvCxnSpPr>
            <p:cNvPr id="75803" name="Straight Connector 11">
              <a:extLst>
                <a:ext uri="{FF2B5EF4-FFF2-40B4-BE49-F238E27FC236}">
                  <a16:creationId xmlns:a16="http://schemas.microsoft.com/office/drawing/2014/main" id="{683E45E8-FA06-4475-8FB5-51EFF4039FF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00700" y="5612166"/>
              <a:ext cx="4953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5804" name="Straight Connector 12">
              <a:extLst>
                <a:ext uri="{FF2B5EF4-FFF2-40B4-BE49-F238E27FC236}">
                  <a16:creationId xmlns:a16="http://schemas.microsoft.com/office/drawing/2014/main" id="{7B8C0D61-860A-42B6-95DD-F0960983B17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096000" y="4133850"/>
              <a:ext cx="0" cy="147831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5805" name="Straight Connector 13">
              <a:extLst>
                <a:ext uri="{FF2B5EF4-FFF2-40B4-BE49-F238E27FC236}">
                  <a16:creationId xmlns:a16="http://schemas.microsoft.com/office/drawing/2014/main" id="{C24E3FAA-D12E-4085-B7BC-AE18D5C1DB4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96000" y="4135180"/>
              <a:ext cx="4572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AAC66B26-4FA6-4555-B3C0-AB3976105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Entity Relationship Diagrams</a:t>
            </a:r>
          </a:p>
        </p:txBody>
      </p:sp>
      <p:sp>
        <p:nvSpPr>
          <p:cNvPr id="76803" name="Content Placeholder 2">
            <a:extLst>
              <a:ext uri="{FF2B5EF4-FFF2-40B4-BE49-F238E27FC236}">
                <a16:creationId xmlns:a16="http://schemas.microsoft.com/office/drawing/2014/main" id="{23506218-9859-4CE5-9F5B-665639E828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382000" cy="4525963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In the diagram, 1 means </a:t>
            </a:r>
            <a:r>
              <a:rPr lang="en-US" altLang="en-US" sz="2400" i="1" dirty="0"/>
              <a:t>one</a:t>
            </a:r>
            <a:r>
              <a:rPr lang="en-US" altLang="en-US" sz="2400" dirty="0"/>
              <a:t> and ∞ means </a:t>
            </a:r>
            <a:r>
              <a:rPr lang="en-US" altLang="en-US" sz="2400" i="1" dirty="0"/>
              <a:t>many</a:t>
            </a:r>
            <a:endParaRPr lang="en-US" altLang="en-US" sz="2400" dirty="0"/>
          </a:p>
          <a:p>
            <a:pPr>
              <a:buFontTx/>
              <a:buChar char="•"/>
            </a:pPr>
            <a:r>
              <a:rPr lang="en-US" altLang="en-US" sz="2400" dirty="0"/>
              <a:t>1 </a:t>
            </a:r>
            <a:r>
              <a:rPr lang="en-US" altLang="en-US" sz="2400" dirty="0">
                <a:sym typeface="Symbol" panose="05050102010706020507" pitchFamily="18" charset="2"/>
              </a:rPr>
              <a:t> </a:t>
            </a:r>
            <a:r>
              <a:rPr lang="en-US" altLang="en-US" sz="2400" dirty="0"/>
              <a:t>∞ indicates a </a:t>
            </a:r>
            <a:r>
              <a:rPr lang="en-US" altLang="en-US" sz="2400" i="1" dirty="0"/>
              <a:t>one to many </a:t>
            </a:r>
            <a:r>
              <a:rPr lang="en-US" altLang="en-US" sz="2400" dirty="0"/>
              <a:t>relationship</a:t>
            </a:r>
          </a:p>
          <a:p>
            <a:pPr>
              <a:buFontTx/>
              <a:buChar char="•"/>
            </a:pPr>
            <a:r>
              <a:rPr lang="en-US" altLang="en-US" sz="2400" dirty="0"/>
              <a:t>∞ </a:t>
            </a:r>
            <a:r>
              <a:rPr lang="en-US" altLang="en-US" sz="2400" dirty="0">
                <a:sym typeface="Symbol" panose="05050102010706020507" pitchFamily="18" charset="2"/>
              </a:rPr>
              <a:t> </a:t>
            </a:r>
            <a:r>
              <a:rPr lang="en-US" altLang="en-US" sz="2400" dirty="0"/>
              <a:t>1 indicates a </a:t>
            </a:r>
            <a:r>
              <a:rPr lang="en-US" altLang="en-US" sz="2400" i="1" dirty="0"/>
              <a:t>many to one </a:t>
            </a:r>
            <a:r>
              <a:rPr lang="en-US" altLang="en-US" sz="2400" dirty="0"/>
              <a:t>relationship</a:t>
            </a:r>
          </a:p>
          <a:p>
            <a:pPr>
              <a:buFontTx/>
              <a:buChar char="•"/>
            </a:pPr>
            <a:endParaRPr lang="en-US" altLang="en-US" sz="2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480BC83-F8F9-4AEE-9544-80C411C74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536172"/>
              </p:ext>
            </p:extLst>
          </p:nvPr>
        </p:nvGraphicFramePr>
        <p:xfrm>
          <a:off x="533400" y="3581400"/>
          <a:ext cx="2057400" cy="111283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Departments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4EDA57-81D3-406C-9BE8-48146DD1F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352985"/>
              </p:ext>
            </p:extLst>
          </p:nvPr>
        </p:nvGraphicFramePr>
        <p:xfrm>
          <a:off x="3543300" y="3581400"/>
          <a:ext cx="2057400" cy="222567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Employees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EmployeeID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Position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DepartmentID</a:t>
                      </a:r>
                      <a:r>
                        <a:rPr lang="en-US" sz="1600" dirty="0"/>
                        <a:t> (FK)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LocationID</a:t>
                      </a:r>
                      <a:r>
                        <a:rPr lang="en-US" sz="1600" dirty="0"/>
                        <a:t> (FK)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FCCDBF48-0137-4940-AA1F-B48C286ED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450129"/>
              </p:ext>
            </p:extLst>
          </p:nvPr>
        </p:nvGraphicFramePr>
        <p:xfrm>
          <a:off x="6553200" y="3581400"/>
          <a:ext cx="2057400" cy="111283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Locations Table</a:t>
                      </a:r>
                    </a:p>
                  </a:txBody>
                  <a:tcPr marT="45733" marB="45733"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LocationID</a:t>
                      </a:r>
                      <a:r>
                        <a:rPr lang="en-US" sz="1600" dirty="0"/>
                        <a:t> (PK)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City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6840" name="Group 6">
            <a:extLst>
              <a:ext uri="{FF2B5EF4-FFF2-40B4-BE49-F238E27FC236}">
                <a16:creationId xmlns:a16="http://schemas.microsoft.com/office/drawing/2014/main" id="{648EF1B5-4CBC-4907-9DA2-109E6083E322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133850"/>
            <a:ext cx="952500" cy="1123950"/>
            <a:chOff x="2590800" y="4133850"/>
            <a:chExt cx="952500" cy="1123950"/>
          </a:xfrm>
        </p:grpSpPr>
        <p:cxnSp>
          <p:nvCxnSpPr>
            <p:cNvPr id="76849" name="Straight Connector 7">
              <a:extLst>
                <a:ext uri="{FF2B5EF4-FFF2-40B4-BE49-F238E27FC236}">
                  <a16:creationId xmlns:a16="http://schemas.microsoft.com/office/drawing/2014/main" id="{A94C9246-B1F0-414C-A2BF-B47B8EA4B0D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0800" y="4137660"/>
              <a:ext cx="381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6850" name="Straight Connector 8">
              <a:extLst>
                <a:ext uri="{FF2B5EF4-FFF2-40B4-BE49-F238E27FC236}">
                  <a16:creationId xmlns:a16="http://schemas.microsoft.com/office/drawing/2014/main" id="{19C53F41-6A26-4B62-97FE-28DE1A6FE1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133850"/>
              <a:ext cx="0" cy="112014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6851" name="Straight Connector 9">
              <a:extLst>
                <a:ext uri="{FF2B5EF4-FFF2-40B4-BE49-F238E27FC236}">
                  <a16:creationId xmlns:a16="http://schemas.microsoft.com/office/drawing/2014/main" id="{4AE70BF8-E2D9-4A5A-B2B1-EB1694C65FA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71800" y="5253990"/>
              <a:ext cx="5715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76841" name="Group 10">
            <a:extLst>
              <a:ext uri="{FF2B5EF4-FFF2-40B4-BE49-F238E27FC236}">
                <a16:creationId xmlns:a16="http://schemas.microsoft.com/office/drawing/2014/main" id="{B931AB51-F568-474D-A51C-C2D6BF6AAD26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4133850"/>
            <a:ext cx="952500" cy="1477963"/>
            <a:chOff x="5600700" y="4133850"/>
            <a:chExt cx="952500" cy="1478316"/>
          </a:xfrm>
        </p:grpSpPr>
        <p:cxnSp>
          <p:nvCxnSpPr>
            <p:cNvPr id="76846" name="Straight Connector 11">
              <a:extLst>
                <a:ext uri="{FF2B5EF4-FFF2-40B4-BE49-F238E27FC236}">
                  <a16:creationId xmlns:a16="http://schemas.microsoft.com/office/drawing/2014/main" id="{0244072B-E322-47DE-B955-AB255574135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00700" y="5612166"/>
              <a:ext cx="4953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6847" name="Straight Connector 12">
              <a:extLst>
                <a:ext uri="{FF2B5EF4-FFF2-40B4-BE49-F238E27FC236}">
                  <a16:creationId xmlns:a16="http://schemas.microsoft.com/office/drawing/2014/main" id="{217A1ABA-A3B6-4763-A3D9-CD1BD4813C5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096000" y="4133850"/>
              <a:ext cx="0" cy="147831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6848" name="Straight Connector 13">
              <a:extLst>
                <a:ext uri="{FF2B5EF4-FFF2-40B4-BE49-F238E27FC236}">
                  <a16:creationId xmlns:a16="http://schemas.microsoft.com/office/drawing/2014/main" id="{D292F03B-DBD5-4105-A87A-4E9040AB4E2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96000" y="4135180"/>
              <a:ext cx="457200" cy="381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6842" name="TextBox 14">
            <a:extLst>
              <a:ext uri="{FF2B5EF4-FFF2-40B4-BE49-F238E27FC236}">
                <a16:creationId xmlns:a16="http://schemas.microsoft.com/office/drawing/2014/main" id="{ACA75219-51D2-4409-AAF9-2D1CAE4D0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0" y="37973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76843" name="TextBox 15">
            <a:extLst>
              <a:ext uri="{FF2B5EF4-FFF2-40B4-BE49-F238E27FC236}">
                <a16:creationId xmlns:a16="http://schemas.microsoft.com/office/drawing/2014/main" id="{A2928F12-3687-4A6E-9A98-0320C6835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7150" y="37973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76844" name="TextBox 17">
            <a:extLst>
              <a:ext uri="{FF2B5EF4-FFF2-40B4-BE49-F238E27FC236}">
                <a16:creationId xmlns:a16="http://schemas.microsoft.com/office/drawing/2014/main" id="{256B559D-0606-4E0B-8F95-8BC64C6AA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0" y="4922838"/>
            <a:ext cx="403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/>
              <a:t>∞</a:t>
            </a:r>
            <a:endParaRPr lang="en-US" altLang="en-US"/>
          </a:p>
        </p:txBody>
      </p:sp>
      <p:sp>
        <p:nvSpPr>
          <p:cNvPr id="76845" name="TextBox 19">
            <a:extLst>
              <a:ext uri="{FF2B5EF4-FFF2-40B4-BE49-F238E27FC236}">
                <a16:creationId xmlns:a16="http://schemas.microsoft.com/office/drawing/2014/main" id="{0B5C43AC-647B-437B-945E-A90531FEE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00" y="5254625"/>
            <a:ext cx="403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/>
              <a:t>∞</a:t>
            </a:r>
            <a:endParaRPr lang="en-US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8B9EC31F-5994-4178-BB14-11E9A5872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Foreign Keys in SQL</a:t>
            </a:r>
            <a:r>
              <a:rPr lang="en-AU" sz="2000" b="0" dirty="0"/>
              <a:t> (1 of 4)</a:t>
            </a:r>
            <a:endParaRPr lang="en-US" altLang="en-US" sz="2000" dirty="0"/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222A57B7-9A87-48DF-A276-DC882E00E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Suppose the following SQL is used to create the </a:t>
            </a:r>
            <a:r>
              <a:rPr lang="en-US" altLang="en-US" sz="2400" dirty="0">
                <a:latin typeface="Courier New" panose="02070309020205020404" pitchFamily="49" charset="0"/>
              </a:rPr>
              <a:t>Departments</a:t>
            </a:r>
            <a:r>
              <a:rPr lang="en-US" altLang="en-US" sz="2400" dirty="0"/>
              <a:t> and </a:t>
            </a:r>
            <a:r>
              <a:rPr lang="en-US" altLang="en-US" sz="2400" dirty="0">
                <a:latin typeface="Courier New" panose="02070309020205020404" pitchFamily="49" charset="0"/>
              </a:rPr>
              <a:t>Locations</a:t>
            </a:r>
            <a:r>
              <a:rPr lang="en-US" altLang="en-US" sz="2400" dirty="0"/>
              <a:t> tables:</a:t>
            </a:r>
          </a:p>
        </p:txBody>
      </p:sp>
      <p:sp>
        <p:nvSpPr>
          <p:cNvPr id="77828" name="Text Box 2">
            <a:extLst>
              <a:ext uri="{FF2B5EF4-FFF2-40B4-BE49-F238E27FC236}">
                <a16:creationId xmlns:a16="http://schemas.microsoft.com/office/drawing/2014/main" id="{279F2CEA-89D8-4BE1-8CFB-348F7A78B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2667000"/>
            <a:ext cx="7696200" cy="12464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CREATE TABLE Departments(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DepartmentID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 PRIMARY KEY NOT NULL, 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DepartmentName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TEXT)</a:t>
            </a:r>
          </a:p>
          <a:p>
            <a:endParaRPr lang="en-US" altLang="en-US" sz="11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CREATE TABLE Locations(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LocationID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 PRIMARY KEY NOT NULL, City TEXT)</a:t>
            </a:r>
            <a:endParaRPr lang="en-US" altLang="en-US" sz="11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0B12D1C3-F494-4A1E-8BDB-75498FB2C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Foreign Keys in SQL</a:t>
            </a:r>
            <a:r>
              <a:rPr lang="en-AU" sz="2000" b="0" dirty="0"/>
              <a:t> (2 of 4)</a:t>
            </a:r>
            <a:endParaRPr lang="en-US" altLang="en-US" sz="2000" dirty="0"/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19D214A1-FA24-404A-B6C6-26422E50DC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When creating the </a:t>
            </a:r>
            <a:r>
              <a:rPr lang="en-US" altLang="en-US" sz="2400" dirty="0">
                <a:latin typeface="Courier New" panose="02070309020205020404" pitchFamily="49" charset="0"/>
              </a:rPr>
              <a:t>Employees</a:t>
            </a:r>
            <a:r>
              <a:rPr lang="en-US" altLang="en-US" sz="2400" dirty="0"/>
              <a:t> table, we use the </a:t>
            </a:r>
            <a:r>
              <a:rPr lang="en-US" altLang="en-US" sz="2400" dirty="0">
                <a:latin typeface="Courier New" panose="02070309020205020404" pitchFamily="49" charset="0"/>
              </a:rPr>
              <a:t>FOREIGN</a:t>
            </a:r>
            <a:r>
              <a:rPr lang="en-US" altLang="en-US" sz="2400" dirty="0"/>
              <a:t> </a:t>
            </a:r>
            <a:r>
              <a:rPr lang="en-US" altLang="en-US" sz="2400" dirty="0">
                <a:latin typeface="Courier New" panose="02070309020205020404" pitchFamily="49" charset="0"/>
              </a:rPr>
              <a:t>KEY</a:t>
            </a:r>
            <a:r>
              <a:rPr lang="en-US" altLang="en-US" sz="2400" dirty="0"/>
              <a:t> table constraint to designate the foreign keys :</a:t>
            </a:r>
          </a:p>
        </p:txBody>
      </p:sp>
      <p:sp>
        <p:nvSpPr>
          <p:cNvPr id="78852" name="Text Box 2">
            <a:extLst>
              <a:ext uri="{FF2B5EF4-FFF2-40B4-BE49-F238E27FC236}">
                <a16:creationId xmlns:a16="http://schemas.microsoft.com/office/drawing/2014/main" id="{0852DE08-A836-437A-B656-59BFBBF39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48000"/>
            <a:ext cx="7696200" cy="255454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CREATE TABLE Employees(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EmployeeID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 PRIMARY KEY NOT NULL,</a:t>
            </a:r>
          </a:p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Name TEXT,</a:t>
            </a:r>
          </a:p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Position TEXT,</a:t>
            </a:r>
          </a:p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DepartmentID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INTEGER,</a:t>
            </a:r>
          </a:p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LocationID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INTEGER,</a:t>
            </a:r>
          </a:p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ArialMonoMTPro"/>
              </a:rPr>
              <a:t>                       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FOREIGN KEY(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DepartmentID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REFERENCES</a:t>
            </a:r>
          </a:p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    Departments(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DepartmentID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),</a:t>
            </a:r>
          </a:p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FOREIGN KEY(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LocationID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REFERENCES</a:t>
            </a:r>
          </a:p>
          <a:p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    Locations(</a:t>
            </a:r>
            <a:r>
              <a:rPr lang="en-US" alt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LocationID</a:t>
            </a:r>
            <a:r>
              <a:rPr lang="en-US" alt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</a:t>
            </a:r>
            <a:endParaRPr lang="en-US" altLang="en-US" sz="11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78853" name="Left Brace 4">
            <a:extLst>
              <a:ext uri="{FF2B5EF4-FFF2-40B4-BE49-F238E27FC236}">
                <a16:creationId xmlns:a16="http://schemas.microsoft.com/office/drawing/2014/main" id="{29C64EDB-8091-4002-AEEB-2A06F4CD8EDF}"/>
              </a:ext>
            </a:extLst>
          </p:cNvPr>
          <p:cNvSpPr>
            <a:spLocks/>
          </p:cNvSpPr>
          <p:nvPr/>
        </p:nvSpPr>
        <p:spPr bwMode="auto">
          <a:xfrm>
            <a:off x="2971800" y="4343400"/>
            <a:ext cx="228600" cy="47624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8854" name="Left Brace 5">
            <a:extLst>
              <a:ext uri="{FF2B5EF4-FFF2-40B4-BE49-F238E27FC236}">
                <a16:creationId xmlns:a16="http://schemas.microsoft.com/office/drawing/2014/main" id="{57777CC0-B44A-4154-85ED-0A84BD8D7587}"/>
              </a:ext>
            </a:extLst>
          </p:cNvPr>
          <p:cNvSpPr>
            <a:spLocks/>
          </p:cNvSpPr>
          <p:nvPr/>
        </p:nvSpPr>
        <p:spPr bwMode="auto">
          <a:xfrm>
            <a:off x="2971800" y="5048250"/>
            <a:ext cx="228600" cy="476249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007F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8855" name="TextBox 6">
            <a:extLst>
              <a:ext uri="{FF2B5EF4-FFF2-40B4-BE49-F238E27FC236}">
                <a16:creationId xmlns:a16="http://schemas.microsoft.com/office/drawing/2014/main" id="{8FBA29A7-6306-4371-AB55-5C29FA643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75" y="4400550"/>
            <a:ext cx="17494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i="1" dirty="0">
                <a:solidFill>
                  <a:srgbClr val="007FA3"/>
                </a:solidFill>
              </a:rPr>
              <a:t>Establishes the</a:t>
            </a:r>
          </a:p>
          <a:p>
            <a:r>
              <a:rPr lang="en-US" altLang="en-US" i="1" dirty="0">
                <a:solidFill>
                  <a:srgbClr val="007FA3"/>
                </a:solidFill>
              </a:rPr>
              <a:t>Foreign Keys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A12E7273-EB5F-4ED4-8E2F-2F65D3EBA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Foreign Keys in SQL</a:t>
            </a:r>
            <a:r>
              <a:rPr lang="en-AU" sz="2000" b="0" dirty="0"/>
              <a:t> (3 of 4)</a:t>
            </a:r>
            <a:endParaRPr lang="en-US" altLang="en-US" sz="2000" dirty="0"/>
          </a:p>
        </p:txBody>
      </p:sp>
      <p:sp>
        <p:nvSpPr>
          <p:cNvPr id="79875" name="Content Placeholder 2">
            <a:extLst>
              <a:ext uri="{FF2B5EF4-FFF2-40B4-BE49-F238E27FC236}">
                <a16:creationId xmlns:a16="http://schemas.microsoft.com/office/drawing/2014/main" id="{04E4AE1B-00A9-41E6-AED8-5911754E5B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  <a:r>
              <a:rPr lang="en-US" altLang="en-US" sz="2400" dirty="0"/>
              <a:t> constraint ensures referential integrity between two tables</a:t>
            </a:r>
          </a:p>
          <a:p>
            <a:pPr>
              <a:buFontTx/>
              <a:buChar char="•"/>
            </a:pPr>
            <a:r>
              <a:rPr lang="en-US" altLang="en-US" sz="2400" dirty="0"/>
              <a:t>When a row is inserted into the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altLang="en-US" sz="2400" dirty="0"/>
              <a:t> table, a check is performed to make sure:</a:t>
            </a:r>
          </a:p>
          <a:p>
            <a:pPr lvl="1"/>
            <a:r>
              <a:rPr lang="en-US" altLang="en-US" sz="2200" dirty="0"/>
              <a:t>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DepartmentID</a:t>
            </a:r>
            <a:r>
              <a:rPr lang="en-US" altLang="en-US" sz="2200" dirty="0"/>
              <a:t> column contains a valid value from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DepartmentID</a:t>
            </a:r>
            <a:r>
              <a:rPr lang="en-US" altLang="en-US" sz="2200" dirty="0"/>
              <a:t> column of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altLang="en-US" sz="2200" dirty="0"/>
              <a:t> table</a:t>
            </a:r>
          </a:p>
          <a:p>
            <a:pPr lvl="1"/>
            <a:r>
              <a:rPr lang="en-US" altLang="en-US" sz="2200" dirty="0"/>
              <a:t>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LocationID</a:t>
            </a:r>
            <a:r>
              <a:rPr lang="en-US" altLang="en-US" sz="2200" dirty="0"/>
              <a:t> column contains a valid value from the </a:t>
            </a:r>
            <a:r>
              <a:rPr lang="en-US" alt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LocationID</a:t>
            </a:r>
            <a:r>
              <a:rPr lang="en-US" altLang="en-US" sz="2200" dirty="0"/>
              <a:t> column of the </a:t>
            </a: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Locations</a:t>
            </a:r>
            <a:r>
              <a:rPr lang="en-US" altLang="en-US" sz="2200" dirty="0"/>
              <a:t> table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FC2460D5-6A5F-45F0-920F-341E1C4AA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Foreign Keys in SQL</a:t>
            </a:r>
            <a:r>
              <a:rPr lang="en-AU" sz="2000" b="0" dirty="0"/>
              <a:t> (4 of 4)</a:t>
            </a:r>
            <a:endParaRPr lang="en-US" altLang="en-US" sz="2000" dirty="0"/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6380A0E6-6C12-4C35-A1A1-DB3A896FB7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Enabling Foreign Key Enforcement in SQLite:</a:t>
            </a:r>
          </a:p>
          <a:p>
            <a:pPr lvl="2"/>
            <a:r>
              <a:rPr lang="en-US" altLang="en-US" dirty="0"/>
              <a:t>By default, SQLite does not enforce the integrity of foreign keys</a:t>
            </a:r>
          </a:p>
          <a:p>
            <a:pPr lvl="2"/>
            <a:r>
              <a:rPr lang="en-US" altLang="en-US" dirty="0"/>
              <a:t>To enable foreign key enforcement, use this statement (assume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</a:t>
            </a:r>
            <a:r>
              <a:rPr lang="en-US" altLang="en-US" dirty="0"/>
              <a:t> is the name of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altLang="en-US" dirty="0"/>
              <a:t> object):</a:t>
            </a:r>
          </a:p>
        </p:txBody>
      </p:sp>
      <p:sp>
        <p:nvSpPr>
          <p:cNvPr id="80900" name="Text Box 2">
            <a:extLst>
              <a:ext uri="{FF2B5EF4-FFF2-40B4-BE49-F238E27FC236}">
                <a16:creationId xmlns:a16="http://schemas.microsoft.com/office/drawing/2014/main" id="{6A49910E-F049-4BD9-BCE6-2240D3622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267200"/>
            <a:ext cx="7310438" cy="46166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cur.execute</a:t>
            </a:r>
            <a:r>
              <a:rPr lang="en-US" altLang="en-US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('PRAGMA </a:t>
            </a:r>
            <a:r>
              <a:rPr lang="en-US" altLang="en-US" sz="24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foreign_keys</a:t>
            </a:r>
            <a:r>
              <a:rPr lang="en-US" altLang="en-US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=ON')</a:t>
            </a:r>
            <a:endParaRPr lang="en-US" altLang="en-US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CC310F08-1459-43F3-9BBA-07F2C407B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Foreign Keys</a:t>
            </a:r>
          </a:p>
        </p:txBody>
      </p:sp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C474A8B9-07BB-44DC-996D-FD8425E6C7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When working with relational data, remember:</a:t>
            </a:r>
          </a:p>
          <a:p>
            <a:pPr lvl="2"/>
            <a:r>
              <a:rPr lang="en-US" altLang="en-US" dirty="0"/>
              <a:t>When inserting a new row to a table, each foreign key in that row must contain valid data from the table that it references</a:t>
            </a:r>
          </a:p>
          <a:p>
            <a:pPr lvl="2"/>
            <a:r>
              <a:rPr lang="en-US" altLang="en-US" dirty="0"/>
              <a:t>When updating a row that has a foreign key, you must not change a foreign key to an invalid value</a:t>
            </a:r>
          </a:p>
          <a:p>
            <a:pPr lvl="2"/>
            <a:r>
              <a:rPr lang="en-US" altLang="en-US" dirty="0"/>
              <a:t>You cannot delete a row if that row is currently referenced by rows in other tables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F069A2CD-B858-4CFD-98BE-98CE47850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Retrieving Columns from Multiple Tables in a </a:t>
            </a:r>
            <a:r>
              <a:rPr lang="en-US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sz="3200" dirty="0">
                <a:latin typeface="Courier New" panose="02070309020205020404" pitchFamily="49" charset="0"/>
              </a:rPr>
              <a:t> </a:t>
            </a:r>
            <a:r>
              <a:rPr lang="en-US" altLang="en-US" sz="3200" dirty="0"/>
              <a:t>Statement</a:t>
            </a:r>
            <a:r>
              <a:rPr lang="en-US" altLang="en-US" sz="2000" dirty="0"/>
              <a:t> </a:t>
            </a:r>
            <a:r>
              <a:rPr lang="en-AU" sz="2000" b="0" dirty="0"/>
              <a:t>(1 of 2)</a:t>
            </a:r>
            <a:endParaRPr lang="en-US" altLang="en-US" sz="2000" dirty="0"/>
          </a:p>
        </p:txBody>
      </p:sp>
      <p:sp>
        <p:nvSpPr>
          <p:cNvPr id="82947" name="Content Placeholder 2">
            <a:extLst>
              <a:ext uri="{FF2B5EF4-FFF2-40B4-BE49-F238E27FC236}">
                <a16:creationId xmlns:a16="http://schemas.microsoft.com/office/drawing/2014/main" id="{812A4227-FBD7-4A42-9FF9-1889F83F7C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To retrieve columns from multiple tables in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statement, use the columns’ fully qualified names</a:t>
            </a:r>
          </a:p>
        </p:txBody>
      </p:sp>
      <p:sp>
        <p:nvSpPr>
          <p:cNvPr id="82948" name="Text Box 2">
            <a:extLst>
              <a:ext uri="{FF2B5EF4-FFF2-40B4-BE49-F238E27FC236}">
                <a16:creationId xmlns:a16="http://schemas.microsoft.com/office/drawing/2014/main" id="{37BD044B-EC63-473C-A027-4177F2B55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863" y="3429000"/>
            <a:ext cx="4300537" cy="46166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i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TableName</a:t>
            </a:r>
            <a:r>
              <a:rPr lang="en-US" altLang="en-US" sz="24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en-US" sz="2400" i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ColumnName</a:t>
            </a:r>
            <a:endParaRPr lang="en-US" altLang="en-US" sz="1600" i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2EBF3A0D-BA37-4AB6-9F65-F487EE575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Retrieving Columns from Multiple Tables in a </a:t>
            </a:r>
            <a:r>
              <a:rPr lang="en-US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sz="3200" dirty="0">
                <a:latin typeface="Courier New" panose="02070309020205020404" pitchFamily="49" charset="0"/>
              </a:rPr>
              <a:t> </a:t>
            </a:r>
            <a:r>
              <a:rPr lang="en-US" altLang="en-US" sz="3200" dirty="0"/>
              <a:t>Statement</a:t>
            </a:r>
            <a:r>
              <a:rPr lang="en-AU" sz="2000" b="0" dirty="0"/>
              <a:t> (2 of 2)</a:t>
            </a:r>
            <a:endParaRPr lang="en-US" altLang="en-US" sz="2000" dirty="0"/>
          </a:p>
        </p:txBody>
      </p:sp>
      <p:sp>
        <p:nvSpPr>
          <p:cNvPr id="83971" name="Text Box 2">
            <a:extLst>
              <a:ext uri="{FF2B5EF4-FFF2-40B4-BE49-F238E27FC236}">
                <a16:creationId xmlns:a16="http://schemas.microsoft.com/office/drawing/2014/main" id="{B37A364B-DB5F-4A93-81CD-261F03E47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09800"/>
            <a:ext cx="7848600" cy="286232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SELECT</a:t>
            </a:r>
          </a:p>
          <a:p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Employees.Name</a:t>
            </a:r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Departments.DepartmentName</a:t>
            </a:r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Locations.City</a:t>
            </a:r>
            <a:endParaRPr lang="en-US" altLang="en-US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FROM</a:t>
            </a:r>
          </a:p>
          <a:p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Employees, Departments, Locations</a:t>
            </a:r>
          </a:p>
          <a:p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WHERE</a:t>
            </a:r>
          </a:p>
          <a:p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Employees.DepartmentID</a:t>
            </a:r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== </a:t>
            </a:r>
            <a:r>
              <a:rPr lang="en-US" alt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Departments.DepartmentID</a:t>
            </a:r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AND</a:t>
            </a:r>
          </a:p>
          <a:p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Employees.LocationID</a:t>
            </a:r>
            <a:r>
              <a:rPr lang="en-US" altLang="en-US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== </a:t>
            </a:r>
            <a:r>
              <a:rPr lang="en-US" altLang="en-US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Locations.LocationID</a:t>
            </a:r>
            <a:endParaRPr lang="en-US" altLang="en-US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94448088-0A71-49EC-88F9-0B76327E4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Summary</a:t>
            </a:r>
            <a:endParaRPr lang="he-IL" altLang="en-US" dirty="0"/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C398B59F-D686-48D4-895F-2F7BFEED8F6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905000"/>
            <a:ext cx="4038600" cy="44196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200" b="0" dirty="0"/>
              <a:t>Database Management Systems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200" b="0" dirty="0"/>
              <a:t>How data is organized into tables, rows, and columns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200" b="0" dirty="0"/>
              <a:t>Opening and closing a database connection with SQLite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200" b="0" dirty="0"/>
              <a:t>Creating and deleting tables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200" b="0" dirty="0"/>
              <a:t>Adding data to a table with the SQL </a:t>
            </a:r>
            <a:r>
              <a:rPr lang="en-US" altLang="en-US" sz="2200" b="0" dirty="0">
                <a:latin typeface="Courier New" panose="02070309020205020404" pitchFamily="49" charset="0"/>
              </a:rPr>
              <a:t>INSERT</a:t>
            </a:r>
            <a:r>
              <a:rPr lang="en-US" altLang="en-US" sz="2200" b="0" dirty="0"/>
              <a:t> statement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200" b="0" dirty="0"/>
              <a:t>Querying data with the SQL </a:t>
            </a:r>
            <a:r>
              <a:rPr lang="en-US" altLang="en-US" sz="2200" b="0" dirty="0">
                <a:latin typeface="Courier New" panose="02070309020205020404" pitchFamily="49" charset="0"/>
              </a:rPr>
              <a:t>SELECT</a:t>
            </a:r>
            <a:r>
              <a:rPr lang="en-US" altLang="en-US" sz="2200" b="0" dirty="0"/>
              <a:t> statement</a:t>
            </a:r>
          </a:p>
        </p:txBody>
      </p:sp>
      <p:sp>
        <p:nvSpPr>
          <p:cNvPr id="84996" name="Content Placeholder 1">
            <a:extLst>
              <a:ext uri="{FF2B5EF4-FFF2-40B4-BE49-F238E27FC236}">
                <a16:creationId xmlns:a16="http://schemas.microsoft.com/office/drawing/2014/main" id="{EDFA54C4-4D3C-43C7-BD80-2F88841DE01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648200" y="1905000"/>
            <a:ext cx="4038600" cy="4144963"/>
          </a:xfrm>
        </p:spPr>
        <p:txBody>
          <a:bodyPr/>
          <a:lstStyle/>
          <a:p>
            <a:r>
              <a:rPr lang="en-US" altLang="en-US" sz="2200" b="0" dirty="0"/>
              <a:t>Updating rows with the SQL </a:t>
            </a:r>
            <a:r>
              <a:rPr lang="en-US" altLang="en-US" sz="2200" b="0" dirty="0">
                <a:latin typeface="Courier New" panose="02070309020205020404" pitchFamily="49" charset="0"/>
              </a:rPr>
              <a:t>UPDATE</a:t>
            </a:r>
            <a:r>
              <a:rPr lang="en-US" altLang="en-US" sz="2200" b="0" dirty="0"/>
              <a:t> statement </a:t>
            </a:r>
          </a:p>
          <a:p>
            <a:r>
              <a:rPr lang="en-US" altLang="en-US" sz="2200" b="0" dirty="0"/>
              <a:t>Deleting rows with the SQL </a:t>
            </a:r>
            <a:r>
              <a:rPr lang="en-US" altLang="en-US" sz="2200" b="0" dirty="0">
                <a:latin typeface="Courier New" panose="02070309020205020404" pitchFamily="49" charset="0"/>
              </a:rPr>
              <a:t>DELETE</a:t>
            </a:r>
            <a:r>
              <a:rPr lang="en-US" altLang="en-US" sz="2200" b="0" dirty="0"/>
              <a:t> statement </a:t>
            </a:r>
          </a:p>
          <a:p>
            <a:r>
              <a:rPr lang="en-US" altLang="en-US" sz="2200" b="0" dirty="0"/>
              <a:t>The use of primary keys</a:t>
            </a:r>
          </a:p>
          <a:p>
            <a:r>
              <a:rPr lang="en-US" altLang="en-US" sz="2200" b="0" dirty="0"/>
              <a:t>Handling SQLite database exceptions</a:t>
            </a:r>
          </a:p>
          <a:p>
            <a:r>
              <a:rPr lang="en-US" altLang="en-US" sz="2200" b="0" dirty="0"/>
              <a:t>CRUD Operations</a:t>
            </a:r>
          </a:p>
          <a:p>
            <a:r>
              <a:rPr lang="en-US" altLang="en-US" sz="2200" b="0" dirty="0"/>
              <a:t>Relational data</a:t>
            </a:r>
          </a:p>
        </p:txBody>
      </p:sp>
      <p:sp>
        <p:nvSpPr>
          <p:cNvPr id="84997" name="TextBox 1">
            <a:extLst>
              <a:ext uri="{FF2B5EF4-FFF2-40B4-BE49-F238E27FC236}">
                <a16:creationId xmlns:a16="http://schemas.microsoft.com/office/drawing/2014/main" id="{ADB804AB-5B72-4186-A9BB-882291CBB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84988"/>
            <a:ext cx="8077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 dirty="0"/>
              <a:t>This chapter covered: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8938</TotalTime>
  <Words>4720</Words>
  <Application>Microsoft Office PowerPoint</Application>
  <PresentationFormat>On-screen Show (4:3)</PresentationFormat>
  <Paragraphs>779</Paragraphs>
  <Slides>76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4" baseType="lpstr">
      <vt:lpstr>Arial</vt:lpstr>
      <vt:lpstr>Calibri</vt:lpstr>
      <vt:lpstr>Courier New</vt:lpstr>
      <vt:lpstr>Symbol</vt:lpstr>
      <vt:lpstr>Times New Roman</vt:lpstr>
      <vt:lpstr>Verdana</vt:lpstr>
      <vt:lpstr>Wingdings</vt:lpstr>
      <vt:lpstr>508 Lecture</vt:lpstr>
      <vt:lpstr>Starting out with Python</vt:lpstr>
      <vt:lpstr>Topics</vt:lpstr>
      <vt:lpstr>Database Management Systems (1 of 3)</vt:lpstr>
      <vt:lpstr>Database Management Systems (2 of 3)</vt:lpstr>
      <vt:lpstr>Database Management Systems (3 of 3)</vt:lpstr>
      <vt:lpstr>SQL</vt:lpstr>
      <vt:lpstr>SQLite</vt:lpstr>
      <vt:lpstr>Tables, Rows, and Columns (1 of 3)</vt:lpstr>
      <vt:lpstr>Tables, Rows, and Columns (2 of 3)</vt:lpstr>
      <vt:lpstr>Tables, Rows, and Columns (3 of 3)</vt:lpstr>
      <vt:lpstr>Column Data Types</vt:lpstr>
      <vt:lpstr>Primary Keys</vt:lpstr>
      <vt:lpstr>Identity Columns</vt:lpstr>
      <vt:lpstr>Null Values</vt:lpstr>
      <vt:lpstr>Database Connections (1 of 2)</vt:lpstr>
      <vt:lpstr>Database Connections (2 of 2)</vt:lpstr>
      <vt:lpstr>Passing SQL Statements to the DBMS</vt:lpstr>
      <vt:lpstr>Creating a Table (1 of 5)</vt:lpstr>
      <vt:lpstr>Creating a Table (2 of 5)</vt:lpstr>
      <vt:lpstr>Creating a Table (3 of 5)</vt:lpstr>
      <vt:lpstr>Creating a Table (4 of 5)</vt:lpstr>
      <vt:lpstr>Creating a Table (5 of 5)</vt:lpstr>
      <vt:lpstr>Adding Data to a Table (1 of 4)</vt:lpstr>
      <vt:lpstr>Adding Data to a Table (2 of 4)</vt:lpstr>
      <vt:lpstr>Adding Data to a Table (3 of 4)</vt:lpstr>
      <vt:lpstr>Adding Data to a Table (4 of 4)</vt:lpstr>
      <vt:lpstr>Inserting the Value of a Variable</vt:lpstr>
      <vt:lpstr>The SELECT Statement (1 of 5)</vt:lpstr>
      <vt:lpstr>The SELECT Statement (2 of 5)</vt:lpstr>
      <vt:lpstr>The SELECT Statement (3 of 5)</vt:lpstr>
      <vt:lpstr>The SELECT Statement (4 of 5)</vt:lpstr>
      <vt:lpstr>The SELECT Statement (5 of 5)</vt:lpstr>
      <vt:lpstr>Specifying Search Criteria with the WHERE Clause (1 of 6)</vt:lpstr>
      <vt:lpstr>Specifying Search Criteria with the WHERE Clause (2 of 6)</vt:lpstr>
      <vt:lpstr>Specifying Search Criteria with the WHERE Clause (3 of 6)</vt:lpstr>
      <vt:lpstr>Specifying Search Criteria with the WHERE Clause (4 of 6)</vt:lpstr>
      <vt:lpstr>Specifying Search Criteria with the WHERE Clause (5 of 6)</vt:lpstr>
      <vt:lpstr>Specifying Search Criteria with the WHERE Clause (6 of 6)</vt:lpstr>
      <vt:lpstr>Sorting the Results of a SELECT Query (1 of 2)</vt:lpstr>
      <vt:lpstr>Sorting the Results of a SELECT Query (2 of 2)</vt:lpstr>
      <vt:lpstr>Aggregate Functions (1 of 2)</vt:lpstr>
      <vt:lpstr>Aggregate Functions (2 of 2)</vt:lpstr>
      <vt:lpstr>Updating Rows (1 of 6)</vt:lpstr>
      <vt:lpstr>Updating Rows (2 of 6)</vt:lpstr>
      <vt:lpstr>Updating Rows (3 of 6)</vt:lpstr>
      <vt:lpstr>Updating Rows (4 of 6)</vt:lpstr>
      <vt:lpstr>Updating Rows (5 of 6)</vt:lpstr>
      <vt:lpstr>Updating Rows (6 of 6)</vt:lpstr>
      <vt:lpstr>Deleting Rows (1 of 4)</vt:lpstr>
      <vt:lpstr>Deleting Rows (2 of 4)</vt:lpstr>
      <vt:lpstr>Deleting Rows (3 of 4)</vt:lpstr>
      <vt:lpstr>Deleting Rows (4 of 4)</vt:lpstr>
      <vt:lpstr>More About Primary Keys (1 of 5)</vt:lpstr>
      <vt:lpstr>More About Primary Keys (2 of 5)</vt:lpstr>
      <vt:lpstr>More About Primary Keys (3 of 5)</vt:lpstr>
      <vt:lpstr>More About Primary Keys (4 of 5)</vt:lpstr>
      <vt:lpstr>More About Primary Keys (5 of 5)</vt:lpstr>
      <vt:lpstr>Handling Database Exceptions in SQLite (1 of 2)</vt:lpstr>
      <vt:lpstr>Handling Database Exceptions in SQLite (2 of 2)</vt:lpstr>
      <vt:lpstr>CRUD Operations</vt:lpstr>
      <vt:lpstr>Relational Data (1 of 4)</vt:lpstr>
      <vt:lpstr>Relational Data (2 of 4)</vt:lpstr>
      <vt:lpstr>Relational Data (3 of 4)</vt:lpstr>
      <vt:lpstr>Relational Data (4 of 4)</vt:lpstr>
      <vt:lpstr>Foreign Keys (1 of 3)</vt:lpstr>
      <vt:lpstr>Foreign Keys (2 of 3)</vt:lpstr>
      <vt:lpstr>Foreign Keys (3 of 3)</vt:lpstr>
      <vt:lpstr>Entity Relationship Diagrams</vt:lpstr>
      <vt:lpstr>Creating Foreign Keys in SQL (1 of 4)</vt:lpstr>
      <vt:lpstr>Creating Foreign Keys in SQL (2 of 4)</vt:lpstr>
      <vt:lpstr>Creating Foreign Keys in SQL (3 of 4)</vt:lpstr>
      <vt:lpstr>Creating Foreign Keys in SQL (4 of 4)</vt:lpstr>
      <vt:lpstr>Foreign Keys</vt:lpstr>
      <vt:lpstr>Retrieving Columns from Multiple Tables in a SELECT Statement (1 of 2)</vt:lpstr>
      <vt:lpstr>Retrieving Columns from Multiple Tables in a SELECT Statement (2 of 2)</vt:lpstr>
      <vt:lpstr>Summary</vt:lpstr>
    </vt:vector>
  </TitlesOfParts>
  <Company>SPi-Global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Starting out with Python, Fifth Edition</dc:title>
  <dc:subject>Computer Science</dc:subject>
  <dc:creator>Tony Gaddis</dc:creator>
  <cp:keywords>Computer program language</cp:keywords>
  <cp:lastModifiedBy>Kathiravan Natarajan</cp:lastModifiedBy>
  <cp:revision>706</cp:revision>
  <dcterms:created xsi:type="dcterms:W3CDTF">2014-07-14T20:04:21Z</dcterms:created>
  <dcterms:modified xsi:type="dcterms:W3CDTF">2024-04-01T02:53:53Z</dcterms:modified>
  <cp:category>IT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UniqueId">
    <vt:lpwstr>682740</vt:lpwstr>
  </property>
  <property fmtid="{D5CDD505-2E9C-101B-9397-08002B2CF9AE}" pid="3" name="Offisync_UpdateToken">
    <vt:lpwstr>1</vt:lpwstr>
  </property>
  <property fmtid="{D5CDD505-2E9C-101B-9397-08002B2CF9AE}" pid="4" name="Jive_VersionGuid">
    <vt:lpwstr>7b502893-ac4a-4309-967d-6eb652f6b574</vt:lpwstr>
  </property>
  <property fmtid="{D5CDD505-2E9C-101B-9397-08002B2CF9AE}" pid="5" name="Offisync_ProviderInitializationData">
    <vt:lpwstr>https://neo.pearson.com</vt:lpwstr>
  </property>
  <property fmtid="{D5CDD505-2E9C-101B-9397-08002B2CF9AE}" pid="6" name="Offisync_ServerID">
    <vt:lpwstr>7e960520-0e88-4f05-9fa0-24079b61e486</vt:lpwstr>
  </property>
  <property fmtid="{D5CDD505-2E9C-101B-9397-08002B2CF9AE}" pid="7" name="Jive_LatestUserAccountName">
    <vt:lpwstr>sumit.gupta</vt:lpwstr>
  </property>
</Properties>
</file>