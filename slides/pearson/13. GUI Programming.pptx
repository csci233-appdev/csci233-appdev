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2"/>
  </p:notesMasterIdLst>
  <p:handoutMasterIdLst>
    <p:handoutMasterId r:id="rId83"/>
  </p:handoutMasterIdLst>
  <p:sldIdLst>
    <p:sldId id="290" r:id="rId2"/>
    <p:sldId id="257" r:id="rId3"/>
    <p:sldId id="361" r:id="rId4"/>
    <p:sldId id="286" r:id="rId5"/>
    <p:sldId id="287" r:id="rId6"/>
    <p:sldId id="288" r:id="rId7"/>
    <p:sldId id="291" r:id="rId8"/>
    <p:sldId id="292" r:id="rId9"/>
    <p:sldId id="362" r:id="rId10"/>
    <p:sldId id="294" r:id="rId11"/>
    <p:sldId id="329" r:id="rId12"/>
    <p:sldId id="330" r:id="rId13"/>
    <p:sldId id="295" r:id="rId14"/>
    <p:sldId id="331" r:id="rId15"/>
    <p:sldId id="332" r:id="rId16"/>
    <p:sldId id="333" r:id="rId17"/>
    <p:sldId id="334" r:id="rId18"/>
    <p:sldId id="335" r:id="rId19"/>
    <p:sldId id="336" r:id="rId20"/>
    <p:sldId id="337" r:id="rId21"/>
    <p:sldId id="338" r:id="rId22"/>
    <p:sldId id="339" r:id="rId23"/>
    <p:sldId id="340" r:id="rId24"/>
    <p:sldId id="373" r:id="rId25"/>
    <p:sldId id="363" r:id="rId26"/>
    <p:sldId id="342" r:id="rId27"/>
    <p:sldId id="374" r:id="rId28"/>
    <p:sldId id="381" r:id="rId29"/>
    <p:sldId id="297" r:id="rId30"/>
    <p:sldId id="298" r:id="rId31"/>
    <p:sldId id="299" r:id="rId32"/>
    <p:sldId id="300" r:id="rId33"/>
    <p:sldId id="301" r:id="rId34"/>
    <p:sldId id="364" r:id="rId35"/>
    <p:sldId id="302" r:id="rId36"/>
    <p:sldId id="303" r:id="rId37"/>
    <p:sldId id="304" r:id="rId38"/>
    <p:sldId id="305" r:id="rId39"/>
    <p:sldId id="306" r:id="rId40"/>
    <p:sldId id="307" r:id="rId41"/>
    <p:sldId id="308" r:id="rId42"/>
    <p:sldId id="309" r:id="rId43"/>
    <p:sldId id="310" r:id="rId44"/>
    <p:sldId id="311" r:id="rId45"/>
    <p:sldId id="345" r:id="rId46"/>
    <p:sldId id="346" r:id="rId47"/>
    <p:sldId id="347" r:id="rId48"/>
    <p:sldId id="348" r:id="rId49"/>
    <p:sldId id="349" r:id="rId50"/>
    <p:sldId id="350" r:id="rId51"/>
    <p:sldId id="351" r:id="rId52"/>
    <p:sldId id="352" r:id="rId53"/>
    <p:sldId id="353" r:id="rId54"/>
    <p:sldId id="354" r:id="rId55"/>
    <p:sldId id="355" r:id="rId56"/>
    <p:sldId id="356" r:id="rId57"/>
    <p:sldId id="357" r:id="rId58"/>
    <p:sldId id="358" r:id="rId59"/>
    <p:sldId id="359" r:id="rId60"/>
    <p:sldId id="365" r:id="rId61"/>
    <p:sldId id="360" r:id="rId62"/>
    <p:sldId id="366" r:id="rId63"/>
    <p:sldId id="312" r:id="rId64"/>
    <p:sldId id="313" r:id="rId65"/>
    <p:sldId id="314" r:id="rId66"/>
    <p:sldId id="315" r:id="rId67"/>
    <p:sldId id="316" r:id="rId68"/>
    <p:sldId id="375" r:id="rId69"/>
    <p:sldId id="318" r:id="rId70"/>
    <p:sldId id="376" r:id="rId71"/>
    <p:sldId id="320" r:id="rId72"/>
    <p:sldId id="377" r:id="rId73"/>
    <p:sldId id="322" r:id="rId74"/>
    <p:sldId id="378" r:id="rId75"/>
    <p:sldId id="324" r:id="rId76"/>
    <p:sldId id="326" r:id="rId77"/>
    <p:sldId id="379" r:id="rId78"/>
    <p:sldId id="327" r:id="rId79"/>
    <p:sldId id="380" r:id="rId80"/>
    <p:sldId id="285" r:id="rId8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08" userDrawn="1">
          <p15:clr>
            <a:srgbClr val="A4A3A4"/>
          </p15:clr>
        </p15:guide>
        <p15:guide id="2" pos="288" userDrawn="1">
          <p15:clr>
            <a:srgbClr val="A4A3A4"/>
          </p15:clr>
        </p15:guide>
        <p15:guide id="3" pos="5472"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akesh Kumar" initials="RK" lastIdx="8" clrIdx="0">
    <p:extLst>
      <p:ext uri="{19B8F6BF-5375-455C-9EA6-DF929625EA0E}">
        <p15:presenceInfo xmlns:p15="http://schemas.microsoft.com/office/powerpoint/2012/main" userId="S-1-5-21-2752970185-40930380-1894245210-524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D4EAE4"/>
    <a:srgbClr val="00158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100" autoAdjust="0"/>
    <p:restoredTop sz="86891" autoAdjust="0"/>
  </p:normalViewPr>
  <p:slideViewPr>
    <p:cSldViewPr>
      <p:cViewPr varScale="1">
        <p:scale>
          <a:sx n="74" d="100"/>
          <a:sy n="74" d="100"/>
        </p:scale>
        <p:origin x="1234" y="67"/>
      </p:cViewPr>
      <p:guideLst>
        <p:guide orient="horz" pos="1008"/>
        <p:guide pos="288"/>
        <p:guide pos="5472"/>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2408"/>
    </p:cViewPr>
  </p:sorterViewPr>
  <p:notesViewPr>
    <p:cSldViewPr>
      <p:cViewPr varScale="1">
        <p:scale>
          <a:sx n="54" d="100"/>
          <a:sy n="54" d="100"/>
        </p:scale>
        <p:origin x="1794"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commentAuthors" Target="commentAuthor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notesMaster" Target="notesMasters/notesMaster1.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handoutMaster" Target="handoutMasters/handoutMaster1.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pPr/>
              <a:t>3/31/2024</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pPr/>
              <a:t>‹#›</a:t>
            </a:fld>
            <a:endParaRPr lang="en-US" dirty="0"/>
          </a:p>
        </p:txBody>
      </p:sp>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pPr/>
              <a:t>3/31/2024</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pPr/>
              <a:t>‹#›</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A73D6722-9B4D-4E29-B226-C325925A8118}" type="slidenum">
              <a:rPr lang="en-US" smtClean="0"/>
              <a:pPr/>
              <a:t>5</a:t>
            </a:fld>
            <a:endParaRPr lang="en-US" dirty="0"/>
          </a:p>
        </p:txBody>
      </p:sp>
    </p:spTree>
    <p:extLst>
      <p:ext uri="{BB962C8B-B14F-4D97-AF65-F5344CB8AC3E}">
        <p14:creationId xmlns:p14="http://schemas.microsoft.com/office/powerpoint/2010/main" val="57207703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bwMode="white">
          <a:xfrm>
            <a:off x="0" y="0"/>
            <a:ext cx="9144000" cy="388620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85800" y="762000"/>
            <a:ext cx="7772400" cy="2838451"/>
          </a:xfrm>
        </p:spPr>
        <p:txBody>
          <a:bodyPr anchor="b">
            <a:noAutofit/>
          </a:bodyPr>
          <a:lstStyle>
            <a:lvl1pPr algn="l">
              <a:defRPr sz="36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674687" y="3962400"/>
            <a:ext cx="7794626" cy="1752600"/>
          </a:xfrm>
        </p:spPr>
        <p:txBody>
          <a:bodyPr>
            <a:noAutofit/>
          </a:bodyPr>
          <a:lstStyle>
            <a:lvl1pPr marL="0" indent="0" algn="l">
              <a:spcBef>
                <a:spcPts val="0"/>
              </a:spcBef>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12"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3/31/2024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pic>
        <p:nvPicPr>
          <p:cNvPr id="14" name="Shape 15" descr="Pearson Logo"/>
          <p:cNvPicPr preferRelativeResize="0"/>
          <p:nvPr userDrawn="1"/>
        </p:nvPicPr>
        <p:blipFill rotWithShape="1">
          <a:blip r:embed="rId2" cstate="print">
            <a:alphaModFix/>
          </a:blip>
          <a:srcRect/>
          <a:stretch/>
        </p:blipFill>
        <p:spPr>
          <a:xfrm>
            <a:off x="443972" y="6429709"/>
            <a:ext cx="917999" cy="279914"/>
          </a:xfrm>
          <a:prstGeom prst="rect">
            <a:avLst/>
          </a:prstGeom>
          <a:noFill/>
          <a:ln>
            <a:noFill/>
          </a:ln>
        </p:spPr>
      </p:pic>
      <p:sp>
        <p:nvSpPr>
          <p:cNvPr id="16" name="Slide Number Placeholder 4"/>
          <p:cNvSpPr txBox="1">
            <a:spLocks/>
          </p:cNvSpPr>
          <p:nvPr userDrawn="1"/>
        </p:nvSpPr>
        <p:spPr>
          <a:xfrm>
            <a:off x="7881256" y="6428232"/>
            <a:ext cx="914400" cy="201168"/>
          </a:xfrm>
          <a:prstGeom prst="rect">
            <a:avLst/>
          </a:prstGeom>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altLang="en-US" sz="1200" b="0" kern="1200" noProof="0" dirty="0">
                <a:solidFill>
                  <a:schemeClr val="tx1"/>
                </a:solidFill>
                <a:latin typeface="Verdana" pitchFamily="34" charset="0"/>
                <a:ea typeface="Verdana" pitchFamily="34" charset="0"/>
                <a:cs typeface="Verdana" pitchFamily="34" charset="0"/>
              </a:rPr>
              <a:t>13 - </a:t>
            </a:r>
            <a:fld id="{876BFF75-7A20-4B22-803D-E5D1449082FD}" type="slidenum">
              <a:rPr lang="en-US" altLang="en-US" sz="1200" b="0" kern="1200" noProof="0" smtClean="0">
                <a:solidFill>
                  <a:schemeClr val="tx1"/>
                </a:solidFill>
                <a:latin typeface="Verdana" pitchFamily="34" charset="0"/>
                <a:ea typeface="Verdana" pitchFamily="34" charset="0"/>
                <a:cs typeface="Verdana"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altLang="en-US" sz="1200" b="0" kern="1200" noProof="0" dirty="0">
              <a:solidFill>
                <a:schemeClr val="tx1"/>
              </a:solidFill>
              <a:latin typeface="Verdana" pitchFamily="34" charset="0"/>
              <a:ea typeface="Verdana" pitchFamily="34" charset="0"/>
              <a:cs typeface="Verdana" pitchFamily="34" charset="0"/>
            </a:endParaRPr>
          </a:p>
        </p:txBody>
      </p:sp>
      <p:sp>
        <p:nvSpPr>
          <p:cNvPr id="11" name="TextBox 10">
            <a:extLst>
              <a:ext uri="{FF2B5EF4-FFF2-40B4-BE49-F238E27FC236}">
                <a16:creationId xmlns:a16="http://schemas.microsoft.com/office/drawing/2014/main" id="{6C5D1914-9979-4928-BEEB-4586CCB160A9}"/>
              </a:ext>
            </a:extLst>
          </p:cNvPr>
          <p:cNvSpPr txBox="1"/>
          <p:nvPr userDrawn="1"/>
        </p:nvSpPr>
        <p:spPr>
          <a:xfrm>
            <a:off x="1502228" y="6429974"/>
            <a:ext cx="6172200" cy="276999"/>
          </a:xfrm>
          <a:prstGeom prst="rect">
            <a:avLst/>
          </a:prstGeom>
          <a:noFill/>
        </p:spPr>
        <p:txBody>
          <a:bodyPr wrap="square" rtlCol="0">
            <a:spAutoFit/>
          </a:bodyPr>
          <a:lstStyle/>
          <a:p>
            <a:pPr algn="ctr">
              <a:defRPr/>
            </a:pPr>
            <a:r>
              <a:rPr lang="en-IN" sz="1200" kern="1200" dirty="0">
                <a:solidFill>
                  <a:schemeClr val="tx1"/>
                </a:solidFill>
                <a:effectLst/>
                <a:latin typeface="Verdana" panose="020B0604030504040204" pitchFamily="34" charset="0"/>
                <a:ea typeface="Verdana" panose="020B0604030504040204" pitchFamily="34" charset="0"/>
                <a:cs typeface="+mn-cs"/>
              </a:rPr>
              <a:t>Copyright © </a:t>
            </a:r>
            <a:r>
              <a:rPr lang="en-IN" sz="1200" dirty="0">
                <a:latin typeface="Verdana" panose="020B0604030504040204" pitchFamily="34" charset="0"/>
                <a:ea typeface="Verdana" panose="020B0604030504040204" pitchFamily="34" charset="0"/>
              </a:rPr>
              <a:t>2021, 2018, 2015 </a:t>
            </a:r>
            <a:r>
              <a:rPr lang="en-IN" sz="1200" kern="1200" dirty="0">
                <a:solidFill>
                  <a:schemeClr val="tx1"/>
                </a:solidFill>
                <a:effectLst/>
                <a:latin typeface="Verdana" panose="020B0604030504040204" pitchFamily="34" charset="0"/>
                <a:ea typeface="Verdana" panose="020B0604030504040204" pitchFamily="34" charset="0"/>
                <a:cs typeface="+mn-cs"/>
              </a:rPr>
              <a:t>Pearson Education, Inc. All Rights Reserved</a:t>
            </a:r>
            <a:endParaRPr lang="en-US" altLang="en-US" sz="1200" b="0" kern="1200"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887980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903514"/>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447800"/>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6" name="Footer Placeholder 2"/>
          <p:cNvSpPr>
            <a:spLocks noGrp="1"/>
          </p:cNvSpPr>
          <p:nvPr>
            <p:ph type="ftr" sz="quarter" idx="10"/>
          </p:nvPr>
        </p:nvSpPr>
        <p:spPr>
          <a:xfrm>
            <a:off x="93969" y="6165337"/>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3/31/2024</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pic>
        <p:nvPicPr>
          <p:cNvPr id="12" name="Shape 15" descr="Pearson Logo"/>
          <p:cNvPicPr preferRelativeResize="0"/>
          <p:nvPr userDrawn="1"/>
        </p:nvPicPr>
        <p:blipFill rotWithShape="1">
          <a:blip r:embed="rId2" cstate="print">
            <a:alphaModFix/>
          </a:blip>
          <a:srcRect/>
          <a:stretch/>
        </p:blipFill>
        <p:spPr>
          <a:xfrm>
            <a:off x="443972" y="6429709"/>
            <a:ext cx="917999" cy="279914"/>
          </a:xfrm>
          <a:prstGeom prst="rect">
            <a:avLst/>
          </a:prstGeom>
          <a:noFill/>
          <a:ln>
            <a:noFill/>
          </a:ln>
        </p:spPr>
      </p:pic>
      <p:sp>
        <p:nvSpPr>
          <p:cNvPr id="13" name="Slide Number Placeholder 4"/>
          <p:cNvSpPr txBox="1">
            <a:spLocks/>
          </p:cNvSpPr>
          <p:nvPr userDrawn="1"/>
        </p:nvSpPr>
        <p:spPr>
          <a:xfrm>
            <a:off x="7881256" y="6428232"/>
            <a:ext cx="914400" cy="201168"/>
          </a:xfrm>
          <a:prstGeom prst="rect">
            <a:avLst/>
          </a:prstGeom>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altLang="en-US" sz="1200" b="0" kern="1200" noProof="0" dirty="0">
                <a:solidFill>
                  <a:schemeClr val="tx1"/>
                </a:solidFill>
                <a:latin typeface="Verdana" pitchFamily="34" charset="0"/>
                <a:ea typeface="Verdana" pitchFamily="34" charset="0"/>
                <a:cs typeface="Verdana" pitchFamily="34" charset="0"/>
              </a:rPr>
              <a:t>13 - </a:t>
            </a:r>
            <a:fld id="{876BFF75-7A20-4B22-803D-E5D1449082FD}" type="slidenum">
              <a:rPr lang="en-US" altLang="en-US" sz="1200" b="0" kern="1200" noProof="0" smtClean="0">
                <a:solidFill>
                  <a:schemeClr val="tx1"/>
                </a:solidFill>
                <a:latin typeface="Verdana" pitchFamily="34" charset="0"/>
                <a:ea typeface="Verdana" pitchFamily="34" charset="0"/>
                <a:cs typeface="Verdana"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altLang="en-US" sz="1200" b="0" kern="1200" noProof="0" dirty="0">
              <a:solidFill>
                <a:schemeClr val="tx1"/>
              </a:solidFill>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29810628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816430"/>
            <a:ext cx="8229600" cy="402770"/>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600200"/>
            <a:ext cx="8229600" cy="4525963"/>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Footer Placeholder 2"/>
          <p:cNvSpPr>
            <a:spLocks noGrp="1"/>
          </p:cNvSpPr>
          <p:nvPr>
            <p:ph type="ftr" sz="quarter" idx="10"/>
          </p:nvPr>
        </p:nvSpPr>
        <p:spPr>
          <a:xfrm>
            <a:off x="93969" y="6172200"/>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3/31/2024</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1524630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sz="2600"/>
            </a:lvl1pPr>
            <a:lvl2pPr>
              <a:buClr>
                <a:srgbClr val="007FA3"/>
              </a:buClr>
              <a:defRPr sz="2400"/>
            </a:lvl2pPr>
            <a:lvl3pPr>
              <a:buClr>
                <a:srgbClr val="007FA3"/>
              </a:buClr>
              <a:defRPr sz="2200"/>
            </a:lvl3pPr>
            <a:lvl4pPr>
              <a:buClr>
                <a:srgbClr val="007FA3"/>
              </a:buClr>
              <a:defRPr sz="2000"/>
            </a:lvl4pPr>
            <a:lvl5pPr>
              <a:buClr>
                <a:srgbClr val="007FA3"/>
              </a:buClr>
              <a:defRPr sz="18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3/31/2024</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2109093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118872" indent="-118872">
              <a:buClr>
                <a:srgbClr val="007FA3"/>
              </a:buClr>
              <a:buSzPct val="25000"/>
              <a:defRPr lang="en-US" sz="2600" kern="1200" dirty="0">
                <a:solidFill>
                  <a:schemeClr val="tx1"/>
                </a:solidFill>
                <a:latin typeface="+mn-lt"/>
                <a:ea typeface="+mn-ea"/>
                <a:cs typeface="+mn-cs"/>
              </a:defRPr>
            </a:lvl1pPr>
            <a:lvl2pPr marL="569913" indent="-285750">
              <a:buClr>
                <a:srgbClr val="007FA3"/>
              </a:buClr>
              <a:defRPr lang="en-US" sz="2400" kern="1200" dirty="0">
                <a:solidFill>
                  <a:schemeClr val="tx1"/>
                </a:solidFill>
                <a:latin typeface="+mn-lt"/>
                <a:ea typeface="+mn-ea"/>
                <a:cs typeface="+mn-cs"/>
              </a:defRPr>
            </a:lvl2pPr>
            <a:lvl3pPr>
              <a:buClr>
                <a:srgbClr val="007FA3"/>
              </a:buClr>
              <a:defRPr sz="2000"/>
            </a:lvl3pPr>
            <a:lvl4pPr>
              <a:buClr>
                <a:srgbClr val="007FA3"/>
              </a:buClr>
              <a:defRPr sz="2000"/>
            </a:lvl4pPr>
            <a:lvl5pPr>
              <a:buClr>
                <a:srgbClr val="007FA3"/>
              </a:buClr>
              <a:defRPr sz="2000"/>
            </a:lvl5pPr>
            <a:lvl6pPr>
              <a:buClr>
                <a:srgbClr val="007FA3"/>
              </a:buClr>
              <a:defRPr sz="2000"/>
            </a:lvl6pPr>
            <a:lvl7pPr>
              <a:buClr>
                <a:srgbClr val="007FA3"/>
              </a:buClr>
              <a:defRPr sz="2000"/>
            </a:lvl7pPr>
            <a:lvl8pPr>
              <a:buClr>
                <a:srgbClr val="007FA3"/>
              </a:buClr>
              <a:defRPr sz="2000"/>
            </a:lvl8pPr>
            <a:lvl9pPr>
              <a:buClr>
                <a:srgbClr val="007FA3"/>
              </a:buClr>
              <a:defRPr sz="2000"/>
            </a:lvl9pPr>
          </a:lstStyle>
          <a:p>
            <a:pPr marL="256032" lvl="0" indent="-256032" algn="l" defTabSz="914400" rtl="0" eaLnBrk="1" latinLnBrk="0" hangingPunct="1">
              <a:spcBef>
                <a:spcPts val="1500"/>
              </a:spcBef>
              <a:buClr>
                <a:srgbClr val="007FA3"/>
              </a:buClr>
              <a:buSzPct val="100000"/>
              <a:buFont typeface="Arial" panose="020B0604020202020204" pitchFamily="34" charset="0"/>
              <a:buChar char="•"/>
            </a:pPr>
            <a:r>
              <a:rPr lang="en-US" dirty="0"/>
              <a:t>Click to edit Master text styles</a:t>
            </a:r>
          </a:p>
          <a:p>
            <a:pPr marL="742950" lvl="1" indent="-285750" algn="l" defTabSz="914400" rtl="0" eaLnBrk="1" latinLnBrk="0" hangingPunct="1">
              <a:spcBef>
                <a:spcPts val="600"/>
              </a:spcBef>
              <a:buClr>
                <a:srgbClr val="007FA3"/>
              </a:buClr>
              <a:buFont typeface="Arial" panose="020B0604020202020204" pitchFamily="34" charset="0"/>
              <a:buChar char="–"/>
            </a:pPr>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3/31/2024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752008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1200">
                <a:latin typeface="Verdana" panose="020B0604030504040204" pitchFamily="34" charset="0"/>
                <a:ea typeface="Verdana" panose="020B0604030504040204" pitchFamily="34" charset="0"/>
              </a:defRPr>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3/31/2024</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4" name="Shape 15" descr="Pearson Logo"/>
          <p:cNvPicPr preferRelativeResize="0"/>
          <p:nvPr userDrawn="1"/>
        </p:nvPicPr>
        <p:blipFill rotWithShape="1">
          <a:blip r:embed="rId2" cstate="print">
            <a:alphaModFix/>
          </a:blip>
          <a:srcRect/>
          <a:stretch/>
        </p:blipFill>
        <p:spPr>
          <a:xfrm>
            <a:off x="443972" y="6429709"/>
            <a:ext cx="917999" cy="279914"/>
          </a:xfrm>
          <a:prstGeom prst="rect">
            <a:avLst/>
          </a:prstGeom>
          <a:noFill/>
          <a:ln>
            <a:noFill/>
          </a:ln>
        </p:spPr>
      </p:pic>
      <p:sp>
        <p:nvSpPr>
          <p:cNvPr id="15" name="Slide Number Placeholder 4"/>
          <p:cNvSpPr txBox="1">
            <a:spLocks/>
          </p:cNvSpPr>
          <p:nvPr userDrawn="1"/>
        </p:nvSpPr>
        <p:spPr>
          <a:xfrm>
            <a:off x="7881256" y="6428232"/>
            <a:ext cx="914400" cy="201168"/>
          </a:xfrm>
          <a:prstGeom prst="rect">
            <a:avLst/>
          </a:prstGeom>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altLang="en-US" sz="1200" b="0" kern="1200" noProof="0" dirty="0">
                <a:solidFill>
                  <a:schemeClr val="tx1"/>
                </a:solidFill>
                <a:latin typeface="Verdana" pitchFamily="34" charset="0"/>
                <a:ea typeface="Verdana" pitchFamily="34" charset="0"/>
                <a:cs typeface="Verdana" pitchFamily="34" charset="0"/>
              </a:rPr>
              <a:t>13 - </a:t>
            </a:r>
            <a:fld id="{876BFF75-7A20-4B22-803D-E5D1449082FD}" type="slidenum">
              <a:rPr lang="en-US" altLang="en-US" sz="1200" b="0" kern="1200" noProof="0" smtClean="0">
                <a:solidFill>
                  <a:schemeClr val="tx1"/>
                </a:solidFill>
                <a:latin typeface="Verdana" pitchFamily="34" charset="0"/>
                <a:ea typeface="Verdana" pitchFamily="34" charset="0"/>
                <a:cs typeface="Verdana"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altLang="en-US" sz="1200" b="0" kern="1200" noProof="0" dirty="0">
              <a:solidFill>
                <a:schemeClr val="tx1"/>
              </a:solidFill>
              <a:latin typeface="Verdana" pitchFamily="34" charset="0"/>
              <a:ea typeface="Verdana" pitchFamily="34" charset="0"/>
              <a:cs typeface="Verdana" pitchFamily="34" charset="0"/>
            </a:endParaRPr>
          </a:p>
        </p:txBody>
      </p:sp>
      <p:sp>
        <p:nvSpPr>
          <p:cNvPr id="13" name="TextBox 12">
            <a:extLst>
              <a:ext uri="{FF2B5EF4-FFF2-40B4-BE49-F238E27FC236}">
                <a16:creationId xmlns:a16="http://schemas.microsoft.com/office/drawing/2014/main" id="{53FB0CCA-42FE-4F49-B329-D58EC7D36F62}"/>
              </a:ext>
            </a:extLst>
          </p:cNvPr>
          <p:cNvSpPr txBox="1"/>
          <p:nvPr userDrawn="1"/>
        </p:nvSpPr>
        <p:spPr>
          <a:xfrm>
            <a:off x="1502228" y="6429974"/>
            <a:ext cx="6172200" cy="276999"/>
          </a:xfrm>
          <a:prstGeom prst="rect">
            <a:avLst/>
          </a:prstGeom>
          <a:noFill/>
        </p:spPr>
        <p:txBody>
          <a:bodyPr wrap="square" rtlCol="0">
            <a:spAutoFit/>
          </a:bodyPr>
          <a:lstStyle/>
          <a:p>
            <a:pPr algn="ctr">
              <a:defRPr/>
            </a:pPr>
            <a:r>
              <a:rPr lang="en-IN" sz="1200" kern="1200" dirty="0">
                <a:solidFill>
                  <a:schemeClr val="tx1"/>
                </a:solidFill>
                <a:effectLst/>
                <a:latin typeface="Verdana" panose="020B0604030504040204" pitchFamily="34" charset="0"/>
                <a:ea typeface="Verdana" panose="020B0604030504040204" pitchFamily="34" charset="0"/>
                <a:cs typeface="+mn-cs"/>
              </a:rPr>
              <a:t>Copyright © </a:t>
            </a:r>
            <a:r>
              <a:rPr lang="en-IN" sz="1200" dirty="0">
                <a:latin typeface="Verdana" panose="020B0604030504040204" pitchFamily="34" charset="0"/>
                <a:ea typeface="Verdana" panose="020B0604030504040204" pitchFamily="34" charset="0"/>
              </a:rPr>
              <a:t>2021, 2018, 2015 </a:t>
            </a:r>
            <a:r>
              <a:rPr lang="en-IN" sz="1200" kern="1200" dirty="0">
                <a:solidFill>
                  <a:schemeClr val="tx1"/>
                </a:solidFill>
                <a:effectLst/>
                <a:latin typeface="Verdana" panose="020B0604030504040204" pitchFamily="34" charset="0"/>
                <a:ea typeface="Verdana" panose="020B0604030504040204" pitchFamily="34" charset="0"/>
                <a:cs typeface="+mn-cs"/>
              </a:rPr>
              <a:t>Pearson Education, Inc. All Rights Reserved</a:t>
            </a:r>
            <a:endParaRPr lang="en-US" altLang="en-US" sz="1200" b="0" kern="1200"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2037960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2800"/>
            </a:lvl1pPr>
            <a:lvl2pPr>
              <a:defRPr sz="2400"/>
            </a:lvl2pPr>
            <a:lvl3pPr>
              <a:defRPr sz="2000"/>
            </a:lvl3pPr>
            <a:lvl4pPr>
              <a:defRPr sz="2000"/>
            </a:lvl4pPr>
            <a:lvl5pPr>
              <a:defRPr sz="20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2800"/>
            </a:lvl1pPr>
            <a:lvl2pPr>
              <a:defRPr sz="2400"/>
            </a:lvl2pPr>
            <a:lvl3pPr>
              <a:defRPr sz="2000"/>
            </a:lvl3pPr>
            <a:lvl4pPr>
              <a:defRPr sz="2000"/>
            </a:lvl4pPr>
            <a:lvl5pPr>
              <a:defRPr sz="20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3/31/2024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1547999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447800"/>
            <a:ext cx="7772400" cy="2152651"/>
          </a:xfrm>
        </p:spPr>
        <p:txBody>
          <a:bodyPr anchor="b">
            <a:noAutofit/>
          </a:bodyPr>
          <a:lstStyle>
            <a:lvl1pPr algn="l">
              <a:defRPr sz="34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87" y="3962400"/>
            <a:ext cx="7794627" cy="1752600"/>
          </a:xfrm>
        </p:spPr>
        <p:txBody>
          <a:bodyPr anchor="t">
            <a:noAutofit/>
          </a:bodyPr>
          <a:lstStyle>
            <a:lvl1pPr marL="0" indent="0">
              <a:spcBef>
                <a:spcPts val="0"/>
              </a:spcBef>
              <a:buNone/>
              <a:defRPr sz="24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9"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3/31/2024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754704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9" name="Footer Placeholder 3"/>
          <p:cNvSpPr>
            <a:spLocks noGrp="1"/>
          </p:cNvSpPr>
          <p:nvPr>
            <p:ph type="ftr" sz="quarter" idx="11"/>
          </p:nvPr>
        </p:nvSpPr>
        <p:spPr>
          <a:xfrm>
            <a:off x="93969" y="6172200"/>
            <a:ext cx="8595360" cy="235463"/>
          </a:xfrm>
        </p:spPr>
        <p:txBody>
          <a:bodyPr/>
          <a:lstStyle/>
          <a:p>
            <a:endParaRPr lang="en-US" dirty="0"/>
          </a:p>
        </p:txBody>
      </p:sp>
      <p:sp>
        <p:nvSpPr>
          <p:cNvPr id="3" name="Date Placeholder 2"/>
          <p:cNvSpPr>
            <a:spLocks noGrp="1"/>
          </p:cNvSpPr>
          <p:nvPr>
            <p:ph type="dt" sz="half" idx="10"/>
          </p:nvPr>
        </p:nvSpPr>
        <p:spPr/>
        <p:txBody>
          <a:bodyPr/>
          <a:lstStyle/>
          <a:p>
            <a:fld id="{A9DF6EFB-3F44-496C-A842-1E0B3D3B975A}" type="datetimeFigureOut">
              <a:rPr lang="en-US" smtClean="0"/>
              <a:pPr/>
              <a:t>3/31/2024</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8551265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8"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3/31/2024</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1" name="Shape 15" descr="Pearson Logo"/>
          <p:cNvPicPr preferRelativeResize="0"/>
          <p:nvPr userDrawn="1"/>
        </p:nvPicPr>
        <p:blipFill rotWithShape="1">
          <a:blip r:embed="rId2" cstate="print">
            <a:alphaModFix/>
          </a:blip>
          <a:srcRect/>
          <a:stretch/>
        </p:blipFill>
        <p:spPr>
          <a:xfrm>
            <a:off x="443972" y="6429709"/>
            <a:ext cx="917999" cy="279914"/>
          </a:xfrm>
          <a:prstGeom prst="rect">
            <a:avLst/>
          </a:prstGeom>
          <a:noFill/>
          <a:ln>
            <a:noFill/>
          </a:ln>
        </p:spPr>
      </p:pic>
      <p:sp>
        <p:nvSpPr>
          <p:cNvPr id="12" name="Slide Number Placeholder 4"/>
          <p:cNvSpPr txBox="1">
            <a:spLocks/>
          </p:cNvSpPr>
          <p:nvPr userDrawn="1"/>
        </p:nvSpPr>
        <p:spPr>
          <a:xfrm>
            <a:off x="7881256" y="6428232"/>
            <a:ext cx="914400" cy="201168"/>
          </a:xfrm>
          <a:prstGeom prst="rect">
            <a:avLst/>
          </a:prstGeom>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altLang="en-US" sz="1200" b="0" kern="1200" noProof="0" dirty="0">
                <a:solidFill>
                  <a:schemeClr val="tx1"/>
                </a:solidFill>
                <a:latin typeface="Verdana" pitchFamily="34" charset="0"/>
                <a:ea typeface="Verdana" pitchFamily="34" charset="0"/>
                <a:cs typeface="Verdana" pitchFamily="34" charset="0"/>
              </a:rPr>
              <a:t>8 - </a:t>
            </a:r>
            <a:fld id="{876BFF75-7A20-4B22-803D-E5D1449082FD}" type="slidenum">
              <a:rPr lang="en-US" altLang="en-US" sz="1200" b="0" kern="1200" noProof="0" smtClean="0">
                <a:solidFill>
                  <a:schemeClr val="tx1"/>
                </a:solidFill>
                <a:latin typeface="Verdana" pitchFamily="34" charset="0"/>
                <a:ea typeface="Verdana" pitchFamily="34" charset="0"/>
                <a:cs typeface="Verdana"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altLang="en-US" sz="1200" b="0" kern="1200" noProof="0" dirty="0">
              <a:solidFill>
                <a:schemeClr val="tx1"/>
              </a:solidFill>
              <a:latin typeface="Verdana" pitchFamily="34" charset="0"/>
              <a:ea typeface="Verdana" pitchFamily="34" charset="0"/>
              <a:cs typeface="Verdana" pitchFamily="34" charset="0"/>
            </a:endParaRPr>
          </a:p>
        </p:txBody>
      </p:sp>
      <p:sp>
        <p:nvSpPr>
          <p:cNvPr id="10" name="TextBox 9">
            <a:extLst>
              <a:ext uri="{FF2B5EF4-FFF2-40B4-BE49-F238E27FC236}">
                <a16:creationId xmlns:a16="http://schemas.microsoft.com/office/drawing/2014/main" id="{39F0ED46-ED41-4598-BC5D-77A94B216872}"/>
              </a:ext>
            </a:extLst>
          </p:cNvPr>
          <p:cNvSpPr txBox="1"/>
          <p:nvPr userDrawn="1"/>
        </p:nvSpPr>
        <p:spPr>
          <a:xfrm>
            <a:off x="1502228" y="6429974"/>
            <a:ext cx="6172200" cy="276999"/>
          </a:xfrm>
          <a:prstGeom prst="rect">
            <a:avLst/>
          </a:prstGeom>
          <a:noFill/>
        </p:spPr>
        <p:txBody>
          <a:bodyPr wrap="square" rtlCol="0">
            <a:spAutoFit/>
          </a:bodyPr>
          <a:lstStyle/>
          <a:p>
            <a:pPr algn="ctr">
              <a:defRPr/>
            </a:pPr>
            <a:r>
              <a:rPr lang="en-IN" sz="1200" kern="1200" dirty="0">
                <a:solidFill>
                  <a:schemeClr val="tx1"/>
                </a:solidFill>
                <a:effectLst/>
                <a:latin typeface="Verdana" panose="020B0604030504040204" pitchFamily="34" charset="0"/>
                <a:ea typeface="Verdana" panose="020B0604030504040204" pitchFamily="34" charset="0"/>
                <a:cs typeface="+mn-cs"/>
              </a:rPr>
              <a:t>Copyright © </a:t>
            </a:r>
            <a:r>
              <a:rPr lang="en-IN" sz="1200" dirty="0">
                <a:latin typeface="Verdana" panose="020B0604030504040204" pitchFamily="34" charset="0"/>
                <a:ea typeface="Verdana" panose="020B0604030504040204" pitchFamily="34" charset="0"/>
              </a:rPr>
              <a:t>2021, 2018, 2015 </a:t>
            </a:r>
            <a:r>
              <a:rPr lang="en-IN" sz="1200" kern="1200" dirty="0">
                <a:solidFill>
                  <a:schemeClr val="tx1"/>
                </a:solidFill>
                <a:effectLst/>
                <a:latin typeface="Verdana" panose="020B0604030504040204" pitchFamily="34" charset="0"/>
                <a:ea typeface="Verdana" panose="020B0604030504040204" pitchFamily="34" charset="0"/>
                <a:cs typeface="+mn-cs"/>
              </a:rPr>
              <a:t>Pearson Education, Inc. All Rights Reserved</a:t>
            </a:r>
            <a:endParaRPr lang="en-US" altLang="en-US" sz="1200" b="0" kern="1200"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7111366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9456"/>
            <a:ext cx="8229600" cy="1097280"/>
          </a:xfrm>
        </p:spPr>
        <p:txBody>
          <a:bodyPr/>
          <a:lstStyle/>
          <a:p>
            <a:r>
              <a:rPr lang="en-US" dirty="0"/>
              <a:t>Click to edit Master title style</a:t>
            </a:r>
          </a:p>
        </p:txBody>
      </p:sp>
      <p:sp>
        <p:nvSpPr>
          <p:cNvPr id="16" name="Text Placeholder 15"/>
          <p:cNvSpPr>
            <a:spLocks noGrp="1"/>
          </p:cNvSpPr>
          <p:nvPr>
            <p:ph type="body" sz="quarter" idx="18"/>
          </p:nvPr>
        </p:nvSpPr>
        <p:spPr>
          <a:xfrm>
            <a:off x="457200" y="1457450"/>
            <a:ext cx="82296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p:cNvSpPr>
            <a:spLocks noGrp="1"/>
          </p:cNvSpPr>
          <p:nvPr>
            <p:ph type="body" idx="1" hasCustomPrompt="1"/>
          </p:nvPr>
        </p:nvSpPr>
        <p:spPr>
          <a:xfrm>
            <a:off x="457200" y="159918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
        <p:nvSpPr>
          <p:cNvPr id="4" name="Content Placeholder 3"/>
          <p:cNvSpPr>
            <a:spLocks noGrp="1"/>
          </p:cNvSpPr>
          <p:nvPr>
            <p:ph sz="half" idx="2" hasCustomPrompt="1"/>
          </p:nvPr>
        </p:nvSpPr>
        <p:spPr>
          <a:xfrm>
            <a:off x="3291114" y="160194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5" name="Text Placeholder 4"/>
          <p:cNvSpPr>
            <a:spLocks noGrp="1"/>
          </p:cNvSpPr>
          <p:nvPr>
            <p:ph type="body" sz="quarter" idx="3" hasCustomPrompt="1"/>
          </p:nvPr>
        </p:nvSpPr>
        <p:spPr>
          <a:xfrm>
            <a:off x="6126480" y="159918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
        <p:nvSpPr>
          <p:cNvPr id="6" name="Content Placeholder 5"/>
          <p:cNvSpPr>
            <a:spLocks noGrp="1"/>
          </p:cNvSpPr>
          <p:nvPr>
            <p:ph sz="quarter" idx="4" hasCustomPrompt="1"/>
          </p:nvPr>
        </p:nvSpPr>
        <p:spPr>
          <a:xfrm>
            <a:off x="457200" y="317565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0" name="Content Placeholder 3"/>
          <p:cNvSpPr>
            <a:spLocks noGrp="1"/>
          </p:cNvSpPr>
          <p:nvPr>
            <p:ph sz="half" idx="13" hasCustomPrompt="1"/>
          </p:nvPr>
        </p:nvSpPr>
        <p:spPr>
          <a:xfrm>
            <a:off x="3300984" y="317565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1" name="Content Placeholder 5"/>
          <p:cNvSpPr>
            <a:spLocks noGrp="1"/>
          </p:cNvSpPr>
          <p:nvPr>
            <p:ph sz="quarter" idx="14" hasCustomPrompt="1"/>
          </p:nvPr>
        </p:nvSpPr>
        <p:spPr>
          <a:xfrm>
            <a:off x="6128658" y="3171876"/>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2" name="Content Placeholder 5"/>
          <p:cNvSpPr>
            <a:spLocks noGrp="1"/>
          </p:cNvSpPr>
          <p:nvPr>
            <p:ph sz="quarter" idx="15" hasCustomPrompt="1"/>
          </p:nvPr>
        </p:nvSpPr>
        <p:spPr>
          <a:xfrm>
            <a:off x="457200" y="4761264"/>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3" name="Content Placeholder 5"/>
          <p:cNvSpPr>
            <a:spLocks noGrp="1"/>
          </p:cNvSpPr>
          <p:nvPr>
            <p:ph sz="quarter" idx="16" hasCustomPrompt="1"/>
          </p:nvPr>
        </p:nvSpPr>
        <p:spPr>
          <a:xfrm>
            <a:off x="3299388" y="4761264"/>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4" name="Content Placeholder 5"/>
          <p:cNvSpPr>
            <a:spLocks noGrp="1"/>
          </p:cNvSpPr>
          <p:nvPr>
            <p:ph sz="quarter" idx="17" hasCustomPrompt="1"/>
          </p:nvPr>
        </p:nvSpPr>
        <p:spPr>
          <a:xfrm>
            <a:off x="6128658" y="4764312"/>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8" name="Footer Placeholder 7"/>
          <p:cNvSpPr>
            <a:spLocks noGrp="1"/>
          </p:cNvSpPr>
          <p:nvPr>
            <p:ph type="ftr" sz="quarter" idx="11"/>
          </p:nvPr>
        </p:nvSpPr>
        <p:spPr/>
        <p:txBody>
          <a:bodyPr/>
          <a:lstStyle>
            <a:lvl1pPr>
              <a:buFont typeface="Arial" pitchFamily="34" charset="0"/>
              <a:buNone/>
              <a:defRPr/>
            </a:lvl1pPr>
          </a:lstStyle>
          <a:p>
            <a:endParaRPr lang="en-US"/>
          </a:p>
        </p:txBody>
      </p:sp>
      <p:sp>
        <p:nvSpPr>
          <p:cNvPr id="7" name="Date Placeholder 6"/>
          <p:cNvSpPr>
            <a:spLocks noGrp="1"/>
          </p:cNvSpPr>
          <p:nvPr>
            <p:ph type="dt" sz="half" idx="10"/>
          </p:nvPr>
        </p:nvSpPr>
        <p:spPr/>
        <p:txBody>
          <a:bodyPr/>
          <a:lstStyle/>
          <a:p>
            <a:fld id="{E0DBC1D4-5704-45BB-BA8B-9B7E98161C8B}" type="datetimeFigureOut">
              <a:rPr lang="en-US" smtClean="0"/>
              <a:pPr/>
              <a:t>3/31/2024</a:t>
            </a:fld>
            <a:endParaRPr lang="en-US"/>
          </a:p>
        </p:txBody>
      </p:sp>
      <p:sp>
        <p:nvSpPr>
          <p:cNvPr id="9" name="Slide Number Placeholder 8"/>
          <p:cNvSpPr>
            <a:spLocks noGrp="1"/>
          </p:cNvSpPr>
          <p:nvPr>
            <p:ph type="sldNum" sz="quarter" idx="12"/>
          </p:nvPr>
        </p:nvSpPr>
        <p:spPr/>
        <p:txBody>
          <a:bodyPr/>
          <a:lstStyle/>
          <a:p>
            <a:fld id="{4C404A2B-EE51-41D7-B879-F8E5E9C51050}" type="slidenum">
              <a:rPr lang="en-US" smtClean="0"/>
              <a:pPr/>
              <a:t>‹#›</a:t>
            </a:fld>
            <a:endParaRPr lang="en-US"/>
          </a:p>
        </p:txBody>
      </p:sp>
    </p:spTree>
    <p:extLst>
      <p:ext uri="{BB962C8B-B14F-4D97-AF65-F5344CB8AC3E}">
        <p14:creationId xmlns:p14="http://schemas.microsoft.com/office/powerpoint/2010/main" val="21277165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sz="2800"/>
            </a:lvl1pPr>
            <a:lvl2pPr>
              <a:buClr>
                <a:srgbClr val="007FA3"/>
              </a:buClr>
              <a:defRPr sz="2400"/>
            </a:lvl2pPr>
            <a:lvl3pPr>
              <a:buClr>
                <a:srgbClr val="007FA3"/>
              </a:buClr>
              <a:defRPr sz="2000"/>
            </a:lvl3pPr>
            <a:lvl4pPr>
              <a:buClr>
                <a:srgbClr val="007FA3"/>
              </a:buClr>
              <a:defRPr sz="2000"/>
            </a:lvl4pPr>
            <a:lvl5pPr>
              <a:buClr>
                <a:srgbClr val="007FA3"/>
              </a:buClr>
              <a:defRPr sz="2000"/>
            </a:lvl5pPr>
            <a:lvl6pPr>
              <a:buClr>
                <a:srgbClr val="007FA3"/>
              </a:buClr>
              <a:defRPr sz="2000"/>
            </a:lvl6pPr>
            <a:lvl7pPr>
              <a:buClr>
                <a:srgbClr val="007FA3"/>
              </a:buClr>
              <a:defRPr sz="2000"/>
            </a:lvl7pPr>
            <a:lvl8pPr>
              <a:buClr>
                <a:srgbClr val="007FA3"/>
              </a:buClr>
              <a:defRPr sz="2000"/>
            </a:lvl8pPr>
            <a:lvl9pPr>
              <a:buClr>
                <a:srgbClr val="007FA3"/>
              </a:buCl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3/31/2024</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
        <p:nvSpPr>
          <p:cNvPr id="11" name="Text Placeholder 2"/>
          <p:cNvSpPr>
            <a:spLocks noGrp="1"/>
          </p:cNvSpPr>
          <p:nvPr>
            <p:ph type="body" idx="13" hasCustomPrompt="1"/>
          </p:nvPr>
        </p:nvSpPr>
        <p:spPr>
          <a:xfrm>
            <a:off x="6126480" y="160020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
        <p:nvSpPr>
          <p:cNvPr id="12" name="Content Placeholder 3"/>
          <p:cNvSpPr>
            <a:spLocks noGrp="1"/>
          </p:cNvSpPr>
          <p:nvPr>
            <p:ph sz="half" idx="2" hasCustomPrompt="1"/>
          </p:nvPr>
        </p:nvSpPr>
        <p:spPr>
          <a:xfrm>
            <a:off x="457200" y="160020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3" name="Text Placeholder 4"/>
          <p:cNvSpPr>
            <a:spLocks noGrp="1"/>
          </p:cNvSpPr>
          <p:nvPr>
            <p:ph type="body" sz="quarter" idx="3" hasCustomPrompt="1"/>
          </p:nvPr>
        </p:nvSpPr>
        <p:spPr>
          <a:xfrm>
            <a:off x="3291840" y="159918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Tree>
    <p:extLst>
      <p:ext uri="{BB962C8B-B14F-4D97-AF65-F5344CB8AC3E}">
        <p14:creationId xmlns:p14="http://schemas.microsoft.com/office/powerpoint/2010/main" val="12109093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2800"/>
            </a:lvl1pPr>
            <a:lvl2pPr>
              <a:defRPr sz="2400"/>
            </a:lvl2pPr>
            <a:lvl3pPr>
              <a:defRPr sz="2000"/>
            </a:lvl3pPr>
            <a:lvl4pPr>
              <a:defRPr sz="2000"/>
            </a:lvl4pPr>
            <a:lvl5pPr>
              <a:defRPr sz="20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2800"/>
            </a:lvl1pPr>
            <a:lvl2pPr>
              <a:defRPr sz="2400"/>
            </a:lvl2pPr>
            <a:lvl3pPr>
              <a:defRPr sz="2000"/>
            </a:lvl3pPr>
            <a:lvl4pPr>
              <a:defRPr sz="2000"/>
            </a:lvl4pPr>
            <a:lvl5pPr>
              <a:defRPr sz="20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3/31/2024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16" name="Text Placeholder 2"/>
          <p:cNvSpPr>
            <a:spLocks noGrp="1"/>
          </p:cNvSpPr>
          <p:nvPr>
            <p:ph type="body" idx="14" hasCustomPrompt="1"/>
          </p:nvPr>
        </p:nvSpPr>
        <p:spPr>
          <a:xfrm>
            <a:off x="6126480" y="160020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
        <p:nvSpPr>
          <p:cNvPr id="17" name="Content Placeholder 3"/>
          <p:cNvSpPr>
            <a:spLocks noGrp="1"/>
          </p:cNvSpPr>
          <p:nvPr>
            <p:ph sz="half" idx="2" hasCustomPrompt="1"/>
          </p:nvPr>
        </p:nvSpPr>
        <p:spPr>
          <a:xfrm>
            <a:off x="457200" y="160020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8" name="Text Placeholder 4"/>
          <p:cNvSpPr>
            <a:spLocks noGrp="1"/>
          </p:cNvSpPr>
          <p:nvPr>
            <p:ph type="body" sz="quarter" idx="3" hasCustomPrompt="1"/>
          </p:nvPr>
        </p:nvSpPr>
        <p:spPr>
          <a:xfrm>
            <a:off x="3291840" y="159918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Tree>
    <p:extLst>
      <p:ext uri="{BB962C8B-B14F-4D97-AF65-F5344CB8AC3E}">
        <p14:creationId xmlns:p14="http://schemas.microsoft.com/office/powerpoint/2010/main" val="31547999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1_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3/31/2024</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sp>
        <p:nvSpPr>
          <p:cNvPr id="12" name="Text Placeholder 2"/>
          <p:cNvSpPr>
            <a:spLocks noGrp="1"/>
          </p:cNvSpPr>
          <p:nvPr>
            <p:ph type="body" idx="14" hasCustomPrompt="1"/>
          </p:nvPr>
        </p:nvSpPr>
        <p:spPr>
          <a:xfrm>
            <a:off x="6126480" y="160020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
        <p:nvSpPr>
          <p:cNvPr id="13" name="Content Placeholder 3"/>
          <p:cNvSpPr>
            <a:spLocks noGrp="1"/>
          </p:cNvSpPr>
          <p:nvPr>
            <p:ph sz="half" idx="2" hasCustomPrompt="1"/>
          </p:nvPr>
        </p:nvSpPr>
        <p:spPr>
          <a:xfrm>
            <a:off x="457200" y="160020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7" name="Text Placeholder 4"/>
          <p:cNvSpPr>
            <a:spLocks noGrp="1"/>
          </p:cNvSpPr>
          <p:nvPr>
            <p:ph type="body" sz="quarter" idx="3" hasCustomPrompt="1"/>
          </p:nvPr>
        </p:nvSpPr>
        <p:spPr>
          <a:xfrm>
            <a:off x="3291840" y="159918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pic>
        <p:nvPicPr>
          <p:cNvPr id="15" name="Shape 15" descr="Pearson Logo"/>
          <p:cNvPicPr preferRelativeResize="0"/>
          <p:nvPr userDrawn="1"/>
        </p:nvPicPr>
        <p:blipFill rotWithShape="1">
          <a:blip r:embed="rId2" cstate="print">
            <a:alphaModFix/>
          </a:blip>
          <a:srcRect/>
          <a:stretch/>
        </p:blipFill>
        <p:spPr>
          <a:xfrm>
            <a:off x="443972" y="6429709"/>
            <a:ext cx="917999" cy="279914"/>
          </a:xfrm>
          <a:prstGeom prst="rect">
            <a:avLst/>
          </a:prstGeom>
          <a:noFill/>
          <a:ln>
            <a:noFill/>
          </a:ln>
        </p:spPr>
      </p:pic>
      <p:sp>
        <p:nvSpPr>
          <p:cNvPr id="19" name="Slide Number Placeholder 4"/>
          <p:cNvSpPr txBox="1">
            <a:spLocks/>
          </p:cNvSpPr>
          <p:nvPr userDrawn="1"/>
        </p:nvSpPr>
        <p:spPr>
          <a:xfrm>
            <a:off x="7881256" y="6428232"/>
            <a:ext cx="914400" cy="201168"/>
          </a:xfrm>
          <a:prstGeom prst="rect">
            <a:avLst/>
          </a:prstGeom>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altLang="en-US" sz="1200" b="0" kern="1200" noProof="0" dirty="0">
                <a:solidFill>
                  <a:schemeClr val="tx1"/>
                </a:solidFill>
                <a:latin typeface="Verdana" pitchFamily="34" charset="0"/>
                <a:ea typeface="Verdana" pitchFamily="34" charset="0"/>
                <a:cs typeface="Verdana" pitchFamily="34" charset="0"/>
              </a:rPr>
              <a:t>3 - </a:t>
            </a:r>
            <a:fld id="{876BFF75-7A20-4B22-803D-E5D1449082FD}" type="slidenum">
              <a:rPr lang="en-US" altLang="en-US" sz="1200" b="0" kern="1200" noProof="0" smtClean="0">
                <a:solidFill>
                  <a:schemeClr val="tx1"/>
                </a:solidFill>
                <a:latin typeface="Verdana" pitchFamily="34" charset="0"/>
                <a:ea typeface="Verdana" pitchFamily="34" charset="0"/>
                <a:cs typeface="Verdana"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altLang="en-US" sz="1200" b="0" kern="1200" noProof="0" dirty="0">
              <a:solidFill>
                <a:schemeClr val="tx1"/>
              </a:solidFill>
              <a:latin typeface="Verdana" pitchFamily="34" charset="0"/>
              <a:ea typeface="Verdana" pitchFamily="34" charset="0"/>
              <a:cs typeface="Verdana" pitchFamily="34" charset="0"/>
            </a:endParaRPr>
          </a:p>
        </p:txBody>
      </p:sp>
      <p:sp>
        <p:nvSpPr>
          <p:cNvPr id="14" name="TextBox 13">
            <a:extLst>
              <a:ext uri="{FF2B5EF4-FFF2-40B4-BE49-F238E27FC236}">
                <a16:creationId xmlns:a16="http://schemas.microsoft.com/office/drawing/2014/main" id="{97929C19-A940-4FDA-BB74-83E573C05348}"/>
              </a:ext>
            </a:extLst>
          </p:cNvPr>
          <p:cNvSpPr txBox="1"/>
          <p:nvPr userDrawn="1"/>
        </p:nvSpPr>
        <p:spPr>
          <a:xfrm>
            <a:off x="1502228" y="6429974"/>
            <a:ext cx="6172200" cy="276999"/>
          </a:xfrm>
          <a:prstGeom prst="rect">
            <a:avLst/>
          </a:prstGeom>
          <a:noFill/>
        </p:spPr>
        <p:txBody>
          <a:bodyPr wrap="square" rtlCol="0">
            <a:spAutoFit/>
          </a:bodyPr>
          <a:lstStyle/>
          <a:p>
            <a:pPr algn="ctr">
              <a:defRPr/>
            </a:pPr>
            <a:r>
              <a:rPr lang="en-IN" sz="1200" kern="1200" dirty="0">
                <a:solidFill>
                  <a:schemeClr val="tx1"/>
                </a:solidFill>
                <a:effectLst/>
                <a:latin typeface="Verdana" panose="020B0604030504040204" pitchFamily="34" charset="0"/>
                <a:ea typeface="Verdana" panose="020B0604030504040204" pitchFamily="34" charset="0"/>
                <a:cs typeface="+mn-cs"/>
              </a:rPr>
              <a:t>Copyright © </a:t>
            </a:r>
            <a:r>
              <a:rPr lang="en-IN" sz="1200" dirty="0">
                <a:latin typeface="Verdana" panose="020B0604030504040204" pitchFamily="34" charset="0"/>
                <a:ea typeface="Verdana" panose="020B0604030504040204" pitchFamily="34" charset="0"/>
              </a:rPr>
              <a:t>2021, 2018, 2015 </a:t>
            </a:r>
            <a:r>
              <a:rPr lang="en-IN" sz="1200" kern="1200" dirty="0">
                <a:solidFill>
                  <a:schemeClr val="tx1"/>
                </a:solidFill>
                <a:effectLst/>
                <a:latin typeface="Verdana" panose="020B0604030504040204" pitchFamily="34" charset="0"/>
                <a:ea typeface="Verdana" panose="020B0604030504040204" pitchFamily="34" charset="0"/>
                <a:cs typeface="+mn-cs"/>
              </a:rPr>
              <a:t>Pearson Education, Inc. All Rights Reserved</a:t>
            </a:r>
            <a:endParaRPr lang="en-US" altLang="en-US" sz="1200" b="0" kern="1200"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2037960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Title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35256"/>
            <a:ext cx="8229600" cy="1097280"/>
          </a:xfrm>
        </p:spPr>
        <p:txBody>
          <a:bodyPr/>
          <a:lstStyle>
            <a:lvl1pPr>
              <a:defRPr/>
            </a:lvl1pPr>
          </a:lstStyle>
          <a:p>
            <a:r>
              <a:rPr lang="en-US" dirty="0"/>
              <a:t>Click to edit Master title style</a:t>
            </a:r>
          </a:p>
        </p:txBody>
      </p:sp>
      <p:sp>
        <p:nvSpPr>
          <p:cNvPr id="3" name="Content Placeholder 2"/>
          <p:cNvSpPr>
            <a:spLocks noGrp="1"/>
          </p:cNvSpPr>
          <p:nvPr>
            <p:ph idx="1"/>
          </p:nvPr>
        </p:nvSpPr>
        <p:spPr>
          <a:xfrm>
            <a:off x="457200" y="1869149"/>
            <a:ext cx="8229600" cy="4248459"/>
          </a:xfrm>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3/31/2024</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
        <p:nvSpPr>
          <p:cNvPr id="12" name="Text Placeholder 11"/>
          <p:cNvSpPr>
            <a:spLocks noGrp="1"/>
          </p:cNvSpPr>
          <p:nvPr>
            <p:ph type="body" sz="quarter" idx="13" hasCustomPrompt="1"/>
          </p:nvPr>
        </p:nvSpPr>
        <p:spPr>
          <a:xfrm>
            <a:off x="457200" y="1183944"/>
            <a:ext cx="8229600" cy="457200"/>
          </a:xfrm>
        </p:spPr>
        <p:txBody>
          <a:bodyPr/>
          <a:lstStyle>
            <a:lvl1pPr algn="l" defTabSz="914400" rtl="0" eaLnBrk="1" latinLnBrk="0" hangingPunct="1">
              <a:lnSpc>
                <a:spcPct val="100000"/>
              </a:lnSpc>
              <a:spcBef>
                <a:spcPct val="0"/>
              </a:spcBef>
              <a:buNone/>
              <a:defRPr lang="en-US" sz="2400" b="1" kern="1200" dirty="0">
                <a:solidFill>
                  <a:srgbClr val="007FA3"/>
                </a:solidFill>
                <a:latin typeface="Times New Roman" panose="02020603050405020304" pitchFamily="18" charset="0"/>
                <a:ea typeface="+mj-ea"/>
                <a:cs typeface="Times New Roman" panose="02020603050405020304" pitchFamily="18" charset="0"/>
              </a:defRPr>
            </a:lvl1pPr>
          </a:lstStyle>
          <a:p>
            <a:pPr lvl="0"/>
            <a:r>
              <a:rPr lang="en-US" dirty="0"/>
              <a:t>Click to edit Master title style</a:t>
            </a:r>
          </a:p>
        </p:txBody>
      </p:sp>
      <p:sp>
        <p:nvSpPr>
          <p:cNvPr id="11" name="Rectangle 10"/>
          <p:cNvSpPr/>
          <p:nvPr userDrawn="1"/>
        </p:nvSpPr>
        <p:spPr>
          <a:xfrm>
            <a:off x="228600" y="1641144"/>
            <a:ext cx="457200"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err="1"/>
          </a:p>
        </p:txBody>
      </p:sp>
    </p:spTree>
    <p:extLst>
      <p:ext uri="{BB962C8B-B14F-4D97-AF65-F5344CB8AC3E}">
        <p14:creationId xmlns:p14="http://schemas.microsoft.com/office/powerpoint/2010/main" val="12109093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9456"/>
            <a:ext cx="8229600" cy="1097280"/>
          </a:xfrm>
        </p:spPr>
        <p:txBody>
          <a:bodyPr/>
          <a:lstStyle/>
          <a:p>
            <a:r>
              <a:rPr lang="en-US" dirty="0"/>
              <a:t>Click to edit Master title style</a:t>
            </a:r>
          </a:p>
        </p:txBody>
      </p:sp>
      <p:sp>
        <p:nvSpPr>
          <p:cNvPr id="3" name="Text Placeholder 2"/>
          <p:cNvSpPr>
            <a:spLocks noGrp="1"/>
          </p:cNvSpPr>
          <p:nvPr>
            <p:ph type="body" idx="1"/>
          </p:nvPr>
        </p:nvSpPr>
        <p:spPr>
          <a:xfrm>
            <a:off x="453288" y="1447800"/>
            <a:ext cx="3966312" cy="823912"/>
          </a:xfrm>
        </p:spPr>
        <p:txBody>
          <a:bodyPr anchor="ctr" anchorCtr="0"/>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4" name="Content Placeholder 3"/>
          <p:cNvSpPr>
            <a:spLocks noGrp="1"/>
          </p:cNvSpPr>
          <p:nvPr>
            <p:ph sz="half" idx="2"/>
          </p:nvPr>
        </p:nvSpPr>
        <p:spPr>
          <a:xfrm>
            <a:off x="453288" y="2271712"/>
            <a:ext cx="3966312" cy="368458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724401" y="1447800"/>
            <a:ext cx="3962400" cy="823912"/>
          </a:xfrm>
        </p:spPr>
        <p:txBody>
          <a:bodyPr anchor="ctr" anchorCtr="0"/>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6" name="Content Placeholder 5"/>
          <p:cNvSpPr>
            <a:spLocks noGrp="1"/>
          </p:cNvSpPr>
          <p:nvPr>
            <p:ph sz="quarter" idx="4"/>
          </p:nvPr>
        </p:nvSpPr>
        <p:spPr>
          <a:xfrm>
            <a:off x="4724401" y="2271712"/>
            <a:ext cx="3962400" cy="368458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E0DBC1D4-5704-45BB-BA8B-9B7E98161C8B}" type="datetimeFigureOut">
              <a:rPr lang="en-US" smtClean="0"/>
              <a:pPr/>
              <a:t>3/31/2024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C404A2B-EE51-41D7-B879-F8E5E9C51050}" type="slidenum">
              <a:rPr lang="en-US" smtClean="0"/>
              <a:pPr/>
              <a:t>‹#›</a:t>
            </a:fld>
            <a:endParaRPr lang="en-US"/>
          </a:p>
        </p:txBody>
      </p:sp>
    </p:spTree>
    <p:extLst>
      <p:ext uri="{BB962C8B-B14F-4D97-AF65-F5344CB8AC3E}">
        <p14:creationId xmlns:p14="http://schemas.microsoft.com/office/powerpoint/2010/main" val="12505987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9456"/>
            <a:ext cx="8229600" cy="1097280"/>
          </a:xfrm>
        </p:spPr>
        <p:txBody>
          <a:bodyPr/>
          <a:lstStyle/>
          <a:p>
            <a:r>
              <a:rPr lang="en-US" dirty="0"/>
              <a:t>Click to edit Master title style</a:t>
            </a:r>
          </a:p>
        </p:txBody>
      </p:sp>
      <p:sp>
        <p:nvSpPr>
          <p:cNvPr id="3" name="Text Placeholder 2"/>
          <p:cNvSpPr>
            <a:spLocks noGrp="1"/>
          </p:cNvSpPr>
          <p:nvPr>
            <p:ph type="body" idx="1"/>
          </p:nvPr>
        </p:nvSpPr>
        <p:spPr>
          <a:xfrm>
            <a:off x="457200" y="1447800"/>
            <a:ext cx="3962400" cy="823912"/>
          </a:xfrm>
        </p:spPr>
        <p:txBody>
          <a:bodyPr anchor="ctr" anchorCtr="0"/>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4" name="Content Placeholder 3"/>
          <p:cNvSpPr>
            <a:spLocks noGrp="1"/>
          </p:cNvSpPr>
          <p:nvPr>
            <p:ph sz="half" idx="2"/>
          </p:nvPr>
        </p:nvSpPr>
        <p:spPr>
          <a:xfrm>
            <a:off x="457200" y="2271712"/>
            <a:ext cx="3962400" cy="1609725"/>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724401" y="1447800"/>
            <a:ext cx="3965124" cy="823912"/>
          </a:xfrm>
        </p:spPr>
        <p:txBody>
          <a:bodyPr anchor="ctr" anchorCtr="0"/>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6" name="Content Placeholder 5"/>
          <p:cNvSpPr>
            <a:spLocks noGrp="1"/>
          </p:cNvSpPr>
          <p:nvPr>
            <p:ph sz="quarter" idx="4"/>
          </p:nvPr>
        </p:nvSpPr>
        <p:spPr>
          <a:xfrm>
            <a:off x="4724401" y="2271712"/>
            <a:ext cx="3965124" cy="1609725"/>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E0DBC1D4-5704-45BB-BA8B-9B7E98161C8B}" type="datetimeFigureOut">
              <a:rPr lang="en-US" smtClean="0"/>
              <a:pPr/>
              <a:t>3/31/2024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C404A2B-EE51-41D7-B879-F8E5E9C51050}" type="slidenum">
              <a:rPr lang="en-US" smtClean="0"/>
              <a:pPr/>
              <a:t>‹#›</a:t>
            </a:fld>
            <a:endParaRPr lang="en-US"/>
          </a:p>
        </p:txBody>
      </p:sp>
      <p:sp>
        <p:nvSpPr>
          <p:cNvPr id="10" name="Content Placeholder 3"/>
          <p:cNvSpPr>
            <a:spLocks noGrp="1"/>
          </p:cNvSpPr>
          <p:nvPr>
            <p:ph sz="half" idx="13"/>
          </p:nvPr>
        </p:nvSpPr>
        <p:spPr>
          <a:xfrm>
            <a:off x="458730" y="4044721"/>
            <a:ext cx="3962400" cy="185578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5"/>
          <p:cNvSpPr>
            <a:spLocks noGrp="1"/>
          </p:cNvSpPr>
          <p:nvPr>
            <p:ph sz="quarter" idx="14"/>
          </p:nvPr>
        </p:nvSpPr>
        <p:spPr>
          <a:xfrm>
            <a:off x="4732563" y="4055609"/>
            <a:ext cx="3965124" cy="185578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651039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4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990599"/>
          </a:xfrm>
        </p:spPr>
        <p:txBody>
          <a:bodyPr/>
          <a:lstStyle>
            <a:lvl1pPr>
              <a:buClr>
                <a:srgbClr val="007FA3"/>
              </a:buClr>
              <a:buSzPct val="100000"/>
              <a:defRPr sz="2800"/>
            </a:lvl1pPr>
            <a:lvl2pPr>
              <a:buClr>
                <a:srgbClr val="007FA3"/>
              </a:buClr>
              <a:defRPr sz="2400"/>
            </a:lvl2pPr>
            <a:lvl3pPr>
              <a:buClr>
                <a:srgbClr val="007FA3"/>
              </a:buClr>
              <a:defRPr sz="2000"/>
            </a:lvl3pPr>
            <a:lvl4pPr>
              <a:buClr>
                <a:srgbClr val="007FA3"/>
              </a:buClr>
              <a:defRPr sz="2000"/>
            </a:lvl4pPr>
            <a:lvl5pPr>
              <a:buClr>
                <a:srgbClr val="007FA3"/>
              </a:buClr>
              <a:defRPr sz="2000"/>
            </a:lvl5pPr>
            <a:lvl6pPr>
              <a:buClr>
                <a:srgbClr val="007FA3"/>
              </a:buClr>
              <a:defRPr sz="2000"/>
            </a:lvl6pPr>
            <a:lvl7pPr>
              <a:buClr>
                <a:srgbClr val="007FA3"/>
              </a:buClr>
              <a:defRPr sz="2000"/>
            </a:lvl7pPr>
            <a:lvl8pPr>
              <a:buClr>
                <a:srgbClr val="007FA3"/>
              </a:buClr>
              <a:defRPr sz="2000"/>
            </a:lvl8pPr>
            <a:lvl9pPr>
              <a:buClr>
                <a:srgbClr val="007FA3"/>
              </a:buCl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1" name="Content Placeholder 2"/>
          <p:cNvSpPr>
            <a:spLocks noGrp="1"/>
          </p:cNvSpPr>
          <p:nvPr>
            <p:ph idx="13"/>
          </p:nvPr>
        </p:nvSpPr>
        <p:spPr>
          <a:xfrm>
            <a:off x="457200" y="2756648"/>
            <a:ext cx="8229600" cy="990599"/>
          </a:xfrm>
        </p:spPr>
        <p:txBody>
          <a:bodyPr/>
          <a:lstStyle>
            <a:lvl1pPr>
              <a:buClr>
                <a:srgbClr val="007FA3"/>
              </a:buClr>
              <a:buSzPct val="100000"/>
              <a:defRPr sz="2800"/>
            </a:lvl1pPr>
            <a:lvl2pPr>
              <a:buClr>
                <a:srgbClr val="007FA3"/>
              </a:buClr>
              <a:defRPr sz="2400"/>
            </a:lvl2pPr>
            <a:lvl3pPr>
              <a:buClr>
                <a:srgbClr val="007FA3"/>
              </a:buClr>
              <a:defRPr sz="2000"/>
            </a:lvl3pPr>
            <a:lvl4pPr>
              <a:buClr>
                <a:srgbClr val="007FA3"/>
              </a:buClr>
              <a:defRPr sz="2000"/>
            </a:lvl4pPr>
            <a:lvl5pPr>
              <a:buClr>
                <a:srgbClr val="007FA3"/>
              </a:buClr>
              <a:defRPr sz="2000"/>
            </a:lvl5pPr>
            <a:lvl6pPr>
              <a:buClr>
                <a:srgbClr val="007FA3"/>
              </a:buClr>
              <a:defRPr sz="2000"/>
            </a:lvl6pPr>
            <a:lvl7pPr>
              <a:buClr>
                <a:srgbClr val="007FA3"/>
              </a:buClr>
              <a:defRPr sz="2000"/>
            </a:lvl7pPr>
            <a:lvl8pPr>
              <a:buClr>
                <a:srgbClr val="007FA3"/>
              </a:buClr>
              <a:defRPr sz="2000"/>
            </a:lvl8pPr>
            <a:lvl9pPr>
              <a:buClr>
                <a:srgbClr val="007FA3"/>
              </a:buCl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Content Placeholder 2"/>
          <p:cNvSpPr>
            <a:spLocks noGrp="1"/>
          </p:cNvSpPr>
          <p:nvPr>
            <p:ph idx="14"/>
          </p:nvPr>
        </p:nvSpPr>
        <p:spPr>
          <a:xfrm>
            <a:off x="457200" y="3886201"/>
            <a:ext cx="8229600" cy="990599"/>
          </a:xfrm>
        </p:spPr>
        <p:txBody>
          <a:bodyPr/>
          <a:lstStyle>
            <a:lvl1pPr>
              <a:buClr>
                <a:srgbClr val="007FA3"/>
              </a:buClr>
              <a:buSzPct val="100000"/>
              <a:defRPr sz="2800"/>
            </a:lvl1pPr>
            <a:lvl2pPr>
              <a:buClr>
                <a:srgbClr val="007FA3"/>
              </a:buClr>
              <a:defRPr sz="2400"/>
            </a:lvl2pPr>
            <a:lvl3pPr>
              <a:buClr>
                <a:srgbClr val="007FA3"/>
              </a:buClr>
              <a:defRPr sz="2000"/>
            </a:lvl3pPr>
            <a:lvl4pPr>
              <a:buClr>
                <a:srgbClr val="007FA3"/>
              </a:buClr>
              <a:defRPr sz="2000"/>
            </a:lvl4pPr>
            <a:lvl5pPr>
              <a:buClr>
                <a:srgbClr val="007FA3"/>
              </a:buClr>
              <a:defRPr sz="2000"/>
            </a:lvl5pPr>
            <a:lvl6pPr>
              <a:buClr>
                <a:srgbClr val="007FA3"/>
              </a:buClr>
              <a:defRPr sz="2000"/>
            </a:lvl6pPr>
            <a:lvl7pPr>
              <a:buClr>
                <a:srgbClr val="007FA3"/>
              </a:buClr>
              <a:defRPr sz="2000"/>
            </a:lvl7pPr>
            <a:lvl8pPr>
              <a:buClr>
                <a:srgbClr val="007FA3"/>
              </a:buClr>
              <a:defRPr sz="2000"/>
            </a:lvl8pPr>
            <a:lvl9pPr>
              <a:buClr>
                <a:srgbClr val="007FA3"/>
              </a:buCl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3" name="Content Placeholder 2"/>
          <p:cNvSpPr>
            <a:spLocks noGrp="1"/>
          </p:cNvSpPr>
          <p:nvPr>
            <p:ph idx="15"/>
          </p:nvPr>
        </p:nvSpPr>
        <p:spPr>
          <a:xfrm>
            <a:off x="457200" y="5029201"/>
            <a:ext cx="8229600" cy="990599"/>
          </a:xfrm>
        </p:spPr>
        <p:txBody>
          <a:bodyPr/>
          <a:lstStyle>
            <a:lvl1pPr>
              <a:buClr>
                <a:srgbClr val="007FA3"/>
              </a:buClr>
              <a:buSzPct val="100000"/>
              <a:defRPr sz="2800"/>
            </a:lvl1pPr>
            <a:lvl2pPr>
              <a:buClr>
                <a:srgbClr val="007FA3"/>
              </a:buClr>
              <a:defRPr sz="2400"/>
            </a:lvl2pPr>
            <a:lvl3pPr>
              <a:buClr>
                <a:srgbClr val="007FA3"/>
              </a:buClr>
              <a:defRPr sz="2000"/>
            </a:lvl3pPr>
            <a:lvl4pPr>
              <a:buClr>
                <a:srgbClr val="007FA3"/>
              </a:buClr>
              <a:defRPr sz="2000"/>
            </a:lvl4pPr>
            <a:lvl5pPr>
              <a:buClr>
                <a:srgbClr val="007FA3"/>
              </a:buClr>
              <a:defRPr sz="2000"/>
            </a:lvl5pPr>
            <a:lvl6pPr>
              <a:buClr>
                <a:srgbClr val="007FA3"/>
              </a:buClr>
              <a:defRPr sz="2000"/>
            </a:lvl6pPr>
            <a:lvl7pPr>
              <a:buClr>
                <a:srgbClr val="007FA3"/>
              </a:buClr>
              <a:defRPr sz="2000"/>
            </a:lvl7pPr>
            <a:lvl8pPr>
              <a:buClr>
                <a:srgbClr val="007FA3"/>
              </a:buClr>
              <a:defRPr sz="2000"/>
            </a:lvl8pPr>
            <a:lvl9pPr>
              <a:buClr>
                <a:srgbClr val="007FA3"/>
              </a:buCl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3/31/2024</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Tree>
    <p:extLst>
      <p:ext uri="{BB962C8B-B14F-4D97-AF65-F5344CB8AC3E}">
        <p14:creationId xmlns:p14="http://schemas.microsoft.com/office/powerpoint/2010/main" val="203938071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he-IL"/>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5" name="Rectangle 9">
            <a:extLst>
              <a:ext uri="{FF2B5EF4-FFF2-40B4-BE49-F238E27FC236}">
                <a16:creationId xmlns:a16="http://schemas.microsoft.com/office/drawing/2014/main" id="{6B8F7FBF-4441-4FAC-82ED-1000C1DE8BE5}"/>
              </a:ext>
            </a:extLst>
          </p:cNvPr>
          <p:cNvSpPr>
            <a:spLocks noGrp="1" noChangeArrowheads="1"/>
          </p:cNvSpPr>
          <p:nvPr>
            <p:ph type="sldNum" sz="quarter" idx="10"/>
          </p:nvPr>
        </p:nvSpPr>
        <p:spPr>
          <a:ln/>
        </p:spPr>
        <p:txBody>
          <a:bodyPr/>
          <a:lstStyle>
            <a:lvl1pPr>
              <a:defRPr/>
            </a:lvl1pPr>
          </a:lstStyle>
          <a:p>
            <a:fld id="{D556D4A2-0E50-484B-84EA-F55C18AB258B}" type="slidenum">
              <a:rPr lang="en-US" altLang="en-US"/>
              <a:pPr/>
              <a:t>‹#›</a:t>
            </a:fld>
            <a:endParaRPr lang="en-US" altLang="en-US"/>
          </a:p>
        </p:txBody>
      </p:sp>
    </p:spTree>
    <p:extLst>
      <p:ext uri="{BB962C8B-B14F-4D97-AF65-F5344CB8AC3E}">
        <p14:creationId xmlns:p14="http://schemas.microsoft.com/office/powerpoint/2010/main" val="4930877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15372"/>
            <a:ext cx="8229600" cy="1097280"/>
          </a:xfrm>
          <a:prstGeom prst="rect">
            <a:avLst/>
          </a:prstGeom>
        </p:spPr>
        <p:txBody>
          <a:bodyPr vert="horz" lIns="0" tIns="0" rIns="0" bIns="0" rtlCol="0" anchor="b">
            <a:no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1" name="Footer Placeholder 4"/>
          <p:cNvSpPr>
            <a:spLocks noGrp="1"/>
          </p:cNvSpPr>
          <p:nvPr>
            <p:ph type="ftr" sz="quarter" idx="3"/>
          </p:nvPr>
        </p:nvSpPr>
        <p:spPr>
          <a:xfrm>
            <a:off x="93969" y="6172200"/>
            <a:ext cx="8595360" cy="235463"/>
          </a:xfrm>
          <a:prstGeom prst="rect">
            <a:avLst/>
          </a:prstGeom>
        </p:spPr>
        <p:txBody>
          <a:bodyPr vert="horz" lIns="0" tIns="0" rIns="0" bIns="0" rtlCol="0" anchor="b"/>
          <a:lstStyle>
            <a:lvl1pPr algn="l">
              <a:defRPr sz="1100">
                <a:solidFill>
                  <a:schemeClr val="tx1"/>
                </a:solidFill>
              </a:defRPr>
            </a:lvl1pPr>
          </a:lstStyle>
          <a:p>
            <a:endParaRPr lang="en-US" dirty="0"/>
          </a:p>
        </p:txBody>
      </p:sp>
      <p:sp>
        <p:nvSpPr>
          <p:cNvPr id="4" name="Date Placeholder 3"/>
          <p:cNvSpPr>
            <a:spLocks noGrp="1"/>
          </p:cNvSpPr>
          <p:nvPr>
            <p:ph type="dt" sz="half" idx="2"/>
          </p:nvPr>
        </p:nvSpPr>
        <p:spPr>
          <a:xfrm>
            <a:off x="6335713" y="113072"/>
            <a:ext cx="2133600" cy="182880"/>
          </a:xfrm>
          <a:prstGeom prst="rect">
            <a:avLst/>
          </a:prstGeom>
        </p:spPr>
        <p:txBody>
          <a:bodyPr vert="horz" lIns="91440" tIns="45720" rIns="91440" bIns="45720" rtlCol="0" anchor="ctr"/>
          <a:lstStyle>
            <a:lvl1pPr algn="r">
              <a:defRPr sz="900">
                <a:solidFill>
                  <a:schemeClr val="bg1"/>
                </a:solidFill>
              </a:defRPr>
            </a:lvl1pPr>
          </a:lstStyle>
          <a:p>
            <a:fld id="{A9DF6EFB-3F44-496C-A842-1E0B3D3B975A}" type="datetimeFigureOut">
              <a:rPr lang="en-US" smtClean="0"/>
              <a:pPr/>
              <a:t>3/31/2024</a:t>
            </a:fld>
            <a:endParaRPr lang="en-US" dirty="0"/>
          </a:p>
        </p:txBody>
      </p:sp>
      <p:sp>
        <p:nvSpPr>
          <p:cNvPr id="6" name="Slide Number Placeholder 5"/>
          <p:cNvSpPr>
            <a:spLocks noGrp="1"/>
          </p:cNvSpPr>
          <p:nvPr>
            <p:ph type="sldNum" sz="quarter" idx="4"/>
          </p:nvPr>
        </p:nvSpPr>
        <p:spPr>
          <a:xfrm>
            <a:off x="8469312" y="113072"/>
            <a:ext cx="551783" cy="18288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pPr/>
              <a:t>‹#›</a:t>
            </a:fld>
            <a:endParaRPr lang="en-US" dirty="0"/>
          </a:p>
        </p:txBody>
      </p:sp>
      <p:pic>
        <p:nvPicPr>
          <p:cNvPr id="9" name="Shape 15" descr="Pearson Logo"/>
          <p:cNvPicPr preferRelativeResize="0"/>
          <p:nvPr userDrawn="1"/>
        </p:nvPicPr>
        <p:blipFill rotWithShape="1">
          <a:blip r:embed="rId21" cstate="print">
            <a:alphaModFix/>
          </a:blip>
          <a:srcRect/>
          <a:stretch/>
        </p:blipFill>
        <p:spPr>
          <a:xfrm>
            <a:off x="443972" y="6429709"/>
            <a:ext cx="917999" cy="279914"/>
          </a:xfrm>
          <a:prstGeom prst="rect">
            <a:avLst/>
          </a:prstGeom>
          <a:noFill/>
          <a:ln>
            <a:noFill/>
          </a:ln>
        </p:spPr>
      </p:pic>
      <p:sp>
        <p:nvSpPr>
          <p:cNvPr id="10" name="Slide Number Placeholder 4"/>
          <p:cNvSpPr txBox="1">
            <a:spLocks/>
          </p:cNvSpPr>
          <p:nvPr userDrawn="1"/>
        </p:nvSpPr>
        <p:spPr>
          <a:xfrm>
            <a:off x="7881256" y="6428232"/>
            <a:ext cx="914400" cy="201168"/>
          </a:xfrm>
          <a:prstGeom prst="rect">
            <a:avLst/>
          </a:prstGeom>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altLang="en-US" sz="1200" b="0" kern="1200" noProof="0" dirty="0">
                <a:solidFill>
                  <a:schemeClr val="tx1"/>
                </a:solidFill>
                <a:latin typeface="Verdana" pitchFamily="34" charset="0"/>
                <a:ea typeface="Verdana" pitchFamily="34" charset="0"/>
                <a:cs typeface="Verdana" pitchFamily="34" charset="0"/>
              </a:rPr>
              <a:t>13 - </a:t>
            </a:r>
            <a:fld id="{876BFF75-7A20-4B22-803D-E5D1449082FD}" type="slidenum">
              <a:rPr lang="en-US" altLang="en-US" sz="1200" b="0" kern="1200" noProof="0" smtClean="0">
                <a:solidFill>
                  <a:schemeClr val="tx1"/>
                </a:solidFill>
                <a:latin typeface="Verdana" pitchFamily="34" charset="0"/>
                <a:ea typeface="Verdana" pitchFamily="34" charset="0"/>
                <a:cs typeface="Verdana"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altLang="en-US" sz="1200" b="0" kern="1200" noProof="0" dirty="0">
              <a:solidFill>
                <a:schemeClr val="tx1"/>
              </a:solidFill>
              <a:latin typeface="Verdana" pitchFamily="34" charset="0"/>
              <a:ea typeface="Verdana" pitchFamily="34" charset="0"/>
              <a:cs typeface="Verdana" pitchFamily="34" charset="0"/>
            </a:endParaRPr>
          </a:p>
        </p:txBody>
      </p:sp>
      <p:sp>
        <p:nvSpPr>
          <p:cNvPr id="13" name="TextBox 12">
            <a:extLst>
              <a:ext uri="{FF2B5EF4-FFF2-40B4-BE49-F238E27FC236}">
                <a16:creationId xmlns:a16="http://schemas.microsoft.com/office/drawing/2014/main" id="{06B42598-E17E-4AFA-A2E8-BF865C3E5BD4}"/>
              </a:ext>
            </a:extLst>
          </p:cNvPr>
          <p:cNvSpPr txBox="1"/>
          <p:nvPr userDrawn="1"/>
        </p:nvSpPr>
        <p:spPr>
          <a:xfrm>
            <a:off x="1502228" y="6429974"/>
            <a:ext cx="6172200" cy="276999"/>
          </a:xfrm>
          <a:prstGeom prst="rect">
            <a:avLst/>
          </a:prstGeom>
          <a:noFill/>
        </p:spPr>
        <p:txBody>
          <a:bodyPr wrap="square" rtlCol="0">
            <a:spAutoFit/>
          </a:bodyPr>
          <a:lstStyle/>
          <a:p>
            <a:pPr algn="ctr">
              <a:defRPr/>
            </a:pPr>
            <a:r>
              <a:rPr lang="en-IN" sz="1200" kern="1200" dirty="0">
                <a:solidFill>
                  <a:schemeClr val="tx1"/>
                </a:solidFill>
                <a:effectLst/>
                <a:latin typeface="Verdana" panose="020B0604030504040204" pitchFamily="34" charset="0"/>
                <a:ea typeface="Verdana" panose="020B0604030504040204" pitchFamily="34" charset="0"/>
                <a:cs typeface="+mn-cs"/>
              </a:rPr>
              <a:t>Copyright © </a:t>
            </a:r>
            <a:r>
              <a:rPr lang="en-IN" sz="1200" dirty="0">
                <a:latin typeface="Verdana" panose="020B0604030504040204" pitchFamily="34" charset="0"/>
                <a:ea typeface="Verdana" panose="020B0604030504040204" pitchFamily="34" charset="0"/>
              </a:rPr>
              <a:t>2021, 2018, 2015 </a:t>
            </a:r>
            <a:r>
              <a:rPr lang="en-IN" sz="1200" kern="1200" dirty="0">
                <a:solidFill>
                  <a:schemeClr val="tx1"/>
                </a:solidFill>
                <a:effectLst/>
                <a:latin typeface="Verdana" panose="020B0604030504040204" pitchFamily="34" charset="0"/>
                <a:ea typeface="Verdana" panose="020B0604030504040204" pitchFamily="34" charset="0"/>
                <a:cs typeface="+mn-cs"/>
              </a:rPr>
              <a:t>Pearson Education, Inc. All Rights Reserved</a:t>
            </a:r>
            <a:endParaRPr lang="en-US" altLang="en-US" sz="1200" b="0" kern="1200"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691570016"/>
      </p:ext>
    </p:extLst>
  </p:cSld>
  <p:clrMap bg1="lt1" tx1="dk1" bg2="lt2" tx2="dk2" accent1="accent1" accent2="accent2" accent3="accent3" accent4="accent4" accent5="accent5" accent6="accent6" hlink="hlink" folHlink="folHlink"/>
  <p:sldLayoutIdLst>
    <p:sldLayoutId id="2147483649" r:id="rId1"/>
    <p:sldLayoutId id="2147483657" r:id="rId2"/>
    <p:sldLayoutId id="2147483656" r:id="rId3"/>
    <p:sldLayoutId id="2147483650" r:id="rId4"/>
    <p:sldLayoutId id="2147483659" r:id="rId5"/>
    <p:sldLayoutId id="2147483658" r:id="rId6"/>
    <p:sldLayoutId id="2147483660" r:id="rId7"/>
    <p:sldLayoutId id="2147483651" r:id="rId8"/>
    <p:sldLayoutId id="2147483654" r:id="rId9"/>
    <p:sldLayoutId id="2147483655" r:id="rId10"/>
    <p:sldLayoutId id="2147483662" r:id="rId11"/>
    <p:sldLayoutId id="2147483663" r:id="rId12"/>
    <p:sldLayoutId id="2147483664" r:id="rId13"/>
    <p:sldLayoutId id="2147483665" r:id="rId14"/>
    <p:sldLayoutId id="2147483668" r:id="rId15"/>
    <p:sldLayoutId id="2147483669" r:id="rId16"/>
    <p:sldLayoutId id="2147483670" r:id="rId17"/>
    <p:sldLayoutId id="2147483671" r:id="rId18"/>
    <p:sldLayoutId id="2147483672" r:id="rId19"/>
  </p:sldLayoutIdLst>
  <p:txStyles>
    <p:titleStyle>
      <a:lvl1pPr algn="l" defTabSz="914400" rtl="0" eaLnBrk="1" latinLnBrk="0" hangingPunct="1">
        <a:lnSpc>
          <a:spcPct val="100000"/>
        </a:lnSpc>
        <a:spcBef>
          <a:spcPct val="0"/>
        </a:spcBef>
        <a:buNone/>
        <a:defRPr sz="3400" b="1" kern="1200">
          <a:solidFill>
            <a:srgbClr val="007FA3"/>
          </a:solidFill>
          <a:latin typeface="+mj-lt"/>
          <a:ea typeface="+mj-ea"/>
          <a:cs typeface="Times New Roman" panose="02020603050405020304" pitchFamily="18"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2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22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2.jp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8.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9.xml"/></Relationships>
</file>

<file path=ppt/slides/_rels/slide72.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9.xml"/></Relationships>
</file>

<file path=ppt/slides/_rels/slide74.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6.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9.xml"/></Relationships>
</file>

<file path=ppt/slides/_rels/slide77.xml.rels><?xml version="1.0" encoding="UTF-8" standalone="yes"?>
<Relationships xmlns="http://schemas.openxmlformats.org/package/2006/relationships"><Relationship Id="rId2" Type="http://schemas.openxmlformats.org/officeDocument/2006/relationships/image" Target="../media/image34.jpg"/><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9.xml.rels><?xml version="1.0" encoding="UTF-8" standalone="yes"?>
<Relationships xmlns="http://schemas.openxmlformats.org/package/2006/relationships"><Relationship Id="rId2" Type="http://schemas.openxmlformats.org/officeDocument/2006/relationships/image" Target="../media/image35.jpg"/><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descr="Assembly Language for x86 Processors, "/>
          <p:cNvSpPr>
            <a:spLocks noGrp="1"/>
          </p:cNvSpPr>
          <p:nvPr>
            <p:ph type="title"/>
          </p:nvPr>
        </p:nvSpPr>
        <p:spPr>
          <a:xfrm>
            <a:off x="457200" y="215372"/>
            <a:ext cx="8458200" cy="623817"/>
          </a:xfrm>
        </p:spPr>
        <p:txBody>
          <a:bodyPr/>
          <a:lstStyle/>
          <a:p>
            <a:r>
              <a:rPr lang="en-US" dirty="0"/>
              <a:t>Starting out with Python</a:t>
            </a:r>
            <a:endParaRPr lang="en-AU" dirty="0"/>
          </a:p>
        </p:txBody>
      </p:sp>
      <p:sp>
        <p:nvSpPr>
          <p:cNvPr id="8" name="Text Placeholder 7"/>
          <p:cNvSpPr>
            <a:spLocks noGrp="1"/>
          </p:cNvSpPr>
          <p:nvPr>
            <p:ph type="body" sz="quarter" idx="13"/>
          </p:nvPr>
        </p:nvSpPr>
        <p:spPr>
          <a:xfrm>
            <a:off x="457200" y="966930"/>
            <a:ext cx="8229600" cy="381000"/>
          </a:xfrm>
        </p:spPr>
        <p:txBody>
          <a:bodyPr/>
          <a:lstStyle/>
          <a:p>
            <a:r>
              <a:rPr lang="en-US" dirty="0"/>
              <a:t>Fifth Edition</a:t>
            </a:r>
          </a:p>
        </p:txBody>
      </p:sp>
      <p:sp>
        <p:nvSpPr>
          <p:cNvPr id="9" name="Text Placeholder 8"/>
          <p:cNvSpPr>
            <a:spLocks noGrp="1"/>
          </p:cNvSpPr>
          <p:nvPr>
            <p:ph type="body" sz="quarter" idx="14"/>
          </p:nvPr>
        </p:nvSpPr>
        <p:spPr/>
        <p:txBody>
          <a:bodyPr/>
          <a:lstStyle/>
          <a:p>
            <a:r>
              <a:rPr lang="en-US" dirty="0"/>
              <a:t>Chapter 13</a:t>
            </a:r>
          </a:p>
        </p:txBody>
      </p:sp>
      <p:sp>
        <p:nvSpPr>
          <p:cNvPr id="10" name="Text Placeholder 9"/>
          <p:cNvSpPr>
            <a:spLocks noGrp="1"/>
          </p:cNvSpPr>
          <p:nvPr>
            <p:ph type="body" sz="quarter" idx="15"/>
          </p:nvPr>
        </p:nvSpPr>
        <p:spPr/>
        <p:txBody>
          <a:bodyPr/>
          <a:lstStyle/>
          <a:p>
            <a:r>
              <a:rPr lang="en-US" altLang="en-US" dirty="0"/>
              <a:t>GUI Programming</a:t>
            </a:r>
          </a:p>
        </p:txBody>
      </p:sp>
      <p:sp>
        <p:nvSpPr>
          <p:cNvPr id="14" name="TextBox 13"/>
          <p:cNvSpPr txBox="1"/>
          <p:nvPr/>
        </p:nvSpPr>
        <p:spPr>
          <a:xfrm>
            <a:off x="1502228" y="6429974"/>
            <a:ext cx="6172200" cy="276999"/>
          </a:xfrm>
          <a:prstGeom prst="rect">
            <a:avLst/>
          </a:prstGeom>
          <a:noFill/>
        </p:spPr>
        <p:txBody>
          <a:bodyPr wrap="square" rtlCol="0">
            <a:spAutoFit/>
          </a:bodyPr>
          <a:lstStyle/>
          <a:p>
            <a:pPr algn="ctr">
              <a:defRPr/>
            </a:pPr>
            <a:r>
              <a:rPr lang="en-IN" sz="1200" kern="1200" dirty="0">
                <a:solidFill>
                  <a:schemeClr val="tx1"/>
                </a:solidFill>
                <a:effectLst/>
                <a:latin typeface="Verdana" panose="020B0604030504040204" pitchFamily="34" charset="0"/>
                <a:ea typeface="Verdana" panose="020B0604030504040204" pitchFamily="34" charset="0"/>
                <a:cs typeface="+mn-cs"/>
              </a:rPr>
              <a:t>Copyright © </a:t>
            </a:r>
            <a:r>
              <a:rPr lang="en-IN" sz="1200" dirty="0">
                <a:latin typeface="Verdana" panose="020B0604030504040204" pitchFamily="34" charset="0"/>
                <a:ea typeface="Verdana" panose="020B0604030504040204" pitchFamily="34" charset="0"/>
              </a:rPr>
              <a:t>2021, 2018, 2015 </a:t>
            </a:r>
            <a:r>
              <a:rPr lang="en-IN" sz="1200" kern="1200" dirty="0">
                <a:solidFill>
                  <a:schemeClr val="tx1"/>
                </a:solidFill>
                <a:effectLst/>
                <a:latin typeface="Verdana" panose="020B0604030504040204" pitchFamily="34" charset="0"/>
                <a:ea typeface="Verdana" panose="020B0604030504040204" pitchFamily="34" charset="0"/>
                <a:cs typeface="+mn-cs"/>
              </a:rPr>
              <a:t>Pearson Education, Inc. All Rights Reserved</a:t>
            </a:r>
            <a:endParaRPr lang="en-US" altLang="en-US" sz="1200" b="0" kern="1200"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pic>
        <p:nvPicPr>
          <p:cNvPr id="12" name="Picture 11" descr="Starting out with Python, Fifth edition by Tony Gaddis">
            <a:extLst>
              <a:ext uri="{FF2B5EF4-FFF2-40B4-BE49-F238E27FC236}">
                <a16:creationId xmlns:a16="http://schemas.microsoft.com/office/drawing/2014/main" id="{19AE27C4-80A6-459C-AA51-2752EA991FD3}"/>
              </a:ext>
            </a:extLst>
          </p:cNvPr>
          <p:cNvPicPr>
            <a:picLocks noChangeAspect="1"/>
          </p:cNvPicPr>
          <p:nvPr/>
        </p:nvPicPr>
        <p:blipFill>
          <a:blip r:embed="rId2"/>
          <a:stretch>
            <a:fillRect/>
          </a:stretch>
        </p:blipFill>
        <p:spPr>
          <a:xfrm>
            <a:off x="421783" y="1347930"/>
            <a:ext cx="3813120" cy="4954303"/>
          </a:xfrm>
          <a:prstGeom prst="rect">
            <a:avLst/>
          </a:prstGeom>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0422217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316708D-6547-4870-9EB2-EF68B58F70FE}"/>
              </a:ext>
            </a:extLst>
          </p:cNvPr>
          <p:cNvSpPr>
            <a:spLocks noGrp="1"/>
          </p:cNvSpPr>
          <p:nvPr>
            <p:ph type="title"/>
          </p:nvPr>
        </p:nvSpPr>
        <p:spPr/>
        <p:txBody>
          <a:bodyPr/>
          <a:lstStyle/>
          <a:p>
            <a:r>
              <a:rPr lang="en-AU" dirty="0"/>
              <a:t>Topics</a:t>
            </a:r>
            <a:r>
              <a:rPr lang="en-AU" sz="2000" b="0" dirty="0"/>
              <a:t> (1 of 2)</a:t>
            </a:r>
          </a:p>
        </p:txBody>
      </p:sp>
      <p:sp>
        <p:nvSpPr>
          <p:cNvPr id="5" name="Content Placeholder 4">
            <a:extLst>
              <a:ext uri="{FF2B5EF4-FFF2-40B4-BE49-F238E27FC236}">
                <a16:creationId xmlns:a16="http://schemas.microsoft.com/office/drawing/2014/main" id="{CA9405F4-3DBC-4CD5-AC57-02C992346FB5}"/>
              </a:ext>
            </a:extLst>
          </p:cNvPr>
          <p:cNvSpPr>
            <a:spLocks noGrp="1"/>
          </p:cNvSpPr>
          <p:nvPr>
            <p:ph idx="1"/>
          </p:nvPr>
        </p:nvSpPr>
        <p:spPr/>
        <p:txBody>
          <a:bodyPr/>
          <a:lstStyle/>
          <a:p>
            <a:pPr>
              <a:buFontTx/>
              <a:buChar char="•"/>
            </a:pPr>
            <a:r>
              <a:rPr lang="en-US" altLang="en-US" dirty="0"/>
              <a:t>Graphical User Interfaces</a:t>
            </a:r>
          </a:p>
          <a:p>
            <a:pPr>
              <a:buFontTx/>
              <a:buChar char="•"/>
            </a:pPr>
            <a:r>
              <a:rPr lang="en-US" altLang="en-US" dirty="0"/>
              <a:t>Using the </a:t>
            </a:r>
            <a:r>
              <a:rPr lang="en-US" altLang="en-US" dirty="0" err="1">
                <a:latin typeface="Courier New" panose="02070309020205020404" pitchFamily="49" charset="0"/>
                <a:cs typeface="Courier New" panose="02070309020205020404" pitchFamily="49" charset="0"/>
              </a:rPr>
              <a:t>tkinter</a:t>
            </a:r>
            <a:r>
              <a:rPr lang="en-US" altLang="en-US" dirty="0"/>
              <a:t> Module</a:t>
            </a:r>
          </a:p>
          <a:p>
            <a:pPr>
              <a:buFontTx/>
              <a:buChar char="•"/>
            </a:pPr>
            <a:r>
              <a:rPr lang="en-US" altLang="en-US" dirty="0"/>
              <a:t>Displaying Text with </a:t>
            </a:r>
            <a:r>
              <a:rPr lang="en-US" altLang="en-US" dirty="0">
                <a:latin typeface="Courier New" panose="02070309020205020404" pitchFamily="49" charset="0"/>
                <a:cs typeface="Courier New" panose="02070309020205020404" pitchFamily="49" charset="0"/>
              </a:rPr>
              <a:t>Label</a:t>
            </a:r>
            <a:r>
              <a:rPr lang="en-US" altLang="en-US" dirty="0"/>
              <a:t> Widgets</a:t>
            </a:r>
          </a:p>
          <a:p>
            <a:pPr>
              <a:buFontTx/>
              <a:buChar char="•"/>
            </a:pPr>
            <a:r>
              <a:rPr lang="en-US" altLang="en-US" dirty="0"/>
              <a:t>Organizing Widgets with Frames</a:t>
            </a:r>
          </a:p>
          <a:p>
            <a:pPr>
              <a:buFontTx/>
              <a:buChar char="•"/>
            </a:pPr>
            <a:r>
              <a:rPr lang="en-US" altLang="en-US" dirty="0">
                <a:latin typeface="Courier New" panose="02070309020205020404" pitchFamily="49" charset="0"/>
                <a:cs typeface="Courier New" panose="02070309020205020404" pitchFamily="49" charset="0"/>
              </a:rPr>
              <a:t>Button</a:t>
            </a:r>
            <a:r>
              <a:rPr lang="en-US" altLang="en-US" dirty="0"/>
              <a:t> Widgets and Info Dialog Boxes</a:t>
            </a:r>
          </a:p>
          <a:p>
            <a:pPr>
              <a:buFontTx/>
              <a:buChar char="•"/>
            </a:pPr>
            <a:r>
              <a:rPr lang="en-US" altLang="en-US" dirty="0"/>
              <a:t>Getting Input with the </a:t>
            </a:r>
            <a:r>
              <a:rPr lang="en-US" altLang="en-US" dirty="0">
                <a:latin typeface="Courier New" panose="02070309020205020404" pitchFamily="49" charset="0"/>
                <a:cs typeface="Courier New" panose="02070309020205020404" pitchFamily="49" charset="0"/>
              </a:rPr>
              <a:t>Entry</a:t>
            </a:r>
            <a:r>
              <a:rPr lang="en-US" altLang="en-US" dirty="0"/>
              <a:t> Widget</a:t>
            </a:r>
          </a:p>
          <a:p>
            <a:pPr>
              <a:buFontTx/>
              <a:buChar char="•"/>
            </a:pPr>
            <a:r>
              <a:rPr lang="en-US" altLang="en-US" dirty="0"/>
              <a:t>Using Labels as Output Fields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316708D-6547-4870-9EB2-EF68B58F70FE}"/>
              </a:ext>
            </a:extLst>
          </p:cNvPr>
          <p:cNvSpPr>
            <a:spLocks noGrp="1"/>
          </p:cNvSpPr>
          <p:nvPr>
            <p:ph type="title"/>
          </p:nvPr>
        </p:nvSpPr>
        <p:spPr/>
        <p:txBody>
          <a:bodyPr/>
          <a:lstStyle/>
          <a:p>
            <a:r>
              <a:rPr lang="en-AU" dirty="0"/>
              <a:t>Topics</a:t>
            </a:r>
            <a:r>
              <a:rPr lang="en-AU" sz="2000" b="0" dirty="0"/>
              <a:t> (2 of 2)</a:t>
            </a:r>
            <a:endParaRPr lang="en-AU" sz="2000" dirty="0"/>
          </a:p>
        </p:txBody>
      </p:sp>
      <p:sp>
        <p:nvSpPr>
          <p:cNvPr id="5" name="Content Placeholder 4">
            <a:extLst>
              <a:ext uri="{FF2B5EF4-FFF2-40B4-BE49-F238E27FC236}">
                <a16:creationId xmlns:a16="http://schemas.microsoft.com/office/drawing/2014/main" id="{CA9405F4-3DBC-4CD5-AC57-02C992346FB5}"/>
              </a:ext>
            </a:extLst>
          </p:cNvPr>
          <p:cNvSpPr>
            <a:spLocks noGrp="1"/>
          </p:cNvSpPr>
          <p:nvPr>
            <p:ph idx="1"/>
          </p:nvPr>
        </p:nvSpPr>
        <p:spPr/>
        <p:txBody>
          <a:bodyPr/>
          <a:lstStyle/>
          <a:p>
            <a:pPr>
              <a:buFontTx/>
              <a:buChar char="•"/>
            </a:pPr>
            <a:r>
              <a:rPr lang="en-US" altLang="en-US" dirty="0"/>
              <a:t>Radio Buttons and Check Buttons</a:t>
            </a:r>
          </a:p>
          <a:p>
            <a:pPr marL="255588" indent="-255588">
              <a:buFontTx/>
              <a:buChar char="•"/>
            </a:pPr>
            <a:r>
              <a:rPr lang="en-US" altLang="en-US" dirty="0" err="1">
                <a:latin typeface="Courier New" panose="02070309020205020404" pitchFamily="49" charset="0"/>
                <a:cs typeface="Courier New" panose="02070309020205020404" pitchFamily="49" charset="0"/>
              </a:rPr>
              <a:t>ListBox</a:t>
            </a:r>
            <a:r>
              <a:rPr lang="en-US" altLang="en-US" dirty="0"/>
              <a:t> Widgets</a:t>
            </a:r>
          </a:p>
          <a:p>
            <a:pPr>
              <a:buFontTx/>
              <a:buChar char="•"/>
            </a:pPr>
            <a:r>
              <a:rPr lang="en-US" altLang="en-US" dirty="0"/>
              <a:t>Drawing Shapes with the </a:t>
            </a:r>
            <a:r>
              <a:rPr lang="en-US" altLang="en-US" dirty="0">
                <a:latin typeface="Courier New" panose="02070309020205020404" pitchFamily="49" charset="0"/>
                <a:cs typeface="Courier New" panose="02070309020205020404" pitchFamily="49" charset="0"/>
              </a:rPr>
              <a:t>Canvas</a:t>
            </a:r>
            <a:r>
              <a:rPr lang="en-US" altLang="en-US" dirty="0"/>
              <a:t> Widget</a:t>
            </a:r>
            <a:endParaRPr lang="en-AU" dirty="0"/>
          </a:p>
        </p:txBody>
      </p:sp>
    </p:spTree>
    <p:extLst>
      <p:ext uri="{BB962C8B-B14F-4D97-AF65-F5344CB8AC3E}">
        <p14:creationId xmlns:p14="http://schemas.microsoft.com/office/powerpoint/2010/main" val="18389450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C80EB1F5-486F-4F60-B0B4-899BD1667755}"/>
              </a:ext>
            </a:extLst>
          </p:cNvPr>
          <p:cNvSpPr>
            <a:spLocks noGrp="1" noChangeArrowheads="1"/>
          </p:cNvSpPr>
          <p:nvPr>
            <p:ph type="title"/>
          </p:nvPr>
        </p:nvSpPr>
        <p:spPr/>
        <p:txBody>
          <a:bodyPr/>
          <a:lstStyle/>
          <a:p>
            <a:r>
              <a:rPr lang="en-US" altLang="en-US" dirty="0"/>
              <a:t>Graphical User Interfaces</a:t>
            </a:r>
            <a:r>
              <a:rPr lang="en-AU" sz="2000" b="0" dirty="0"/>
              <a:t> (1 of 3)</a:t>
            </a:r>
            <a:endParaRPr lang="en-US" altLang="en-US" sz="2000" dirty="0"/>
          </a:p>
        </p:txBody>
      </p:sp>
      <p:sp>
        <p:nvSpPr>
          <p:cNvPr id="5123" name="Content Placeholder 2">
            <a:extLst>
              <a:ext uri="{FF2B5EF4-FFF2-40B4-BE49-F238E27FC236}">
                <a16:creationId xmlns:a16="http://schemas.microsoft.com/office/drawing/2014/main" id="{DFC5E815-D76A-4A0B-BD3D-AB19532F6BD7}"/>
              </a:ext>
            </a:extLst>
          </p:cNvPr>
          <p:cNvSpPr>
            <a:spLocks noGrp="1" noChangeArrowheads="1"/>
          </p:cNvSpPr>
          <p:nvPr>
            <p:ph idx="1"/>
          </p:nvPr>
        </p:nvSpPr>
        <p:spPr/>
        <p:txBody>
          <a:bodyPr/>
          <a:lstStyle/>
          <a:p>
            <a:pPr>
              <a:buFontTx/>
              <a:buChar char="•"/>
            </a:pPr>
            <a:r>
              <a:rPr lang="en-US" altLang="en-US" u="sng" dirty="0">
                <a:cs typeface="Courier New" panose="02070309020205020404" pitchFamily="49" charset="0"/>
              </a:rPr>
              <a:t>User Interface</a:t>
            </a:r>
            <a:r>
              <a:rPr lang="en-US" altLang="en-US" dirty="0">
                <a:cs typeface="Courier New" panose="02070309020205020404" pitchFamily="49" charset="0"/>
              </a:rPr>
              <a:t>: the part of the computer with which the user interacts</a:t>
            </a:r>
          </a:p>
          <a:p>
            <a:pPr>
              <a:buFontTx/>
              <a:buChar char="•"/>
            </a:pPr>
            <a:r>
              <a:rPr lang="en-US" altLang="en-US" u="sng" dirty="0">
                <a:cs typeface="Courier New" panose="02070309020205020404" pitchFamily="49" charset="0"/>
              </a:rPr>
              <a:t>Command line interface</a:t>
            </a:r>
            <a:r>
              <a:rPr lang="en-US" altLang="en-US" dirty="0">
                <a:cs typeface="Courier New" panose="02070309020205020404" pitchFamily="49" charset="0"/>
              </a:rPr>
              <a:t>: displays a prompt and the user types a command that is then executed</a:t>
            </a:r>
          </a:p>
          <a:p>
            <a:pPr>
              <a:buFontTx/>
              <a:buChar char="•"/>
            </a:pPr>
            <a:r>
              <a:rPr lang="en-US" altLang="en-US" u="sng" dirty="0">
                <a:cs typeface="Courier New" panose="02070309020205020404" pitchFamily="49" charset="0"/>
              </a:rPr>
              <a:t>Graphical User Interface (GUI)</a:t>
            </a:r>
            <a:r>
              <a:rPr lang="en-US" altLang="en-US" dirty="0">
                <a:cs typeface="Courier New" panose="02070309020205020404" pitchFamily="49" charset="0"/>
              </a:rPr>
              <a:t>: allows users to interact with a program through graphical elements on the screen</a:t>
            </a:r>
          </a:p>
          <a:p>
            <a:pPr>
              <a:buFontTx/>
              <a:buChar char="•"/>
            </a:pPr>
            <a:endParaRPr lang="en-US"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Title 1">
            <a:extLst>
              <a:ext uri="{FF2B5EF4-FFF2-40B4-BE49-F238E27FC236}">
                <a16:creationId xmlns:a16="http://schemas.microsoft.com/office/drawing/2014/main" id="{A1B9A91F-9DD8-4CB2-9E74-BF607EBE7F19}"/>
              </a:ext>
            </a:extLst>
          </p:cNvPr>
          <p:cNvSpPr>
            <a:spLocks noGrp="1" noChangeArrowheads="1"/>
          </p:cNvSpPr>
          <p:nvPr>
            <p:ph type="title"/>
          </p:nvPr>
        </p:nvSpPr>
        <p:spPr/>
        <p:txBody>
          <a:bodyPr/>
          <a:lstStyle/>
          <a:p>
            <a:r>
              <a:rPr lang="en-US" altLang="en-US" dirty="0"/>
              <a:t>Graphical User Interfaces</a:t>
            </a:r>
            <a:r>
              <a:rPr lang="en-AU" sz="2000" b="0" dirty="0"/>
              <a:t> (2 of 3)</a:t>
            </a:r>
            <a:endParaRPr lang="en-US" altLang="en-US" sz="2000" dirty="0"/>
          </a:p>
        </p:txBody>
      </p:sp>
      <p:sp>
        <p:nvSpPr>
          <p:cNvPr id="6146" name="Content Placeholder 4">
            <a:extLst>
              <a:ext uri="{FF2B5EF4-FFF2-40B4-BE49-F238E27FC236}">
                <a16:creationId xmlns:a16="http://schemas.microsoft.com/office/drawing/2014/main" id="{5D482DF6-1425-45C1-BB29-536DAAA64395}"/>
              </a:ext>
            </a:extLst>
          </p:cNvPr>
          <p:cNvSpPr>
            <a:spLocks noGrp="1" noChangeArrowheads="1"/>
          </p:cNvSpPr>
          <p:nvPr>
            <p:ph idx="1"/>
          </p:nvPr>
        </p:nvSpPr>
        <p:spPr>
          <a:xfrm>
            <a:off x="457200" y="1600201"/>
            <a:ext cx="8229600" cy="609600"/>
          </a:xfrm>
        </p:spPr>
        <p:txBody>
          <a:bodyPr/>
          <a:lstStyle/>
          <a:p>
            <a:pPr>
              <a:buFontTx/>
              <a:buChar char="•"/>
            </a:pPr>
            <a:r>
              <a:rPr lang="en-US" altLang="en-US" dirty="0"/>
              <a:t>Command line interfaces</a:t>
            </a:r>
          </a:p>
        </p:txBody>
      </p:sp>
      <p:sp>
        <p:nvSpPr>
          <p:cNvPr id="2" name="Rectangle 1">
            <a:extLst>
              <a:ext uri="{FF2B5EF4-FFF2-40B4-BE49-F238E27FC236}">
                <a16:creationId xmlns:a16="http://schemas.microsoft.com/office/drawing/2014/main" id="{73E47C08-9193-4069-B06B-CFB8AE109839}"/>
              </a:ext>
            </a:extLst>
          </p:cNvPr>
          <p:cNvSpPr/>
          <p:nvPr/>
        </p:nvSpPr>
        <p:spPr>
          <a:xfrm>
            <a:off x="2375334" y="5073133"/>
            <a:ext cx="3475631" cy="292388"/>
          </a:xfrm>
          <a:prstGeom prst="rect">
            <a:avLst/>
          </a:prstGeom>
        </p:spPr>
        <p:txBody>
          <a:bodyPr wrap="none">
            <a:spAutoFit/>
          </a:bodyPr>
          <a:lstStyle/>
          <a:p>
            <a:r>
              <a:rPr lang="en-US" sz="1300" b="1" dirty="0">
                <a:latin typeface="Verdana" panose="020B0604030504040204" pitchFamily="34" charset="0"/>
                <a:ea typeface="Verdana" panose="020B0604030504040204" pitchFamily="34" charset="0"/>
              </a:rPr>
              <a:t>Figure 13-1 </a:t>
            </a:r>
            <a:r>
              <a:rPr lang="en-US" sz="1300" dirty="0">
                <a:latin typeface="Verdana" panose="020B0604030504040204" pitchFamily="34" charset="0"/>
                <a:ea typeface="Verdana" panose="020B0604030504040204" pitchFamily="34" charset="0"/>
              </a:rPr>
              <a:t>A command line interface</a:t>
            </a:r>
            <a:endParaRPr lang="en-AU" sz="1300" dirty="0">
              <a:latin typeface="Verdana" panose="020B0604030504040204" pitchFamily="34" charset="0"/>
              <a:ea typeface="Verdana" panose="020B0604030504040204" pitchFamily="34" charset="0"/>
            </a:endParaRPr>
          </a:p>
        </p:txBody>
      </p:sp>
      <p:pic>
        <p:nvPicPr>
          <p:cNvPr id="6151" name="Picture 1" descr="A command prompt window. ">
            <a:extLst>
              <a:ext uri="{FF2B5EF4-FFF2-40B4-BE49-F238E27FC236}">
                <a16:creationId xmlns:a16="http://schemas.microsoft.com/office/drawing/2014/main" id="{D112DF63-1C6D-46E3-992E-ED6D787BB6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2514600" y="2544178"/>
            <a:ext cx="3430368"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id="{BA4D7DBC-EE78-4432-AC88-370EC78A39EF}"/>
              </a:ext>
            </a:extLst>
          </p:cNvPr>
          <p:cNvSpPr>
            <a:spLocks noGrp="1" noChangeArrowheads="1"/>
          </p:cNvSpPr>
          <p:nvPr>
            <p:ph type="title"/>
          </p:nvPr>
        </p:nvSpPr>
        <p:spPr/>
        <p:txBody>
          <a:bodyPr/>
          <a:lstStyle/>
          <a:p>
            <a:r>
              <a:rPr lang="en-US" altLang="en-US" dirty="0"/>
              <a:t>Graphical User Interfaces</a:t>
            </a:r>
            <a:r>
              <a:rPr lang="en-AU" sz="2000" b="0" dirty="0"/>
              <a:t> (3 of 3)</a:t>
            </a:r>
            <a:endParaRPr lang="en-US" altLang="en-US" sz="2000" dirty="0"/>
          </a:p>
        </p:txBody>
      </p:sp>
      <p:sp>
        <p:nvSpPr>
          <p:cNvPr id="7171" name="Content Placeholder 2">
            <a:extLst>
              <a:ext uri="{FF2B5EF4-FFF2-40B4-BE49-F238E27FC236}">
                <a16:creationId xmlns:a16="http://schemas.microsoft.com/office/drawing/2014/main" id="{83C62290-F972-4FF3-947B-2D47E070B493}"/>
              </a:ext>
            </a:extLst>
          </p:cNvPr>
          <p:cNvSpPr>
            <a:spLocks noGrp="1" noChangeArrowheads="1"/>
          </p:cNvSpPr>
          <p:nvPr>
            <p:ph sz="half" idx="1"/>
          </p:nvPr>
        </p:nvSpPr>
        <p:spPr>
          <a:xfrm>
            <a:off x="457200" y="1600200"/>
            <a:ext cx="4114800" cy="4525963"/>
          </a:xfrm>
        </p:spPr>
        <p:txBody>
          <a:bodyPr/>
          <a:lstStyle/>
          <a:p>
            <a:r>
              <a:rPr lang="en-US" altLang="en-US" sz="2600" u="sng" dirty="0">
                <a:cs typeface="Courier New" panose="02070309020205020404" pitchFamily="49" charset="0"/>
              </a:rPr>
              <a:t>Dialog boxes</a:t>
            </a:r>
            <a:r>
              <a:rPr lang="en-US" altLang="en-US" sz="2600" dirty="0">
                <a:cs typeface="Courier New" panose="02070309020205020404" pitchFamily="49" charset="0"/>
              </a:rPr>
              <a:t>: small windows that display information and allow the user to perform actions</a:t>
            </a:r>
          </a:p>
          <a:p>
            <a:pPr lvl="1"/>
            <a:r>
              <a:rPr lang="en-US" altLang="en-US" dirty="0">
                <a:cs typeface="Courier New" panose="02070309020205020404" pitchFamily="49" charset="0"/>
              </a:rPr>
              <a:t>Responsible for most of the interaction through GUI</a:t>
            </a:r>
          </a:p>
          <a:p>
            <a:pPr lvl="1"/>
            <a:r>
              <a:rPr lang="en-US" altLang="en-US" dirty="0">
                <a:cs typeface="Courier New" panose="02070309020205020404" pitchFamily="49" charset="0"/>
              </a:rPr>
              <a:t>User interacts with graphical elements such as icons, buttons, and slider bars</a:t>
            </a:r>
          </a:p>
          <a:p>
            <a:endParaRPr lang="en-US" altLang="en-US" sz="2400" dirty="0"/>
          </a:p>
        </p:txBody>
      </p:sp>
      <p:pic>
        <p:nvPicPr>
          <p:cNvPr id="7172" name="Picture 4" descr="A dialog box titled, internet properties displays the security tab to change the internet settings. ">
            <a:extLst>
              <a:ext uri="{FF2B5EF4-FFF2-40B4-BE49-F238E27FC236}">
                <a16:creationId xmlns:a16="http://schemas.microsoft.com/office/drawing/2014/main" id="{FBF04060-27A3-4CFE-AD68-A93B9063ABB8}"/>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p:blipFill>
        <p:spPr>
          <a:xfrm>
            <a:off x="4953357" y="1600200"/>
            <a:ext cx="3460035" cy="4525963"/>
          </a:xfr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F76FB8CD-CAA5-4BD2-A8EC-170B0CEFFB33}"/>
              </a:ext>
            </a:extLst>
          </p:cNvPr>
          <p:cNvSpPr>
            <a:spLocks noGrp="1" noChangeArrowheads="1"/>
          </p:cNvSpPr>
          <p:nvPr>
            <p:ph type="title"/>
          </p:nvPr>
        </p:nvSpPr>
        <p:spPr/>
        <p:txBody>
          <a:bodyPr/>
          <a:lstStyle/>
          <a:p>
            <a:r>
              <a:rPr lang="en-US" altLang="en-US"/>
              <a:t>GUI Programs Are Event-Driven</a:t>
            </a:r>
          </a:p>
        </p:txBody>
      </p:sp>
      <p:sp>
        <p:nvSpPr>
          <p:cNvPr id="8195" name="Content Placeholder 2">
            <a:extLst>
              <a:ext uri="{FF2B5EF4-FFF2-40B4-BE49-F238E27FC236}">
                <a16:creationId xmlns:a16="http://schemas.microsoft.com/office/drawing/2014/main" id="{3B125DFE-24E7-46EB-A3F3-3C6E6E4AD142}"/>
              </a:ext>
            </a:extLst>
          </p:cNvPr>
          <p:cNvSpPr>
            <a:spLocks noGrp="1" noChangeArrowheads="1"/>
          </p:cNvSpPr>
          <p:nvPr>
            <p:ph idx="1"/>
          </p:nvPr>
        </p:nvSpPr>
        <p:spPr/>
        <p:txBody>
          <a:bodyPr/>
          <a:lstStyle/>
          <a:p>
            <a:pPr>
              <a:buFontTx/>
              <a:buChar char="•"/>
            </a:pPr>
            <a:r>
              <a:rPr lang="en-US" altLang="en-US" dirty="0">
                <a:cs typeface="Courier New" panose="02070309020205020404" pitchFamily="49" charset="0"/>
              </a:rPr>
              <a:t>In text-based environments, programs determine the order in which things happen</a:t>
            </a:r>
          </a:p>
          <a:p>
            <a:pPr lvl="1"/>
            <a:r>
              <a:rPr lang="en-US" altLang="en-US" dirty="0">
                <a:cs typeface="Courier New" panose="02070309020205020404" pitchFamily="49" charset="0"/>
              </a:rPr>
              <a:t>The user can only enter data in the order requested by the program</a:t>
            </a:r>
          </a:p>
          <a:p>
            <a:pPr>
              <a:buFontTx/>
              <a:buChar char="•"/>
            </a:pPr>
            <a:r>
              <a:rPr lang="en-US" altLang="en-US" dirty="0">
                <a:cs typeface="Courier New" panose="02070309020205020404" pitchFamily="49" charset="0"/>
              </a:rPr>
              <a:t>GUI environment is event-driven</a:t>
            </a:r>
          </a:p>
          <a:p>
            <a:pPr lvl="1"/>
            <a:r>
              <a:rPr lang="en-US" altLang="en-US" dirty="0">
                <a:cs typeface="Courier New" panose="02070309020205020404" pitchFamily="49" charset="0"/>
              </a:rPr>
              <a:t>The user determines the order in which things happen</a:t>
            </a:r>
          </a:p>
          <a:p>
            <a:pPr lvl="2"/>
            <a:r>
              <a:rPr lang="en-US" altLang="en-US" dirty="0">
                <a:cs typeface="Courier New" panose="02070309020205020404" pitchFamily="49" charset="0"/>
              </a:rPr>
              <a:t>User causes events to take place and the program responds to the events</a:t>
            </a:r>
          </a:p>
          <a:p>
            <a:pPr>
              <a:buFontTx/>
              <a:buChar char="•"/>
            </a:pPr>
            <a:endParaRPr lang="en-US"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8FA72482-0138-4427-9253-4CFC4D35A3D7}"/>
              </a:ext>
            </a:extLst>
          </p:cNvPr>
          <p:cNvSpPr>
            <a:spLocks noGrp="1" noChangeArrowheads="1"/>
          </p:cNvSpPr>
          <p:nvPr>
            <p:ph type="title"/>
          </p:nvPr>
        </p:nvSpPr>
        <p:spPr/>
        <p:txBody>
          <a:bodyPr/>
          <a:lstStyle/>
          <a:p>
            <a:r>
              <a:rPr lang="en-US" altLang="en-US" dirty="0"/>
              <a:t>Using the </a:t>
            </a:r>
            <a:r>
              <a:rPr lang="en-US" altLang="en-US" dirty="0" err="1">
                <a:latin typeface="Courier New" panose="02070309020205020404" pitchFamily="49" charset="0"/>
                <a:cs typeface="Courier New" panose="02070309020205020404" pitchFamily="49" charset="0"/>
              </a:rPr>
              <a:t>tkinter</a:t>
            </a:r>
            <a:r>
              <a:rPr lang="en-US" altLang="en-US" dirty="0"/>
              <a:t> Module</a:t>
            </a:r>
            <a:r>
              <a:rPr lang="en-AU" sz="2000" b="0" dirty="0"/>
              <a:t> (1 of 3)</a:t>
            </a:r>
            <a:endParaRPr lang="en-US" altLang="en-US" sz="2000" dirty="0"/>
          </a:p>
        </p:txBody>
      </p:sp>
      <p:sp>
        <p:nvSpPr>
          <p:cNvPr id="9219" name="Content Placeholder 2">
            <a:extLst>
              <a:ext uri="{FF2B5EF4-FFF2-40B4-BE49-F238E27FC236}">
                <a16:creationId xmlns:a16="http://schemas.microsoft.com/office/drawing/2014/main" id="{FE6FD293-7933-4336-98CB-B609598BFCF0}"/>
              </a:ext>
            </a:extLst>
          </p:cNvPr>
          <p:cNvSpPr>
            <a:spLocks noGrp="1" noChangeArrowheads="1"/>
          </p:cNvSpPr>
          <p:nvPr>
            <p:ph idx="1"/>
          </p:nvPr>
        </p:nvSpPr>
        <p:spPr/>
        <p:txBody>
          <a:bodyPr/>
          <a:lstStyle/>
          <a:p>
            <a:pPr>
              <a:buFontTx/>
              <a:buChar char="•"/>
            </a:pPr>
            <a:r>
              <a:rPr lang="en-US" altLang="en-US" dirty="0"/>
              <a:t>No GUI programming features built into Python</a:t>
            </a:r>
          </a:p>
          <a:p>
            <a:pPr>
              <a:buFontTx/>
              <a:buChar char="•"/>
            </a:pPr>
            <a:r>
              <a:rPr lang="en-US" altLang="en-US" u="sng" dirty="0" err="1">
                <a:latin typeface="Courier New" panose="02070309020205020404" pitchFamily="49" charset="0"/>
                <a:cs typeface="Courier New" panose="02070309020205020404" pitchFamily="49" charset="0"/>
              </a:rPr>
              <a:t>tkinter</a:t>
            </a:r>
            <a:r>
              <a:rPr lang="en-US" altLang="en-US" u="sng" dirty="0"/>
              <a:t> module</a:t>
            </a:r>
            <a:r>
              <a:rPr lang="en-US" altLang="en-US" dirty="0"/>
              <a:t>: allows you to create simple GUI programs</a:t>
            </a:r>
          </a:p>
          <a:p>
            <a:pPr lvl="1"/>
            <a:r>
              <a:rPr lang="en-US" altLang="en-US" dirty="0"/>
              <a:t>Comes with Python</a:t>
            </a:r>
          </a:p>
          <a:p>
            <a:pPr>
              <a:buFontTx/>
              <a:buChar char="•"/>
            </a:pPr>
            <a:r>
              <a:rPr lang="en-US" altLang="en-US" u="sng" dirty="0"/>
              <a:t>Widget</a:t>
            </a:r>
            <a:r>
              <a:rPr lang="en-US" altLang="en-US" dirty="0"/>
              <a:t>: graphical element that the user can interact with or view</a:t>
            </a:r>
          </a:p>
          <a:p>
            <a:pPr lvl="1"/>
            <a:r>
              <a:rPr lang="en-US" altLang="en-US" dirty="0"/>
              <a:t>Presented by a GUI program</a:t>
            </a:r>
          </a:p>
          <a:p>
            <a:pPr>
              <a:buFontTx/>
              <a:buChar char="•"/>
            </a:pPr>
            <a:endParaRPr lang="en-US"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7B0F6-66D2-40EA-90A8-71878C842160}"/>
              </a:ext>
            </a:extLst>
          </p:cNvPr>
          <p:cNvSpPr>
            <a:spLocks noGrp="1"/>
          </p:cNvSpPr>
          <p:nvPr>
            <p:ph type="title"/>
          </p:nvPr>
        </p:nvSpPr>
        <p:spPr/>
        <p:txBody>
          <a:bodyPr/>
          <a:lstStyle/>
          <a:p>
            <a:r>
              <a:rPr lang="en-US" altLang="en-US" dirty="0"/>
              <a:t>Using the </a:t>
            </a:r>
            <a:r>
              <a:rPr lang="en-US" altLang="en-US" dirty="0" err="1">
                <a:latin typeface="Courier New" panose="02070309020205020404" pitchFamily="49" charset="0"/>
                <a:cs typeface="Courier New" panose="02070309020205020404" pitchFamily="49" charset="0"/>
              </a:rPr>
              <a:t>tkinter</a:t>
            </a:r>
            <a:r>
              <a:rPr lang="en-US" altLang="en-US" dirty="0"/>
              <a:t> Module</a:t>
            </a:r>
            <a:r>
              <a:rPr lang="en-AU" sz="2000" b="0" dirty="0"/>
              <a:t> (2 of 3)</a:t>
            </a:r>
            <a:endParaRPr lang="en-AU" sz="2000" dirty="0"/>
          </a:p>
        </p:txBody>
      </p:sp>
      <p:sp>
        <p:nvSpPr>
          <p:cNvPr id="6" name="Rectangle 5">
            <a:extLst>
              <a:ext uri="{FF2B5EF4-FFF2-40B4-BE49-F238E27FC236}">
                <a16:creationId xmlns:a16="http://schemas.microsoft.com/office/drawing/2014/main" id="{4D95EC33-8512-4672-8430-17D9D8F70E3B}"/>
              </a:ext>
            </a:extLst>
          </p:cNvPr>
          <p:cNvSpPr/>
          <p:nvPr/>
        </p:nvSpPr>
        <p:spPr>
          <a:xfrm>
            <a:off x="421193" y="1371192"/>
            <a:ext cx="2345963" cy="292388"/>
          </a:xfrm>
          <a:prstGeom prst="rect">
            <a:avLst/>
          </a:prstGeom>
        </p:spPr>
        <p:txBody>
          <a:bodyPr wrap="none">
            <a:spAutoFit/>
          </a:bodyPr>
          <a:lstStyle/>
          <a:p>
            <a:r>
              <a:rPr lang="en-AU" sz="1300" b="1" dirty="0">
                <a:latin typeface="+mj-lt"/>
              </a:rPr>
              <a:t>Table 13-1 </a:t>
            </a:r>
            <a:r>
              <a:rPr lang="en-AU" sz="1300" dirty="0" err="1">
                <a:latin typeface="Courier New" panose="02070309020205020404" pitchFamily="49" charset="0"/>
                <a:cs typeface="Courier New" panose="02070309020205020404" pitchFamily="49" charset="0"/>
              </a:rPr>
              <a:t>tkinter</a:t>
            </a:r>
            <a:r>
              <a:rPr lang="en-AU" sz="1300" dirty="0">
                <a:latin typeface="+mj-lt"/>
              </a:rPr>
              <a:t> widgets</a:t>
            </a:r>
          </a:p>
        </p:txBody>
      </p:sp>
      <p:graphicFrame>
        <p:nvGraphicFramePr>
          <p:cNvPr id="4" name="Table 4">
            <a:extLst>
              <a:ext uri="{FF2B5EF4-FFF2-40B4-BE49-F238E27FC236}">
                <a16:creationId xmlns:a16="http://schemas.microsoft.com/office/drawing/2014/main" id="{04A176E5-F458-43DB-BDE5-5DB91F444B69}"/>
              </a:ext>
            </a:extLst>
          </p:cNvPr>
          <p:cNvGraphicFramePr>
            <a:graphicFrameLocks noGrp="1"/>
          </p:cNvGraphicFramePr>
          <p:nvPr>
            <p:ph idx="1"/>
            <p:extLst>
              <p:ext uri="{D42A27DB-BD31-4B8C-83A1-F6EECF244321}">
                <p14:modId xmlns:p14="http://schemas.microsoft.com/office/powerpoint/2010/main" val="3581803029"/>
              </p:ext>
            </p:extLst>
          </p:nvPr>
        </p:nvGraphicFramePr>
        <p:xfrm>
          <a:off x="457200" y="1722120"/>
          <a:ext cx="8229600" cy="4602480"/>
        </p:xfrm>
        <a:graphic>
          <a:graphicData uri="http://schemas.openxmlformats.org/drawingml/2006/table">
            <a:tbl>
              <a:tblPr firstRow="1" bandRow="1">
                <a:tableStyleId>{3B4B98B0-60AC-42C2-AFA5-B58CD77FA1E5}</a:tableStyleId>
              </a:tblPr>
              <a:tblGrid>
                <a:gridCol w="1524000">
                  <a:extLst>
                    <a:ext uri="{9D8B030D-6E8A-4147-A177-3AD203B41FA5}">
                      <a16:colId xmlns:a16="http://schemas.microsoft.com/office/drawing/2014/main" val="2116520650"/>
                    </a:ext>
                  </a:extLst>
                </a:gridCol>
                <a:gridCol w="6705600">
                  <a:extLst>
                    <a:ext uri="{9D8B030D-6E8A-4147-A177-3AD203B41FA5}">
                      <a16:colId xmlns:a16="http://schemas.microsoft.com/office/drawing/2014/main" val="3716148264"/>
                    </a:ext>
                  </a:extLst>
                </a:gridCol>
              </a:tblGrid>
              <a:tr h="0">
                <a:tc>
                  <a:txBody>
                    <a:bodyPr/>
                    <a:lstStyle/>
                    <a:p>
                      <a:r>
                        <a:rPr lang="en-AU" sz="1300" b="1" i="0" u="none" strike="noStrike" kern="1200" baseline="0" dirty="0">
                          <a:solidFill>
                            <a:schemeClr val="tx1"/>
                          </a:solidFill>
                          <a:latin typeface="+mn-lt"/>
                          <a:ea typeface="+mn-ea"/>
                          <a:cs typeface="+mn-cs"/>
                        </a:rPr>
                        <a:t>Widget</a:t>
                      </a:r>
                      <a:endParaRPr lang="en-AU" sz="1300" dirty="0"/>
                    </a:p>
                  </a:txBody>
                  <a:tcP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AU" sz="1300" b="1" i="0" u="none" strike="noStrike" kern="1200" baseline="0" dirty="0">
                          <a:solidFill>
                            <a:schemeClr val="tx1"/>
                          </a:solidFill>
                          <a:latin typeface="+mn-lt"/>
                          <a:ea typeface="+mn-ea"/>
                          <a:cs typeface="+mn-cs"/>
                        </a:rPr>
                        <a:t>Description</a:t>
                      </a:r>
                      <a:endParaRPr lang="en-AU" sz="1300" dirty="0"/>
                    </a:p>
                  </a:txBody>
                  <a:tcP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86268173"/>
                  </a:ext>
                </a:extLst>
              </a:tr>
              <a:tr h="0">
                <a:tc>
                  <a:txBody>
                    <a:bodyPr/>
                    <a:lstStyle/>
                    <a:p>
                      <a:r>
                        <a:rPr lang="en-AU" sz="1200" b="0" i="0" u="none" strike="noStrike" kern="1200" baseline="0" dirty="0">
                          <a:solidFill>
                            <a:schemeClr val="tx1"/>
                          </a:solidFill>
                          <a:latin typeface="Courier New" panose="02070309020205020404" pitchFamily="49" charset="0"/>
                          <a:ea typeface="+mn-ea"/>
                          <a:cs typeface="Courier New" panose="02070309020205020404" pitchFamily="49" charset="0"/>
                        </a:rPr>
                        <a:t>Button</a:t>
                      </a:r>
                      <a:endParaRPr lang="en-AU" sz="1200" dirty="0">
                        <a:latin typeface="Courier New" panose="02070309020205020404" pitchFamily="49" charset="0"/>
                        <a:cs typeface="Courier New" panose="02070309020205020404" pitchFamily="49" charset="0"/>
                      </a:endParaRPr>
                    </a:p>
                  </a:txBody>
                  <a:tcP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1"/>
                    </a:solidFill>
                  </a:tcPr>
                </a:tc>
                <a:tc>
                  <a:txBody>
                    <a:bodyPr/>
                    <a:lstStyle/>
                    <a:p>
                      <a:r>
                        <a:rPr lang="en-US" sz="1200" b="0" i="0" u="none" strike="noStrike" kern="1200" baseline="0" dirty="0">
                          <a:solidFill>
                            <a:schemeClr val="tx1"/>
                          </a:solidFill>
                          <a:latin typeface="+mn-lt"/>
                          <a:ea typeface="+mn-ea"/>
                          <a:cs typeface="+mn-cs"/>
                        </a:rPr>
                        <a:t>A button that can cause an action to occur when it is clicked.</a:t>
                      </a:r>
                      <a:endParaRPr lang="en-AU" sz="1200" dirty="0"/>
                    </a:p>
                  </a:txBody>
                  <a:tcP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2564978"/>
                  </a:ext>
                </a:extLst>
              </a:tr>
              <a:tr h="0">
                <a:tc>
                  <a:txBody>
                    <a:bodyPr/>
                    <a:lstStyle/>
                    <a:p>
                      <a:r>
                        <a:rPr lang="en-AU" sz="1200" b="0" i="0" u="none" strike="noStrike" kern="1200" baseline="0" dirty="0">
                          <a:solidFill>
                            <a:schemeClr val="tx1"/>
                          </a:solidFill>
                          <a:latin typeface="Courier New" panose="02070309020205020404" pitchFamily="49" charset="0"/>
                          <a:ea typeface="+mn-ea"/>
                          <a:cs typeface="Courier New" panose="02070309020205020404" pitchFamily="49" charset="0"/>
                        </a:rPr>
                        <a:t>Canvas</a:t>
                      </a:r>
                      <a:endParaRPr lang="en-AU" sz="1200" dirty="0">
                        <a:latin typeface="Courier New" panose="02070309020205020404" pitchFamily="49" charset="0"/>
                        <a:cs typeface="Courier New" panose="02070309020205020404" pitchFamily="49" charset="0"/>
                      </a:endParaRPr>
                    </a:p>
                  </a:txBody>
                  <a:tcP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r>
                        <a:rPr lang="en-US" sz="1200" b="0" i="0" u="none" strike="noStrike" kern="1200" baseline="0" dirty="0">
                          <a:solidFill>
                            <a:schemeClr val="tx1"/>
                          </a:solidFill>
                          <a:latin typeface="+mn-lt"/>
                          <a:ea typeface="+mn-ea"/>
                          <a:cs typeface="+mn-cs"/>
                        </a:rPr>
                        <a:t>A rectangular area that can be used to display graphics.</a:t>
                      </a:r>
                      <a:endParaRPr lang="en-AU" sz="1200" dirty="0"/>
                    </a:p>
                  </a:txBody>
                  <a:tcPr>
                    <a:lnL>
                      <a:noFill/>
                    </a:lnL>
                    <a:lnR>
                      <a:noFill/>
                    </a:lnR>
                    <a:lnT>
                      <a:noFill/>
                    </a:lnT>
                    <a:lnB>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86709633"/>
                  </a:ext>
                </a:extLst>
              </a:tr>
              <a:tr h="0">
                <a:tc>
                  <a:txBody>
                    <a:bodyPr/>
                    <a:lstStyle/>
                    <a:p>
                      <a:r>
                        <a:rPr lang="en-AU" sz="1200" b="0" i="0" u="none" strike="noStrike" kern="1200" baseline="0" dirty="0" err="1">
                          <a:solidFill>
                            <a:schemeClr val="tx1"/>
                          </a:solidFill>
                          <a:latin typeface="Courier New" panose="02070309020205020404" pitchFamily="49" charset="0"/>
                          <a:ea typeface="+mn-ea"/>
                          <a:cs typeface="Courier New" panose="02070309020205020404" pitchFamily="49" charset="0"/>
                        </a:rPr>
                        <a:t>Checkbutton</a:t>
                      </a:r>
                      <a:endParaRPr lang="en-AU" sz="1200" dirty="0">
                        <a:latin typeface="Courier New" panose="02070309020205020404" pitchFamily="49" charset="0"/>
                        <a:cs typeface="Courier New" panose="02070309020205020404" pitchFamily="49" charset="0"/>
                      </a:endParaRPr>
                    </a:p>
                  </a:txBody>
                  <a:tcP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r>
                        <a:rPr lang="en-US" sz="1200" b="0" i="0" u="none" strike="noStrike" kern="1200" baseline="0" dirty="0">
                          <a:solidFill>
                            <a:schemeClr val="tx1"/>
                          </a:solidFill>
                          <a:latin typeface="+mn-lt"/>
                          <a:ea typeface="+mn-ea"/>
                          <a:cs typeface="+mn-cs"/>
                        </a:rPr>
                        <a:t>A button that may be in either the “on” or “off” position.</a:t>
                      </a:r>
                      <a:endParaRPr lang="en-AU" sz="1200" dirty="0"/>
                    </a:p>
                  </a:txBody>
                  <a:tcPr>
                    <a:lnL>
                      <a:noFill/>
                    </a:lnL>
                    <a:lnR>
                      <a:noFill/>
                    </a:lnR>
                    <a:lnT>
                      <a:noFill/>
                    </a:lnT>
                    <a:lnB>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4878357"/>
                  </a:ext>
                </a:extLst>
              </a:tr>
              <a:tr h="0">
                <a:tc>
                  <a:txBody>
                    <a:bodyPr/>
                    <a:lstStyle/>
                    <a:p>
                      <a:r>
                        <a:rPr lang="en-AU" sz="1200" b="0" i="0" u="none" strike="noStrike" kern="1200" baseline="0" dirty="0">
                          <a:solidFill>
                            <a:schemeClr val="tx1"/>
                          </a:solidFill>
                          <a:latin typeface="Courier New" panose="02070309020205020404" pitchFamily="49" charset="0"/>
                          <a:ea typeface="+mn-ea"/>
                          <a:cs typeface="Courier New" panose="02070309020205020404" pitchFamily="49" charset="0"/>
                        </a:rPr>
                        <a:t>Entry</a:t>
                      </a:r>
                      <a:endParaRPr lang="en-AU" sz="1200" dirty="0">
                        <a:latin typeface="Courier New" panose="02070309020205020404" pitchFamily="49" charset="0"/>
                        <a:cs typeface="Courier New" panose="02070309020205020404" pitchFamily="49" charset="0"/>
                      </a:endParaRPr>
                    </a:p>
                  </a:txBody>
                  <a:tcP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r>
                        <a:rPr lang="en-US" sz="1200" b="0" i="0" u="none" strike="noStrike" kern="1200" baseline="0" dirty="0">
                          <a:solidFill>
                            <a:schemeClr val="tx1"/>
                          </a:solidFill>
                          <a:latin typeface="+mn-lt"/>
                          <a:ea typeface="+mn-ea"/>
                          <a:cs typeface="+mn-cs"/>
                        </a:rPr>
                        <a:t>An area in which the user may type a single line of input from the keyboard.</a:t>
                      </a:r>
                      <a:endParaRPr lang="en-AU" sz="1200" dirty="0"/>
                    </a:p>
                  </a:txBody>
                  <a:tcPr>
                    <a:lnL>
                      <a:noFill/>
                    </a:lnL>
                    <a:lnR>
                      <a:noFill/>
                    </a:lnR>
                    <a:lnT>
                      <a:noFill/>
                    </a:lnT>
                    <a:lnB>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82233542"/>
                  </a:ext>
                </a:extLst>
              </a:tr>
              <a:tr h="0">
                <a:tc>
                  <a:txBody>
                    <a:bodyPr/>
                    <a:lstStyle/>
                    <a:p>
                      <a:r>
                        <a:rPr lang="en-AU" sz="1200" b="0" i="0" u="none" strike="noStrike" kern="1200" baseline="0" dirty="0">
                          <a:solidFill>
                            <a:schemeClr val="tx1"/>
                          </a:solidFill>
                          <a:latin typeface="Courier New" panose="02070309020205020404" pitchFamily="49" charset="0"/>
                          <a:ea typeface="+mn-ea"/>
                          <a:cs typeface="Courier New" panose="02070309020205020404" pitchFamily="49" charset="0"/>
                        </a:rPr>
                        <a:t>Frame</a:t>
                      </a:r>
                      <a:endParaRPr lang="en-AU" sz="1200" dirty="0">
                        <a:latin typeface="Courier New" panose="02070309020205020404" pitchFamily="49" charset="0"/>
                        <a:cs typeface="Courier New" panose="02070309020205020404" pitchFamily="49" charset="0"/>
                      </a:endParaRPr>
                    </a:p>
                  </a:txBody>
                  <a:tcP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r>
                        <a:rPr lang="en-US" sz="1300" b="0" i="0" u="none" strike="noStrike" kern="1200" baseline="0" dirty="0">
                          <a:solidFill>
                            <a:schemeClr val="tx1"/>
                          </a:solidFill>
                          <a:latin typeface="+mn-lt"/>
                          <a:ea typeface="+mn-ea"/>
                          <a:cs typeface="+mn-cs"/>
                        </a:rPr>
                        <a:t>A container that can hold other widgets.</a:t>
                      </a:r>
                      <a:endParaRPr lang="en-AU" sz="1300" dirty="0"/>
                    </a:p>
                  </a:txBody>
                  <a:tcPr>
                    <a:lnL>
                      <a:noFill/>
                    </a:lnL>
                    <a:lnR>
                      <a:noFill/>
                    </a:lnR>
                    <a:lnT>
                      <a:noFill/>
                    </a:lnT>
                    <a:lnB>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90679009"/>
                  </a:ext>
                </a:extLst>
              </a:tr>
              <a:tr h="0">
                <a:tc>
                  <a:txBody>
                    <a:bodyPr/>
                    <a:lstStyle/>
                    <a:p>
                      <a:r>
                        <a:rPr lang="en-AU" sz="1200" b="0" i="0" u="none" strike="noStrike" kern="1200" baseline="0" dirty="0">
                          <a:solidFill>
                            <a:schemeClr val="tx1"/>
                          </a:solidFill>
                          <a:latin typeface="Courier New" panose="02070309020205020404" pitchFamily="49" charset="0"/>
                          <a:ea typeface="+mn-ea"/>
                          <a:cs typeface="Courier New" panose="02070309020205020404" pitchFamily="49" charset="0"/>
                        </a:rPr>
                        <a:t>Label</a:t>
                      </a:r>
                      <a:endParaRPr lang="en-AU" sz="1200" dirty="0">
                        <a:latin typeface="Courier New" panose="02070309020205020404" pitchFamily="49" charset="0"/>
                        <a:cs typeface="Courier New" panose="02070309020205020404" pitchFamily="49" charset="0"/>
                      </a:endParaRPr>
                    </a:p>
                  </a:txBody>
                  <a:tcP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r>
                        <a:rPr lang="en-US" sz="1200" b="0" i="0" u="none" strike="noStrike" kern="1200" baseline="0" dirty="0">
                          <a:solidFill>
                            <a:schemeClr val="tx1"/>
                          </a:solidFill>
                          <a:latin typeface="+mn-lt"/>
                          <a:ea typeface="+mn-ea"/>
                          <a:cs typeface="+mn-cs"/>
                        </a:rPr>
                        <a:t>An area that displays one line of text or an image.</a:t>
                      </a:r>
                      <a:endParaRPr lang="en-AU" sz="1200" dirty="0"/>
                    </a:p>
                  </a:txBody>
                  <a:tcPr>
                    <a:lnL>
                      <a:noFill/>
                    </a:lnL>
                    <a:lnR>
                      <a:noFill/>
                    </a:lnR>
                    <a:lnT>
                      <a:noFill/>
                    </a:lnT>
                    <a:lnB>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81515460"/>
                  </a:ext>
                </a:extLst>
              </a:tr>
              <a:tr h="0">
                <a:tc>
                  <a:txBody>
                    <a:bodyPr/>
                    <a:lstStyle/>
                    <a:p>
                      <a:r>
                        <a:rPr lang="en-AU" sz="1200" b="0" i="0" u="none" strike="noStrike" kern="1200" baseline="0" dirty="0" err="1">
                          <a:solidFill>
                            <a:schemeClr val="tx1"/>
                          </a:solidFill>
                          <a:latin typeface="Courier New" panose="02070309020205020404" pitchFamily="49" charset="0"/>
                          <a:ea typeface="+mn-ea"/>
                          <a:cs typeface="Courier New" panose="02070309020205020404" pitchFamily="49" charset="0"/>
                        </a:rPr>
                        <a:t>Listbox</a:t>
                      </a:r>
                      <a:endParaRPr lang="en-AU" sz="1200" dirty="0">
                        <a:latin typeface="Courier New" panose="02070309020205020404" pitchFamily="49" charset="0"/>
                        <a:cs typeface="Courier New" panose="02070309020205020404" pitchFamily="49" charset="0"/>
                      </a:endParaRPr>
                    </a:p>
                  </a:txBody>
                  <a:tcP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r>
                        <a:rPr lang="en-US" sz="1200" b="0" i="0" u="none" strike="noStrike" kern="1200" baseline="0" dirty="0">
                          <a:solidFill>
                            <a:schemeClr val="tx1"/>
                          </a:solidFill>
                          <a:latin typeface="+mn-lt"/>
                          <a:ea typeface="+mn-ea"/>
                          <a:cs typeface="+mn-cs"/>
                        </a:rPr>
                        <a:t>A list from which the user may select an item</a:t>
                      </a:r>
                      <a:endParaRPr lang="en-AU" sz="1200" dirty="0"/>
                    </a:p>
                  </a:txBody>
                  <a:tcPr>
                    <a:lnL>
                      <a:noFill/>
                    </a:lnL>
                    <a:lnR>
                      <a:noFill/>
                    </a:lnR>
                    <a:lnT>
                      <a:noFill/>
                    </a:lnT>
                    <a:lnB>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28716812"/>
                  </a:ext>
                </a:extLst>
              </a:tr>
              <a:tr h="0">
                <a:tc>
                  <a:txBody>
                    <a:bodyPr/>
                    <a:lstStyle/>
                    <a:p>
                      <a:r>
                        <a:rPr lang="en-AU" sz="1200" b="0" i="0" u="none" strike="noStrike" kern="1200" baseline="0" dirty="0">
                          <a:solidFill>
                            <a:schemeClr val="tx1"/>
                          </a:solidFill>
                          <a:latin typeface="Courier New" panose="02070309020205020404" pitchFamily="49" charset="0"/>
                          <a:ea typeface="+mn-ea"/>
                          <a:cs typeface="Courier New" panose="02070309020205020404" pitchFamily="49" charset="0"/>
                        </a:rPr>
                        <a:t>Menu</a:t>
                      </a:r>
                      <a:endParaRPr lang="en-AU" sz="1200" dirty="0">
                        <a:latin typeface="Courier New" panose="02070309020205020404" pitchFamily="49" charset="0"/>
                        <a:cs typeface="Courier New" panose="02070309020205020404" pitchFamily="49" charset="0"/>
                      </a:endParaRPr>
                    </a:p>
                  </a:txBody>
                  <a:tcP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r>
                        <a:rPr lang="en-US" sz="1200" b="0" i="0" u="none" strike="noStrike" kern="1200" baseline="0" dirty="0">
                          <a:solidFill>
                            <a:schemeClr val="tx1"/>
                          </a:solidFill>
                          <a:latin typeface="+mn-lt"/>
                          <a:ea typeface="+mn-ea"/>
                          <a:cs typeface="+mn-cs"/>
                        </a:rPr>
                        <a:t>A list of menu choices that are displayed when the user clicks a </a:t>
                      </a:r>
                      <a:r>
                        <a:rPr lang="en-US" sz="1200" b="0" i="0" u="none" strike="noStrike" kern="1200" baseline="0" dirty="0" err="1">
                          <a:solidFill>
                            <a:schemeClr val="tx1"/>
                          </a:solidFill>
                          <a:latin typeface="Courier New" panose="02070309020205020404" pitchFamily="49" charset="0"/>
                          <a:ea typeface="+mn-ea"/>
                          <a:cs typeface="Courier New" panose="02070309020205020404" pitchFamily="49" charset="0"/>
                        </a:rPr>
                        <a:t>Menubutton</a:t>
                      </a:r>
                      <a:r>
                        <a:rPr lang="en-US" sz="1200" b="0" i="0" u="none" strike="noStrike" kern="1200" baseline="0" dirty="0">
                          <a:solidFill>
                            <a:schemeClr val="tx1"/>
                          </a:solidFill>
                          <a:latin typeface="+mn-lt"/>
                          <a:ea typeface="+mn-ea"/>
                          <a:cs typeface="+mn-cs"/>
                        </a:rPr>
                        <a:t> </a:t>
                      </a:r>
                      <a:r>
                        <a:rPr lang="en-AU" sz="1200" b="0" i="0" u="none" strike="noStrike" kern="1200" baseline="0" dirty="0">
                          <a:solidFill>
                            <a:schemeClr val="tx1"/>
                          </a:solidFill>
                          <a:latin typeface="+mn-lt"/>
                          <a:ea typeface="+mn-ea"/>
                          <a:cs typeface="+mn-cs"/>
                        </a:rPr>
                        <a:t>widget.</a:t>
                      </a:r>
                      <a:endParaRPr lang="en-AU" sz="1200" dirty="0"/>
                    </a:p>
                  </a:txBody>
                  <a:tcPr>
                    <a:lnL>
                      <a:noFill/>
                    </a:lnL>
                    <a:lnR>
                      <a:noFill/>
                    </a:lnR>
                    <a:lnT>
                      <a:noFill/>
                    </a:lnT>
                    <a:lnB>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77643988"/>
                  </a:ext>
                </a:extLst>
              </a:tr>
              <a:tr h="0">
                <a:tc>
                  <a:txBody>
                    <a:bodyPr/>
                    <a:lstStyle/>
                    <a:p>
                      <a:r>
                        <a:rPr lang="en-AU" sz="1200" b="0" i="0" u="none" strike="noStrike" kern="1200" baseline="0" dirty="0" err="1">
                          <a:solidFill>
                            <a:schemeClr val="tx1"/>
                          </a:solidFill>
                          <a:latin typeface="Courier New" panose="02070309020205020404" pitchFamily="49" charset="0"/>
                          <a:ea typeface="+mn-ea"/>
                          <a:cs typeface="Courier New" panose="02070309020205020404" pitchFamily="49" charset="0"/>
                        </a:rPr>
                        <a:t>Menubutton</a:t>
                      </a:r>
                      <a:endParaRPr lang="en-AU" sz="1200" dirty="0">
                        <a:latin typeface="Courier New" panose="02070309020205020404" pitchFamily="49" charset="0"/>
                        <a:cs typeface="Courier New" panose="02070309020205020404" pitchFamily="49" charset="0"/>
                      </a:endParaRPr>
                    </a:p>
                  </a:txBody>
                  <a:tcP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r>
                        <a:rPr lang="en-US" sz="1200" b="0" i="0" u="none" strike="noStrike" kern="1200" baseline="0" dirty="0">
                          <a:solidFill>
                            <a:schemeClr val="tx1"/>
                          </a:solidFill>
                          <a:latin typeface="+mn-lt"/>
                          <a:ea typeface="+mn-ea"/>
                          <a:cs typeface="+mn-cs"/>
                        </a:rPr>
                        <a:t>A menu that is displayed on the screen and may be clicked by the user</a:t>
                      </a:r>
                      <a:endParaRPr lang="en-AU" sz="1200" dirty="0"/>
                    </a:p>
                  </a:txBody>
                  <a:tcPr>
                    <a:lnL>
                      <a:noFill/>
                    </a:lnL>
                    <a:lnR>
                      <a:noFill/>
                    </a:lnR>
                    <a:lnT>
                      <a:noFill/>
                    </a:lnT>
                    <a:lnB>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91663678"/>
                  </a:ext>
                </a:extLst>
              </a:tr>
              <a:tr h="0">
                <a:tc>
                  <a:txBody>
                    <a:bodyPr/>
                    <a:lstStyle/>
                    <a:p>
                      <a:r>
                        <a:rPr lang="en-AU" sz="1200" b="0" i="0" u="none" strike="noStrike" kern="1200" baseline="0" dirty="0">
                          <a:solidFill>
                            <a:schemeClr val="tx1"/>
                          </a:solidFill>
                          <a:latin typeface="Courier New" panose="02070309020205020404" pitchFamily="49" charset="0"/>
                          <a:ea typeface="+mn-ea"/>
                          <a:cs typeface="Courier New" panose="02070309020205020404" pitchFamily="49" charset="0"/>
                        </a:rPr>
                        <a:t>Message</a:t>
                      </a:r>
                      <a:endParaRPr lang="en-AU" sz="1200" dirty="0">
                        <a:latin typeface="Courier New" panose="02070309020205020404" pitchFamily="49" charset="0"/>
                        <a:cs typeface="Courier New" panose="02070309020205020404" pitchFamily="49" charset="0"/>
                      </a:endParaRPr>
                    </a:p>
                  </a:txBody>
                  <a:tcP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r>
                        <a:rPr lang="en-US" sz="1200" b="0" i="0" u="none" strike="noStrike" kern="1200" baseline="0" dirty="0">
                          <a:solidFill>
                            <a:schemeClr val="tx1"/>
                          </a:solidFill>
                          <a:latin typeface="+mn-lt"/>
                          <a:ea typeface="+mn-ea"/>
                          <a:cs typeface="+mn-cs"/>
                        </a:rPr>
                        <a:t>Displays multiple lines of text.</a:t>
                      </a:r>
                      <a:endParaRPr lang="en-AU" sz="1200" dirty="0"/>
                    </a:p>
                  </a:txBody>
                  <a:tcPr>
                    <a:lnL>
                      <a:noFill/>
                    </a:lnL>
                    <a:lnR>
                      <a:noFill/>
                    </a:lnR>
                    <a:lnT>
                      <a:noFill/>
                    </a:lnT>
                    <a:lnB>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38381154"/>
                  </a:ext>
                </a:extLst>
              </a:tr>
              <a:tr h="0">
                <a:tc>
                  <a:txBody>
                    <a:bodyPr/>
                    <a:lstStyle/>
                    <a:p>
                      <a:r>
                        <a:rPr lang="en-AU" sz="1200" b="0" i="0" u="none" strike="noStrike" kern="1200" baseline="0" dirty="0" err="1">
                          <a:solidFill>
                            <a:schemeClr val="tx1"/>
                          </a:solidFill>
                          <a:latin typeface="Courier New" panose="02070309020205020404" pitchFamily="49" charset="0"/>
                          <a:ea typeface="+mn-ea"/>
                          <a:cs typeface="Courier New" panose="02070309020205020404" pitchFamily="49" charset="0"/>
                        </a:rPr>
                        <a:t>Radiobutton</a:t>
                      </a:r>
                      <a:endParaRPr lang="en-AU" sz="1200" dirty="0">
                        <a:latin typeface="Courier New" panose="02070309020205020404" pitchFamily="49" charset="0"/>
                        <a:cs typeface="Courier New" panose="02070309020205020404" pitchFamily="49" charset="0"/>
                      </a:endParaRPr>
                    </a:p>
                  </a:txBody>
                  <a:tcP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r>
                        <a:rPr lang="en-US" sz="1200" b="0" i="0" u="none" strike="noStrike" kern="1200" baseline="0" dirty="0">
                          <a:solidFill>
                            <a:schemeClr val="tx1"/>
                          </a:solidFill>
                          <a:latin typeface="+mn-lt"/>
                          <a:ea typeface="+mn-ea"/>
                          <a:cs typeface="+mn-cs"/>
                        </a:rPr>
                        <a:t>A widget that can be either selected or deselected. </a:t>
                      </a:r>
                      <a:r>
                        <a:rPr lang="en-US" sz="1200" b="0" i="0" u="none" strike="noStrike" kern="1200" baseline="0" dirty="0" err="1">
                          <a:solidFill>
                            <a:schemeClr val="tx1"/>
                          </a:solidFill>
                          <a:latin typeface="Courier New" panose="02070309020205020404" pitchFamily="49" charset="0"/>
                          <a:ea typeface="+mn-ea"/>
                          <a:cs typeface="Courier New" panose="02070309020205020404" pitchFamily="49" charset="0"/>
                        </a:rPr>
                        <a:t>Radiobutton</a:t>
                      </a:r>
                      <a:r>
                        <a:rPr lang="en-US" sz="1200" b="0" i="0" u="none" strike="noStrike" kern="1200" baseline="0" dirty="0">
                          <a:solidFill>
                            <a:schemeClr val="tx1"/>
                          </a:solidFill>
                          <a:latin typeface="+mn-lt"/>
                          <a:ea typeface="+mn-ea"/>
                          <a:cs typeface="+mn-cs"/>
                        </a:rPr>
                        <a:t> widgets usually appear in groups and allow the user to select one of several options.</a:t>
                      </a:r>
                      <a:endParaRPr lang="en-AU" sz="1200" dirty="0"/>
                    </a:p>
                  </a:txBody>
                  <a:tcPr>
                    <a:lnL>
                      <a:noFill/>
                    </a:lnL>
                    <a:lnR>
                      <a:noFill/>
                    </a:lnR>
                    <a:lnT>
                      <a:noFill/>
                    </a:lnT>
                    <a:lnB>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8932945"/>
                  </a:ext>
                </a:extLst>
              </a:tr>
              <a:tr h="0">
                <a:tc>
                  <a:txBody>
                    <a:bodyPr/>
                    <a:lstStyle/>
                    <a:p>
                      <a:r>
                        <a:rPr lang="en-AU" sz="1200" b="0" i="0" u="none" strike="noStrike" kern="1200" baseline="0" dirty="0">
                          <a:solidFill>
                            <a:schemeClr val="tx1"/>
                          </a:solidFill>
                          <a:latin typeface="Courier New" panose="02070309020205020404" pitchFamily="49" charset="0"/>
                          <a:ea typeface="+mn-ea"/>
                          <a:cs typeface="Courier New" panose="02070309020205020404" pitchFamily="49" charset="0"/>
                        </a:rPr>
                        <a:t>Scale</a:t>
                      </a:r>
                      <a:endParaRPr lang="en-AU" sz="1200" dirty="0">
                        <a:latin typeface="Courier New" panose="02070309020205020404" pitchFamily="49" charset="0"/>
                        <a:cs typeface="Courier New" panose="02070309020205020404" pitchFamily="49" charset="0"/>
                      </a:endParaRPr>
                    </a:p>
                  </a:txBody>
                  <a:tcP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r>
                        <a:rPr lang="en-US" sz="1200" b="0" i="0" u="none" strike="noStrike" kern="1200" baseline="0" dirty="0">
                          <a:solidFill>
                            <a:schemeClr val="tx1"/>
                          </a:solidFill>
                          <a:latin typeface="+mn-lt"/>
                          <a:ea typeface="+mn-ea"/>
                          <a:cs typeface="+mn-cs"/>
                        </a:rPr>
                        <a:t>A widget that allows the user to select a value by moving a slider along a </a:t>
                      </a:r>
                      <a:r>
                        <a:rPr lang="en-AU" sz="1200" b="0" i="0" u="none" strike="noStrike" kern="1200" baseline="0" dirty="0">
                          <a:solidFill>
                            <a:schemeClr val="tx1"/>
                          </a:solidFill>
                          <a:latin typeface="+mn-lt"/>
                          <a:ea typeface="+mn-ea"/>
                          <a:cs typeface="+mn-cs"/>
                        </a:rPr>
                        <a:t>track.</a:t>
                      </a:r>
                      <a:endParaRPr lang="en-AU" sz="1200" dirty="0"/>
                    </a:p>
                  </a:txBody>
                  <a:tcPr>
                    <a:lnL>
                      <a:noFill/>
                    </a:lnL>
                    <a:lnR>
                      <a:noFill/>
                    </a:lnR>
                    <a:lnT>
                      <a:noFill/>
                    </a:lnT>
                    <a:lnB>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81430406"/>
                  </a:ext>
                </a:extLst>
              </a:tr>
              <a:tr h="0">
                <a:tc>
                  <a:txBody>
                    <a:bodyPr/>
                    <a:lstStyle/>
                    <a:p>
                      <a:r>
                        <a:rPr lang="en-AU" sz="1200" b="0" i="0" u="none" strike="noStrike" kern="1200" baseline="0" dirty="0">
                          <a:solidFill>
                            <a:schemeClr val="tx1"/>
                          </a:solidFill>
                          <a:latin typeface="Courier New" panose="02070309020205020404" pitchFamily="49" charset="0"/>
                          <a:ea typeface="+mn-ea"/>
                          <a:cs typeface="Courier New" panose="02070309020205020404" pitchFamily="49" charset="0"/>
                        </a:rPr>
                        <a:t>Scrollbar</a:t>
                      </a:r>
                      <a:endParaRPr lang="en-AU" sz="1200" dirty="0">
                        <a:latin typeface="Courier New" panose="02070309020205020404" pitchFamily="49" charset="0"/>
                        <a:cs typeface="Courier New" panose="02070309020205020404" pitchFamily="49" charset="0"/>
                      </a:endParaRPr>
                    </a:p>
                  </a:txBody>
                  <a:tcP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r>
                        <a:rPr lang="en-US" sz="1200" b="0" i="0" u="none" strike="noStrike" kern="1200" baseline="0" dirty="0">
                          <a:solidFill>
                            <a:schemeClr val="tx1"/>
                          </a:solidFill>
                          <a:latin typeface="+mn-lt"/>
                          <a:ea typeface="+mn-ea"/>
                          <a:cs typeface="+mn-cs"/>
                        </a:rPr>
                        <a:t>Can be used with some other types of widgets to provide scrolling ability.</a:t>
                      </a:r>
                      <a:endParaRPr lang="en-AU" sz="1200" dirty="0"/>
                    </a:p>
                  </a:txBody>
                  <a:tcPr>
                    <a:lnL>
                      <a:noFill/>
                    </a:lnL>
                    <a:lnR>
                      <a:noFill/>
                    </a:lnR>
                    <a:lnT>
                      <a:noFill/>
                    </a:lnT>
                    <a:lnB>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14477957"/>
                  </a:ext>
                </a:extLst>
              </a:tr>
              <a:tr h="0">
                <a:tc>
                  <a:txBody>
                    <a:bodyPr/>
                    <a:lstStyle/>
                    <a:p>
                      <a:r>
                        <a:rPr lang="en-AU" sz="1200" b="0" i="0" u="none" strike="noStrike" kern="1200" baseline="0" dirty="0">
                          <a:solidFill>
                            <a:schemeClr val="tx1"/>
                          </a:solidFill>
                          <a:latin typeface="Courier New" panose="02070309020205020404" pitchFamily="49" charset="0"/>
                          <a:ea typeface="+mn-ea"/>
                          <a:cs typeface="Courier New" panose="02070309020205020404" pitchFamily="49" charset="0"/>
                        </a:rPr>
                        <a:t>Text</a:t>
                      </a:r>
                      <a:endParaRPr lang="en-AU" sz="1200" dirty="0">
                        <a:latin typeface="Courier New" panose="02070309020205020404" pitchFamily="49" charset="0"/>
                        <a:cs typeface="Courier New" panose="02070309020205020404" pitchFamily="49" charset="0"/>
                      </a:endParaRPr>
                    </a:p>
                  </a:txBody>
                  <a:tcP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r>
                        <a:rPr lang="en-US" sz="1200" b="0" i="0" u="none" strike="noStrike" kern="1200" baseline="0" dirty="0">
                          <a:solidFill>
                            <a:schemeClr val="tx1"/>
                          </a:solidFill>
                          <a:latin typeface="+mn-lt"/>
                          <a:ea typeface="+mn-ea"/>
                          <a:cs typeface="+mn-cs"/>
                        </a:rPr>
                        <a:t>A widget that allows the user to enter multiple lines of text input.</a:t>
                      </a:r>
                      <a:endParaRPr lang="en-AU" sz="1200" dirty="0"/>
                    </a:p>
                  </a:txBody>
                  <a:tcPr>
                    <a:lnL>
                      <a:noFill/>
                    </a:lnL>
                    <a:lnR>
                      <a:noFill/>
                    </a:lnR>
                    <a:lnT>
                      <a:noFill/>
                    </a:lnT>
                    <a:lnB>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67339302"/>
                  </a:ext>
                </a:extLst>
              </a:tr>
              <a:tr h="0">
                <a:tc>
                  <a:txBody>
                    <a:bodyPr/>
                    <a:lstStyle/>
                    <a:p>
                      <a:r>
                        <a:rPr lang="en-AU" sz="1200" b="0" i="0" u="none" strike="noStrike" kern="1200" baseline="0" dirty="0" err="1">
                          <a:solidFill>
                            <a:schemeClr val="tx1"/>
                          </a:solidFill>
                          <a:latin typeface="Courier New" panose="02070309020205020404" pitchFamily="49" charset="0"/>
                          <a:ea typeface="+mn-ea"/>
                          <a:cs typeface="Courier New" panose="02070309020205020404" pitchFamily="49" charset="0"/>
                        </a:rPr>
                        <a:t>Toplevel</a:t>
                      </a:r>
                      <a:endParaRPr lang="en-AU" sz="1200" dirty="0">
                        <a:latin typeface="Courier New" panose="02070309020205020404" pitchFamily="49" charset="0"/>
                        <a:cs typeface="Courier New" panose="02070309020205020404" pitchFamily="49" charset="0"/>
                      </a:endParaRPr>
                    </a:p>
                  </a:txBody>
                  <a:tcP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200" b="0" i="0" u="none" strike="noStrike" kern="1200" baseline="0" dirty="0">
                          <a:solidFill>
                            <a:schemeClr val="tx1"/>
                          </a:solidFill>
                          <a:latin typeface="+mn-lt"/>
                          <a:ea typeface="+mn-ea"/>
                          <a:cs typeface="+mn-cs"/>
                        </a:rPr>
                        <a:t>A container, like a </a:t>
                      </a:r>
                      <a:r>
                        <a:rPr lang="en-US" sz="1200" b="0" i="0" u="none" strike="noStrike" kern="1200" baseline="0" dirty="0">
                          <a:solidFill>
                            <a:schemeClr val="tx1"/>
                          </a:solidFill>
                          <a:latin typeface="Courier New" panose="02070309020205020404" pitchFamily="49" charset="0"/>
                          <a:ea typeface="+mn-ea"/>
                          <a:cs typeface="Courier New" panose="02070309020205020404" pitchFamily="49" charset="0"/>
                        </a:rPr>
                        <a:t>Frame</a:t>
                      </a:r>
                      <a:r>
                        <a:rPr lang="en-US" sz="1200" b="0" i="0" u="none" strike="noStrike" kern="1200" baseline="0" dirty="0">
                          <a:solidFill>
                            <a:schemeClr val="tx1"/>
                          </a:solidFill>
                          <a:latin typeface="+mn-lt"/>
                          <a:ea typeface="+mn-ea"/>
                          <a:cs typeface="+mn-cs"/>
                        </a:rPr>
                        <a:t>, but displayed in its own window.</a:t>
                      </a:r>
                      <a:endParaRPr lang="en-AU" sz="1200" dirty="0"/>
                    </a:p>
                  </a:txBody>
                  <a:tcP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12930968"/>
                  </a:ext>
                </a:extLst>
              </a:tr>
            </a:tbl>
          </a:graphicData>
        </a:graphic>
      </p:graphicFrame>
    </p:spTree>
    <p:extLst>
      <p:ext uri="{BB962C8B-B14F-4D97-AF65-F5344CB8AC3E}">
        <p14:creationId xmlns:p14="http://schemas.microsoft.com/office/powerpoint/2010/main" val="1548905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9E96F3FE-3696-4FDE-B0B8-2A7BCB67456E}"/>
              </a:ext>
            </a:extLst>
          </p:cNvPr>
          <p:cNvSpPr>
            <a:spLocks noGrp="1" noChangeArrowheads="1"/>
          </p:cNvSpPr>
          <p:nvPr>
            <p:ph type="title"/>
          </p:nvPr>
        </p:nvSpPr>
        <p:spPr/>
        <p:txBody>
          <a:bodyPr/>
          <a:lstStyle/>
          <a:p>
            <a:r>
              <a:rPr lang="en-US" altLang="en-US" dirty="0"/>
              <a:t>Using the </a:t>
            </a:r>
            <a:r>
              <a:rPr lang="en-US" altLang="en-US" dirty="0" err="1">
                <a:latin typeface="Courier New" panose="02070309020205020404" pitchFamily="49" charset="0"/>
                <a:cs typeface="Courier New" panose="02070309020205020404" pitchFamily="49" charset="0"/>
              </a:rPr>
              <a:t>tkinter</a:t>
            </a:r>
            <a:r>
              <a:rPr lang="en-US" altLang="en-US" dirty="0"/>
              <a:t> Module</a:t>
            </a:r>
          </a:p>
        </p:txBody>
      </p:sp>
      <p:sp>
        <p:nvSpPr>
          <p:cNvPr id="11267" name="Content Placeholder 2">
            <a:extLst>
              <a:ext uri="{FF2B5EF4-FFF2-40B4-BE49-F238E27FC236}">
                <a16:creationId xmlns:a16="http://schemas.microsoft.com/office/drawing/2014/main" id="{83AB4452-E704-4E5A-8CCE-C6A276EB10CA}"/>
              </a:ext>
            </a:extLst>
          </p:cNvPr>
          <p:cNvSpPr>
            <a:spLocks noGrp="1" noChangeArrowheads="1"/>
          </p:cNvSpPr>
          <p:nvPr>
            <p:ph idx="1"/>
          </p:nvPr>
        </p:nvSpPr>
        <p:spPr/>
        <p:txBody>
          <a:bodyPr/>
          <a:lstStyle/>
          <a:p>
            <a:pPr>
              <a:buFontTx/>
              <a:buChar char="•"/>
            </a:pPr>
            <a:r>
              <a:rPr lang="en-US" altLang="en-US" dirty="0"/>
              <a:t>Programs that use </a:t>
            </a:r>
            <a:r>
              <a:rPr lang="en-US" altLang="en-US" dirty="0" err="1">
                <a:latin typeface="Courier New" panose="02070309020205020404" pitchFamily="49" charset="0"/>
                <a:cs typeface="Courier New" panose="02070309020205020404" pitchFamily="49" charset="0"/>
              </a:rPr>
              <a:t>tkinter</a:t>
            </a:r>
            <a:r>
              <a:rPr lang="en-US" altLang="en-US" dirty="0"/>
              <a:t> do not always run reliably under IDLE</a:t>
            </a:r>
          </a:p>
          <a:p>
            <a:pPr lvl="1"/>
            <a:r>
              <a:rPr lang="en-US" altLang="en-US" sz="2400" dirty="0"/>
              <a:t>For best results run them from operating system command prompt</a:t>
            </a:r>
          </a:p>
          <a:p>
            <a:pPr>
              <a:buFontTx/>
              <a:buChar char="•"/>
            </a:pPr>
            <a:r>
              <a:rPr lang="en-US" altLang="en-US" dirty="0"/>
              <a:t>Most programmers take an object-oriented approach when writing GUI programs</a:t>
            </a:r>
          </a:p>
          <a:p>
            <a:pPr lvl="1"/>
            <a:r>
              <a:rPr lang="en-US" altLang="en-US" sz="2400" dirty="0">
                <a:latin typeface="Courier New" panose="02070309020205020404" pitchFamily="49" charset="0"/>
                <a:cs typeface="Courier New" panose="02070309020205020404" pitchFamily="49" charset="0"/>
              </a:rPr>
              <a:t>__</a:t>
            </a:r>
            <a:r>
              <a:rPr lang="en-US" altLang="en-US" sz="2400" dirty="0" err="1">
                <a:latin typeface="Courier New" panose="02070309020205020404" pitchFamily="49" charset="0"/>
                <a:cs typeface="Courier New" panose="02070309020205020404" pitchFamily="49" charset="0"/>
              </a:rPr>
              <a:t>init</a:t>
            </a:r>
            <a:r>
              <a:rPr lang="en-US" altLang="en-US" sz="2400" dirty="0">
                <a:latin typeface="Courier New" panose="02070309020205020404" pitchFamily="49" charset="0"/>
                <a:cs typeface="Courier New" panose="02070309020205020404" pitchFamily="49" charset="0"/>
              </a:rPr>
              <a:t>__</a:t>
            </a:r>
            <a:r>
              <a:rPr lang="en-US" altLang="en-US" sz="2400" dirty="0"/>
              <a:t> method builds the GUI</a:t>
            </a:r>
          </a:p>
          <a:p>
            <a:pPr lvl="1"/>
            <a:r>
              <a:rPr lang="en-US" altLang="en-US" sz="2400" dirty="0"/>
              <a:t>When an instance is created the GUI appears on the screen</a:t>
            </a:r>
          </a:p>
          <a:p>
            <a:pPr>
              <a:buFontTx/>
              <a:buChar char="•"/>
            </a:pPr>
            <a:endParaRPr lang="en-US" altLang="en-US" sz="2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A9D37740-5EF4-4CCB-9317-EC0751256BFA}"/>
              </a:ext>
            </a:extLst>
          </p:cNvPr>
          <p:cNvSpPr>
            <a:spLocks noGrp="1" noChangeArrowheads="1"/>
          </p:cNvSpPr>
          <p:nvPr>
            <p:ph type="title"/>
          </p:nvPr>
        </p:nvSpPr>
        <p:spPr/>
        <p:txBody>
          <a:bodyPr/>
          <a:lstStyle/>
          <a:p>
            <a:r>
              <a:rPr lang="en-US" altLang="en-US" dirty="0"/>
              <a:t>Example</a:t>
            </a:r>
            <a:r>
              <a:rPr lang="en-AU" sz="2000" b="0" dirty="0"/>
              <a:t> (1 of 6)</a:t>
            </a:r>
            <a:endParaRPr lang="en-US" altLang="en-US" sz="2000" dirty="0"/>
          </a:p>
        </p:txBody>
      </p:sp>
      <p:sp>
        <p:nvSpPr>
          <p:cNvPr id="12291" name="Rectangle 2">
            <a:extLst>
              <a:ext uri="{FF2B5EF4-FFF2-40B4-BE49-F238E27FC236}">
                <a16:creationId xmlns:a16="http://schemas.microsoft.com/office/drawing/2014/main" id="{3C2ABFC7-095F-4D2A-88DB-2CB0166697E6}"/>
              </a:ext>
            </a:extLst>
          </p:cNvPr>
          <p:cNvSpPr>
            <a:spLocks noChangeArrowheads="1"/>
          </p:cNvSpPr>
          <p:nvPr/>
        </p:nvSpPr>
        <p:spPr bwMode="auto">
          <a:xfrm>
            <a:off x="438989" y="1752600"/>
            <a:ext cx="5562600" cy="3970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 1 </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This program displays an empty window.</a:t>
            </a:r>
            <a:b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altLang="en-US" sz="14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 2 </a:t>
            </a:r>
            <a:br>
              <a:rPr lang="en-US" altLang="en-US" sz="14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br>
            <a:r>
              <a:rPr lang="en-US" altLang="en-US" sz="14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 3 </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import </a:t>
            </a: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tkinter</a:t>
            </a:r>
            <a:b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altLang="en-US" sz="14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 4 </a:t>
            </a:r>
            <a:br>
              <a:rPr lang="en-US" altLang="en-US" sz="14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br>
            <a:r>
              <a:rPr lang="en-US" altLang="en-US" sz="14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 5 </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class </a:t>
            </a: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MyGUI</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b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altLang="en-US" sz="14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 6 </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def __</a:t>
            </a: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init</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__(self):</a:t>
            </a:r>
            <a:b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altLang="en-US" sz="14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 7 </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 Create the main window widget.</a:t>
            </a:r>
            <a:b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altLang="en-US" sz="14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 8 </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self.main_window</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 </a:t>
            </a: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tkinter.Tk</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b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altLang="en-US" sz="14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 9 </a:t>
            </a:r>
            <a:br>
              <a:rPr lang="en-US" altLang="en-US" sz="14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br>
            <a:r>
              <a:rPr lang="en-US" altLang="en-US" sz="14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10 </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 Display a title.</a:t>
            </a:r>
            <a:b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altLang="en-US" sz="14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11 </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self.main_window.title</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('My First GUI')</a:t>
            </a:r>
            <a:b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altLang="en-US" sz="14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12 </a:t>
            </a:r>
            <a:br>
              <a:rPr lang="en-US" altLang="en-US" sz="14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br>
            <a:r>
              <a:rPr lang="en-US" altLang="en-US" sz="14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13 </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 Enter the </a:t>
            </a: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tkinter</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main loop.</a:t>
            </a:r>
            <a:b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altLang="en-US" sz="14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14 </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tkinter.mainloop</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b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altLang="en-US" sz="14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15 </a:t>
            </a:r>
            <a:br>
              <a:rPr lang="en-US" altLang="en-US" sz="14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br>
            <a:r>
              <a:rPr lang="en-US" altLang="en-US" sz="14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16 </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Create an instance of the </a:t>
            </a: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MyGUI</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class.</a:t>
            </a:r>
            <a:b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altLang="en-US" sz="14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17 </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if __name__ == '__main__':</a:t>
            </a:r>
            <a:b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altLang="en-US" sz="14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18 </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my_gui</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 </a:t>
            </a: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MyGUI</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endParaRPr lang="en-US" altLang="en-US" sz="1400" b="0" dirty="0">
              <a:latin typeface="Calibri" panose="020F0502020204030204" pitchFamily="34" charset="0"/>
              <a:ea typeface="Calibri" panose="020F0502020204030204" pitchFamily="34" charset="0"/>
              <a:cs typeface="Times New Roman" panose="02020603050405020304" pitchFamily="18" charset="0"/>
            </a:endParaRPr>
          </a:p>
        </p:txBody>
      </p:sp>
      <p:pic>
        <p:nvPicPr>
          <p:cNvPr id="12292" name="Picture 5" descr="A window titled, my first G U I. ">
            <a:extLst>
              <a:ext uri="{FF2B5EF4-FFF2-40B4-BE49-F238E27FC236}">
                <a16:creationId xmlns:a16="http://schemas.microsoft.com/office/drawing/2014/main" id="{32F1B263-2076-4E9E-B96B-2E1E8E823A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6248400" y="1828800"/>
            <a:ext cx="2305048"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A26F8B4F-8910-49C3-962D-988722B29099}"/>
              </a:ext>
            </a:extLst>
          </p:cNvPr>
          <p:cNvSpPr>
            <a:spLocks noGrp="1" noChangeArrowheads="1"/>
          </p:cNvSpPr>
          <p:nvPr>
            <p:ph type="title"/>
          </p:nvPr>
        </p:nvSpPr>
        <p:spPr/>
        <p:txBody>
          <a:bodyPr/>
          <a:lstStyle/>
          <a:p>
            <a:r>
              <a:rPr lang="en-US" altLang="en-US" dirty="0"/>
              <a:t>Display Text with </a:t>
            </a:r>
            <a:r>
              <a:rPr lang="en-US" altLang="en-US" dirty="0">
                <a:latin typeface="Courier New" panose="02070309020205020404" pitchFamily="49" charset="0"/>
                <a:cs typeface="Courier New" panose="02070309020205020404" pitchFamily="49" charset="0"/>
              </a:rPr>
              <a:t>Label</a:t>
            </a:r>
            <a:r>
              <a:rPr lang="en-US" altLang="en-US" dirty="0"/>
              <a:t> Widgets</a:t>
            </a:r>
            <a:r>
              <a:rPr lang="en-AU" sz="2000" b="0" dirty="0"/>
              <a:t> (1 of 2)</a:t>
            </a:r>
            <a:endParaRPr lang="en-US" altLang="en-US" sz="2000" dirty="0"/>
          </a:p>
        </p:txBody>
      </p:sp>
      <p:sp>
        <p:nvSpPr>
          <p:cNvPr id="13315" name="Content Placeholder 2">
            <a:extLst>
              <a:ext uri="{FF2B5EF4-FFF2-40B4-BE49-F238E27FC236}">
                <a16:creationId xmlns:a16="http://schemas.microsoft.com/office/drawing/2014/main" id="{6E8D13CB-20A0-48D0-987A-BA0B448D499B}"/>
              </a:ext>
            </a:extLst>
          </p:cNvPr>
          <p:cNvSpPr>
            <a:spLocks noGrp="1" noChangeArrowheads="1"/>
          </p:cNvSpPr>
          <p:nvPr>
            <p:ph idx="1"/>
          </p:nvPr>
        </p:nvSpPr>
        <p:spPr/>
        <p:txBody>
          <a:bodyPr/>
          <a:lstStyle/>
          <a:p>
            <a:pPr>
              <a:buFontTx/>
              <a:buChar char="•"/>
            </a:pPr>
            <a:r>
              <a:rPr lang="en-US" altLang="en-US" u="sng" dirty="0">
                <a:latin typeface="Courier New" panose="02070309020205020404" pitchFamily="49" charset="0"/>
                <a:cs typeface="Courier New" panose="02070309020205020404" pitchFamily="49" charset="0"/>
              </a:rPr>
              <a:t>Label</a:t>
            </a:r>
            <a:r>
              <a:rPr lang="en-US" altLang="en-US" u="sng" dirty="0">
                <a:cs typeface="Times New Roman" panose="02020603050405020304" pitchFamily="18" charset="0"/>
              </a:rPr>
              <a:t> widget</a:t>
            </a:r>
            <a:r>
              <a:rPr lang="en-US" altLang="en-US" dirty="0">
                <a:cs typeface="Times New Roman" panose="02020603050405020304" pitchFamily="18" charset="0"/>
              </a:rPr>
              <a:t>: displays a single line of text in a window</a:t>
            </a:r>
          </a:p>
          <a:p>
            <a:pPr lvl="1"/>
            <a:r>
              <a:rPr lang="en-US" altLang="en-US" sz="2400" dirty="0">
                <a:cs typeface="Times New Roman" panose="02020603050405020304" pitchFamily="18" charset="0"/>
              </a:rPr>
              <a:t>Made by creating an instance of </a:t>
            </a:r>
            <a:r>
              <a:rPr lang="en-US" altLang="en-US" sz="2400" dirty="0" err="1">
                <a:latin typeface="Courier New" panose="02070309020205020404" pitchFamily="49" charset="0"/>
                <a:cs typeface="Courier New" panose="02070309020205020404" pitchFamily="49" charset="0"/>
              </a:rPr>
              <a:t>tkinter</a:t>
            </a:r>
            <a:r>
              <a:rPr lang="en-US" altLang="en-US" sz="2400" dirty="0">
                <a:cs typeface="Times New Roman" panose="02020603050405020304" pitchFamily="18" charset="0"/>
              </a:rPr>
              <a:t> module’s </a:t>
            </a:r>
            <a:r>
              <a:rPr lang="en-US" altLang="en-US" sz="2400" dirty="0">
                <a:latin typeface="Courier New" panose="02070309020205020404" pitchFamily="49" charset="0"/>
                <a:cs typeface="Courier New" panose="02070309020205020404" pitchFamily="49" charset="0"/>
              </a:rPr>
              <a:t>Label</a:t>
            </a:r>
            <a:r>
              <a:rPr lang="en-US" altLang="en-US" sz="2400" dirty="0">
                <a:cs typeface="Times New Roman" panose="02020603050405020304" pitchFamily="18" charset="0"/>
              </a:rPr>
              <a:t> class</a:t>
            </a:r>
          </a:p>
          <a:p>
            <a:pPr lvl="1"/>
            <a:r>
              <a:rPr lang="en-US" altLang="en-US" sz="2400" dirty="0">
                <a:cs typeface="Times New Roman" panose="02020603050405020304" pitchFamily="18" charset="0"/>
              </a:rPr>
              <a:t>Format: </a:t>
            </a:r>
            <a:r>
              <a:rPr lang="en-US" altLang="en-US" sz="2400" dirty="0" err="1">
                <a:latin typeface="Courier New" panose="02070309020205020404" pitchFamily="49" charset="0"/>
                <a:cs typeface="Courier New" panose="02070309020205020404" pitchFamily="49" charset="0"/>
              </a:rPr>
              <a:t>tkinter.Label</a:t>
            </a:r>
            <a:r>
              <a:rPr lang="en-US" altLang="en-US" sz="2400" dirty="0">
                <a:latin typeface="Courier New" panose="02070309020205020404" pitchFamily="49" charset="0"/>
                <a:cs typeface="Courier New" panose="02070309020205020404" pitchFamily="49" charset="0"/>
              </a:rPr>
              <a:t>(</a:t>
            </a:r>
            <a:r>
              <a:rPr lang="en-US" altLang="en-US" sz="2400" dirty="0" err="1">
                <a:latin typeface="Courier New" panose="02070309020205020404" pitchFamily="49" charset="0"/>
                <a:cs typeface="Courier New" panose="02070309020205020404" pitchFamily="49" charset="0"/>
              </a:rPr>
              <a:t>self.main_window</a:t>
            </a:r>
            <a:r>
              <a:rPr lang="en-US" altLang="en-US" sz="2400" dirty="0">
                <a:latin typeface="Courier New" panose="02070309020205020404" pitchFamily="49" charset="0"/>
                <a:cs typeface="Courier New" panose="02070309020205020404" pitchFamily="49" charset="0"/>
              </a:rPr>
              <a:t>, 				text = 'my text')</a:t>
            </a:r>
          </a:p>
          <a:p>
            <a:pPr lvl="2"/>
            <a:r>
              <a:rPr lang="en-US" altLang="en-US" sz="2000" dirty="0">
                <a:cs typeface="Courier New" panose="02070309020205020404" pitchFamily="49" charset="0"/>
              </a:rPr>
              <a:t>First argument references the root widget, second argument shows text that should appear in label</a:t>
            </a:r>
          </a:p>
          <a:p>
            <a:pPr>
              <a:buFontTx/>
              <a:buChar char="•"/>
            </a:pPr>
            <a:endParaRPr lang="en-US" altLang="en-US" sz="2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5A6DCC95-BF3F-4F5E-AD85-0391ED096475}"/>
              </a:ext>
            </a:extLst>
          </p:cNvPr>
          <p:cNvSpPr>
            <a:spLocks noGrp="1" noChangeArrowheads="1"/>
          </p:cNvSpPr>
          <p:nvPr>
            <p:ph type="title"/>
          </p:nvPr>
        </p:nvSpPr>
        <p:spPr/>
        <p:txBody>
          <a:bodyPr/>
          <a:lstStyle/>
          <a:p>
            <a:r>
              <a:rPr lang="en-US" altLang="en-US" dirty="0"/>
              <a:t>Display Text with </a:t>
            </a:r>
            <a:r>
              <a:rPr lang="en-US" altLang="en-US" dirty="0">
                <a:latin typeface="Courier New" panose="02070309020205020404" pitchFamily="49" charset="0"/>
                <a:cs typeface="Courier New" panose="02070309020205020404" pitchFamily="49" charset="0"/>
              </a:rPr>
              <a:t>Label</a:t>
            </a:r>
            <a:r>
              <a:rPr lang="en-US" altLang="en-US" dirty="0"/>
              <a:t> Widgets</a:t>
            </a:r>
            <a:r>
              <a:rPr lang="en-AU" sz="2000" b="0" dirty="0"/>
              <a:t> (2 of 2)</a:t>
            </a:r>
            <a:endParaRPr lang="en-US" altLang="en-US" sz="2000" dirty="0"/>
          </a:p>
        </p:txBody>
      </p:sp>
      <p:sp>
        <p:nvSpPr>
          <p:cNvPr id="14339" name="Content Placeholder 2">
            <a:extLst>
              <a:ext uri="{FF2B5EF4-FFF2-40B4-BE49-F238E27FC236}">
                <a16:creationId xmlns:a16="http://schemas.microsoft.com/office/drawing/2014/main" id="{D6386DAD-63FF-4E5D-A7EB-D08A78437D55}"/>
              </a:ext>
            </a:extLst>
          </p:cNvPr>
          <p:cNvSpPr>
            <a:spLocks noGrp="1" noChangeArrowheads="1"/>
          </p:cNvSpPr>
          <p:nvPr>
            <p:ph idx="1"/>
          </p:nvPr>
        </p:nvSpPr>
        <p:spPr/>
        <p:txBody>
          <a:bodyPr/>
          <a:lstStyle/>
          <a:p>
            <a:pPr>
              <a:buFontTx/>
              <a:buChar char="•"/>
            </a:pPr>
            <a:r>
              <a:rPr lang="en-US" altLang="en-US" u="sng" dirty="0">
                <a:latin typeface="Courier New" panose="02070309020205020404" pitchFamily="49" charset="0"/>
                <a:cs typeface="Courier New" panose="02070309020205020404" pitchFamily="49" charset="0"/>
              </a:rPr>
              <a:t>pack</a:t>
            </a:r>
            <a:r>
              <a:rPr lang="en-US" altLang="en-US" u="sng" dirty="0">
                <a:cs typeface="Times New Roman" panose="02020603050405020304" pitchFamily="18" charset="0"/>
              </a:rPr>
              <a:t> method</a:t>
            </a:r>
            <a:r>
              <a:rPr lang="en-US" altLang="en-US" dirty="0">
                <a:cs typeface="Times New Roman" panose="02020603050405020304" pitchFamily="18" charset="0"/>
              </a:rPr>
              <a:t>: determines where a widget should be positioned and makes it visible when the main window is displayed</a:t>
            </a:r>
          </a:p>
          <a:p>
            <a:pPr lvl="1"/>
            <a:r>
              <a:rPr lang="en-US" altLang="en-US" dirty="0">
                <a:cs typeface="Times New Roman" panose="02020603050405020304" pitchFamily="18" charset="0"/>
              </a:rPr>
              <a:t>Called for each widget in a window</a:t>
            </a:r>
          </a:p>
          <a:p>
            <a:pPr lvl="1"/>
            <a:r>
              <a:rPr lang="en-US" altLang="en-US" dirty="0">
                <a:cs typeface="Times New Roman" panose="02020603050405020304" pitchFamily="18" charset="0"/>
              </a:rPr>
              <a:t>Receives an argument to specify positioning</a:t>
            </a:r>
          </a:p>
          <a:p>
            <a:pPr lvl="2"/>
            <a:r>
              <a:rPr lang="en-US" altLang="en-US" dirty="0">
                <a:cs typeface="Times New Roman" panose="02020603050405020304" pitchFamily="18" charset="0"/>
              </a:rPr>
              <a:t>Positioning depends on the order in which widgets were added to the main window</a:t>
            </a:r>
          </a:p>
          <a:p>
            <a:pPr lvl="2"/>
            <a:r>
              <a:rPr lang="en-US" altLang="en-US" dirty="0">
                <a:cs typeface="Times New Roman" panose="02020603050405020304" pitchFamily="18" charset="0"/>
              </a:rPr>
              <a:t>Valid arguments: </a:t>
            </a:r>
            <a:r>
              <a:rPr lang="en-US" altLang="en-US" dirty="0">
                <a:latin typeface="Courier New" panose="02070309020205020404" pitchFamily="49" charset="0"/>
                <a:cs typeface="Courier New" panose="02070309020205020404" pitchFamily="49" charset="0"/>
              </a:rPr>
              <a:t>side='top', side='left', side='right'</a:t>
            </a:r>
            <a:endParaRPr lang="en-US"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26E491CF-208F-4014-B3E0-066FE30C39EA}"/>
              </a:ext>
            </a:extLst>
          </p:cNvPr>
          <p:cNvSpPr>
            <a:spLocks noGrp="1" noChangeArrowheads="1"/>
          </p:cNvSpPr>
          <p:nvPr>
            <p:ph type="title"/>
          </p:nvPr>
        </p:nvSpPr>
        <p:spPr/>
        <p:txBody>
          <a:bodyPr/>
          <a:lstStyle/>
          <a:p>
            <a:r>
              <a:rPr lang="en-US" altLang="en-US" dirty="0"/>
              <a:t>Example</a:t>
            </a:r>
            <a:r>
              <a:rPr lang="en-AU" sz="2000" b="0" dirty="0"/>
              <a:t> (2 of 6)</a:t>
            </a:r>
            <a:endParaRPr lang="en-US" altLang="en-US" sz="2000" dirty="0"/>
          </a:p>
        </p:txBody>
      </p:sp>
      <p:sp>
        <p:nvSpPr>
          <p:cNvPr id="15363" name="TextBox 1">
            <a:extLst>
              <a:ext uri="{FF2B5EF4-FFF2-40B4-BE49-F238E27FC236}">
                <a16:creationId xmlns:a16="http://schemas.microsoft.com/office/drawing/2014/main" id="{6C73F77C-63DF-47A0-AD57-20EBCE6848D7}"/>
              </a:ext>
            </a:extLst>
          </p:cNvPr>
          <p:cNvSpPr txBox="1">
            <a:spLocks noChangeArrowheads="1"/>
          </p:cNvSpPr>
          <p:nvPr/>
        </p:nvSpPr>
        <p:spPr bwMode="auto">
          <a:xfrm>
            <a:off x="425450" y="2047875"/>
            <a:ext cx="673735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800" b="0" dirty="0" err="1">
                <a:latin typeface="Courier New" panose="02070309020205020404" pitchFamily="49" charset="0"/>
                <a:cs typeface="Courier New" panose="02070309020205020404" pitchFamily="49" charset="0"/>
              </a:rPr>
              <a:t>self.label</a:t>
            </a:r>
            <a:r>
              <a:rPr lang="en-US" altLang="en-US" sz="1800" b="0" dirty="0">
                <a:latin typeface="Courier New" panose="02070309020205020404" pitchFamily="49" charset="0"/>
                <a:cs typeface="Courier New" panose="02070309020205020404" pitchFamily="49" charset="0"/>
              </a:rPr>
              <a:t> = </a:t>
            </a:r>
            <a:r>
              <a:rPr lang="en-US" altLang="en-US" sz="1800" b="0" dirty="0" err="1">
                <a:latin typeface="Courier New" panose="02070309020205020404" pitchFamily="49" charset="0"/>
                <a:cs typeface="Courier New" panose="02070309020205020404" pitchFamily="49" charset="0"/>
              </a:rPr>
              <a:t>tkinter.Label</a:t>
            </a:r>
            <a:r>
              <a:rPr lang="en-US" altLang="en-US" sz="1800" b="0" dirty="0">
                <a:latin typeface="Courier New" panose="02070309020205020404" pitchFamily="49" charset="0"/>
                <a:cs typeface="Courier New" panose="02070309020205020404" pitchFamily="49" charset="0"/>
              </a:rPr>
              <a:t>(</a:t>
            </a:r>
            <a:r>
              <a:rPr lang="en-US" altLang="en-US" sz="1800" b="0" dirty="0" err="1">
                <a:latin typeface="Courier New" panose="02070309020205020404" pitchFamily="49" charset="0"/>
                <a:cs typeface="Courier New" panose="02070309020205020404" pitchFamily="49" charset="0"/>
              </a:rPr>
              <a:t>self.main_window</a:t>
            </a:r>
            <a:r>
              <a:rPr lang="en-US" altLang="en-US" sz="1800" b="0" dirty="0">
                <a:latin typeface="Courier New" panose="02070309020205020404" pitchFamily="49" charset="0"/>
                <a:cs typeface="Courier New" panose="02070309020205020404" pitchFamily="49" charset="0"/>
              </a:rPr>
              <a:t>,</a:t>
            </a:r>
          </a:p>
          <a:p>
            <a:pPr>
              <a:spcBef>
                <a:spcPct val="0"/>
              </a:spcBef>
              <a:buFontTx/>
              <a:buNone/>
            </a:pPr>
            <a:r>
              <a:rPr lang="en-US" altLang="en-US" sz="1800" b="0" dirty="0">
                <a:latin typeface="Courier New" panose="02070309020205020404" pitchFamily="49" charset="0"/>
                <a:cs typeface="Courier New" panose="02070309020205020404" pitchFamily="49" charset="0"/>
              </a:rPr>
              <a:t>                           text='Hello World!')</a:t>
            </a:r>
          </a:p>
          <a:p>
            <a:pPr>
              <a:spcBef>
                <a:spcPct val="0"/>
              </a:spcBef>
              <a:buFontTx/>
              <a:buNone/>
            </a:pPr>
            <a:r>
              <a:rPr lang="en-US" altLang="en-US" sz="1800" b="0" dirty="0" err="1">
                <a:latin typeface="Courier New" panose="02070309020205020404" pitchFamily="49" charset="0"/>
                <a:cs typeface="Courier New" panose="02070309020205020404" pitchFamily="49" charset="0"/>
              </a:rPr>
              <a:t>self.label.pack</a:t>
            </a:r>
            <a:r>
              <a:rPr lang="en-US" altLang="en-US" sz="1800" b="0" dirty="0">
                <a:latin typeface="Courier New" panose="02070309020205020404" pitchFamily="49" charset="0"/>
                <a:cs typeface="Courier New" panose="02070309020205020404" pitchFamily="49" charset="0"/>
              </a:rPr>
              <a:t>()</a:t>
            </a:r>
          </a:p>
        </p:txBody>
      </p:sp>
      <p:pic>
        <p:nvPicPr>
          <p:cNvPr id="15364" name="Picture 3" descr="A window displays the label widget, hello world. ">
            <a:extLst>
              <a:ext uri="{FF2B5EF4-FFF2-40B4-BE49-F238E27FC236}">
                <a16:creationId xmlns:a16="http://schemas.microsoft.com/office/drawing/2014/main" id="{C1A5A0EC-E5D7-4F76-A39C-C67B7284F3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3048000" y="3429040"/>
            <a:ext cx="2349500" cy="10206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93C1419E-8806-48F9-87AA-F61648EFC9EE}"/>
              </a:ext>
            </a:extLst>
          </p:cNvPr>
          <p:cNvSpPr>
            <a:spLocks noGrp="1" noChangeArrowheads="1"/>
          </p:cNvSpPr>
          <p:nvPr>
            <p:ph type="title"/>
          </p:nvPr>
        </p:nvSpPr>
        <p:spPr/>
        <p:txBody>
          <a:bodyPr/>
          <a:lstStyle/>
          <a:p>
            <a:r>
              <a:rPr lang="en-US" altLang="en-US" dirty="0"/>
              <a:t>Example</a:t>
            </a:r>
            <a:r>
              <a:rPr lang="en-AU" sz="2000" b="0" dirty="0"/>
              <a:t> (3 of 6)</a:t>
            </a:r>
            <a:endParaRPr lang="en-US" altLang="en-US" sz="2000" dirty="0"/>
          </a:p>
        </p:txBody>
      </p:sp>
      <p:sp>
        <p:nvSpPr>
          <p:cNvPr id="16387" name="TextBox 1">
            <a:extLst>
              <a:ext uri="{FF2B5EF4-FFF2-40B4-BE49-F238E27FC236}">
                <a16:creationId xmlns:a16="http://schemas.microsoft.com/office/drawing/2014/main" id="{F4B1C0F3-5649-4477-A41F-922EBE55B6CC}"/>
              </a:ext>
            </a:extLst>
          </p:cNvPr>
          <p:cNvSpPr txBox="1">
            <a:spLocks noChangeArrowheads="1"/>
          </p:cNvSpPr>
          <p:nvPr/>
        </p:nvSpPr>
        <p:spPr bwMode="auto">
          <a:xfrm>
            <a:off x="444640" y="2057400"/>
            <a:ext cx="8242160"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800" b="0" dirty="0">
                <a:latin typeface="Courier New" panose="02070309020205020404" pitchFamily="49" charset="0"/>
                <a:cs typeface="Courier New" panose="02070309020205020404" pitchFamily="49" charset="0"/>
              </a:rPr>
              <a:t>self.label1 = </a:t>
            </a:r>
            <a:r>
              <a:rPr lang="en-US" altLang="en-US" sz="1800" b="0" dirty="0" err="1">
                <a:latin typeface="Courier New" panose="02070309020205020404" pitchFamily="49" charset="0"/>
                <a:cs typeface="Courier New" panose="02070309020205020404" pitchFamily="49" charset="0"/>
              </a:rPr>
              <a:t>tkinter.Label</a:t>
            </a:r>
            <a:r>
              <a:rPr lang="en-US" altLang="en-US" sz="1800" b="0" dirty="0">
                <a:latin typeface="Courier New" panose="02070309020205020404" pitchFamily="49" charset="0"/>
                <a:cs typeface="Courier New" panose="02070309020205020404" pitchFamily="49" charset="0"/>
              </a:rPr>
              <a:t>(</a:t>
            </a:r>
            <a:r>
              <a:rPr lang="en-US" altLang="en-US" sz="1800" b="0" dirty="0" err="1">
                <a:latin typeface="Courier New" panose="02070309020205020404" pitchFamily="49" charset="0"/>
                <a:cs typeface="Courier New" panose="02070309020205020404" pitchFamily="49" charset="0"/>
              </a:rPr>
              <a:t>self.main_window</a:t>
            </a:r>
            <a:r>
              <a:rPr lang="en-US" altLang="en-US" sz="1800" b="0" dirty="0">
                <a:latin typeface="Courier New" panose="02070309020205020404" pitchFamily="49" charset="0"/>
                <a:cs typeface="Courier New" panose="02070309020205020404" pitchFamily="49" charset="0"/>
              </a:rPr>
              <a:t>,</a:t>
            </a:r>
          </a:p>
          <a:p>
            <a:pPr>
              <a:spcBef>
                <a:spcPct val="0"/>
              </a:spcBef>
              <a:buFontTx/>
              <a:buNone/>
            </a:pPr>
            <a:r>
              <a:rPr lang="en-US" altLang="en-US" sz="1800" b="0" dirty="0">
                <a:latin typeface="Courier New" panose="02070309020205020404" pitchFamily="49" charset="0"/>
                <a:cs typeface="Courier New" panose="02070309020205020404" pitchFamily="49" charset="0"/>
              </a:rPr>
              <a:t>                            text='Hello World!')</a:t>
            </a:r>
          </a:p>
          <a:p>
            <a:pPr>
              <a:spcBef>
                <a:spcPct val="0"/>
              </a:spcBef>
              <a:buFontTx/>
              <a:buNone/>
            </a:pPr>
            <a:r>
              <a:rPr lang="en-US" altLang="en-US" sz="1800" b="0" dirty="0">
                <a:latin typeface="Courier New" panose="02070309020205020404" pitchFamily="49" charset="0"/>
                <a:cs typeface="Courier New" panose="02070309020205020404" pitchFamily="49" charset="0"/>
              </a:rPr>
              <a:t>self.label2 = </a:t>
            </a:r>
            <a:r>
              <a:rPr lang="en-US" altLang="en-US" sz="1800" b="0" dirty="0" err="1">
                <a:latin typeface="Courier New" panose="02070309020205020404" pitchFamily="49" charset="0"/>
                <a:cs typeface="Courier New" panose="02070309020205020404" pitchFamily="49" charset="0"/>
              </a:rPr>
              <a:t>tkinter.Label</a:t>
            </a:r>
            <a:r>
              <a:rPr lang="en-US" altLang="en-US" sz="1800" b="0" dirty="0">
                <a:latin typeface="Courier New" panose="02070309020205020404" pitchFamily="49" charset="0"/>
                <a:cs typeface="Courier New" panose="02070309020205020404" pitchFamily="49" charset="0"/>
              </a:rPr>
              <a:t>(</a:t>
            </a:r>
            <a:r>
              <a:rPr lang="en-US" altLang="en-US" sz="1800" b="0" dirty="0" err="1">
                <a:latin typeface="Courier New" panose="02070309020205020404" pitchFamily="49" charset="0"/>
                <a:cs typeface="Courier New" panose="02070309020205020404" pitchFamily="49" charset="0"/>
              </a:rPr>
              <a:t>self.main_window</a:t>
            </a:r>
            <a:r>
              <a:rPr lang="en-US" altLang="en-US" sz="1800" b="0" dirty="0">
                <a:latin typeface="Courier New" panose="02070309020205020404" pitchFamily="49" charset="0"/>
                <a:cs typeface="Courier New" panose="02070309020205020404" pitchFamily="49" charset="0"/>
              </a:rPr>
              <a:t>,</a:t>
            </a:r>
          </a:p>
          <a:p>
            <a:pPr>
              <a:spcBef>
                <a:spcPct val="0"/>
              </a:spcBef>
              <a:buFontTx/>
              <a:buNone/>
            </a:pPr>
            <a:r>
              <a:rPr lang="en-US" altLang="en-US" sz="1800" b="0" dirty="0">
                <a:latin typeface="Courier New" panose="02070309020205020404" pitchFamily="49" charset="0"/>
                <a:cs typeface="Courier New" panose="02070309020205020404" pitchFamily="49" charset="0"/>
              </a:rPr>
              <a:t>                            text='This is my GUI program.')</a:t>
            </a:r>
          </a:p>
          <a:p>
            <a:pPr>
              <a:spcBef>
                <a:spcPct val="0"/>
              </a:spcBef>
              <a:buFontTx/>
              <a:buNone/>
            </a:pPr>
            <a:r>
              <a:rPr lang="en-US" altLang="en-US" sz="1800" b="0" dirty="0" err="1">
                <a:latin typeface="Courier New" panose="02070309020205020404" pitchFamily="49" charset="0"/>
                <a:cs typeface="Courier New" panose="02070309020205020404" pitchFamily="49" charset="0"/>
              </a:rPr>
              <a:t>self.label.pack</a:t>
            </a:r>
            <a:r>
              <a:rPr lang="en-US" altLang="en-US" sz="1800" b="0" dirty="0">
                <a:latin typeface="Courier New" panose="02070309020205020404" pitchFamily="49" charset="0"/>
                <a:cs typeface="Courier New" panose="02070309020205020404" pitchFamily="49" charset="0"/>
              </a:rPr>
              <a:t>()</a:t>
            </a:r>
          </a:p>
        </p:txBody>
      </p:sp>
      <p:pic>
        <p:nvPicPr>
          <p:cNvPr id="16388" name="Picture 4" descr="A window displays the two label widgets, hello world, and this is my G U I program. ">
            <a:extLst>
              <a:ext uri="{FF2B5EF4-FFF2-40B4-BE49-F238E27FC236}">
                <a16:creationId xmlns:a16="http://schemas.microsoft.com/office/drawing/2014/main" id="{3F03CCFA-DDED-425F-8917-BE8636BC78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3124576" y="3962400"/>
            <a:ext cx="2348747" cy="1287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63E89A5E-4FF0-47EC-91ED-1FA4B740CA66}"/>
              </a:ext>
            </a:extLst>
          </p:cNvPr>
          <p:cNvSpPr>
            <a:spLocks noGrp="1" noChangeArrowheads="1"/>
          </p:cNvSpPr>
          <p:nvPr>
            <p:ph type="title"/>
          </p:nvPr>
        </p:nvSpPr>
        <p:spPr/>
        <p:txBody>
          <a:bodyPr/>
          <a:lstStyle/>
          <a:p>
            <a:r>
              <a:rPr lang="en-US" altLang="en-US" dirty="0"/>
              <a:t>Example</a:t>
            </a:r>
            <a:r>
              <a:rPr lang="en-AU" sz="2000" b="0" dirty="0"/>
              <a:t> (4 of 6)</a:t>
            </a:r>
            <a:endParaRPr lang="en-US" altLang="en-US" sz="2000" dirty="0"/>
          </a:p>
        </p:txBody>
      </p:sp>
      <p:sp>
        <p:nvSpPr>
          <p:cNvPr id="17411" name="TextBox 1">
            <a:extLst>
              <a:ext uri="{FF2B5EF4-FFF2-40B4-BE49-F238E27FC236}">
                <a16:creationId xmlns:a16="http://schemas.microsoft.com/office/drawing/2014/main" id="{9C6F1176-76D8-4B2C-A493-118D437CFBB8}"/>
              </a:ext>
            </a:extLst>
          </p:cNvPr>
          <p:cNvSpPr txBox="1">
            <a:spLocks noChangeArrowheads="1"/>
          </p:cNvSpPr>
          <p:nvPr/>
        </p:nvSpPr>
        <p:spPr bwMode="auto">
          <a:xfrm>
            <a:off x="457200" y="2047875"/>
            <a:ext cx="8305800"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800" b="0" dirty="0">
                <a:latin typeface="Courier New" panose="02070309020205020404" pitchFamily="49" charset="0"/>
                <a:cs typeface="Courier New" panose="02070309020205020404" pitchFamily="49" charset="0"/>
              </a:rPr>
              <a:t>self.label1 = </a:t>
            </a:r>
            <a:r>
              <a:rPr lang="en-US" altLang="en-US" sz="1800" b="0" dirty="0" err="1">
                <a:latin typeface="Courier New" panose="02070309020205020404" pitchFamily="49" charset="0"/>
                <a:cs typeface="Courier New" panose="02070309020205020404" pitchFamily="49" charset="0"/>
              </a:rPr>
              <a:t>tkinter.Label</a:t>
            </a:r>
            <a:r>
              <a:rPr lang="en-US" altLang="en-US" sz="1800" b="0" dirty="0">
                <a:latin typeface="Courier New" panose="02070309020205020404" pitchFamily="49" charset="0"/>
                <a:cs typeface="Courier New" panose="02070309020205020404" pitchFamily="49" charset="0"/>
              </a:rPr>
              <a:t>(</a:t>
            </a:r>
            <a:r>
              <a:rPr lang="en-US" altLang="en-US" sz="1800" b="0" dirty="0" err="1">
                <a:latin typeface="Courier New" panose="02070309020205020404" pitchFamily="49" charset="0"/>
                <a:cs typeface="Courier New" panose="02070309020205020404" pitchFamily="49" charset="0"/>
              </a:rPr>
              <a:t>self.main_window</a:t>
            </a:r>
            <a:r>
              <a:rPr lang="en-US" altLang="en-US" sz="1800" b="0" dirty="0">
                <a:latin typeface="Courier New" panose="02070309020205020404" pitchFamily="49" charset="0"/>
                <a:cs typeface="Courier New" panose="02070309020205020404" pitchFamily="49" charset="0"/>
              </a:rPr>
              <a:t>,</a:t>
            </a:r>
          </a:p>
          <a:p>
            <a:pPr>
              <a:spcBef>
                <a:spcPct val="0"/>
              </a:spcBef>
              <a:buFontTx/>
              <a:buNone/>
            </a:pPr>
            <a:r>
              <a:rPr lang="en-US" altLang="en-US" sz="1800" b="0" dirty="0">
                <a:latin typeface="Courier New" panose="02070309020205020404" pitchFamily="49" charset="0"/>
                <a:cs typeface="Courier New" panose="02070309020205020404" pitchFamily="49" charset="0"/>
              </a:rPr>
              <a:t>                            text='Hello World!')</a:t>
            </a:r>
          </a:p>
          <a:p>
            <a:pPr>
              <a:spcBef>
                <a:spcPct val="0"/>
              </a:spcBef>
              <a:buFontTx/>
              <a:buNone/>
            </a:pPr>
            <a:r>
              <a:rPr lang="en-US" altLang="en-US" sz="1800" b="0" dirty="0">
                <a:latin typeface="Courier New" panose="02070309020205020404" pitchFamily="49" charset="0"/>
                <a:cs typeface="Courier New" panose="02070309020205020404" pitchFamily="49" charset="0"/>
              </a:rPr>
              <a:t>self.label2 = </a:t>
            </a:r>
            <a:r>
              <a:rPr lang="en-US" altLang="en-US" sz="1800" b="0" dirty="0" err="1">
                <a:latin typeface="Courier New" panose="02070309020205020404" pitchFamily="49" charset="0"/>
                <a:cs typeface="Courier New" panose="02070309020205020404" pitchFamily="49" charset="0"/>
              </a:rPr>
              <a:t>tkinter.Label</a:t>
            </a:r>
            <a:r>
              <a:rPr lang="en-US" altLang="en-US" sz="1800" b="0" dirty="0">
                <a:latin typeface="Courier New" panose="02070309020205020404" pitchFamily="49" charset="0"/>
                <a:cs typeface="Courier New" panose="02070309020205020404" pitchFamily="49" charset="0"/>
              </a:rPr>
              <a:t>(</a:t>
            </a:r>
            <a:r>
              <a:rPr lang="en-US" altLang="en-US" sz="1800" b="0" dirty="0" err="1">
                <a:latin typeface="Courier New" panose="02070309020205020404" pitchFamily="49" charset="0"/>
                <a:cs typeface="Courier New" panose="02070309020205020404" pitchFamily="49" charset="0"/>
              </a:rPr>
              <a:t>self.main_window</a:t>
            </a:r>
            <a:r>
              <a:rPr lang="en-US" altLang="en-US" sz="1800" b="0" dirty="0">
                <a:latin typeface="Courier New" panose="02070309020205020404" pitchFamily="49" charset="0"/>
                <a:cs typeface="Courier New" panose="02070309020205020404" pitchFamily="49" charset="0"/>
              </a:rPr>
              <a:t>,</a:t>
            </a:r>
          </a:p>
          <a:p>
            <a:pPr>
              <a:spcBef>
                <a:spcPct val="0"/>
              </a:spcBef>
              <a:buFontTx/>
              <a:buNone/>
            </a:pPr>
            <a:r>
              <a:rPr lang="en-US" altLang="en-US" sz="1800" b="0" dirty="0">
                <a:latin typeface="Courier New" panose="02070309020205020404" pitchFamily="49" charset="0"/>
                <a:cs typeface="Courier New" panose="02070309020205020404" pitchFamily="49" charset="0"/>
              </a:rPr>
              <a:t>                            text='This is my GUI program.')</a:t>
            </a:r>
          </a:p>
          <a:p>
            <a:pPr>
              <a:spcBef>
                <a:spcPct val="0"/>
              </a:spcBef>
              <a:buFontTx/>
              <a:buNone/>
            </a:pPr>
            <a:r>
              <a:rPr lang="en-US" altLang="en-US" sz="1800" b="0" dirty="0">
                <a:latin typeface="Courier New" panose="02070309020205020404" pitchFamily="49" charset="0"/>
                <a:cs typeface="Courier New" panose="02070309020205020404" pitchFamily="49" charset="0"/>
              </a:rPr>
              <a:t>self.label1.pack(side='left')</a:t>
            </a:r>
          </a:p>
          <a:p>
            <a:pPr>
              <a:spcBef>
                <a:spcPct val="0"/>
              </a:spcBef>
              <a:buFontTx/>
              <a:buNone/>
            </a:pPr>
            <a:r>
              <a:rPr lang="en-US" altLang="en-US" sz="1800" b="0" dirty="0">
                <a:latin typeface="Courier New" panose="02070309020205020404" pitchFamily="49" charset="0"/>
                <a:cs typeface="Courier New" panose="02070309020205020404" pitchFamily="49" charset="0"/>
              </a:rPr>
              <a:t>self.label2.pack(side='left')</a:t>
            </a:r>
          </a:p>
        </p:txBody>
      </p:sp>
      <p:pic>
        <p:nvPicPr>
          <p:cNvPr id="17412" name="Picture 3" descr="A window displays the two label widgets, hello world, and this is my G U I program. ">
            <a:extLst>
              <a:ext uri="{FF2B5EF4-FFF2-40B4-BE49-F238E27FC236}">
                <a16:creationId xmlns:a16="http://schemas.microsoft.com/office/drawing/2014/main" id="{28E0B17B-B390-46DB-B054-CEA3C1D468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2489200" y="4191122"/>
            <a:ext cx="4165600" cy="1066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2218EA31-4D2F-4905-B634-01073F5754CB}"/>
              </a:ext>
            </a:extLst>
          </p:cNvPr>
          <p:cNvSpPr>
            <a:spLocks noGrp="1" noChangeArrowheads="1"/>
          </p:cNvSpPr>
          <p:nvPr>
            <p:ph type="title"/>
          </p:nvPr>
        </p:nvSpPr>
        <p:spPr/>
        <p:txBody>
          <a:bodyPr/>
          <a:lstStyle/>
          <a:p>
            <a:r>
              <a:rPr lang="en-US" altLang="en-US" dirty="0"/>
              <a:t>Adding Borders to Labels</a:t>
            </a:r>
          </a:p>
        </p:txBody>
      </p:sp>
      <p:sp>
        <p:nvSpPr>
          <p:cNvPr id="18435" name="Content Placeholder 2">
            <a:extLst>
              <a:ext uri="{FF2B5EF4-FFF2-40B4-BE49-F238E27FC236}">
                <a16:creationId xmlns:a16="http://schemas.microsoft.com/office/drawing/2014/main" id="{6754CCE6-8567-4651-9B2A-AC80F0F03893}"/>
              </a:ext>
            </a:extLst>
          </p:cNvPr>
          <p:cNvSpPr>
            <a:spLocks noGrp="1" noChangeArrowheads="1"/>
          </p:cNvSpPr>
          <p:nvPr>
            <p:ph idx="1"/>
          </p:nvPr>
        </p:nvSpPr>
        <p:spPr/>
        <p:txBody>
          <a:bodyPr/>
          <a:lstStyle/>
          <a:p>
            <a:pPr>
              <a:buFontTx/>
              <a:buChar char="•"/>
            </a:pPr>
            <a:r>
              <a:rPr lang="en-US" altLang="en-US" dirty="0"/>
              <a:t>When creating a </a:t>
            </a:r>
            <a:r>
              <a:rPr lang="en-US" altLang="en-US" dirty="0">
                <a:latin typeface="Courier New" panose="02070309020205020404" pitchFamily="49" charset="0"/>
                <a:cs typeface="Courier New" panose="02070309020205020404" pitchFamily="49" charset="0"/>
              </a:rPr>
              <a:t>Label</a:t>
            </a:r>
            <a:r>
              <a:rPr lang="en-US" altLang="en-US" dirty="0"/>
              <a:t> widget, you can use the </a:t>
            </a:r>
            <a:r>
              <a:rPr lang="en-US" altLang="en-US" dirty="0" err="1">
                <a:latin typeface="Courier New" panose="02070309020205020404" pitchFamily="49" charset="0"/>
                <a:cs typeface="Courier New" panose="02070309020205020404" pitchFamily="49" charset="0"/>
              </a:rPr>
              <a:t>borderwidth</a:t>
            </a:r>
            <a:r>
              <a:rPr lang="en-US" altLang="en-US" dirty="0"/>
              <a:t> and </a:t>
            </a:r>
            <a:r>
              <a:rPr lang="en-US" altLang="en-US" dirty="0">
                <a:latin typeface="Courier New" panose="02070309020205020404" pitchFamily="49" charset="0"/>
                <a:cs typeface="Courier New" panose="02070309020205020404" pitchFamily="49" charset="0"/>
              </a:rPr>
              <a:t>relief</a:t>
            </a:r>
            <a:r>
              <a:rPr lang="en-US" altLang="en-US" dirty="0"/>
              <a:t> arguments to display a border around the label</a:t>
            </a:r>
            <a:endParaRPr lang="en-US" altLang="en-US" sz="2800" dirty="0"/>
          </a:p>
          <a:p>
            <a:pPr>
              <a:buFontTx/>
              <a:buChar char="•"/>
            </a:pPr>
            <a:r>
              <a:rPr lang="en-US" altLang="en-US" dirty="0"/>
              <a:t>The </a:t>
            </a:r>
            <a:r>
              <a:rPr lang="en-US" altLang="en-US" dirty="0" err="1">
                <a:latin typeface="Courier New" panose="02070309020205020404" pitchFamily="49" charset="0"/>
                <a:cs typeface="Courier New" panose="02070309020205020404" pitchFamily="49" charset="0"/>
              </a:rPr>
              <a:t>borderwidth</a:t>
            </a:r>
            <a:r>
              <a:rPr lang="en-US" altLang="en-US" dirty="0"/>
              <a:t> argument specifies the width of the border, in pixels</a:t>
            </a:r>
          </a:p>
          <a:p>
            <a:pPr>
              <a:buFontTx/>
              <a:buChar char="•"/>
            </a:pPr>
            <a:r>
              <a:rPr lang="en-US" altLang="en-US" dirty="0"/>
              <a:t>The </a:t>
            </a:r>
            <a:r>
              <a:rPr lang="en-US" altLang="en-US" dirty="0">
                <a:latin typeface="Courier New" panose="02070309020205020404" pitchFamily="49" charset="0"/>
                <a:cs typeface="Courier New" panose="02070309020205020404" pitchFamily="49" charset="0"/>
              </a:rPr>
              <a:t>relief</a:t>
            </a:r>
            <a:r>
              <a:rPr lang="en-US" altLang="en-US" dirty="0"/>
              <a:t> argument specifies the border style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7A7794AB-17AA-4B8B-A7DC-3C8081712C39}"/>
              </a:ext>
            </a:extLst>
          </p:cNvPr>
          <p:cNvSpPr>
            <a:spLocks noGrp="1" noChangeArrowheads="1"/>
          </p:cNvSpPr>
          <p:nvPr>
            <p:ph type="title"/>
          </p:nvPr>
        </p:nvSpPr>
        <p:spPr/>
        <p:txBody>
          <a:bodyPr/>
          <a:lstStyle/>
          <a:p>
            <a:r>
              <a:rPr lang="en-US" altLang="en-US" dirty="0"/>
              <a:t>Example</a:t>
            </a:r>
            <a:r>
              <a:rPr lang="en-AU" sz="2000" b="0" dirty="0"/>
              <a:t> (5 of 6)</a:t>
            </a:r>
            <a:endParaRPr lang="en-US" altLang="en-US" sz="2000" dirty="0"/>
          </a:p>
        </p:txBody>
      </p:sp>
      <p:sp>
        <p:nvSpPr>
          <p:cNvPr id="19459" name="TextBox 1">
            <a:extLst>
              <a:ext uri="{FF2B5EF4-FFF2-40B4-BE49-F238E27FC236}">
                <a16:creationId xmlns:a16="http://schemas.microsoft.com/office/drawing/2014/main" id="{09EB0DF4-9167-4D6E-830E-8D556D9B3DD5}"/>
              </a:ext>
            </a:extLst>
          </p:cNvPr>
          <p:cNvSpPr txBox="1">
            <a:spLocks noChangeArrowheads="1"/>
          </p:cNvSpPr>
          <p:nvPr/>
        </p:nvSpPr>
        <p:spPr bwMode="auto">
          <a:xfrm>
            <a:off x="425450" y="2047875"/>
            <a:ext cx="673735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800" b="0" dirty="0" err="1">
                <a:latin typeface="Courier New" panose="02070309020205020404" pitchFamily="49" charset="0"/>
                <a:cs typeface="Courier New" panose="02070309020205020404" pitchFamily="49" charset="0"/>
              </a:rPr>
              <a:t>self.label</a:t>
            </a:r>
            <a:r>
              <a:rPr lang="en-US" altLang="en-US" sz="1800" b="0" dirty="0">
                <a:latin typeface="Courier New" panose="02070309020205020404" pitchFamily="49" charset="0"/>
                <a:cs typeface="Courier New" panose="02070309020205020404" pitchFamily="49" charset="0"/>
              </a:rPr>
              <a:t> = </a:t>
            </a:r>
            <a:r>
              <a:rPr lang="en-US" altLang="en-US" sz="1800" b="0" dirty="0" err="1">
                <a:latin typeface="Courier New" panose="02070309020205020404" pitchFamily="49" charset="0"/>
                <a:cs typeface="Courier New" panose="02070309020205020404" pitchFamily="49" charset="0"/>
              </a:rPr>
              <a:t>tkinter.Label</a:t>
            </a:r>
            <a:r>
              <a:rPr lang="en-US" altLang="en-US" sz="1800" b="0" dirty="0">
                <a:latin typeface="Courier New" panose="02070309020205020404" pitchFamily="49" charset="0"/>
                <a:cs typeface="Courier New" panose="02070309020205020404" pitchFamily="49" charset="0"/>
              </a:rPr>
              <a:t>(</a:t>
            </a:r>
            <a:r>
              <a:rPr lang="en-US" altLang="en-US" sz="1800" b="0" dirty="0" err="1">
                <a:latin typeface="Courier New" panose="02070309020205020404" pitchFamily="49" charset="0"/>
                <a:cs typeface="Courier New" panose="02070309020205020404" pitchFamily="49" charset="0"/>
              </a:rPr>
              <a:t>self.main_window</a:t>
            </a:r>
            <a:r>
              <a:rPr lang="en-US" altLang="en-US" sz="1800" b="0" dirty="0">
                <a:latin typeface="Courier New" panose="02070309020205020404" pitchFamily="49" charset="0"/>
                <a:cs typeface="Courier New" panose="02070309020205020404" pitchFamily="49" charset="0"/>
              </a:rPr>
              <a:t>,</a:t>
            </a:r>
          </a:p>
          <a:p>
            <a:pPr>
              <a:spcBef>
                <a:spcPct val="0"/>
              </a:spcBef>
              <a:buFontTx/>
              <a:buNone/>
            </a:pPr>
            <a:r>
              <a:rPr lang="en-US" altLang="en-US" sz="1800" b="0" dirty="0">
                <a:latin typeface="Courier New" panose="02070309020205020404" pitchFamily="49" charset="0"/>
                <a:cs typeface="Courier New" panose="02070309020205020404" pitchFamily="49" charset="0"/>
              </a:rPr>
              <a:t>                           text='Hello World',</a:t>
            </a:r>
          </a:p>
          <a:p>
            <a:pPr>
              <a:spcBef>
                <a:spcPct val="0"/>
              </a:spcBef>
              <a:buFontTx/>
              <a:buNone/>
            </a:pPr>
            <a:r>
              <a:rPr lang="en-US" altLang="en-US" sz="1800" b="0" dirty="0">
                <a:latin typeface="Courier New" panose="02070309020205020404" pitchFamily="49" charset="0"/>
                <a:cs typeface="Courier New" panose="02070309020205020404" pitchFamily="49" charset="0"/>
              </a:rPr>
              <a:t>                           </a:t>
            </a:r>
            <a:r>
              <a:rPr lang="en-US" altLang="en-US" sz="1800" b="0" dirty="0" err="1">
                <a:latin typeface="Courier New" panose="02070309020205020404" pitchFamily="49" charset="0"/>
                <a:cs typeface="Courier New" panose="02070309020205020404" pitchFamily="49" charset="0"/>
              </a:rPr>
              <a:t>borderwidth</a:t>
            </a:r>
            <a:r>
              <a:rPr lang="en-US" altLang="en-US" sz="1800" b="0" dirty="0">
                <a:latin typeface="Courier New" panose="02070309020205020404" pitchFamily="49" charset="0"/>
                <a:cs typeface="Courier New" panose="02070309020205020404" pitchFamily="49" charset="0"/>
              </a:rPr>
              <a:t>=1,</a:t>
            </a:r>
          </a:p>
          <a:p>
            <a:pPr>
              <a:spcBef>
                <a:spcPct val="0"/>
              </a:spcBef>
              <a:buFontTx/>
              <a:buNone/>
            </a:pPr>
            <a:r>
              <a:rPr lang="en-US" altLang="en-US" sz="1800" b="0" dirty="0">
                <a:latin typeface="Courier New" panose="02070309020205020404" pitchFamily="49" charset="0"/>
                <a:cs typeface="Courier New" panose="02070309020205020404" pitchFamily="49" charset="0"/>
              </a:rPr>
              <a:t>                           relief='solid'</a:t>
            </a:r>
          </a:p>
        </p:txBody>
      </p:sp>
      <p:pic>
        <p:nvPicPr>
          <p:cNvPr id="19460" name="Picture 4" descr="A label, Hello World inside a thin border. ">
            <a:extLst>
              <a:ext uri="{FF2B5EF4-FFF2-40B4-BE49-F238E27FC236}">
                <a16:creationId xmlns:a16="http://schemas.microsoft.com/office/drawing/2014/main" id="{8C900666-9A59-4570-8767-6AA6DB8F97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2828843" y="3849688"/>
            <a:ext cx="3486314" cy="144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3AA83039-CE59-4199-A90C-836C4DC3A4C2}"/>
              </a:ext>
            </a:extLst>
          </p:cNvPr>
          <p:cNvSpPr>
            <a:spLocks noGrp="1" noChangeArrowheads="1"/>
          </p:cNvSpPr>
          <p:nvPr>
            <p:ph type="title"/>
          </p:nvPr>
        </p:nvSpPr>
        <p:spPr/>
        <p:txBody>
          <a:bodyPr/>
          <a:lstStyle/>
          <a:p>
            <a:r>
              <a:rPr lang="en-US" altLang="en-US" dirty="0"/>
              <a:t>Example</a:t>
            </a:r>
            <a:r>
              <a:rPr lang="en-AU" sz="2000" b="0" dirty="0"/>
              <a:t> (6 of 6)</a:t>
            </a:r>
            <a:endParaRPr lang="en-US" altLang="en-US" sz="2000" dirty="0"/>
          </a:p>
        </p:txBody>
      </p:sp>
      <p:sp>
        <p:nvSpPr>
          <p:cNvPr id="20483" name="TextBox 1">
            <a:extLst>
              <a:ext uri="{FF2B5EF4-FFF2-40B4-BE49-F238E27FC236}">
                <a16:creationId xmlns:a16="http://schemas.microsoft.com/office/drawing/2014/main" id="{54CDAA56-26D6-4EE5-A497-F535AF046C9A}"/>
              </a:ext>
            </a:extLst>
          </p:cNvPr>
          <p:cNvSpPr txBox="1">
            <a:spLocks noChangeArrowheads="1"/>
          </p:cNvSpPr>
          <p:nvPr/>
        </p:nvSpPr>
        <p:spPr bwMode="auto">
          <a:xfrm>
            <a:off x="425450" y="2047875"/>
            <a:ext cx="673735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800" b="0" dirty="0" err="1">
                <a:latin typeface="Courier New" panose="02070309020205020404" pitchFamily="49" charset="0"/>
                <a:cs typeface="Courier New" panose="02070309020205020404" pitchFamily="49" charset="0"/>
              </a:rPr>
              <a:t>self.label</a:t>
            </a:r>
            <a:r>
              <a:rPr lang="en-US" altLang="en-US" sz="1800" b="0" dirty="0">
                <a:latin typeface="Courier New" panose="02070309020205020404" pitchFamily="49" charset="0"/>
                <a:cs typeface="Courier New" panose="02070309020205020404" pitchFamily="49" charset="0"/>
              </a:rPr>
              <a:t> = </a:t>
            </a:r>
            <a:r>
              <a:rPr lang="en-US" altLang="en-US" sz="1800" b="0" dirty="0" err="1">
                <a:latin typeface="Courier New" panose="02070309020205020404" pitchFamily="49" charset="0"/>
                <a:cs typeface="Courier New" panose="02070309020205020404" pitchFamily="49" charset="0"/>
              </a:rPr>
              <a:t>tkinter.Label</a:t>
            </a:r>
            <a:r>
              <a:rPr lang="en-US" altLang="en-US" sz="1800" b="0" dirty="0">
                <a:latin typeface="Courier New" panose="02070309020205020404" pitchFamily="49" charset="0"/>
                <a:cs typeface="Courier New" panose="02070309020205020404" pitchFamily="49" charset="0"/>
              </a:rPr>
              <a:t>(</a:t>
            </a:r>
            <a:r>
              <a:rPr lang="en-US" altLang="en-US" sz="1800" b="0" dirty="0" err="1">
                <a:latin typeface="Courier New" panose="02070309020205020404" pitchFamily="49" charset="0"/>
                <a:cs typeface="Courier New" panose="02070309020205020404" pitchFamily="49" charset="0"/>
              </a:rPr>
              <a:t>self.main_window</a:t>
            </a:r>
            <a:r>
              <a:rPr lang="en-US" altLang="en-US" sz="1800" b="0" dirty="0">
                <a:latin typeface="Courier New" panose="02070309020205020404" pitchFamily="49" charset="0"/>
                <a:cs typeface="Courier New" panose="02070309020205020404" pitchFamily="49" charset="0"/>
              </a:rPr>
              <a:t>,</a:t>
            </a:r>
          </a:p>
          <a:p>
            <a:pPr>
              <a:spcBef>
                <a:spcPct val="0"/>
              </a:spcBef>
              <a:buFontTx/>
              <a:buNone/>
            </a:pPr>
            <a:r>
              <a:rPr lang="en-US" altLang="en-US" sz="1800" b="0" dirty="0">
                <a:latin typeface="Courier New" panose="02070309020205020404" pitchFamily="49" charset="0"/>
                <a:cs typeface="Courier New" panose="02070309020205020404" pitchFamily="49" charset="0"/>
              </a:rPr>
              <a:t>                           text='Hello World',</a:t>
            </a:r>
          </a:p>
          <a:p>
            <a:pPr>
              <a:spcBef>
                <a:spcPct val="0"/>
              </a:spcBef>
              <a:buFontTx/>
              <a:buNone/>
            </a:pPr>
            <a:r>
              <a:rPr lang="en-US" altLang="en-US" sz="1800" b="0" dirty="0">
                <a:latin typeface="Courier New" panose="02070309020205020404" pitchFamily="49" charset="0"/>
                <a:cs typeface="Courier New" panose="02070309020205020404" pitchFamily="49" charset="0"/>
              </a:rPr>
              <a:t>                           </a:t>
            </a:r>
            <a:r>
              <a:rPr lang="en-US" altLang="en-US" sz="1800" b="0" dirty="0" err="1">
                <a:latin typeface="Courier New" panose="02070309020205020404" pitchFamily="49" charset="0"/>
                <a:cs typeface="Courier New" panose="02070309020205020404" pitchFamily="49" charset="0"/>
              </a:rPr>
              <a:t>borderwidth</a:t>
            </a:r>
            <a:r>
              <a:rPr lang="en-US" altLang="en-US" sz="1800" b="0" dirty="0">
                <a:latin typeface="Courier New" panose="02070309020205020404" pitchFamily="49" charset="0"/>
                <a:cs typeface="Courier New" panose="02070309020205020404" pitchFamily="49" charset="0"/>
              </a:rPr>
              <a:t>=4,</a:t>
            </a:r>
          </a:p>
          <a:p>
            <a:pPr>
              <a:spcBef>
                <a:spcPct val="0"/>
              </a:spcBef>
              <a:buFontTx/>
              <a:buNone/>
            </a:pPr>
            <a:r>
              <a:rPr lang="en-US" altLang="en-US" sz="1800" b="0" dirty="0">
                <a:latin typeface="Courier New" panose="02070309020205020404" pitchFamily="49" charset="0"/>
                <a:cs typeface="Courier New" panose="02070309020205020404" pitchFamily="49" charset="0"/>
              </a:rPr>
              <a:t>                           relief='solid'</a:t>
            </a:r>
          </a:p>
        </p:txBody>
      </p:sp>
      <p:pic>
        <p:nvPicPr>
          <p:cNvPr id="20484" name="Picture 5" descr="A label, Hello World inside a thick border. ">
            <a:extLst>
              <a:ext uri="{FF2B5EF4-FFF2-40B4-BE49-F238E27FC236}">
                <a16:creationId xmlns:a16="http://schemas.microsoft.com/office/drawing/2014/main" id="{388FC6EB-4A8B-4496-B4F0-510810E3C5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3040086" y="3962400"/>
            <a:ext cx="3063829" cy="144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8005CF10-13AB-4938-87B7-DE1770D58C07}"/>
              </a:ext>
            </a:extLst>
          </p:cNvPr>
          <p:cNvSpPr>
            <a:spLocks noGrp="1" noChangeArrowheads="1"/>
          </p:cNvSpPr>
          <p:nvPr>
            <p:ph type="title"/>
          </p:nvPr>
        </p:nvSpPr>
        <p:spPr/>
        <p:txBody>
          <a:bodyPr/>
          <a:lstStyle/>
          <a:p>
            <a:r>
              <a:rPr lang="en-US" altLang="en-US" dirty="0"/>
              <a:t>Values for </a:t>
            </a:r>
            <a:r>
              <a:rPr lang="en-US" altLang="en-US" dirty="0">
                <a:latin typeface="Courier New" panose="02070309020205020404" pitchFamily="49" charset="0"/>
                <a:cs typeface="Courier New" panose="02070309020205020404" pitchFamily="49" charset="0"/>
              </a:rPr>
              <a:t>relief</a:t>
            </a:r>
            <a:r>
              <a:rPr lang="en-US" altLang="en-US" dirty="0"/>
              <a:t> Argument</a:t>
            </a:r>
            <a:r>
              <a:rPr lang="en-AU" sz="2000" b="0" dirty="0"/>
              <a:t> (1 of 2)</a:t>
            </a:r>
            <a:endParaRPr lang="en-US" altLang="en-US" sz="2000" dirty="0"/>
          </a:p>
        </p:txBody>
      </p:sp>
      <p:graphicFrame>
        <p:nvGraphicFramePr>
          <p:cNvPr id="3" name="Table 2">
            <a:extLst>
              <a:ext uri="{FF2B5EF4-FFF2-40B4-BE49-F238E27FC236}">
                <a16:creationId xmlns:a16="http://schemas.microsoft.com/office/drawing/2014/main" id="{25275C33-8799-4F5A-857A-CD463053F23C}"/>
              </a:ext>
            </a:extLst>
          </p:cNvPr>
          <p:cNvGraphicFramePr>
            <a:graphicFrameLocks noGrp="1"/>
          </p:cNvGraphicFramePr>
          <p:nvPr>
            <p:extLst>
              <p:ext uri="{D42A27DB-BD31-4B8C-83A1-F6EECF244321}">
                <p14:modId xmlns:p14="http://schemas.microsoft.com/office/powerpoint/2010/main" val="2601525834"/>
              </p:ext>
            </p:extLst>
          </p:nvPr>
        </p:nvGraphicFramePr>
        <p:xfrm>
          <a:off x="1028700" y="2052638"/>
          <a:ext cx="7086600" cy="2447923"/>
        </p:xfrm>
        <a:graphic>
          <a:graphicData uri="http://schemas.openxmlformats.org/drawingml/2006/table">
            <a:tbl>
              <a:tblPr firstRow="1" firstCol="1" bandRow="1">
                <a:tableStyleId>{5C22544A-7EE6-4342-B048-85BDC9FD1C3A}</a:tableStyleId>
              </a:tblPr>
              <a:tblGrid>
                <a:gridCol w="2133600">
                  <a:extLst>
                    <a:ext uri="{9D8B030D-6E8A-4147-A177-3AD203B41FA5}">
                      <a16:colId xmlns:a16="http://schemas.microsoft.com/office/drawing/2014/main" val="20000"/>
                    </a:ext>
                  </a:extLst>
                </a:gridCol>
                <a:gridCol w="4953000">
                  <a:extLst>
                    <a:ext uri="{9D8B030D-6E8A-4147-A177-3AD203B41FA5}">
                      <a16:colId xmlns:a16="http://schemas.microsoft.com/office/drawing/2014/main" val="20001"/>
                    </a:ext>
                  </a:extLst>
                </a:gridCol>
              </a:tblGrid>
              <a:tr h="326680">
                <a:tc>
                  <a:txBody>
                    <a:bodyPr/>
                    <a:lstStyle/>
                    <a:p>
                      <a:pPr marL="0" marR="0">
                        <a:spcBef>
                          <a:spcPts val="0"/>
                        </a:spcBef>
                        <a:spcAft>
                          <a:spcPts val="0"/>
                        </a:spcAft>
                      </a:pPr>
                      <a:r>
                        <a:rPr lang="en-US" sz="1600" dirty="0">
                          <a:effectLst/>
                          <a:latin typeface="Courier New" panose="02070309020205020404" pitchFamily="49" charset="0"/>
                          <a:cs typeface="Courier New" panose="02070309020205020404" pitchFamily="49" charset="0"/>
                        </a:rPr>
                        <a:t>relief</a:t>
                      </a:r>
                      <a:r>
                        <a:rPr lang="en-US" sz="1600" dirty="0">
                          <a:effectLst/>
                        </a:rPr>
                        <a:t> Argument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B w="6350" cap="flat" cmpd="sng" algn="ctr">
                      <a:solidFill>
                        <a:schemeClr val="tx1"/>
                      </a:solidFill>
                      <a:prstDash val="solid"/>
                      <a:round/>
                      <a:headEnd type="none" w="med" len="med"/>
                      <a:tailEnd type="none" w="med" len="med"/>
                    </a:lnB>
                    <a:solidFill>
                      <a:schemeClr val="accent2"/>
                    </a:solidFill>
                  </a:tcPr>
                </a:tc>
                <a:tc>
                  <a:txBody>
                    <a:bodyPr/>
                    <a:lstStyle/>
                    <a:p>
                      <a:pPr marL="0" marR="0">
                        <a:spcBef>
                          <a:spcPts val="0"/>
                        </a:spcBef>
                        <a:spcAft>
                          <a:spcPts val="0"/>
                        </a:spcAft>
                      </a:pPr>
                      <a:r>
                        <a:rPr lang="en-US" sz="1600" dirty="0">
                          <a:effectLst/>
                        </a:rPr>
                        <a:t>Description</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B w="635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0000"/>
                  </a:ext>
                </a:extLst>
              </a:tr>
              <a:tr h="326680">
                <a:tc>
                  <a:txBody>
                    <a:bodyPr/>
                    <a:lstStyle/>
                    <a:p>
                      <a:pPr marL="0" marR="0">
                        <a:spcBef>
                          <a:spcPts val="0"/>
                        </a:spcBef>
                        <a:spcAft>
                          <a:spcPts val="0"/>
                        </a:spcAft>
                      </a:pPr>
                      <a:r>
                        <a:rPr lang="en-US" sz="1600" dirty="0">
                          <a:solidFill>
                            <a:sysClr val="windowText" lastClr="000000"/>
                          </a:solidFill>
                          <a:effectLst/>
                          <a:latin typeface="Courier New" panose="02070309020205020404" pitchFamily="49" charset="0"/>
                          <a:cs typeface="Courier New" panose="02070309020205020404" pitchFamily="49" charset="0"/>
                        </a:rPr>
                        <a:t>relief='flat'</a:t>
                      </a:r>
                      <a:endParaRPr lang="en-US" sz="1600" dirty="0">
                        <a:solidFill>
                          <a:sysClr val="windowText" lastClr="000000"/>
                        </a:solidFill>
                        <a:effectLst/>
                        <a:latin typeface="Courier New" panose="02070309020205020404" pitchFamily="49" charset="0"/>
                        <a:ea typeface="Calibri" panose="020F0502020204030204" pitchFamily="34" charset="0"/>
                        <a:cs typeface="Courier New" panose="02070309020205020404" pitchFamily="49" charset="0"/>
                      </a:endParaRPr>
                    </a:p>
                  </a:txBody>
                  <a:tcPr marL="68580" marR="6858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a:spcBef>
                          <a:spcPts val="0"/>
                        </a:spcBef>
                        <a:spcAft>
                          <a:spcPts val="0"/>
                        </a:spcAft>
                      </a:pPr>
                      <a:r>
                        <a:rPr lang="en-US" sz="1600" dirty="0">
                          <a:effectLst/>
                        </a:rPr>
                        <a:t>The border is hidden and there is no 3D effect.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26680">
                <a:tc>
                  <a:txBody>
                    <a:bodyPr/>
                    <a:lstStyle/>
                    <a:p>
                      <a:pPr marL="0" marR="0">
                        <a:spcBef>
                          <a:spcPts val="0"/>
                        </a:spcBef>
                        <a:spcAft>
                          <a:spcPts val="0"/>
                        </a:spcAft>
                      </a:pPr>
                      <a:r>
                        <a:rPr lang="en-US" sz="1600" dirty="0">
                          <a:solidFill>
                            <a:sysClr val="windowText" lastClr="000000"/>
                          </a:solidFill>
                          <a:effectLst/>
                          <a:latin typeface="Courier New" panose="02070309020205020404" pitchFamily="49" charset="0"/>
                          <a:cs typeface="Courier New" panose="02070309020205020404" pitchFamily="49" charset="0"/>
                        </a:rPr>
                        <a:t>relief='raised'</a:t>
                      </a:r>
                      <a:endParaRPr lang="en-US" sz="1600" dirty="0">
                        <a:solidFill>
                          <a:sysClr val="windowText" lastClr="000000"/>
                        </a:solidFill>
                        <a:effectLst/>
                        <a:latin typeface="Courier New" panose="02070309020205020404" pitchFamily="49" charset="0"/>
                        <a:ea typeface="Calibri" panose="020F0502020204030204" pitchFamily="34" charset="0"/>
                        <a:cs typeface="Courier New" panose="02070309020205020404" pitchFamily="49" charset="0"/>
                      </a:endParaRPr>
                    </a:p>
                  </a:txBody>
                  <a:tcPr marL="68580" marR="6858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a:spcBef>
                          <a:spcPts val="0"/>
                        </a:spcBef>
                        <a:spcAft>
                          <a:spcPts val="0"/>
                        </a:spcAft>
                      </a:pPr>
                      <a:r>
                        <a:rPr lang="en-US" sz="1600">
                          <a:effectLst/>
                        </a:rPr>
                        <a:t>The widget has a raised 3D appearance.</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26680">
                <a:tc>
                  <a:txBody>
                    <a:bodyPr/>
                    <a:lstStyle/>
                    <a:p>
                      <a:pPr marL="0" marR="0">
                        <a:spcBef>
                          <a:spcPts val="0"/>
                        </a:spcBef>
                        <a:spcAft>
                          <a:spcPts val="0"/>
                        </a:spcAft>
                      </a:pPr>
                      <a:r>
                        <a:rPr lang="en-US" sz="1600" dirty="0">
                          <a:solidFill>
                            <a:sysClr val="windowText" lastClr="000000"/>
                          </a:solidFill>
                          <a:effectLst/>
                          <a:latin typeface="Courier New" panose="02070309020205020404" pitchFamily="49" charset="0"/>
                          <a:cs typeface="Courier New" panose="02070309020205020404" pitchFamily="49" charset="0"/>
                        </a:rPr>
                        <a:t>relief='sunken'</a:t>
                      </a:r>
                      <a:endParaRPr lang="en-US" sz="1600" dirty="0">
                        <a:solidFill>
                          <a:sysClr val="windowText" lastClr="000000"/>
                        </a:solidFill>
                        <a:effectLst/>
                        <a:latin typeface="Courier New" panose="02070309020205020404" pitchFamily="49" charset="0"/>
                        <a:ea typeface="Calibri" panose="020F0502020204030204" pitchFamily="34" charset="0"/>
                        <a:cs typeface="Courier New" panose="02070309020205020404" pitchFamily="49" charset="0"/>
                      </a:endParaRPr>
                    </a:p>
                  </a:txBody>
                  <a:tcPr marL="68580" marR="6858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a:spcBef>
                          <a:spcPts val="0"/>
                        </a:spcBef>
                        <a:spcAft>
                          <a:spcPts val="0"/>
                        </a:spcAft>
                      </a:pPr>
                      <a:r>
                        <a:rPr lang="en-US" sz="1600" dirty="0">
                          <a:effectLst/>
                        </a:rPr>
                        <a:t>The widget has a sunken 3D appearance.</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87843">
                <a:tc>
                  <a:txBody>
                    <a:bodyPr/>
                    <a:lstStyle/>
                    <a:p>
                      <a:pPr marL="0" marR="0">
                        <a:spcBef>
                          <a:spcPts val="0"/>
                        </a:spcBef>
                        <a:spcAft>
                          <a:spcPts val="0"/>
                        </a:spcAft>
                      </a:pPr>
                      <a:r>
                        <a:rPr lang="en-US" sz="1600" dirty="0">
                          <a:solidFill>
                            <a:sysClr val="windowText" lastClr="000000"/>
                          </a:solidFill>
                          <a:effectLst/>
                          <a:latin typeface="Courier New" panose="02070309020205020404" pitchFamily="49" charset="0"/>
                          <a:cs typeface="Courier New" panose="02070309020205020404" pitchFamily="49" charset="0"/>
                        </a:rPr>
                        <a:t>relief='ridge'</a:t>
                      </a:r>
                      <a:endParaRPr lang="en-US" sz="1600" dirty="0">
                        <a:solidFill>
                          <a:sysClr val="windowText" lastClr="000000"/>
                        </a:solidFill>
                        <a:effectLst/>
                        <a:latin typeface="Courier New" panose="02070309020205020404" pitchFamily="49" charset="0"/>
                        <a:ea typeface="Calibri" panose="020F0502020204030204" pitchFamily="34" charset="0"/>
                        <a:cs typeface="Courier New" panose="02070309020205020404" pitchFamily="49" charset="0"/>
                      </a:endParaRPr>
                    </a:p>
                  </a:txBody>
                  <a:tcPr marL="68580" marR="6858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a:spcBef>
                          <a:spcPts val="0"/>
                        </a:spcBef>
                        <a:spcAft>
                          <a:spcPts val="0"/>
                        </a:spcAft>
                      </a:pPr>
                      <a:r>
                        <a:rPr lang="en-US" sz="1600" dirty="0">
                          <a:effectLst/>
                        </a:rPr>
                        <a:t>The border around the widget has a raised 3D appearance.</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26680">
                <a:tc>
                  <a:txBody>
                    <a:bodyPr/>
                    <a:lstStyle/>
                    <a:p>
                      <a:pPr marL="0" marR="0">
                        <a:spcBef>
                          <a:spcPts val="0"/>
                        </a:spcBef>
                        <a:spcAft>
                          <a:spcPts val="0"/>
                        </a:spcAft>
                      </a:pPr>
                      <a:r>
                        <a:rPr lang="en-US" sz="1600" dirty="0">
                          <a:solidFill>
                            <a:sysClr val="windowText" lastClr="000000"/>
                          </a:solidFill>
                          <a:effectLst/>
                          <a:latin typeface="Courier New" panose="02070309020205020404" pitchFamily="49" charset="0"/>
                          <a:cs typeface="Courier New" panose="02070309020205020404" pitchFamily="49" charset="0"/>
                        </a:rPr>
                        <a:t>relief='solid'</a:t>
                      </a:r>
                      <a:endParaRPr lang="en-US" sz="1600" dirty="0">
                        <a:solidFill>
                          <a:sysClr val="windowText" lastClr="000000"/>
                        </a:solidFill>
                        <a:effectLst/>
                        <a:latin typeface="Courier New" panose="02070309020205020404" pitchFamily="49" charset="0"/>
                        <a:ea typeface="Calibri" panose="020F0502020204030204" pitchFamily="34" charset="0"/>
                        <a:cs typeface="Courier New" panose="02070309020205020404" pitchFamily="49" charset="0"/>
                      </a:endParaRPr>
                    </a:p>
                  </a:txBody>
                  <a:tcPr marL="68580" marR="6858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a:spcBef>
                          <a:spcPts val="0"/>
                        </a:spcBef>
                        <a:spcAft>
                          <a:spcPts val="0"/>
                        </a:spcAft>
                      </a:pPr>
                      <a:r>
                        <a:rPr lang="en-US" sz="1600" dirty="0">
                          <a:effectLst/>
                        </a:rPr>
                        <a:t>The border appears as a solid line with no 3D effect.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326680">
                <a:tc>
                  <a:txBody>
                    <a:bodyPr/>
                    <a:lstStyle/>
                    <a:p>
                      <a:pPr marL="0" marR="0">
                        <a:spcBef>
                          <a:spcPts val="0"/>
                        </a:spcBef>
                        <a:spcAft>
                          <a:spcPts val="0"/>
                        </a:spcAft>
                      </a:pPr>
                      <a:r>
                        <a:rPr lang="en-US" sz="1600" dirty="0">
                          <a:solidFill>
                            <a:sysClr val="windowText" lastClr="000000"/>
                          </a:solidFill>
                          <a:effectLst/>
                          <a:latin typeface="Courier New" panose="02070309020205020404" pitchFamily="49" charset="0"/>
                          <a:cs typeface="Courier New" panose="02070309020205020404" pitchFamily="49" charset="0"/>
                        </a:rPr>
                        <a:t>relief='groove'</a:t>
                      </a:r>
                      <a:endParaRPr lang="en-US" sz="1600" dirty="0">
                        <a:solidFill>
                          <a:sysClr val="windowText" lastClr="000000"/>
                        </a:solidFill>
                        <a:effectLst/>
                        <a:latin typeface="Courier New" panose="02070309020205020404" pitchFamily="49" charset="0"/>
                        <a:ea typeface="Calibri" panose="020F0502020204030204" pitchFamily="34" charset="0"/>
                        <a:cs typeface="Courier New" panose="02070309020205020404" pitchFamily="49" charset="0"/>
                      </a:endParaRPr>
                    </a:p>
                  </a:txBody>
                  <a:tcPr marL="68580" marR="6858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a:spcBef>
                          <a:spcPts val="0"/>
                        </a:spcBef>
                        <a:spcAft>
                          <a:spcPts val="0"/>
                        </a:spcAft>
                      </a:pPr>
                      <a:r>
                        <a:rPr lang="en-US" sz="1600" dirty="0">
                          <a:effectLst/>
                        </a:rPr>
                        <a:t>The border around the widget appears as a groove.</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B903A151-4302-4CEE-8279-CFE40A423FAE}"/>
              </a:ext>
            </a:extLst>
          </p:cNvPr>
          <p:cNvSpPr>
            <a:spLocks noGrp="1" noChangeArrowheads="1"/>
          </p:cNvSpPr>
          <p:nvPr>
            <p:ph type="title"/>
          </p:nvPr>
        </p:nvSpPr>
        <p:spPr/>
        <p:txBody>
          <a:bodyPr/>
          <a:lstStyle/>
          <a:p>
            <a:r>
              <a:rPr lang="en-US" altLang="en-US" dirty="0"/>
              <a:t>Values for </a:t>
            </a:r>
            <a:r>
              <a:rPr lang="en-US" altLang="en-US" dirty="0">
                <a:latin typeface="Courier New" panose="02070309020205020404" pitchFamily="49" charset="0"/>
                <a:cs typeface="Courier New" panose="02070309020205020404" pitchFamily="49" charset="0"/>
              </a:rPr>
              <a:t>relief</a:t>
            </a:r>
            <a:r>
              <a:rPr lang="en-US" altLang="en-US" dirty="0"/>
              <a:t> Argument</a:t>
            </a:r>
            <a:r>
              <a:rPr lang="en-AU" sz="2000" b="0" dirty="0"/>
              <a:t> (2 of 2)</a:t>
            </a:r>
            <a:endParaRPr lang="en-US" altLang="en-US" sz="2000" dirty="0"/>
          </a:p>
        </p:txBody>
      </p:sp>
      <p:pic>
        <p:nvPicPr>
          <p:cNvPr id="22531" name="Picture 3" descr="A frame depicts different styles of borders. ">
            <a:extLst>
              <a:ext uri="{FF2B5EF4-FFF2-40B4-BE49-F238E27FC236}">
                <a16:creationId xmlns:a16="http://schemas.microsoft.com/office/drawing/2014/main" id="{472DF475-E164-46AB-ACAE-37EDABD34A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9000" y="1676400"/>
            <a:ext cx="1447800" cy="405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2">
            <a:extLst>
              <a:ext uri="{FF2B5EF4-FFF2-40B4-BE49-F238E27FC236}">
                <a16:creationId xmlns:a16="http://schemas.microsoft.com/office/drawing/2014/main" id="{BAC9806E-1E8D-47AD-9AD7-458DDAE5CDD2}"/>
              </a:ext>
            </a:extLst>
          </p:cNvPr>
          <p:cNvSpPr>
            <a:spLocks noGrp="1" noChangeArrowheads="1"/>
          </p:cNvSpPr>
          <p:nvPr>
            <p:ph type="title"/>
          </p:nvPr>
        </p:nvSpPr>
        <p:spPr/>
        <p:txBody>
          <a:bodyPr/>
          <a:lstStyle/>
          <a:p>
            <a:r>
              <a:rPr lang="en-US" altLang="en-US" dirty="0"/>
              <a:t>Padding</a:t>
            </a:r>
          </a:p>
        </p:txBody>
      </p:sp>
      <p:sp>
        <p:nvSpPr>
          <p:cNvPr id="23555" name="Content Placeholder 3">
            <a:extLst>
              <a:ext uri="{FF2B5EF4-FFF2-40B4-BE49-F238E27FC236}">
                <a16:creationId xmlns:a16="http://schemas.microsoft.com/office/drawing/2014/main" id="{82EB5E2A-DFE2-4054-9E0B-12A6BD198D83}"/>
              </a:ext>
            </a:extLst>
          </p:cNvPr>
          <p:cNvSpPr>
            <a:spLocks noGrp="1" noChangeArrowheads="1"/>
          </p:cNvSpPr>
          <p:nvPr>
            <p:ph idx="1"/>
          </p:nvPr>
        </p:nvSpPr>
        <p:spPr>
          <a:xfrm>
            <a:off x="457200" y="1600201"/>
            <a:ext cx="8229600" cy="2133600"/>
          </a:xfrm>
        </p:spPr>
        <p:txBody>
          <a:bodyPr/>
          <a:lstStyle/>
          <a:p>
            <a:pPr>
              <a:buFontTx/>
              <a:buChar char="•"/>
            </a:pPr>
            <a:r>
              <a:rPr lang="en-US" altLang="en-US" dirty="0"/>
              <a:t>Padding: space that appears around a widget</a:t>
            </a:r>
          </a:p>
          <a:p>
            <a:pPr lvl="1"/>
            <a:r>
              <a:rPr lang="en-US" altLang="en-US" sz="2400" dirty="0"/>
              <a:t>Internal padding appears around the inside edge of a widget</a:t>
            </a:r>
          </a:p>
          <a:p>
            <a:pPr lvl="1"/>
            <a:r>
              <a:rPr lang="en-US" altLang="en-US" sz="2400" dirty="0"/>
              <a:t>External padding appears around the outside edge of a widget</a:t>
            </a:r>
          </a:p>
        </p:txBody>
      </p:sp>
      <p:pic>
        <p:nvPicPr>
          <p:cNvPr id="23556" name="Picture 4" descr="An illustration displays the difference between the internal padding and external padding. ">
            <a:extLst>
              <a:ext uri="{FF2B5EF4-FFF2-40B4-BE49-F238E27FC236}">
                <a16:creationId xmlns:a16="http://schemas.microsoft.com/office/drawing/2014/main" id="{C716BE62-C5A5-41E2-8320-3874FDAA0D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2362200" y="4043060"/>
            <a:ext cx="3981450" cy="1864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2">
            <a:extLst>
              <a:ext uri="{FF2B5EF4-FFF2-40B4-BE49-F238E27FC236}">
                <a16:creationId xmlns:a16="http://schemas.microsoft.com/office/drawing/2014/main" id="{E8DCBA17-7C1C-4C49-BFD2-DE031194BCBC}"/>
              </a:ext>
            </a:extLst>
          </p:cNvPr>
          <p:cNvSpPr>
            <a:spLocks noGrp="1" noChangeArrowheads="1"/>
          </p:cNvSpPr>
          <p:nvPr>
            <p:ph type="title"/>
          </p:nvPr>
        </p:nvSpPr>
        <p:spPr/>
        <p:txBody>
          <a:bodyPr/>
          <a:lstStyle/>
          <a:p>
            <a:r>
              <a:rPr lang="en-US" altLang="en-US" dirty="0"/>
              <a:t>Internal Padding</a:t>
            </a:r>
            <a:r>
              <a:rPr lang="en-AU" sz="2000" b="0" dirty="0"/>
              <a:t> (1 of 3)</a:t>
            </a:r>
            <a:endParaRPr lang="en-US" altLang="en-US" sz="2000" dirty="0"/>
          </a:p>
        </p:txBody>
      </p:sp>
      <p:sp>
        <p:nvSpPr>
          <p:cNvPr id="24579" name="Content Placeholder 3">
            <a:extLst>
              <a:ext uri="{FF2B5EF4-FFF2-40B4-BE49-F238E27FC236}">
                <a16:creationId xmlns:a16="http://schemas.microsoft.com/office/drawing/2014/main" id="{943F0CB3-5992-48FC-BB95-5EE2EBA9BD0D}"/>
              </a:ext>
            </a:extLst>
          </p:cNvPr>
          <p:cNvSpPr>
            <a:spLocks noGrp="1" noChangeArrowheads="1"/>
          </p:cNvSpPr>
          <p:nvPr>
            <p:ph idx="1"/>
          </p:nvPr>
        </p:nvSpPr>
        <p:spPr>
          <a:xfrm>
            <a:off x="457200" y="1600201"/>
            <a:ext cx="8229600" cy="1676400"/>
          </a:xfrm>
        </p:spPr>
        <p:txBody>
          <a:bodyPr/>
          <a:lstStyle/>
          <a:p>
            <a:pPr>
              <a:buFontTx/>
              <a:buChar char="•"/>
            </a:pPr>
            <a:r>
              <a:rPr lang="en-US" altLang="en-US" sz="2400" dirty="0"/>
              <a:t>To add horizontal internal padding to a widget, pass the argument </a:t>
            </a:r>
            <a:r>
              <a:rPr lang="en-US" altLang="en-US" sz="2400" dirty="0" err="1">
                <a:latin typeface="Courier New" panose="02070309020205020404" pitchFamily="49" charset="0"/>
                <a:cs typeface="Courier New" panose="02070309020205020404" pitchFamily="49" charset="0"/>
              </a:rPr>
              <a:t>ipadx</a:t>
            </a:r>
            <a:r>
              <a:rPr lang="en-US" altLang="en-US" sz="2400" dirty="0">
                <a:latin typeface="Courier New" panose="02070309020205020404" pitchFamily="49" charset="0"/>
                <a:cs typeface="Courier New" panose="02070309020205020404" pitchFamily="49" charset="0"/>
              </a:rPr>
              <a:t>=</a:t>
            </a:r>
            <a:r>
              <a:rPr lang="en-US" altLang="en-US" sz="2400" i="1" dirty="0">
                <a:latin typeface="Courier New" panose="02070309020205020404" pitchFamily="49" charset="0"/>
                <a:cs typeface="Courier New" panose="02070309020205020404" pitchFamily="49" charset="0"/>
              </a:rPr>
              <a:t>n</a:t>
            </a:r>
            <a:r>
              <a:rPr lang="en-US" altLang="en-US" sz="2400" dirty="0"/>
              <a:t> to the widget's </a:t>
            </a:r>
            <a:r>
              <a:rPr lang="en-US" altLang="en-US" sz="2400" dirty="0">
                <a:latin typeface="Courier New" panose="02070309020205020404" pitchFamily="49" charset="0"/>
                <a:cs typeface="Courier New" panose="02070309020205020404" pitchFamily="49" charset="0"/>
              </a:rPr>
              <a:t>pack</a:t>
            </a:r>
            <a:r>
              <a:rPr lang="en-US" altLang="en-US" sz="2400" dirty="0"/>
              <a:t> method</a:t>
            </a:r>
          </a:p>
          <a:p>
            <a:pPr>
              <a:buFontTx/>
              <a:buChar char="•"/>
            </a:pPr>
            <a:r>
              <a:rPr lang="en-US" altLang="en-US" sz="2400" dirty="0"/>
              <a:t>To add vertical internal padding to a widget, pass the argument </a:t>
            </a:r>
            <a:r>
              <a:rPr lang="en-US" altLang="en-US" sz="2400" dirty="0" err="1">
                <a:latin typeface="Courier New" panose="02070309020205020404" pitchFamily="49" charset="0"/>
                <a:cs typeface="Courier New" panose="02070309020205020404" pitchFamily="49" charset="0"/>
              </a:rPr>
              <a:t>ipady</a:t>
            </a:r>
            <a:r>
              <a:rPr lang="en-US" altLang="en-US" sz="2400" dirty="0">
                <a:latin typeface="Courier New" panose="02070309020205020404" pitchFamily="49" charset="0"/>
                <a:cs typeface="Courier New" panose="02070309020205020404" pitchFamily="49" charset="0"/>
              </a:rPr>
              <a:t>=</a:t>
            </a:r>
            <a:r>
              <a:rPr lang="en-US" altLang="en-US" sz="2400" i="1" dirty="0">
                <a:latin typeface="Courier New" panose="02070309020205020404" pitchFamily="49" charset="0"/>
                <a:cs typeface="Courier New" panose="02070309020205020404" pitchFamily="49" charset="0"/>
              </a:rPr>
              <a:t>n</a:t>
            </a:r>
            <a:r>
              <a:rPr lang="en-US" altLang="en-US" sz="2400" dirty="0"/>
              <a:t> to the widget's </a:t>
            </a:r>
            <a:r>
              <a:rPr lang="en-US" altLang="en-US" sz="2400" dirty="0">
                <a:latin typeface="Courier New" panose="02070309020205020404" pitchFamily="49" charset="0"/>
                <a:cs typeface="Courier New" panose="02070309020205020404" pitchFamily="49" charset="0"/>
              </a:rPr>
              <a:t>pack</a:t>
            </a:r>
            <a:r>
              <a:rPr lang="en-US" altLang="en-US" sz="2400" dirty="0"/>
              <a:t> method</a:t>
            </a:r>
          </a:p>
          <a:p>
            <a:pPr>
              <a:buFontTx/>
              <a:buChar char="•"/>
            </a:pPr>
            <a:endParaRPr lang="en-US" altLang="en-US" sz="2400" dirty="0"/>
          </a:p>
          <a:p>
            <a:pPr>
              <a:buFontTx/>
              <a:buChar char="•"/>
            </a:pPr>
            <a:endParaRPr lang="en-US" altLang="en-US" sz="2400" dirty="0"/>
          </a:p>
        </p:txBody>
      </p:sp>
      <p:pic>
        <p:nvPicPr>
          <p:cNvPr id="24580" name="Picture 5" descr="Two frames I pad x = n and I pad y = n displays horizontal and vertical internet padding with labels, size of the widget without padding and size of the widget with padding. ">
            <a:extLst>
              <a:ext uri="{FF2B5EF4-FFF2-40B4-BE49-F238E27FC236}">
                <a16:creationId xmlns:a16="http://schemas.microsoft.com/office/drawing/2014/main" id="{75DA551D-5739-4F45-8AA7-8D3ABA178A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1372259" y="3419789"/>
            <a:ext cx="6139132" cy="284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9391A-A421-44E4-A726-54ED501ACFF5}"/>
              </a:ext>
            </a:extLst>
          </p:cNvPr>
          <p:cNvSpPr>
            <a:spLocks noGrp="1"/>
          </p:cNvSpPr>
          <p:nvPr>
            <p:ph type="title"/>
          </p:nvPr>
        </p:nvSpPr>
        <p:spPr>
          <a:xfrm>
            <a:off x="457200" y="215372"/>
            <a:ext cx="8229600" cy="1003828"/>
          </a:xfrm>
        </p:spPr>
        <p:txBody>
          <a:bodyPr/>
          <a:lstStyle/>
          <a:p>
            <a:r>
              <a:rPr lang="en-US" altLang="en-US" dirty="0"/>
              <a:t>Internal Padding</a:t>
            </a:r>
            <a:r>
              <a:rPr lang="en-AU" sz="2000" b="0" dirty="0"/>
              <a:t> (2 of 3)</a:t>
            </a:r>
            <a:endParaRPr lang="en-AU" sz="2000" dirty="0"/>
          </a:p>
        </p:txBody>
      </p:sp>
      <p:sp>
        <p:nvSpPr>
          <p:cNvPr id="4" name="Content Placeholder 3">
            <a:extLst>
              <a:ext uri="{FF2B5EF4-FFF2-40B4-BE49-F238E27FC236}">
                <a16:creationId xmlns:a16="http://schemas.microsoft.com/office/drawing/2014/main" id="{62114B94-2204-499E-9E3A-9596F8B6DC75}"/>
              </a:ext>
            </a:extLst>
          </p:cNvPr>
          <p:cNvSpPr txBox="1">
            <a:spLocks noGrp="1" noChangeArrowheads="1"/>
          </p:cNvSpPr>
          <p:nvPr>
            <p:ph idx="1"/>
          </p:nvPr>
        </p:nvSpPr>
        <p:spPr bwMode="auto">
          <a:xfrm>
            <a:off x="457200" y="1600200"/>
            <a:ext cx="5955476" cy="3801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marL="0" indent="0">
              <a:spcBef>
                <a:spcPct val="0"/>
              </a:spcBef>
              <a:buFontTx/>
              <a:buNone/>
            </a:pPr>
            <a:r>
              <a:rPr lang="en-US" altLang="en-US" sz="1300" b="0" dirty="0">
                <a:solidFill>
                  <a:srgbClr val="00B0F0"/>
                </a:solidFill>
                <a:latin typeface="Courier New" panose="02070309020205020404" pitchFamily="49" charset="0"/>
                <a:cs typeface="Courier New" panose="02070309020205020404" pitchFamily="49" charset="0"/>
              </a:rPr>
              <a:t> </a:t>
            </a:r>
            <a:r>
              <a:rPr lang="en-US" altLang="en-US" sz="1300" b="0" dirty="0">
                <a:solidFill>
                  <a:srgbClr val="007FA3"/>
                </a:solidFill>
                <a:latin typeface="Courier New" panose="02070309020205020404" pitchFamily="49" charset="0"/>
                <a:cs typeface="Courier New" panose="02070309020205020404" pitchFamily="49" charset="0"/>
              </a:rPr>
              <a:t>1</a:t>
            </a:r>
            <a:r>
              <a:rPr lang="en-US" altLang="en-US" sz="1300" b="0" dirty="0">
                <a:solidFill>
                  <a:srgbClr val="000000"/>
                </a:solidFill>
                <a:latin typeface="Courier New" panose="02070309020205020404" pitchFamily="49" charset="0"/>
                <a:cs typeface="Courier New" panose="02070309020205020404" pitchFamily="49" charset="0"/>
              </a:rPr>
              <a:t> # This program demonstrates internal padding.</a:t>
            </a:r>
            <a:br>
              <a:rPr lang="en-US" altLang="en-US" sz="1300" b="0" dirty="0">
                <a:solidFill>
                  <a:srgbClr val="000000"/>
                </a:solidFill>
                <a:latin typeface="Courier New" panose="02070309020205020404" pitchFamily="49" charset="0"/>
                <a:cs typeface="Courier New" panose="02070309020205020404" pitchFamily="49" charset="0"/>
              </a:rPr>
            </a:br>
            <a:r>
              <a:rPr lang="en-US" altLang="en-US" sz="1300" b="0" dirty="0">
                <a:solidFill>
                  <a:srgbClr val="00B0F0"/>
                </a:solidFill>
                <a:latin typeface="Courier New" panose="02070309020205020404" pitchFamily="49" charset="0"/>
                <a:cs typeface="Courier New" panose="02070309020205020404" pitchFamily="49" charset="0"/>
              </a:rPr>
              <a:t> </a:t>
            </a:r>
            <a:r>
              <a:rPr lang="en-US" altLang="en-US" sz="1300" b="0" dirty="0">
                <a:solidFill>
                  <a:srgbClr val="007FA3"/>
                </a:solidFill>
                <a:latin typeface="Courier New" panose="02070309020205020404" pitchFamily="49" charset="0"/>
                <a:cs typeface="Courier New" panose="02070309020205020404" pitchFamily="49" charset="0"/>
              </a:rPr>
              <a:t>2</a:t>
            </a:r>
            <a:r>
              <a:rPr lang="en-US" altLang="en-US" sz="1300" b="0" dirty="0">
                <a:solidFill>
                  <a:srgbClr val="000000"/>
                </a:solidFill>
                <a:latin typeface="Courier New" panose="02070309020205020404" pitchFamily="49" charset="0"/>
                <a:cs typeface="Courier New" panose="02070309020205020404" pitchFamily="49" charset="0"/>
              </a:rPr>
              <a:t> import </a:t>
            </a:r>
            <a:r>
              <a:rPr lang="en-US" altLang="en-US" sz="1300" b="0" dirty="0" err="1">
                <a:solidFill>
                  <a:srgbClr val="000000"/>
                </a:solidFill>
                <a:latin typeface="Courier New" panose="02070309020205020404" pitchFamily="49" charset="0"/>
                <a:cs typeface="Courier New" panose="02070309020205020404" pitchFamily="49" charset="0"/>
              </a:rPr>
              <a:t>tkinter</a:t>
            </a:r>
            <a:br>
              <a:rPr lang="en-US" altLang="en-US" sz="1300" b="0" dirty="0">
                <a:solidFill>
                  <a:srgbClr val="000000"/>
                </a:solidFill>
                <a:latin typeface="Courier New" panose="02070309020205020404" pitchFamily="49" charset="0"/>
                <a:cs typeface="Courier New" panose="02070309020205020404" pitchFamily="49" charset="0"/>
              </a:rPr>
            </a:br>
            <a:r>
              <a:rPr lang="en-US" altLang="en-US" sz="1300" b="0" dirty="0">
                <a:solidFill>
                  <a:srgbClr val="007FA3"/>
                </a:solidFill>
                <a:latin typeface="Courier New" panose="02070309020205020404" pitchFamily="49" charset="0"/>
                <a:cs typeface="Courier New" panose="02070309020205020404" pitchFamily="49" charset="0"/>
              </a:rPr>
              <a:t> 3 </a:t>
            </a:r>
            <a:br>
              <a:rPr lang="en-US" altLang="en-US" sz="1300" b="0" dirty="0">
                <a:solidFill>
                  <a:srgbClr val="000000"/>
                </a:solidFill>
                <a:latin typeface="Courier New" panose="02070309020205020404" pitchFamily="49" charset="0"/>
                <a:cs typeface="Courier New" panose="02070309020205020404" pitchFamily="49" charset="0"/>
              </a:rPr>
            </a:br>
            <a:r>
              <a:rPr lang="en-US" altLang="en-US" sz="1300" b="0" dirty="0">
                <a:solidFill>
                  <a:srgbClr val="00B0F0"/>
                </a:solidFill>
                <a:latin typeface="Courier New" panose="02070309020205020404" pitchFamily="49" charset="0"/>
                <a:cs typeface="Courier New" panose="02070309020205020404" pitchFamily="49" charset="0"/>
              </a:rPr>
              <a:t> </a:t>
            </a:r>
            <a:r>
              <a:rPr lang="en-US" altLang="en-US" sz="1300" b="0" dirty="0">
                <a:solidFill>
                  <a:srgbClr val="007FA3"/>
                </a:solidFill>
                <a:latin typeface="Courier New" panose="02070309020205020404" pitchFamily="49" charset="0"/>
                <a:cs typeface="Courier New" panose="02070309020205020404" pitchFamily="49" charset="0"/>
              </a:rPr>
              <a:t>4</a:t>
            </a:r>
            <a:r>
              <a:rPr lang="en-US" altLang="en-US" sz="1300" b="0" dirty="0">
                <a:solidFill>
                  <a:srgbClr val="000000"/>
                </a:solidFill>
                <a:latin typeface="Courier New" panose="02070309020205020404" pitchFamily="49" charset="0"/>
                <a:cs typeface="Courier New" panose="02070309020205020404" pitchFamily="49" charset="0"/>
              </a:rPr>
              <a:t> class </a:t>
            </a:r>
            <a:r>
              <a:rPr lang="en-US" altLang="en-US" sz="1300" b="0" dirty="0" err="1">
                <a:solidFill>
                  <a:srgbClr val="000000"/>
                </a:solidFill>
                <a:latin typeface="Courier New" panose="02070309020205020404" pitchFamily="49" charset="0"/>
                <a:cs typeface="Courier New" panose="02070309020205020404" pitchFamily="49" charset="0"/>
              </a:rPr>
              <a:t>MyGUI</a:t>
            </a:r>
            <a:r>
              <a:rPr lang="en-US" altLang="en-US" sz="1300" b="0" dirty="0">
                <a:solidFill>
                  <a:srgbClr val="000000"/>
                </a:solidFill>
                <a:latin typeface="Courier New" panose="02070309020205020404" pitchFamily="49" charset="0"/>
                <a:cs typeface="Courier New" panose="02070309020205020404" pitchFamily="49" charset="0"/>
              </a:rPr>
              <a:t>:</a:t>
            </a:r>
            <a:br>
              <a:rPr lang="en-US" altLang="en-US" sz="1300" b="0" dirty="0">
                <a:solidFill>
                  <a:srgbClr val="000000"/>
                </a:solidFill>
                <a:latin typeface="Courier New" panose="02070309020205020404" pitchFamily="49" charset="0"/>
                <a:cs typeface="Courier New" panose="02070309020205020404" pitchFamily="49" charset="0"/>
              </a:rPr>
            </a:br>
            <a:r>
              <a:rPr lang="en-US" altLang="en-US" sz="1300" b="0" dirty="0">
                <a:solidFill>
                  <a:srgbClr val="00B0F0"/>
                </a:solidFill>
                <a:latin typeface="Courier New" panose="02070309020205020404" pitchFamily="49" charset="0"/>
                <a:cs typeface="Courier New" panose="02070309020205020404" pitchFamily="49" charset="0"/>
              </a:rPr>
              <a:t> </a:t>
            </a:r>
            <a:r>
              <a:rPr lang="en-US" altLang="en-US" sz="1300" b="0" dirty="0">
                <a:solidFill>
                  <a:srgbClr val="007FA3"/>
                </a:solidFill>
                <a:latin typeface="Courier New" panose="02070309020205020404" pitchFamily="49" charset="0"/>
                <a:cs typeface="Courier New" panose="02070309020205020404" pitchFamily="49" charset="0"/>
              </a:rPr>
              <a:t>5</a:t>
            </a:r>
            <a:r>
              <a:rPr lang="en-US" altLang="en-US" sz="1300" b="0" dirty="0">
                <a:solidFill>
                  <a:srgbClr val="000000"/>
                </a:solidFill>
                <a:latin typeface="Courier New" panose="02070309020205020404" pitchFamily="49" charset="0"/>
                <a:cs typeface="Courier New" panose="02070309020205020404" pitchFamily="49" charset="0"/>
              </a:rPr>
              <a:t>     def __</a:t>
            </a:r>
            <a:r>
              <a:rPr lang="en-US" altLang="en-US" sz="1300" b="0" dirty="0" err="1">
                <a:solidFill>
                  <a:srgbClr val="000000"/>
                </a:solidFill>
                <a:latin typeface="Courier New" panose="02070309020205020404" pitchFamily="49" charset="0"/>
                <a:cs typeface="Courier New" panose="02070309020205020404" pitchFamily="49" charset="0"/>
              </a:rPr>
              <a:t>init</a:t>
            </a:r>
            <a:r>
              <a:rPr lang="en-US" altLang="en-US" sz="1300" b="0" dirty="0">
                <a:solidFill>
                  <a:srgbClr val="000000"/>
                </a:solidFill>
                <a:latin typeface="Courier New" panose="02070309020205020404" pitchFamily="49" charset="0"/>
                <a:cs typeface="Courier New" panose="02070309020205020404" pitchFamily="49" charset="0"/>
              </a:rPr>
              <a:t>__(self):</a:t>
            </a:r>
            <a:br>
              <a:rPr lang="en-US" altLang="en-US" sz="1300" b="0" dirty="0">
                <a:solidFill>
                  <a:srgbClr val="000000"/>
                </a:solidFill>
                <a:latin typeface="Courier New" panose="02070309020205020404" pitchFamily="49" charset="0"/>
                <a:cs typeface="Courier New" panose="02070309020205020404" pitchFamily="49" charset="0"/>
              </a:rPr>
            </a:br>
            <a:r>
              <a:rPr lang="en-US" altLang="en-US" sz="1300" b="0" dirty="0">
                <a:solidFill>
                  <a:srgbClr val="00B0F0"/>
                </a:solidFill>
                <a:latin typeface="Courier New" panose="02070309020205020404" pitchFamily="49" charset="0"/>
                <a:cs typeface="Courier New" panose="02070309020205020404" pitchFamily="49" charset="0"/>
              </a:rPr>
              <a:t> </a:t>
            </a:r>
            <a:r>
              <a:rPr lang="en-US" altLang="en-US" sz="1300" b="0" dirty="0">
                <a:solidFill>
                  <a:srgbClr val="007FA3"/>
                </a:solidFill>
                <a:latin typeface="Courier New" panose="02070309020205020404" pitchFamily="49" charset="0"/>
                <a:cs typeface="Courier New" panose="02070309020205020404" pitchFamily="49" charset="0"/>
              </a:rPr>
              <a:t>6 </a:t>
            </a:r>
            <a:r>
              <a:rPr lang="en-US" altLang="en-US" sz="1300" b="0" dirty="0">
                <a:solidFill>
                  <a:srgbClr val="000000"/>
                </a:solidFill>
                <a:latin typeface="Courier New" panose="02070309020205020404" pitchFamily="49" charset="0"/>
                <a:cs typeface="Courier New" panose="02070309020205020404" pitchFamily="49" charset="0"/>
              </a:rPr>
              <a:t>        # Create the main window widget.</a:t>
            </a:r>
            <a:br>
              <a:rPr lang="en-US" altLang="en-US" sz="1300" b="0" dirty="0">
                <a:solidFill>
                  <a:srgbClr val="000000"/>
                </a:solidFill>
                <a:latin typeface="Courier New" panose="02070309020205020404" pitchFamily="49" charset="0"/>
                <a:cs typeface="Courier New" panose="02070309020205020404" pitchFamily="49" charset="0"/>
              </a:rPr>
            </a:br>
            <a:r>
              <a:rPr lang="en-US" altLang="en-US" sz="1300" b="0" dirty="0">
                <a:solidFill>
                  <a:srgbClr val="00B0F0"/>
                </a:solidFill>
                <a:latin typeface="Courier New" panose="02070309020205020404" pitchFamily="49" charset="0"/>
                <a:cs typeface="Courier New" panose="02070309020205020404" pitchFamily="49" charset="0"/>
              </a:rPr>
              <a:t> </a:t>
            </a:r>
            <a:r>
              <a:rPr lang="en-US" altLang="en-US" sz="1300" b="0" dirty="0">
                <a:solidFill>
                  <a:srgbClr val="007FA3"/>
                </a:solidFill>
                <a:latin typeface="Courier New" panose="02070309020205020404" pitchFamily="49" charset="0"/>
                <a:cs typeface="Courier New" panose="02070309020205020404" pitchFamily="49" charset="0"/>
              </a:rPr>
              <a:t>7</a:t>
            </a:r>
            <a:r>
              <a:rPr lang="en-US" altLang="en-US" sz="1300" b="0" dirty="0">
                <a:solidFill>
                  <a:srgbClr val="000000"/>
                </a:solidFill>
                <a:latin typeface="Courier New" panose="02070309020205020404" pitchFamily="49" charset="0"/>
                <a:cs typeface="Courier New" panose="02070309020205020404" pitchFamily="49" charset="0"/>
              </a:rPr>
              <a:t>         </a:t>
            </a:r>
            <a:r>
              <a:rPr lang="en-US" altLang="en-US" sz="1300" b="0" dirty="0" err="1">
                <a:solidFill>
                  <a:srgbClr val="000000"/>
                </a:solidFill>
                <a:latin typeface="Courier New" panose="02070309020205020404" pitchFamily="49" charset="0"/>
                <a:cs typeface="Courier New" panose="02070309020205020404" pitchFamily="49" charset="0"/>
              </a:rPr>
              <a:t>self.main_window</a:t>
            </a:r>
            <a:r>
              <a:rPr lang="en-US" altLang="en-US" sz="1300" b="0" dirty="0">
                <a:solidFill>
                  <a:srgbClr val="000000"/>
                </a:solidFill>
                <a:latin typeface="Courier New" panose="02070309020205020404" pitchFamily="49" charset="0"/>
                <a:cs typeface="Courier New" panose="02070309020205020404" pitchFamily="49" charset="0"/>
              </a:rPr>
              <a:t> = </a:t>
            </a:r>
            <a:r>
              <a:rPr lang="en-US" altLang="en-US" sz="1300" b="0" dirty="0" err="1">
                <a:solidFill>
                  <a:srgbClr val="000000"/>
                </a:solidFill>
                <a:latin typeface="Courier New" panose="02070309020205020404" pitchFamily="49" charset="0"/>
                <a:cs typeface="Courier New" panose="02070309020205020404" pitchFamily="49" charset="0"/>
              </a:rPr>
              <a:t>tkinter.Tk</a:t>
            </a:r>
            <a:r>
              <a:rPr lang="en-US" altLang="en-US" sz="1300" b="0" dirty="0">
                <a:solidFill>
                  <a:srgbClr val="000000"/>
                </a:solidFill>
                <a:latin typeface="Courier New" panose="02070309020205020404" pitchFamily="49" charset="0"/>
                <a:cs typeface="Courier New" panose="02070309020205020404" pitchFamily="49" charset="0"/>
              </a:rPr>
              <a:t>()</a:t>
            </a:r>
            <a:br>
              <a:rPr lang="en-US" altLang="en-US" sz="1300" b="0" dirty="0">
                <a:solidFill>
                  <a:srgbClr val="000000"/>
                </a:solidFill>
                <a:latin typeface="Courier New" panose="02070309020205020404" pitchFamily="49" charset="0"/>
                <a:cs typeface="Courier New" panose="02070309020205020404" pitchFamily="49" charset="0"/>
              </a:rPr>
            </a:br>
            <a:r>
              <a:rPr lang="en-US" altLang="en-US" sz="1300" b="0" dirty="0">
                <a:solidFill>
                  <a:srgbClr val="00B0F0"/>
                </a:solidFill>
                <a:latin typeface="Courier New" panose="02070309020205020404" pitchFamily="49" charset="0"/>
                <a:cs typeface="Courier New" panose="02070309020205020404" pitchFamily="49" charset="0"/>
              </a:rPr>
              <a:t> </a:t>
            </a:r>
            <a:r>
              <a:rPr lang="en-US" altLang="en-US" sz="1300" b="0" dirty="0">
                <a:solidFill>
                  <a:srgbClr val="007FA3"/>
                </a:solidFill>
                <a:latin typeface="Courier New" panose="02070309020205020404" pitchFamily="49" charset="0"/>
                <a:cs typeface="Courier New" panose="02070309020205020404" pitchFamily="49" charset="0"/>
              </a:rPr>
              <a:t>8</a:t>
            </a:r>
            <a:r>
              <a:rPr lang="en-US" altLang="en-US" sz="1300" b="0" dirty="0">
                <a:solidFill>
                  <a:srgbClr val="000000"/>
                </a:solidFill>
                <a:latin typeface="Courier New" panose="02070309020205020404" pitchFamily="49" charset="0"/>
                <a:cs typeface="Courier New" panose="02070309020205020404" pitchFamily="49" charset="0"/>
              </a:rPr>
              <a:t> </a:t>
            </a:r>
            <a:br>
              <a:rPr lang="en-US" altLang="en-US" sz="1300" b="0" dirty="0">
                <a:solidFill>
                  <a:srgbClr val="000000"/>
                </a:solidFill>
                <a:latin typeface="Courier New" panose="02070309020205020404" pitchFamily="49" charset="0"/>
                <a:cs typeface="Courier New" panose="02070309020205020404" pitchFamily="49" charset="0"/>
              </a:rPr>
            </a:br>
            <a:r>
              <a:rPr lang="en-US" altLang="en-US" sz="1300" b="0" dirty="0">
                <a:solidFill>
                  <a:srgbClr val="00B0F0"/>
                </a:solidFill>
                <a:latin typeface="Courier New" panose="02070309020205020404" pitchFamily="49" charset="0"/>
                <a:cs typeface="Courier New" panose="02070309020205020404" pitchFamily="49" charset="0"/>
              </a:rPr>
              <a:t> </a:t>
            </a:r>
            <a:r>
              <a:rPr lang="en-US" altLang="en-US" sz="1300" b="0" dirty="0">
                <a:solidFill>
                  <a:srgbClr val="007FA3"/>
                </a:solidFill>
                <a:latin typeface="Courier New" panose="02070309020205020404" pitchFamily="49" charset="0"/>
                <a:cs typeface="Courier New" panose="02070309020205020404" pitchFamily="49" charset="0"/>
              </a:rPr>
              <a:t>9</a:t>
            </a:r>
            <a:r>
              <a:rPr lang="en-US" altLang="en-US" sz="1300" b="0" dirty="0">
                <a:solidFill>
                  <a:srgbClr val="000000"/>
                </a:solidFill>
                <a:latin typeface="Courier New" panose="02070309020205020404" pitchFamily="49" charset="0"/>
                <a:cs typeface="Courier New" panose="02070309020205020404" pitchFamily="49" charset="0"/>
              </a:rPr>
              <a:t>         # Create two Label widgets with solid borders.</a:t>
            </a:r>
            <a:br>
              <a:rPr lang="en-US" altLang="en-US" sz="1300" b="0" dirty="0">
                <a:solidFill>
                  <a:srgbClr val="000000"/>
                </a:solidFill>
                <a:latin typeface="Courier New" panose="02070309020205020404" pitchFamily="49" charset="0"/>
                <a:cs typeface="Courier New" panose="02070309020205020404" pitchFamily="49" charset="0"/>
              </a:rPr>
            </a:br>
            <a:r>
              <a:rPr lang="en-US" altLang="en-US" sz="1300" b="0" dirty="0">
                <a:solidFill>
                  <a:srgbClr val="007FA3"/>
                </a:solidFill>
                <a:latin typeface="Courier New" panose="02070309020205020404" pitchFamily="49" charset="0"/>
                <a:cs typeface="Courier New" panose="02070309020205020404" pitchFamily="49" charset="0"/>
              </a:rPr>
              <a:t>10</a:t>
            </a:r>
            <a:r>
              <a:rPr lang="en-US" altLang="en-US" sz="1300" b="0" dirty="0">
                <a:solidFill>
                  <a:srgbClr val="000000"/>
                </a:solidFill>
                <a:latin typeface="Courier New" panose="02070309020205020404" pitchFamily="49" charset="0"/>
                <a:cs typeface="Courier New" panose="02070309020205020404" pitchFamily="49" charset="0"/>
              </a:rPr>
              <a:t>         self.label1 = </a:t>
            </a:r>
            <a:r>
              <a:rPr lang="en-US" altLang="en-US" sz="1300" b="0" dirty="0" err="1">
                <a:solidFill>
                  <a:srgbClr val="000000"/>
                </a:solidFill>
                <a:latin typeface="Courier New" panose="02070309020205020404" pitchFamily="49" charset="0"/>
                <a:cs typeface="Courier New" panose="02070309020205020404" pitchFamily="49" charset="0"/>
              </a:rPr>
              <a:t>tkinter.Label</a:t>
            </a:r>
            <a:r>
              <a:rPr lang="en-US" altLang="en-US" sz="1300" b="0" dirty="0">
                <a:solidFill>
                  <a:srgbClr val="000000"/>
                </a:solidFill>
                <a:latin typeface="Courier New" panose="02070309020205020404" pitchFamily="49" charset="0"/>
                <a:cs typeface="Courier New" panose="02070309020205020404" pitchFamily="49" charset="0"/>
              </a:rPr>
              <a:t>(</a:t>
            </a:r>
            <a:r>
              <a:rPr lang="en-US" altLang="en-US" sz="1300" b="0" dirty="0" err="1">
                <a:solidFill>
                  <a:srgbClr val="000000"/>
                </a:solidFill>
                <a:latin typeface="Courier New" panose="02070309020205020404" pitchFamily="49" charset="0"/>
                <a:cs typeface="Courier New" panose="02070309020205020404" pitchFamily="49" charset="0"/>
              </a:rPr>
              <a:t>self.main_window</a:t>
            </a:r>
            <a:r>
              <a:rPr lang="en-US" altLang="en-US" sz="1300" b="0" dirty="0">
                <a:solidFill>
                  <a:srgbClr val="000000"/>
                </a:solidFill>
                <a:latin typeface="Courier New" panose="02070309020205020404" pitchFamily="49" charset="0"/>
                <a:cs typeface="Courier New" panose="02070309020205020404" pitchFamily="49" charset="0"/>
              </a:rPr>
              <a:t>,</a:t>
            </a:r>
            <a:br>
              <a:rPr lang="en-US" altLang="en-US" sz="1300" b="0" dirty="0">
                <a:solidFill>
                  <a:srgbClr val="000000"/>
                </a:solidFill>
                <a:latin typeface="Courier New" panose="02070309020205020404" pitchFamily="49" charset="0"/>
                <a:cs typeface="Courier New" panose="02070309020205020404" pitchFamily="49" charset="0"/>
              </a:rPr>
            </a:br>
            <a:r>
              <a:rPr lang="en-US" altLang="en-US" sz="1300" b="0" dirty="0">
                <a:solidFill>
                  <a:srgbClr val="007FA3"/>
                </a:solidFill>
                <a:latin typeface="Courier New" panose="02070309020205020404" pitchFamily="49" charset="0"/>
                <a:cs typeface="Courier New" panose="02070309020205020404" pitchFamily="49" charset="0"/>
              </a:rPr>
              <a:t>11</a:t>
            </a:r>
            <a:r>
              <a:rPr lang="en-US" altLang="en-US" sz="1300" b="0" dirty="0">
                <a:solidFill>
                  <a:srgbClr val="000000"/>
                </a:solidFill>
                <a:latin typeface="Courier New" panose="02070309020205020404" pitchFamily="49" charset="0"/>
                <a:cs typeface="Courier New" panose="02070309020205020404" pitchFamily="49" charset="0"/>
              </a:rPr>
              <a:t>                                     text='Hello World!',</a:t>
            </a:r>
            <a:br>
              <a:rPr lang="en-US" altLang="en-US" sz="1300" b="0" dirty="0">
                <a:solidFill>
                  <a:srgbClr val="000000"/>
                </a:solidFill>
                <a:latin typeface="Courier New" panose="02070309020205020404" pitchFamily="49" charset="0"/>
                <a:cs typeface="Courier New" panose="02070309020205020404" pitchFamily="49" charset="0"/>
              </a:rPr>
            </a:br>
            <a:r>
              <a:rPr lang="en-US" altLang="en-US" sz="1300" b="0" dirty="0">
                <a:solidFill>
                  <a:srgbClr val="007FA3"/>
                </a:solidFill>
                <a:latin typeface="Courier New" panose="02070309020205020404" pitchFamily="49" charset="0"/>
                <a:cs typeface="Courier New" panose="02070309020205020404" pitchFamily="49" charset="0"/>
              </a:rPr>
              <a:t>12</a:t>
            </a:r>
            <a:r>
              <a:rPr lang="en-US" altLang="en-US" sz="1300" b="0" dirty="0">
                <a:solidFill>
                  <a:srgbClr val="000000"/>
                </a:solidFill>
                <a:latin typeface="Courier New" panose="02070309020205020404" pitchFamily="49" charset="0"/>
                <a:cs typeface="Courier New" panose="02070309020205020404" pitchFamily="49" charset="0"/>
              </a:rPr>
              <a:t>                                     </a:t>
            </a:r>
            <a:r>
              <a:rPr lang="en-US" altLang="en-US" sz="1300" b="0" dirty="0" err="1">
                <a:solidFill>
                  <a:srgbClr val="000000"/>
                </a:solidFill>
                <a:latin typeface="Courier New" panose="02070309020205020404" pitchFamily="49" charset="0"/>
                <a:cs typeface="Courier New" panose="02070309020205020404" pitchFamily="49" charset="0"/>
              </a:rPr>
              <a:t>borderwidth</a:t>
            </a:r>
            <a:r>
              <a:rPr lang="en-US" altLang="en-US" sz="1300" b="0" dirty="0">
                <a:solidFill>
                  <a:srgbClr val="000000"/>
                </a:solidFill>
                <a:latin typeface="Courier New" panose="02070309020205020404" pitchFamily="49" charset="0"/>
                <a:cs typeface="Courier New" panose="02070309020205020404" pitchFamily="49" charset="0"/>
              </a:rPr>
              <a:t>=1,</a:t>
            </a:r>
            <a:br>
              <a:rPr lang="en-US" altLang="en-US" sz="1300" b="0" dirty="0">
                <a:solidFill>
                  <a:srgbClr val="000000"/>
                </a:solidFill>
                <a:latin typeface="Courier New" panose="02070309020205020404" pitchFamily="49" charset="0"/>
                <a:cs typeface="Courier New" panose="02070309020205020404" pitchFamily="49" charset="0"/>
              </a:rPr>
            </a:br>
            <a:r>
              <a:rPr lang="en-US" altLang="en-US" sz="1300" b="0" dirty="0">
                <a:solidFill>
                  <a:srgbClr val="007FA3"/>
                </a:solidFill>
                <a:latin typeface="Courier New" panose="02070309020205020404" pitchFamily="49" charset="0"/>
                <a:cs typeface="Courier New" panose="02070309020205020404" pitchFamily="49" charset="0"/>
              </a:rPr>
              <a:t>13</a:t>
            </a:r>
            <a:r>
              <a:rPr lang="en-US" altLang="en-US" sz="1300" b="0" dirty="0">
                <a:solidFill>
                  <a:srgbClr val="000000"/>
                </a:solidFill>
                <a:latin typeface="Courier New" panose="02070309020205020404" pitchFamily="49" charset="0"/>
                <a:cs typeface="Courier New" panose="02070309020205020404" pitchFamily="49" charset="0"/>
              </a:rPr>
              <a:t>                                     relief='solid')</a:t>
            </a:r>
            <a:br>
              <a:rPr lang="en-US" altLang="en-US" sz="1300" b="0" dirty="0">
                <a:solidFill>
                  <a:srgbClr val="000000"/>
                </a:solidFill>
                <a:latin typeface="Courier New" panose="02070309020205020404" pitchFamily="49" charset="0"/>
                <a:cs typeface="Courier New" panose="02070309020205020404" pitchFamily="49" charset="0"/>
              </a:rPr>
            </a:br>
            <a:r>
              <a:rPr lang="en-US" altLang="en-US" sz="1300" b="0" dirty="0">
                <a:solidFill>
                  <a:srgbClr val="007FA3"/>
                </a:solidFill>
                <a:latin typeface="Courier New" panose="02070309020205020404" pitchFamily="49" charset="0"/>
                <a:cs typeface="Courier New" panose="02070309020205020404" pitchFamily="49" charset="0"/>
              </a:rPr>
              <a:t>14</a:t>
            </a:r>
            <a:r>
              <a:rPr lang="en-US" altLang="en-US" sz="1300" b="0" dirty="0">
                <a:solidFill>
                  <a:srgbClr val="000000"/>
                </a:solidFill>
                <a:latin typeface="Courier New" panose="02070309020205020404" pitchFamily="49" charset="0"/>
                <a:cs typeface="Courier New" panose="02070309020205020404" pitchFamily="49" charset="0"/>
              </a:rPr>
              <a:t>                                     </a:t>
            </a:r>
            <a:br>
              <a:rPr lang="en-US" altLang="en-US" sz="1300" b="0" dirty="0">
                <a:solidFill>
                  <a:srgbClr val="000000"/>
                </a:solidFill>
                <a:latin typeface="Courier New" panose="02070309020205020404" pitchFamily="49" charset="0"/>
                <a:cs typeface="Courier New" panose="02070309020205020404" pitchFamily="49" charset="0"/>
              </a:rPr>
            </a:br>
            <a:r>
              <a:rPr lang="en-US" altLang="en-US" sz="1300" b="0" dirty="0">
                <a:solidFill>
                  <a:srgbClr val="007FA3"/>
                </a:solidFill>
                <a:latin typeface="Courier New" panose="02070309020205020404" pitchFamily="49" charset="0"/>
                <a:cs typeface="Courier New" panose="02070309020205020404" pitchFamily="49" charset="0"/>
              </a:rPr>
              <a:t>15</a:t>
            </a:r>
            <a:r>
              <a:rPr lang="en-US" altLang="en-US" sz="1300" b="0" dirty="0">
                <a:solidFill>
                  <a:srgbClr val="000000"/>
                </a:solidFill>
                <a:latin typeface="Courier New" panose="02070309020205020404" pitchFamily="49" charset="0"/>
                <a:cs typeface="Courier New" panose="02070309020205020404" pitchFamily="49" charset="0"/>
              </a:rPr>
              <a:t>         self.label2 = </a:t>
            </a:r>
            <a:r>
              <a:rPr lang="en-US" altLang="en-US" sz="1300" b="0" dirty="0" err="1">
                <a:solidFill>
                  <a:srgbClr val="000000"/>
                </a:solidFill>
                <a:latin typeface="Courier New" panose="02070309020205020404" pitchFamily="49" charset="0"/>
                <a:cs typeface="Courier New" panose="02070309020205020404" pitchFamily="49" charset="0"/>
              </a:rPr>
              <a:t>tkinter.Label</a:t>
            </a:r>
            <a:r>
              <a:rPr lang="en-US" altLang="en-US" sz="1300" b="0" dirty="0">
                <a:solidFill>
                  <a:srgbClr val="000000"/>
                </a:solidFill>
                <a:latin typeface="Courier New" panose="02070309020205020404" pitchFamily="49" charset="0"/>
                <a:cs typeface="Courier New" panose="02070309020205020404" pitchFamily="49" charset="0"/>
              </a:rPr>
              <a:t>(</a:t>
            </a:r>
            <a:r>
              <a:rPr lang="en-US" altLang="en-US" sz="1300" b="0" dirty="0" err="1">
                <a:solidFill>
                  <a:srgbClr val="000000"/>
                </a:solidFill>
                <a:latin typeface="Courier New" panose="02070309020205020404" pitchFamily="49" charset="0"/>
                <a:cs typeface="Courier New" panose="02070309020205020404" pitchFamily="49" charset="0"/>
              </a:rPr>
              <a:t>self.main_window</a:t>
            </a:r>
            <a:r>
              <a:rPr lang="en-US" altLang="en-US" sz="1300" b="0" dirty="0">
                <a:solidFill>
                  <a:srgbClr val="000000"/>
                </a:solidFill>
                <a:latin typeface="Courier New" panose="02070309020205020404" pitchFamily="49" charset="0"/>
                <a:cs typeface="Courier New" panose="02070309020205020404" pitchFamily="49" charset="0"/>
              </a:rPr>
              <a:t>,</a:t>
            </a:r>
            <a:br>
              <a:rPr lang="en-US" altLang="en-US" sz="1300" b="0" dirty="0">
                <a:solidFill>
                  <a:srgbClr val="000000"/>
                </a:solidFill>
                <a:latin typeface="Courier New" panose="02070309020205020404" pitchFamily="49" charset="0"/>
                <a:cs typeface="Courier New" panose="02070309020205020404" pitchFamily="49" charset="0"/>
              </a:rPr>
            </a:br>
            <a:r>
              <a:rPr lang="en-US" altLang="en-US" sz="1300" b="0" dirty="0">
                <a:solidFill>
                  <a:srgbClr val="007FA3"/>
                </a:solidFill>
                <a:latin typeface="Courier New" panose="02070309020205020404" pitchFamily="49" charset="0"/>
                <a:cs typeface="Courier New" panose="02070309020205020404" pitchFamily="49" charset="0"/>
              </a:rPr>
              <a:t>16</a:t>
            </a:r>
            <a:r>
              <a:rPr lang="en-US" altLang="en-US" sz="1300" b="0" dirty="0">
                <a:solidFill>
                  <a:srgbClr val="000000"/>
                </a:solidFill>
                <a:latin typeface="Courier New" panose="02070309020205020404" pitchFamily="49" charset="0"/>
                <a:cs typeface="Courier New" panose="02070309020205020404" pitchFamily="49" charset="0"/>
              </a:rPr>
              <a:t>                          text='This is my GUI program.',</a:t>
            </a:r>
            <a:br>
              <a:rPr lang="en-US" altLang="en-US" sz="1300" b="0" dirty="0">
                <a:solidFill>
                  <a:srgbClr val="000000"/>
                </a:solidFill>
                <a:latin typeface="Courier New" panose="02070309020205020404" pitchFamily="49" charset="0"/>
                <a:cs typeface="Courier New" panose="02070309020205020404" pitchFamily="49" charset="0"/>
              </a:rPr>
            </a:br>
            <a:r>
              <a:rPr lang="en-US" altLang="en-US" sz="1300" b="0" dirty="0">
                <a:solidFill>
                  <a:srgbClr val="007FA3"/>
                </a:solidFill>
                <a:latin typeface="Courier New" panose="02070309020205020404" pitchFamily="49" charset="0"/>
                <a:cs typeface="Courier New" panose="02070309020205020404" pitchFamily="49" charset="0"/>
              </a:rPr>
              <a:t>17</a:t>
            </a:r>
            <a:r>
              <a:rPr lang="en-US" altLang="en-US" sz="1300" b="0" dirty="0">
                <a:solidFill>
                  <a:srgbClr val="000000"/>
                </a:solidFill>
                <a:latin typeface="Courier New" panose="02070309020205020404" pitchFamily="49" charset="0"/>
                <a:cs typeface="Courier New" panose="02070309020205020404" pitchFamily="49" charset="0"/>
              </a:rPr>
              <a:t>                          </a:t>
            </a:r>
            <a:r>
              <a:rPr lang="en-US" altLang="en-US" sz="1300" b="0" dirty="0" err="1">
                <a:solidFill>
                  <a:srgbClr val="000000"/>
                </a:solidFill>
                <a:latin typeface="Courier New" panose="02070309020205020404" pitchFamily="49" charset="0"/>
                <a:cs typeface="Courier New" panose="02070309020205020404" pitchFamily="49" charset="0"/>
              </a:rPr>
              <a:t>borderwidth</a:t>
            </a:r>
            <a:r>
              <a:rPr lang="en-US" altLang="en-US" sz="1300" b="0" dirty="0">
                <a:solidFill>
                  <a:srgbClr val="000000"/>
                </a:solidFill>
                <a:latin typeface="Courier New" panose="02070309020205020404" pitchFamily="49" charset="0"/>
                <a:cs typeface="Courier New" panose="02070309020205020404" pitchFamily="49" charset="0"/>
              </a:rPr>
              <a:t>=1,</a:t>
            </a:r>
            <a:br>
              <a:rPr lang="en-US" altLang="en-US" sz="1300" b="0" dirty="0">
                <a:solidFill>
                  <a:srgbClr val="000000"/>
                </a:solidFill>
                <a:latin typeface="Courier New" panose="02070309020205020404" pitchFamily="49" charset="0"/>
                <a:cs typeface="Courier New" panose="02070309020205020404" pitchFamily="49" charset="0"/>
              </a:rPr>
            </a:br>
            <a:r>
              <a:rPr lang="en-US" altLang="en-US" sz="1300" b="0" dirty="0">
                <a:solidFill>
                  <a:srgbClr val="007FA3"/>
                </a:solidFill>
                <a:latin typeface="Courier New" panose="02070309020205020404" pitchFamily="49" charset="0"/>
                <a:cs typeface="Courier New" panose="02070309020205020404" pitchFamily="49" charset="0"/>
              </a:rPr>
              <a:t>18</a:t>
            </a:r>
            <a:r>
              <a:rPr lang="en-US" altLang="en-US" sz="1300" b="0" dirty="0">
                <a:solidFill>
                  <a:srgbClr val="000000"/>
                </a:solidFill>
                <a:latin typeface="Courier New" panose="02070309020205020404" pitchFamily="49" charset="0"/>
                <a:cs typeface="Courier New" panose="02070309020205020404" pitchFamily="49" charset="0"/>
              </a:rPr>
              <a:t>                          relief='solid')</a:t>
            </a:r>
            <a:br>
              <a:rPr lang="en-US" altLang="en-US" sz="1300" b="0" dirty="0">
                <a:solidFill>
                  <a:srgbClr val="000000"/>
                </a:solidFill>
                <a:latin typeface="Courier New" panose="02070309020205020404" pitchFamily="49" charset="0"/>
                <a:cs typeface="Courier New" panose="02070309020205020404" pitchFamily="49" charset="0"/>
              </a:rPr>
            </a:br>
            <a:r>
              <a:rPr lang="en-US" altLang="en-US" sz="1300" b="0" dirty="0">
                <a:solidFill>
                  <a:srgbClr val="007FA3"/>
                </a:solidFill>
                <a:latin typeface="Courier New" panose="02070309020205020404" pitchFamily="49" charset="0"/>
                <a:cs typeface="Courier New" panose="02070309020205020404" pitchFamily="49" charset="0"/>
              </a:rPr>
              <a:t>19</a:t>
            </a:r>
            <a:r>
              <a:rPr lang="en-US" altLang="en-US" sz="1300" b="0" dirty="0">
                <a:solidFill>
                  <a:srgbClr val="000000"/>
                </a:solidFill>
                <a:latin typeface="Courier New" panose="02070309020205020404" pitchFamily="49" charset="0"/>
                <a:cs typeface="Courier New" panose="02070309020205020404" pitchFamily="49" charset="0"/>
              </a:rPr>
              <a:t> </a:t>
            </a:r>
            <a:endParaRPr lang="en-US" altLang="en-US" sz="1100" b="0" dirty="0">
              <a:latin typeface="Courier New" panose="02070309020205020404" pitchFamily="49" charset="0"/>
              <a:ea typeface="Calibri" panose="020F0502020204030204" pitchFamily="34" charset="0"/>
              <a:cs typeface="Courier New" panose="02070309020205020404" pitchFamily="49" charset="0"/>
            </a:endParaRPr>
          </a:p>
        </p:txBody>
      </p:sp>
      <p:pic>
        <p:nvPicPr>
          <p:cNvPr id="5" name="Picture 5" descr="A window displays two labeled widgets, hello world and this is my G U I program. ">
            <a:extLst>
              <a:ext uri="{FF2B5EF4-FFF2-40B4-BE49-F238E27FC236}">
                <a16:creationId xmlns:a16="http://schemas.microsoft.com/office/drawing/2014/main" id="{8092850D-2EDB-41B8-936A-7181856CA6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6581967" y="1600200"/>
            <a:ext cx="2104833" cy="193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399078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EC48FBF-947E-4446-ABE1-915285940264}"/>
              </a:ext>
            </a:extLst>
          </p:cNvPr>
          <p:cNvSpPr>
            <a:spLocks noGrp="1"/>
          </p:cNvSpPr>
          <p:nvPr>
            <p:ph type="title"/>
          </p:nvPr>
        </p:nvSpPr>
        <p:spPr>
          <a:xfrm>
            <a:off x="457200" y="152400"/>
            <a:ext cx="8229600" cy="1097280"/>
          </a:xfrm>
        </p:spPr>
        <p:txBody>
          <a:bodyPr/>
          <a:lstStyle/>
          <a:p>
            <a:r>
              <a:rPr lang="en-US" altLang="en-US" dirty="0"/>
              <a:t>Internal Padding</a:t>
            </a:r>
            <a:r>
              <a:rPr lang="en-AU" sz="2000" b="0" dirty="0"/>
              <a:t> (3 of 3)</a:t>
            </a:r>
            <a:endParaRPr lang="en-AU" sz="2000" dirty="0"/>
          </a:p>
        </p:txBody>
      </p:sp>
      <p:sp>
        <p:nvSpPr>
          <p:cNvPr id="8" name="TextBox 3">
            <a:extLst>
              <a:ext uri="{FF2B5EF4-FFF2-40B4-BE49-F238E27FC236}">
                <a16:creationId xmlns:a16="http://schemas.microsoft.com/office/drawing/2014/main" id="{9F503DB2-7E83-4D26-BBFB-58D4CE56DE5A}"/>
              </a:ext>
            </a:extLst>
          </p:cNvPr>
          <p:cNvSpPr txBox="1">
            <a:spLocks noGrp="1" noChangeArrowheads="1"/>
          </p:cNvSpPr>
          <p:nvPr>
            <p:ph idx="1"/>
          </p:nvPr>
        </p:nvSpPr>
        <p:spPr bwMode="auto">
          <a:xfrm>
            <a:off x="457200" y="1600200"/>
            <a:ext cx="8229600" cy="2369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marL="0" indent="0">
              <a:spcBef>
                <a:spcPct val="0"/>
              </a:spcBef>
              <a:buFontTx/>
              <a:buNone/>
            </a:pPr>
            <a:r>
              <a:rPr lang="en-US" altLang="en-US" sz="1400" b="0" dirty="0">
                <a:solidFill>
                  <a:srgbClr val="007FA3"/>
                </a:solidFill>
                <a:latin typeface="Courier New" panose="02070309020205020404" pitchFamily="49" charset="0"/>
                <a:cs typeface="Courier New" panose="02070309020205020404" pitchFamily="49" charset="0"/>
              </a:rPr>
              <a:t>20</a:t>
            </a:r>
            <a:r>
              <a:rPr lang="en-US" altLang="en-US" sz="1400" b="0" dirty="0">
                <a:solidFill>
                  <a:srgbClr val="000000"/>
                </a:solidFill>
                <a:latin typeface="Courier New" panose="02070309020205020404" pitchFamily="49" charset="0"/>
                <a:cs typeface="Courier New" panose="02070309020205020404" pitchFamily="49" charset="0"/>
              </a:rPr>
              <a:t>         # Display the Labels with 20 pixels of horizontal</a:t>
            </a:r>
            <a:br>
              <a:rPr lang="en-US" altLang="en-US" sz="1400" b="0" dirty="0">
                <a:solidFill>
                  <a:srgbClr val="000000"/>
                </a:solidFill>
                <a:latin typeface="Courier New" panose="02070309020205020404" pitchFamily="49" charset="0"/>
                <a:cs typeface="Courier New" panose="02070309020205020404" pitchFamily="49" charset="0"/>
              </a:rPr>
            </a:br>
            <a:r>
              <a:rPr lang="en-US" altLang="en-US" sz="1400" b="0" dirty="0">
                <a:solidFill>
                  <a:srgbClr val="007FA3"/>
                </a:solidFill>
                <a:latin typeface="Courier New" panose="02070309020205020404" pitchFamily="49" charset="0"/>
                <a:cs typeface="Courier New" panose="02070309020205020404" pitchFamily="49" charset="0"/>
              </a:rPr>
              <a:t>21</a:t>
            </a:r>
            <a:r>
              <a:rPr lang="en-US" altLang="en-US" sz="1400" b="0" dirty="0">
                <a:solidFill>
                  <a:srgbClr val="000000"/>
                </a:solidFill>
                <a:latin typeface="Courier New" panose="02070309020205020404" pitchFamily="49" charset="0"/>
                <a:cs typeface="Courier New" panose="02070309020205020404" pitchFamily="49" charset="0"/>
              </a:rPr>
              <a:t>         # and vertical internal padding.</a:t>
            </a:r>
            <a:br>
              <a:rPr lang="en-US" altLang="en-US" sz="1400" b="0" dirty="0">
                <a:solidFill>
                  <a:srgbClr val="000000"/>
                </a:solidFill>
                <a:latin typeface="Courier New" panose="02070309020205020404" pitchFamily="49" charset="0"/>
                <a:cs typeface="Courier New" panose="02070309020205020404" pitchFamily="49" charset="0"/>
              </a:rPr>
            </a:br>
            <a:r>
              <a:rPr lang="en-US" altLang="en-US" sz="1400" b="0" dirty="0">
                <a:solidFill>
                  <a:srgbClr val="007FA3"/>
                </a:solidFill>
                <a:latin typeface="Courier New" panose="02070309020205020404" pitchFamily="49" charset="0"/>
                <a:cs typeface="Courier New" panose="02070309020205020404" pitchFamily="49" charset="0"/>
              </a:rPr>
              <a:t>22</a:t>
            </a:r>
            <a:r>
              <a:rPr lang="en-US" altLang="en-US" sz="1400" b="0" dirty="0">
                <a:solidFill>
                  <a:srgbClr val="000000"/>
                </a:solidFill>
                <a:latin typeface="Courier New" panose="02070309020205020404" pitchFamily="49" charset="0"/>
                <a:cs typeface="Courier New" panose="02070309020205020404" pitchFamily="49" charset="0"/>
              </a:rPr>
              <a:t>         self.label1.pack(</a:t>
            </a:r>
            <a:r>
              <a:rPr lang="en-US" altLang="en-US" sz="1400" b="0" dirty="0" err="1">
                <a:solidFill>
                  <a:srgbClr val="000000"/>
                </a:solidFill>
                <a:latin typeface="Courier New" panose="02070309020205020404" pitchFamily="49" charset="0"/>
                <a:cs typeface="Courier New" panose="02070309020205020404" pitchFamily="49" charset="0"/>
              </a:rPr>
              <a:t>ipadx</a:t>
            </a:r>
            <a:r>
              <a:rPr lang="en-US" altLang="en-US" sz="1400" b="0" dirty="0">
                <a:solidFill>
                  <a:srgbClr val="000000"/>
                </a:solidFill>
                <a:latin typeface="Courier New" panose="02070309020205020404" pitchFamily="49" charset="0"/>
                <a:cs typeface="Courier New" panose="02070309020205020404" pitchFamily="49" charset="0"/>
              </a:rPr>
              <a:t>=20, </a:t>
            </a:r>
            <a:r>
              <a:rPr lang="en-US" altLang="en-US" sz="1400" b="0" dirty="0" err="1">
                <a:solidFill>
                  <a:srgbClr val="000000"/>
                </a:solidFill>
                <a:latin typeface="Courier New" panose="02070309020205020404" pitchFamily="49" charset="0"/>
                <a:cs typeface="Courier New" panose="02070309020205020404" pitchFamily="49" charset="0"/>
              </a:rPr>
              <a:t>ipady</a:t>
            </a:r>
            <a:r>
              <a:rPr lang="en-US" altLang="en-US" sz="1400" b="0" dirty="0">
                <a:solidFill>
                  <a:srgbClr val="000000"/>
                </a:solidFill>
                <a:latin typeface="Courier New" panose="02070309020205020404" pitchFamily="49" charset="0"/>
                <a:cs typeface="Courier New" panose="02070309020205020404" pitchFamily="49" charset="0"/>
              </a:rPr>
              <a:t>=20)</a:t>
            </a:r>
            <a:br>
              <a:rPr lang="en-US" altLang="en-US" sz="1400" b="0" dirty="0">
                <a:solidFill>
                  <a:srgbClr val="000000"/>
                </a:solidFill>
                <a:latin typeface="Courier New" panose="02070309020205020404" pitchFamily="49" charset="0"/>
                <a:cs typeface="Courier New" panose="02070309020205020404" pitchFamily="49" charset="0"/>
              </a:rPr>
            </a:br>
            <a:r>
              <a:rPr lang="en-US" altLang="en-US" sz="1400" b="0" dirty="0">
                <a:solidFill>
                  <a:srgbClr val="007FA3"/>
                </a:solidFill>
                <a:latin typeface="Courier New" panose="02070309020205020404" pitchFamily="49" charset="0"/>
                <a:cs typeface="Courier New" panose="02070309020205020404" pitchFamily="49" charset="0"/>
              </a:rPr>
              <a:t>23</a:t>
            </a:r>
            <a:r>
              <a:rPr lang="en-US" altLang="en-US" sz="1400" b="0" dirty="0">
                <a:solidFill>
                  <a:srgbClr val="000000"/>
                </a:solidFill>
                <a:latin typeface="Courier New" panose="02070309020205020404" pitchFamily="49" charset="0"/>
                <a:cs typeface="Courier New" panose="02070309020205020404" pitchFamily="49" charset="0"/>
              </a:rPr>
              <a:t>         self.label2.pack(</a:t>
            </a:r>
            <a:r>
              <a:rPr lang="en-US" altLang="en-US" sz="1400" b="0" dirty="0" err="1">
                <a:solidFill>
                  <a:srgbClr val="000000"/>
                </a:solidFill>
                <a:latin typeface="Courier New" panose="02070309020205020404" pitchFamily="49" charset="0"/>
                <a:cs typeface="Courier New" panose="02070309020205020404" pitchFamily="49" charset="0"/>
              </a:rPr>
              <a:t>ipadx</a:t>
            </a:r>
            <a:r>
              <a:rPr lang="en-US" altLang="en-US" sz="1400" b="0" dirty="0">
                <a:solidFill>
                  <a:srgbClr val="000000"/>
                </a:solidFill>
                <a:latin typeface="Courier New" panose="02070309020205020404" pitchFamily="49" charset="0"/>
                <a:cs typeface="Courier New" panose="02070309020205020404" pitchFamily="49" charset="0"/>
              </a:rPr>
              <a:t>=20, </a:t>
            </a:r>
            <a:r>
              <a:rPr lang="en-US" altLang="en-US" sz="1400" b="0" dirty="0" err="1">
                <a:solidFill>
                  <a:srgbClr val="000000"/>
                </a:solidFill>
                <a:latin typeface="Courier New" panose="02070309020205020404" pitchFamily="49" charset="0"/>
                <a:cs typeface="Courier New" panose="02070309020205020404" pitchFamily="49" charset="0"/>
              </a:rPr>
              <a:t>ipady</a:t>
            </a:r>
            <a:r>
              <a:rPr lang="en-US" altLang="en-US" sz="1400" b="0" dirty="0">
                <a:solidFill>
                  <a:srgbClr val="000000"/>
                </a:solidFill>
                <a:latin typeface="Courier New" panose="02070309020205020404" pitchFamily="49" charset="0"/>
                <a:cs typeface="Courier New" panose="02070309020205020404" pitchFamily="49" charset="0"/>
              </a:rPr>
              <a:t>=20)</a:t>
            </a:r>
            <a:br>
              <a:rPr lang="en-US" altLang="en-US" sz="1400" b="0" dirty="0">
                <a:solidFill>
                  <a:srgbClr val="000000"/>
                </a:solidFill>
                <a:latin typeface="Courier New" panose="02070309020205020404" pitchFamily="49" charset="0"/>
                <a:cs typeface="Courier New" panose="02070309020205020404" pitchFamily="49" charset="0"/>
              </a:rPr>
            </a:br>
            <a:r>
              <a:rPr lang="en-US" altLang="en-US" sz="1400" b="0" dirty="0">
                <a:solidFill>
                  <a:srgbClr val="007FA3"/>
                </a:solidFill>
                <a:latin typeface="Courier New" panose="02070309020205020404" pitchFamily="49" charset="0"/>
                <a:cs typeface="Courier New" panose="02070309020205020404" pitchFamily="49" charset="0"/>
              </a:rPr>
              <a:t>24</a:t>
            </a:r>
            <a:r>
              <a:rPr lang="en-US" altLang="en-US" sz="1400" b="0" dirty="0">
                <a:solidFill>
                  <a:srgbClr val="000000"/>
                </a:solidFill>
                <a:latin typeface="Courier New" panose="02070309020205020404" pitchFamily="49" charset="0"/>
                <a:cs typeface="Courier New" panose="02070309020205020404" pitchFamily="49" charset="0"/>
              </a:rPr>
              <a:t> </a:t>
            </a:r>
            <a:br>
              <a:rPr lang="en-US" altLang="en-US" sz="1400" b="0" dirty="0">
                <a:solidFill>
                  <a:srgbClr val="000000"/>
                </a:solidFill>
                <a:latin typeface="Courier New" panose="02070309020205020404" pitchFamily="49" charset="0"/>
                <a:cs typeface="Courier New" panose="02070309020205020404" pitchFamily="49" charset="0"/>
              </a:rPr>
            </a:br>
            <a:r>
              <a:rPr lang="en-US" altLang="en-US" sz="1400" b="0" dirty="0">
                <a:solidFill>
                  <a:srgbClr val="007FA3"/>
                </a:solidFill>
                <a:latin typeface="Courier New" panose="02070309020205020404" pitchFamily="49" charset="0"/>
                <a:cs typeface="Courier New" panose="02070309020205020404" pitchFamily="49" charset="0"/>
              </a:rPr>
              <a:t>25</a:t>
            </a:r>
            <a:r>
              <a:rPr lang="en-US" altLang="en-US" sz="1400" b="0" dirty="0">
                <a:solidFill>
                  <a:srgbClr val="000000"/>
                </a:solidFill>
                <a:latin typeface="Courier New" panose="02070309020205020404" pitchFamily="49" charset="0"/>
                <a:cs typeface="Courier New" panose="02070309020205020404" pitchFamily="49" charset="0"/>
              </a:rPr>
              <a:t>         # Enter the </a:t>
            </a:r>
            <a:r>
              <a:rPr lang="en-US" altLang="en-US" sz="1400" b="0" dirty="0" err="1">
                <a:solidFill>
                  <a:srgbClr val="000000"/>
                </a:solidFill>
                <a:latin typeface="Courier New" panose="02070309020205020404" pitchFamily="49" charset="0"/>
                <a:cs typeface="Courier New" panose="02070309020205020404" pitchFamily="49" charset="0"/>
              </a:rPr>
              <a:t>tkinter</a:t>
            </a:r>
            <a:r>
              <a:rPr lang="en-US" altLang="en-US" sz="1400" b="0" dirty="0">
                <a:solidFill>
                  <a:srgbClr val="000000"/>
                </a:solidFill>
                <a:latin typeface="Courier New" panose="02070309020205020404" pitchFamily="49" charset="0"/>
                <a:cs typeface="Courier New" panose="02070309020205020404" pitchFamily="49" charset="0"/>
              </a:rPr>
              <a:t> main loop.</a:t>
            </a:r>
            <a:br>
              <a:rPr lang="en-US" altLang="en-US" sz="1400" b="0" dirty="0">
                <a:solidFill>
                  <a:srgbClr val="000000"/>
                </a:solidFill>
                <a:latin typeface="Courier New" panose="02070309020205020404" pitchFamily="49" charset="0"/>
                <a:cs typeface="Courier New" panose="02070309020205020404" pitchFamily="49" charset="0"/>
              </a:rPr>
            </a:br>
            <a:r>
              <a:rPr lang="en-US" altLang="en-US" sz="1400" b="0" dirty="0">
                <a:solidFill>
                  <a:srgbClr val="007FA3"/>
                </a:solidFill>
                <a:latin typeface="Courier New" panose="02070309020205020404" pitchFamily="49" charset="0"/>
                <a:cs typeface="Courier New" panose="02070309020205020404" pitchFamily="49" charset="0"/>
              </a:rPr>
              <a:t>26</a:t>
            </a:r>
            <a:r>
              <a:rPr lang="en-US" altLang="en-US" sz="1400" b="0" dirty="0">
                <a:solidFill>
                  <a:srgbClr val="000000"/>
                </a:solidFill>
                <a:latin typeface="Courier New" panose="02070309020205020404" pitchFamily="49" charset="0"/>
                <a:cs typeface="Courier New" panose="02070309020205020404" pitchFamily="49" charset="0"/>
              </a:rPr>
              <a:t>         </a:t>
            </a:r>
            <a:r>
              <a:rPr lang="en-US" altLang="en-US" sz="1400" b="0" dirty="0" err="1">
                <a:solidFill>
                  <a:srgbClr val="000000"/>
                </a:solidFill>
                <a:latin typeface="Courier New" panose="02070309020205020404" pitchFamily="49" charset="0"/>
                <a:cs typeface="Courier New" panose="02070309020205020404" pitchFamily="49" charset="0"/>
              </a:rPr>
              <a:t>tkinter.mainloop</a:t>
            </a:r>
            <a:r>
              <a:rPr lang="en-US" altLang="en-US" sz="1400" b="0" dirty="0">
                <a:solidFill>
                  <a:srgbClr val="000000"/>
                </a:solidFill>
                <a:latin typeface="Courier New" panose="02070309020205020404" pitchFamily="49" charset="0"/>
                <a:cs typeface="Courier New" panose="02070309020205020404" pitchFamily="49" charset="0"/>
              </a:rPr>
              <a:t>()</a:t>
            </a:r>
            <a:br>
              <a:rPr lang="en-US" altLang="en-US" sz="1400" b="0" dirty="0">
                <a:solidFill>
                  <a:srgbClr val="000000"/>
                </a:solidFill>
                <a:latin typeface="Courier New" panose="02070309020205020404" pitchFamily="49" charset="0"/>
                <a:cs typeface="Courier New" panose="02070309020205020404" pitchFamily="49" charset="0"/>
              </a:rPr>
            </a:br>
            <a:r>
              <a:rPr lang="en-US" altLang="en-US" sz="1400" b="0" dirty="0">
                <a:solidFill>
                  <a:srgbClr val="007FA3"/>
                </a:solidFill>
                <a:latin typeface="Courier New" panose="02070309020205020404" pitchFamily="49" charset="0"/>
                <a:cs typeface="Courier New" panose="02070309020205020404" pitchFamily="49" charset="0"/>
              </a:rPr>
              <a:t>27</a:t>
            </a:r>
            <a:r>
              <a:rPr lang="en-US" altLang="en-US" sz="1400" b="0" dirty="0">
                <a:solidFill>
                  <a:srgbClr val="000000"/>
                </a:solidFill>
                <a:latin typeface="Courier New" panose="02070309020205020404" pitchFamily="49" charset="0"/>
                <a:cs typeface="Courier New" panose="02070309020205020404" pitchFamily="49" charset="0"/>
              </a:rPr>
              <a:t> </a:t>
            </a:r>
            <a:br>
              <a:rPr lang="en-US" altLang="en-US" sz="1400" b="0" dirty="0">
                <a:solidFill>
                  <a:srgbClr val="000000"/>
                </a:solidFill>
                <a:latin typeface="Courier New" panose="02070309020205020404" pitchFamily="49" charset="0"/>
                <a:cs typeface="Courier New" panose="02070309020205020404" pitchFamily="49" charset="0"/>
              </a:rPr>
            </a:br>
            <a:r>
              <a:rPr lang="en-US" altLang="en-US" sz="1400" b="0" dirty="0">
                <a:solidFill>
                  <a:srgbClr val="007FA3"/>
                </a:solidFill>
                <a:latin typeface="Courier New" panose="02070309020205020404" pitchFamily="49" charset="0"/>
                <a:cs typeface="Courier New" panose="02070309020205020404" pitchFamily="49" charset="0"/>
              </a:rPr>
              <a:t>28</a:t>
            </a:r>
            <a:r>
              <a:rPr lang="en-US" altLang="en-US" sz="1400" b="0" dirty="0">
                <a:solidFill>
                  <a:srgbClr val="000000"/>
                </a:solidFill>
                <a:latin typeface="Courier New" panose="02070309020205020404" pitchFamily="49" charset="0"/>
                <a:cs typeface="Courier New" panose="02070309020205020404" pitchFamily="49" charset="0"/>
              </a:rPr>
              <a:t> # Create an instance of the </a:t>
            </a:r>
            <a:r>
              <a:rPr lang="en-US" altLang="en-US" sz="1400" b="0" dirty="0" err="1">
                <a:solidFill>
                  <a:srgbClr val="000000"/>
                </a:solidFill>
                <a:latin typeface="Courier New" panose="02070309020205020404" pitchFamily="49" charset="0"/>
                <a:cs typeface="Courier New" panose="02070309020205020404" pitchFamily="49" charset="0"/>
              </a:rPr>
              <a:t>MyGUI</a:t>
            </a:r>
            <a:r>
              <a:rPr lang="en-US" altLang="en-US" sz="1400" b="0" dirty="0">
                <a:solidFill>
                  <a:srgbClr val="000000"/>
                </a:solidFill>
                <a:latin typeface="Courier New" panose="02070309020205020404" pitchFamily="49" charset="0"/>
                <a:cs typeface="Courier New" panose="02070309020205020404" pitchFamily="49" charset="0"/>
              </a:rPr>
              <a:t> class.</a:t>
            </a:r>
            <a:br>
              <a:rPr lang="en-US" altLang="en-US" sz="1400" b="0" dirty="0">
                <a:solidFill>
                  <a:srgbClr val="000000"/>
                </a:solidFill>
                <a:latin typeface="Courier New" panose="02070309020205020404" pitchFamily="49" charset="0"/>
                <a:cs typeface="Courier New" panose="02070309020205020404" pitchFamily="49" charset="0"/>
              </a:rPr>
            </a:br>
            <a:r>
              <a:rPr lang="en-US" altLang="en-US" sz="1400" b="0" dirty="0">
                <a:solidFill>
                  <a:srgbClr val="007FA3"/>
                </a:solidFill>
                <a:latin typeface="Courier New" panose="02070309020205020404" pitchFamily="49" charset="0"/>
                <a:cs typeface="Courier New" panose="02070309020205020404" pitchFamily="49" charset="0"/>
              </a:rPr>
              <a:t>29</a:t>
            </a:r>
            <a:r>
              <a:rPr lang="en-US" altLang="en-US" sz="1400" b="0" dirty="0">
                <a:solidFill>
                  <a:srgbClr val="000000"/>
                </a:solidFill>
                <a:latin typeface="Courier New" panose="02070309020205020404" pitchFamily="49" charset="0"/>
                <a:cs typeface="Courier New" panose="02070309020205020404" pitchFamily="49" charset="0"/>
              </a:rPr>
              <a:t> if __name__ == '__main__':</a:t>
            </a:r>
            <a:br>
              <a:rPr lang="en-US" altLang="en-US" sz="1400" b="0" dirty="0">
                <a:solidFill>
                  <a:srgbClr val="000000"/>
                </a:solidFill>
                <a:latin typeface="Courier New" panose="02070309020205020404" pitchFamily="49" charset="0"/>
                <a:cs typeface="Courier New" panose="02070309020205020404" pitchFamily="49" charset="0"/>
              </a:rPr>
            </a:br>
            <a:r>
              <a:rPr lang="en-US" altLang="en-US" sz="1400" b="0" dirty="0">
                <a:solidFill>
                  <a:srgbClr val="007FA3"/>
                </a:solidFill>
                <a:latin typeface="Courier New" panose="02070309020205020404" pitchFamily="49" charset="0"/>
                <a:cs typeface="Courier New" panose="02070309020205020404" pitchFamily="49" charset="0"/>
              </a:rPr>
              <a:t>30</a:t>
            </a:r>
            <a:r>
              <a:rPr lang="en-US" altLang="en-US" sz="1400" b="0" dirty="0">
                <a:solidFill>
                  <a:srgbClr val="000000"/>
                </a:solidFill>
                <a:latin typeface="Courier New" panose="02070309020205020404" pitchFamily="49" charset="0"/>
                <a:cs typeface="Courier New" panose="02070309020205020404" pitchFamily="49" charset="0"/>
              </a:rPr>
              <a:t>     </a:t>
            </a:r>
            <a:r>
              <a:rPr lang="en-US" altLang="en-US" sz="1400" b="0" dirty="0" err="1">
                <a:solidFill>
                  <a:srgbClr val="000000"/>
                </a:solidFill>
                <a:latin typeface="Courier New" panose="02070309020205020404" pitchFamily="49" charset="0"/>
                <a:cs typeface="Courier New" panose="02070309020205020404" pitchFamily="49" charset="0"/>
              </a:rPr>
              <a:t>my_gui</a:t>
            </a:r>
            <a:r>
              <a:rPr lang="en-US" altLang="en-US" sz="1400" b="0" dirty="0">
                <a:solidFill>
                  <a:srgbClr val="000000"/>
                </a:solidFill>
                <a:latin typeface="Courier New" panose="02070309020205020404" pitchFamily="49" charset="0"/>
                <a:cs typeface="Courier New" panose="02070309020205020404" pitchFamily="49" charset="0"/>
              </a:rPr>
              <a:t> = </a:t>
            </a:r>
            <a:r>
              <a:rPr lang="en-US" altLang="en-US" sz="1400" b="0" dirty="0" err="1">
                <a:solidFill>
                  <a:srgbClr val="000000"/>
                </a:solidFill>
                <a:latin typeface="Courier New" panose="02070309020205020404" pitchFamily="49" charset="0"/>
                <a:cs typeface="Courier New" panose="02070309020205020404" pitchFamily="49" charset="0"/>
              </a:rPr>
              <a:t>MyGUI</a:t>
            </a:r>
            <a:r>
              <a:rPr lang="en-US" altLang="en-US" sz="1400" b="0" dirty="0">
                <a:solidFill>
                  <a:srgbClr val="000000"/>
                </a:solidFill>
                <a:latin typeface="Courier New" panose="02070309020205020404" pitchFamily="49" charset="0"/>
                <a:cs typeface="Courier New" panose="02070309020205020404" pitchFamily="49" charset="0"/>
              </a:rPr>
              <a:t>()</a:t>
            </a:r>
            <a:endParaRPr lang="en-US" altLang="en-US" sz="1400" b="0" dirty="0">
              <a:latin typeface="Courier New" panose="02070309020205020404" pitchFamily="49" charset="0"/>
              <a:ea typeface="Calibri" panose="020F0502020204030204" pitchFamily="34" charset="0"/>
              <a:cs typeface="Courier New" panose="02070309020205020404" pitchFamily="49" charset="0"/>
            </a:endParaRPr>
          </a:p>
        </p:txBody>
      </p:sp>
    </p:spTree>
    <p:extLst>
      <p:ext uri="{BB962C8B-B14F-4D97-AF65-F5344CB8AC3E}">
        <p14:creationId xmlns:p14="http://schemas.microsoft.com/office/powerpoint/2010/main" val="10602500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2">
            <a:extLst>
              <a:ext uri="{FF2B5EF4-FFF2-40B4-BE49-F238E27FC236}">
                <a16:creationId xmlns:a16="http://schemas.microsoft.com/office/drawing/2014/main" id="{628F2D0A-9873-416D-A000-C1BDB702D113}"/>
              </a:ext>
            </a:extLst>
          </p:cNvPr>
          <p:cNvSpPr>
            <a:spLocks noGrp="1" noChangeArrowheads="1"/>
          </p:cNvSpPr>
          <p:nvPr>
            <p:ph type="title"/>
          </p:nvPr>
        </p:nvSpPr>
        <p:spPr/>
        <p:txBody>
          <a:bodyPr/>
          <a:lstStyle/>
          <a:p>
            <a:r>
              <a:rPr lang="en-US" altLang="en-US" dirty="0"/>
              <a:t>External Padding</a:t>
            </a:r>
            <a:r>
              <a:rPr lang="en-AU" sz="2000" b="0" dirty="0"/>
              <a:t> (1 of 3)</a:t>
            </a:r>
            <a:endParaRPr lang="en-US" altLang="en-US" sz="2000" dirty="0"/>
          </a:p>
        </p:txBody>
      </p:sp>
      <p:sp>
        <p:nvSpPr>
          <p:cNvPr id="26627" name="Content Placeholder 3">
            <a:extLst>
              <a:ext uri="{FF2B5EF4-FFF2-40B4-BE49-F238E27FC236}">
                <a16:creationId xmlns:a16="http://schemas.microsoft.com/office/drawing/2014/main" id="{38AE5DD0-DF62-4423-B0A9-AE1E466ABB93}"/>
              </a:ext>
            </a:extLst>
          </p:cNvPr>
          <p:cNvSpPr>
            <a:spLocks noGrp="1" noChangeArrowheads="1"/>
          </p:cNvSpPr>
          <p:nvPr>
            <p:ph idx="1"/>
          </p:nvPr>
        </p:nvSpPr>
        <p:spPr>
          <a:xfrm>
            <a:off x="457200" y="1600200"/>
            <a:ext cx="8229600" cy="1722759"/>
          </a:xfrm>
        </p:spPr>
        <p:txBody>
          <a:bodyPr/>
          <a:lstStyle/>
          <a:p>
            <a:pPr>
              <a:buFontTx/>
              <a:buChar char="•"/>
            </a:pPr>
            <a:r>
              <a:rPr lang="en-US" altLang="en-US" sz="2400" dirty="0"/>
              <a:t>To add horizontal external padding to a widget, pass the argument </a:t>
            </a:r>
            <a:r>
              <a:rPr lang="en-US" altLang="en-US" sz="2400" dirty="0" err="1">
                <a:latin typeface="Courier New" panose="02070309020205020404" pitchFamily="49" charset="0"/>
                <a:cs typeface="Courier New" panose="02070309020205020404" pitchFamily="49" charset="0"/>
              </a:rPr>
              <a:t>padx</a:t>
            </a:r>
            <a:r>
              <a:rPr lang="en-US" altLang="en-US" sz="2400" dirty="0">
                <a:latin typeface="Courier New" panose="02070309020205020404" pitchFamily="49" charset="0"/>
                <a:cs typeface="Courier New" panose="02070309020205020404" pitchFamily="49" charset="0"/>
              </a:rPr>
              <a:t>=</a:t>
            </a:r>
            <a:r>
              <a:rPr lang="en-US" altLang="en-US" sz="2400" i="1" dirty="0">
                <a:latin typeface="Courier New" panose="02070309020205020404" pitchFamily="49" charset="0"/>
                <a:cs typeface="Courier New" panose="02070309020205020404" pitchFamily="49" charset="0"/>
              </a:rPr>
              <a:t>n</a:t>
            </a:r>
            <a:r>
              <a:rPr lang="en-US" altLang="en-US" sz="2400" dirty="0"/>
              <a:t> to the widget's </a:t>
            </a:r>
            <a:r>
              <a:rPr lang="en-US" altLang="en-US" sz="2400" dirty="0">
                <a:latin typeface="Courier New" panose="02070309020205020404" pitchFamily="49" charset="0"/>
                <a:cs typeface="Courier New" panose="02070309020205020404" pitchFamily="49" charset="0"/>
              </a:rPr>
              <a:t>pack</a:t>
            </a:r>
            <a:r>
              <a:rPr lang="en-US" altLang="en-US" sz="2400" dirty="0"/>
              <a:t> method</a:t>
            </a:r>
          </a:p>
          <a:p>
            <a:pPr>
              <a:buFontTx/>
              <a:buChar char="•"/>
            </a:pPr>
            <a:r>
              <a:rPr lang="en-US" altLang="en-US" sz="2400" dirty="0"/>
              <a:t>To add vertical external padding to a widget, pass the argument </a:t>
            </a:r>
            <a:r>
              <a:rPr lang="en-US" altLang="en-US" sz="2400" dirty="0" err="1">
                <a:latin typeface="Courier New" panose="02070309020205020404" pitchFamily="49" charset="0"/>
                <a:cs typeface="Courier New" panose="02070309020205020404" pitchFamily="49" charset="0"/>
              </a:rPr>
              <a:t>pady</a:t>
            </a:r>
            <a:r>
              <a:rPr lang="en-US" altLang="en-US" sz="2400" dirty="0">
                <a:latin typeface="Courier New" panose="02070309020205020404" pitchFamily="49" charset="0"/>
                <a:cs typeface="Courier New" panose="02070309020205020404" pitchFamily="49" charset="0"/>
              </a:rPr>
              <a:t>=</a:t>
            </a:r>
            <a:r>
              <a:rPr lang="en-US" altLang="en-US" sz="2400" i="1" dirty="0">
                <a:latin typeface="Courier New" panose="02070309020205020404" pitchFamily="49" charset="0"/>
                <a:cs typeface="Courier New" panose="02070309020205020404" pitchFamily="49" charset="0"/>
              </a:rPr>
              <a:t>n</a:t>
            </a:r>
            <a:r>
              <a:rPr lang="en-US" altLang="en-US" sz="2400" dirty="0"/>
              <a:t> to the widget's </a:t>
            </a:r>
            <a:r>
              <a:rPr lang="en-US" altLang="en-US" sz="2400" dirty="0">
                <a:latin typeface="Courier New" panose="02070309020205020404" pitchFamily="49" charset="0"/>
                <a:cs typeface="Courier New" panose="02070309020205020404" pitchFamily="49" charset="0"/>
              </a:rPr>
              <a:t>pack</a:t>
            </a:r>
            <a:r>
              <a:rPr lang="en-US" altLang="en-US" sz="2400" dirty="0"/>
              <a:t> method</a:t>
            </a:r>
          </a:p>
          <a:p>
            <a:pPr>
              <a:buFontTx/>
              <a:buChar char="•"/>
            </a:pPr>
            <a:endParaRPr lang="en-US" altLang="en-US" sz="2400" dirty="0"/>
          </a:p>
          <a:p>
            <a:pPr>
              <a:buFontTx/>
              <a:buChar char="•"/>
            </a:pPr>
            <a:endParaRPr lang="en-US" altLang="en-US" sz="2400" dirty="0"/>
          </a:p>
        </p:txBody>
      </p:sp>
      <p:pic>
        <p:nvPicPr>
          <p:cNvPr id="26628" name="Picture 4" descr="Two frames pad x = n and pad y = n displays horizontal and vertical internet padding with label, size of the widget.">
            <a:extLst>
              <a:ext uri="{FF2B5EF4-FFF2-40B4-BE49-F238E27FC236}">
                <a16:creationId xmlns:a16="http://schemas.microsoft.com/office/drawing/2014/main" id="{9D9C2DD7-D80D-4DA0-AD55-3E02478E88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1793875" y="3535041"/>
            <a:ext cx="5556250" cy="2740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21421-93B5-45C7-8636-5E1EA6C207C9}"/>
              </a:ext>
            </a:extLst>
          </p:cNvPr>
          <p:cNvSpPr>
            <a:spLocks noGrp="1"/>
          </p:cNvSpPr>
          <p:nvPr>
            <p:ph type="title"/>
          </p:nvPr>
        </p:nvSpPr>
        <p:spPr>
          <a:xfrm>
            <a:off x="457200" y="215372"/>
            <a:ext cx="8229600" cy="516465"/>
          </a:xfrm>
        </p:spPr>
        <p:txBody>
          <a:bodyPr/>
          <a:lstStyle/>
          <a:p>
            <a:r>
              <a:rPr lang="en-US" altLang="en-US" dirty="0"/>
              <a:t>External Padding</a:t>
            </a:r>
            <a:r>
              <a:rPr lang="en-AU" sz="2000" b="0" dirty="0"/>
              <a:t> (2 of 3)</a:t>
            </a:r>
            <a:endParaRPr lang="en-AU" sz="2000" dirty="0"/>
          </a:p>
        </p:txBody>
      </p:sp>
      <p:sp>
        <p:nvSpPr>
          <p:cNvPr id="4" name="Text Box 2">
            <a:extLst>
              <a:ext uri="{FF2B5EF4-FFF2-40B4-BE49-F238E27FC236}">
                <a16:creationId xmlns:a16="http://schemas.microsoft.com/office/drawing/2014/main" id="{7211F33E-C9BD-42A4-ACF8-CFBEA544B8FF}"/>
              </a:ext>
            </a:extLst>
          </p:cNvPr>
          <p:cNvSpPr txBox="1">
            <a:spLocks noGrp="1" noChangeArrowheads="1"/>
          </p:cNvSpPr>
          <p:nvPr>
            <p:ph idx="1"/>
          </p:nvPr>
        </p:nvSpPr>
        <p:spPr bwMode="auto">
          <a:xfrm>
            <a:off x="452176" y="820597"/>
            <a:ext cx="8463224" cy="55040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marL="0" indent="0">
              <a:spcBef>
                <a:spcPct val="0"/>
              </a:spcBef>
              <a:buFontTx/>
              <a:buNone/>
            </a:pPr>
            <a:r>
              <a:rPr lang="en-US" altLang="en-US" sz="1200" b="0" dirty="0">
                <a:solidFill>
                  <a:srgbClr val="00B0F0"/>
                </a:solidFill>
                <a:latin typeface="Courier New" panose="02070309020205020404" pitchFamily="49" charset="0"/>
                <a:ea typeface="Calibri" panose="020F0502020204030204" pitchFamily="34" charset="0"/>
                <a:cs typeface="Times New Roman" panose="02020603050405020304" pitchFamily="18" charset="0"/>
              </a:rPr>
              <a:t> 1</a:t>
            </a:r>
            <a: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This program demonstrates external padding.</a:t>
            </a:r>
            <a:b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altLang="en-US" sz="1200" b="0" dirty="0">
                <a:solidFill>
                  <a:srgbClr val="00B0F0"/>
                </a:solidFill>
                <a:latin typeface="Courier New" panose="02070309020205020404" pitchFamily="49" charset="0"/>
                <a:ea typeface="Calibri" panose="020F0502020204030204" pitchFamily="34" charset="0"/>
                <a:cs typeface="Times New Roman" panose="02020603050405020304" pitchFamily="18" charset="0"/>
              </a:rPr>
              <a:t> 2</a:t>
            </a:r>
            <a: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import </a:t>
            </a:r>
            <a:r>
              <a:rPr lang="en-US" altLang="en-US" sz="12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tkinter</a:t>
            </a:r>
            <a:b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altLang="en-US" sz="1200" b="0" dirty="0">
                <a:solidFill>
                  <a:srgbClr val="00B0F0"/>
                </a:solidFill>
                <a:latin typeface="Courier New" panose="02070309020205020404" pitchFamily="49" charset="0"/>
                <a:ea typeface="Calibri" panose="020F0502020204030204" pitchFamily="34" charset="0"/>
                <a:cs typeface="Times New Roman" panose="02020603050405020304" pitchFamily="18" charset="0"/>
              </a:rPr>
              <a:t> 3</a:t>
            </a:r>
            <a: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 </a:t>
            </a:r>
            <a:b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br>
            <a:r>
              <a:rPr lang="en-US" altLang="en-US" sz="1200" b="0" dirty="0">
                <a:solidFill>
                  <a:srgbClr val="00B0F0"/>
                </a:solidFill>
                <a:latin typeface="Courier New" panose="02070309020205020404" pitchFamily="49" charset="0"/>
                <a:ea typeface="Calibri" panose="020F0502020204030204" pitchFamily="34" charset="0"/>
                <a:cs typeface="Times New Roman" panose="02020603050405020304" pitchFamily="18" charset="0"/>
              </a:rPr>
              <a:t> 4</a:t>
            </a:r>
            <a: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class </a:t>
            </a:r>
            <a:r>
              <a:rPr lang="en-US" altLang="en-US" sz="12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MyGUI</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b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altLang="en-US" sz="1200" b="0" dirty="0">
                <a:solidFill>
                  <a:srgbClr val="00B0F0"/>
                </a:solidFill>
                <a:latin typeface="Courier New" panose="02070309020205020404" pitchFamily="49" charset="0"/>
                <a:ea typeface="Calibri" panose="020F0502020204030204" pitchFamily="34" charset="0"/>
                <a:cs typeface="Times New Roman" panose="02020603050405020304" pitchFamily="18" charset="0"/>
              </a:rPr>
              <a:t> 5</a:t>
            </a:r>
            <a: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def __</a:t>
            </a:r>
            <a:r>
              <a:rPr lang="en-US" altLang="en-US" sz="12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init</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__(self):</a:t>
            </a:r>
            <a:b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altLang="en-US" sz="1200" b="0" dirty="0">
                <a:solidFill>
                  <a:srgbClr val="00B0F0"/>
                </a:solidFill>
                <a:latin typeface="Courier New" panose="02070309020205020404" pitchFamily="49" charset="0"/>
                <a:ea typeface="Calibri" panose="020F0502020204030204" pitchFamily="34" charset="0"/>
                <a:cs typeface="Times New Roman" panose="02020603050405020304" pitchFamily="18" charset="0"/>
              </a:rPr>
              <a:t> 6</a:t>
            </a:r>
            <a: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 Create the main window widget.</a:t>
            </a:r>
            <a:b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altLang="en-US" sz="1200" b="0" dirty="0">
                <a:solidFill>
                  <a:srgbClr val="00B0F0"/>
                </a:solidFill>
                <a:latin typeface="Courier New" panose="02070309020205020404" pitchFamily="49" charset="0"/>
                <a:ea typeface="Calibri" panose="020F0502020204030204" pitchFamily="34" charset="0"/>
                <a:cs typeface="Times New Roman" panose="02020603050405020304" pitchFamily="18" charset="0"/>
              </a:rPr>
              <a:t> 7</a:t>
            </a:r>
            <a: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2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self.main_window</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 </a:t>
            </a:r>
            <a:r>
              <a:rPr lang="en-US" altLang="en-US" sz="12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tkinter.Tk</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b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altLang="en-US" sz="1200" b="0" dirty="0">
                <a:solidFill>
                  <a:srgbClr val="00B0F0"/>
                </a:solidFill>
                <a:latin typeface="Courier New" panose="02070309020205020404" pitchFamily="49" charset="0"/>
                <a:ea typeface="Calibri" panose="020F0502020204030204" pitchFamily="34" charset="0"/>
                <a:cs typeface="Times New Roman" panose="02020603050405020304" pitchFamily="18" charset="0"/>
              </a:rPr>
              <a:t> 8</a:t>
            </a:r>
            <a: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 </a:t>
            </a:r>
            <a:b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br>
            <a:r>
              <a:rPr lang="en-US" altLang="en-US" sz="1200" b="0" dirty="0">
                <a:solidFill>
                  <a:srgbClr val="00B0F0"/>
                </a:solidFill>
                <a:latin typeface="Courier New" panose="02070309020205020404" pitchFamily="49" charset="0"/>
                <a:ea typeface="Calibri" panose="020F0502020204030204" pitchFamily="34" charset="0"/>
                <a:cs typeface="Times New Roman" panose="02020603050405020304" pitchFamily="18" charset="0"/>
              </a:rPr>
              <a:t> 9</a:t>
            </a:r>
            <a: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 Create two Label widgets with solid borders.</a:t>
            </a:r>
            <a:b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altLang="en-US" sz="1200" b="0" dirty="0">
                <a:solidFill>
                  <a:srgbClr val="00B0F0"/>
                </a:solidFill>
                <a:latin typeface="Courier New" panose="02070309020205020404" pitchFamily="49" charset="0"/>
                <a:ea typeface="Calibri" panose="020F0502020204030204" pitchFamily="34" charset="0"/>
                <a:cs typeface="Times New Roman" panose="02020603050405020304" pitchFamily="18" charset="0"/>
              </a:rPr>
              <a:t>10</a:t>
            </a:r>
            <a: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self.label1 = </a:t>
            </a:r>
            <a:r>
              <a:rPr lang="en-US" altLang="en-US" sz="12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tkinter.Label</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r>
              <a:rPr lang="en-US" altLang="en-US" sz="12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self.main_window</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b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altLang="en-US" sz="1200" b="0" dirty="0">
                <a:solidFill>
                  <a:srgbClr val="00B0F0"/>
                </a:solidFill>
                <a:latin typeface="Courier New" panose="02070309020205020404" pitchFamily="49" charset="0"/>
                <a:ea typeface="Calibri" panose="020F0502020204030204" pitchFamily="34" charset="0"/>
                <a:cs typeface="Times New Roman" panose="02020603050405020304" pitchFamily="18" charset="0"/>
              </a:rPr>
              <a:t>11</a:t>
            </a:r>
            <a: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text='Hello World!',</a:t>
            </a:r>
            <a:b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altLang="en-US" sz="1200" b="0" dirty="0">
                <a:solidFill>
                  <a:srgbClr val="00B0F0"/>
                </a:solidFill>
                <a:latin typeface="Courier New" panose="02070309020205020404" pitchFamily="49" charset="0"/>
                <a:ea typeface="Calibri" panose="020F0502020204030204" pitchFamily="34" charset="0"/>
                <a:cs typeface="Times New Roman" panose="02020603050405020304" pitchFamily="18" charset="0"/>
              </a:rPr>
              <a:t>12</a:t>
            </a:r>
            <a: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2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borderwidth</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=1,</a:t>
            </a:r>
            <a:b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altLang="en-US" sz="1200" b="0" dirty="0">
                <a:solidFill>
                  <a:srgbClr val="00B0F0"/>
                </a:solidFill>
                <a:latin typeface="Courier New" panose="02070309020205020404" pitchFamily="49" charset="0"/>
                <a:ea typeface="Calibri" panose="020F0502020204030204" pitchFamily="34" charset="0"/>
                <a:cs typeface="Times New Roman" panose="02020603050405020304" pitchFamily="18" charset="0"/>
              </a:rPr>
              <a:t>13</a:t>
            </a:r>
            <a: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relief='solid')</a:t>
            </a:r>
            <a:b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altLang="en-US" sz="1200" b="0" dirty="0">
                <a:solidFill>
                  <a:srgbClr val="00B0F0"/>
                </a:solidFill>
                <a:latin typeface="Courier New" panose="02070309020205020404" pitchFamily="49" charset="0"/>
                <a:ea typeface="Calibri" panose="020F0502020204030204" pitchFamily="34" charset="0"/>
                <a:cs typeface="Times New Roman" panose="02020603050405020304" pitchFamily="18" charset="0"/>
              </a:rPr>
              <a:t>14</a:t>
            </a:r>
            <a: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a:t>
            </a:r>
            <a:b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altLang="en-US" sz="1200" b="0" dirty="0">
                <a:solidFill>
                  <a:srgbClr val="00B0F0"/>
                </a:solidFill>
                <a:latin typeface="Courier New" panose="02070309020205020404" pitchFamily="49" charset="0"/>
                <a:ea typeface="Calibri" panose="020F0502020204030204" pitchFamily="34" charset="0"/>
                <a:cs typeface="Times New Roman" panose="02020603050405020304" pitchFamily="18" charset="0"/>
              </a:rPr>
              <a:t>15</a:t>
            </a:r>
            <a: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self.label2 = </a:t>
            </a:r>
            <a:r>
              <a:rPr lang="en-US" altLang="en-US" sz="12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tkinter.Label</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r>
              <a:rPr lang="en-US" altLang="en-US" sz="12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self.main_window</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b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altLang="en-US" sz="1200" b="0" dirty="0">
                <a:solidFill>
                  <a:srgbClr val="00B0F0"/>
                </a:solidFill>
                <a:latin typeface="Courier New" panose="02070309020205020404" pitchFamily="49" charset="0"/>
                <a:ea typeface="Calibri" panose="020F0502020204030204" pitchFamily="34" charset="0"/>
                <a:cs typeface="Times New Roman" panose="02020603050405020304" pitchFamily="18" charset="0"/>
              </a:rPr>
              <a:t>16</a:t>
            </a:r>
            <a: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text='This is my GUI program.',</a:t>
            </a:r>
            <a:b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altLang="en-US" sz="1200" b="0" dirty="0">
                <a:solidFill>
                  <a:srgbClr val="00B0F0"/>
                </a:solidFill>
                <a:latin typeface="Courier New" panose="02070309020205020404" pitchFamily="49" charset="0"/>
                <a:ea typeface="Calibri" panose="020F0502020204030204" pitchFamily="34" charset="0"/>
                <a:cs typeface="Times New Roman" panose="02020603050405020304" pitchFamily="18" charset="0"/>
              </a:rPr>
              <a:t>17</a:t>
            </a:r>
            <a: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2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borderwidth</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=1,</a:t>
            </a:r>
            <a:b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altLang="en-US" sz="1200" b="0" dirty="0">
                <a:solidFill>
                  <a:srgbClr val="00B0F0"/>
                </a:solidFill>
                <a:latin typeface="Courier New" panose="02070309020205020404" pitchFamily="49" charset="0"/>
                <a:ea typeface="Calibri" panose="020F0502020204030204" pitchFamily="34" charset="0"/>
                <a:cs typeface="Times New Roman" panose="02020603050405020304" pitchFamily="18" charset="0"/>
              </a:rPr>
              <a:t>18</a:t>
            </a:r>
            <a: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relief='solid')</a:t>
            </a:r>
            <a:b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altLang="en-US" sz="1200" b="0" dirty="0">
                <a:solidFill>
                  <a:srgbClr val="00B0F0"/>
                </a:solidFill>
                <a:latin typeface="Courier New" panose="02070309020205020404" pitchFamily="49" charset="0"/>
                <a:ea typeface="Calibri" panose="020F0502020204030204" pitchFamily="34" charset="0"/>
                <a:cs typeface="Times New Roman" panose="02020603050405020304" pitchFamily="18" charset="0"/>
              </a:rPr>
              <a:t>19</a:t>
            </a:r>
            <a: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 </a:t>
            </a:r>
            <a:b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br>
            <a:r>
              <a:rPr lang="en-US" altLang="en-US" sz="1200" b="0" dirty="0">
                <a:solidFill>
                  <a:srgbClr val="00B0F0"/>
                </a:solidFill>
                <a:latin typeface="Courier New" panose="02070309020205020404" pitchFamily="49" charset="0"/>
                <a:ea typeface="Calibri" panose="020F0502020204030204" pitchFamily="34" charset="0"/>
                <a:cs typeface="Times New Roman" panose="02020603050405020304" pitchFamily="18" charset="0"/>
              </a:rPr>
              <a:t>20</a:t>
            </a:r>
            <a: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 Display the Labels with 20 pixels of horizontal</a:t>
            </a:r>
            <a:b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altLang="en-US" sz="1200" b="0" dirty="0">
                <a:solidFill>
                  <a:srgbClr val="00B0F0"/>
                </a:solidFill>
                <a:latin typeface="Courier New" panose="02070309020205020404" pitchFamily="49" charset="0"/>
                <a:ea typeface="Calibri" panose="020F0502020204030204" pitchFamily="34" charset="0"/>
                <a:cs typeface="Times New Roman" panose="02020603050405020304" pitchFamily="18" charset="0"/>
              </a:rPr>
              <a:t>21</a:t>
            </a:r>
            <a: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 and vertical external padding.</a:t>
            </a:r>
            <a:b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altLang="en-US" sz="1200" b="0" dirty="0">
                <a:solidFill>
                  <a:srgbClr val="00B0F0"/>
                </a:solidFill>
                <a:latin typeface="Courier New" panose="02070309020205020404" pitchFamily="49" charset="0"/>
                <a:ea typeface="Calibri" panose="020F0502020204030204" pitchFamily="34" charset="0"/>
                <a:cs typeface="Times New Roman" panose="02020603050405020304" pitchFamily="18" charset="0"/>
              </a:rPr>
              <a:t>22</a:t>
            </a:r>
            <a: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self.label1.pack(</a:t>
            </a:r>
            <a:r>
              <a:rPr lang="en-US" altLang="en-US" sz="12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padx</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=20, </a:t>
            </a:r>
            <a:r>
              <a:rPr lang="en-US" altLang="en-US" sz="12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pady</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=20)</a:t>
            </a:r>
            <a:b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altLang="en-US" sz="1200" b="0" dirty="0">
                <a:solidFill>
                  <a:srgbClr val="00B0F0"/>
                </a:solidFill>
                <a:latin typeface="Courier New" panose="02070309020205020404" pitchFamily="49" charset="0"/>
                <a:ea typeface="Calibri" panose="020F0502020204030204" pitchFamily="34" charset="0"/>
                <a:cs typeface="Times New Roman" panose="02020603050405020304" pitchFamily="18" charset="0"/>
              </a:rPr>
              <a:t>23</a:t>
            </a:r>
            <a: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self.label2.pack(</a:t>
            </a:r>
            <a:r>
              <a:rPr lang="en-US" altLang="en-US" sz="12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padx</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=20, </a:t>
            </a:r>
            <a:r>
              <a:rPr lang="en-US" altLang="en-US" sz="12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pady</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=20)</a:t>
            </a:r>
            <a:b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altLang="en-US" sz="1200" b="0" dirty="0">
                <a:solidFill>
                  <a:srgbClr val="00B0F0"/>
                </a:solidFill>
                <a:latin typeface="Courier New" panose="02070309020205020404" pitchFamily="49" charset="0"/>
                <a:ea typeface="Calibri" panose="020F0502020204030204" pitchFamily="34" charset="0"/>
                <a:cs typeface="Times New Roman" panose="02020603050405020304" pitchFamily="18" charset="0"/>
              </a:rPr>
              <a:t>24</a:t>
            </a:r>
            <a: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 </a:t>
            </a:r>
            <a:b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br>
            <a:r>
              <a:rPr lang="en-US" altLang="en-US" sz="1200" b="0" dirty="0">
                <a:solidFill>
                  <a:srgbClr val="00B0F0"/>
                </a:solidFill>
                <a:latin typeface="Courier New" panose="02070309020205020404" pitchFamily="49" charset="0"/>
                <a:ea typeface="Calibri" panose="020F0502020204030204" pitchFamily="34" charset="0"/>
                <a:cs typeface="Times New Roman" panose="02020603050405020304" pitchFamily="18" charset="0"/>
              </a:rPr>
              <a:t>25</a:t>
            </a:r>
            <a: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 Enter the </a:t>
            </a:r>
            <a:r>
              <a:rPr lang="en-US" altLang="en-US" sz="12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tkinter</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main loop.</a:t>
            </a:r>
            <a:b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altLang="en-US" sz="1200" b="0" dirty="0">
                <a:solidFill>
                  <a:srgbClr val="00B0F0"/>
                </a:solidFill>
                <a:latin typeface="Courier New" panose="02070309020205020404" pitchFamily="49" charset="0"/>
                <a:ea typeface="Calibri" panose="020F0502020204030204" pitchFamily="34" charset="0"/>
                <a:cs typeface="Times New Roman" panose="02020603050405020304" pitchFamily="18" charset="0"/>
              </a:rPr>
              <a:t>26</a:t>
            </a:r>
            <a: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2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tkinter.mainloop</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b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altLang="en-US" sz="1200" b="0" dirty="0">
                <a:solidFill>
                  <a:srgbClr val="00B0F0"/>
                </a:solidFill>
                <a:latin typeface="Courier New" panose="02070309020205020404" pitchFamily="49" charset="0"/>
                <a:ea typeface="Calibri" panose="020F0502020204030204" pitchFamily="34" charset="0"/>
                <a:cs typeface="Times New Roman" panose="02020603050405020304" pitchFamily="18" charset="0"/>
              </a:rPr>
              <a:t>27</a:t>
            </a:r>
            <a: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 </a:t>
            </a:r>
            <a:b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br>
            <a:r>
              <a:rPr lang="en-US" altLang="en-US" sz="1200" b="0" dirty="0">
                <a:solidFill>
                  <a:srgbClr val="00B0F0"/>
                </a:solidFill>
                <a:latin typeface="Courier New" panose="02070309020205020404" pitchFamily="49" charset="0"/>
                <a:ea typeface="Calibri" panose="020F0502020204030204" pitchFamily="34" charset="0"/>
                <a:cs typeface="Times New Roman" panose="02020603050405020304" pitchFamily="18" charset="0"/>
              </a:rPr>
              <a:t>28</a:t>
            </a:r>
            <a: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Create an instance of the </a:t>
            </a:r>
            <a:r>
              <a:rPr lang="en-US" altLang="en-US" sz="12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MyGUI</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class.</a:t>
            </a:r>
            <a:b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altLang="en-US" sz="1200" b="0" dirty="0">
                <a:solidFill>
                  <a:srgbClr val="00B0F0"/>
                </a:solidFill>
                <a:latin typeface="Courier New" panose="02070309020205020404" pitchFamily="49" charset="0"/>
                <a:ea typeface="Calibri" panose="020F0502020204030204" pitchFamily="34" charset="0"/>
                <a:cs typeface="Times New Roman" panose="02020603050405020304" pitchFamily="18" charset="0"/>
              </a:rPr>
              <a:t>29</a:t>
            </a:r>
            <a: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if __name__ == '__main__':</a:t>
            </a:r>
            <a:b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altLang="en-US" sz="1200" b="0" dirty="0">
                <a:solidFill>
                  <a:srgbClr val="00B0F0"/>
                </a:solidFill>
                <a:latin typeface="Courier New" panose="02070309020205020404" pitchFamily="49" charset="0"/>
                <a:ea typeface="Calibri" panose="020F0502020204030204" pitchFamily="34" charset="0"/>
                <a:cs typeface="Times New Roman" panose="02020603050405020304" pitchFamily="18" charset="0"/>
              </a:rPr>
              <a:t>30</a:t>
            </a:r>
            <a: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2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my_gui</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 </a:t>
            </a:r>
            <a:r>
              <a:rPr lang="en-US" altLang="en-US" sz="12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MyGUI</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endParaRPr lang="en-US" altLang="en-US" sz="1100" b="0" dirty="0">
              <a:latin typeface="Calibri" panose="020F0502020204030204" pitchFamily="34" charset="0"/>
              <a:ea typeface="Calibri" panose="020F0502020204030204" pitchFamily="34" charset="0"/>
              <a:cs typeface="Times New Roman" panose="02020603050405020304" pitchFamily="18" charset="0"/>
            </a:endParaRPr>
          </a:p>
        </p:txBody>
      </p:sp>
      <p:pic>
        <p:nvPicPr>
          <p:cNvPr id="5" name="Picture 7" descr="A window displays two labeled widgets, hello world and this is my G U I program. ">
            <a:extLst>
              <a:ext uri="{FF2B5EF4-FFF2-40B4-BE49-F238E27FC236}">
                <a16:creationId xmlns:a16="http://schemas.microsoft.com/office/drawing/2014/main" id="{263F0E54-BE52-43B6-97EB-B8F45CD916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6443662" y="1143000"/>
            <a:ext cx="2243138" cy="2057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063767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21421-93B5-45C7-8636-5E1EA6C207C9}"/>
              </a:ext>
            </a:extLst>
          </p:cNvPr>
          <p:cNvSpPr>
            <a:spLocks noGrp="1"/>
          </p:cNvSpPr>
          <p:nvPr>
            <p:ph type="title"/>
          </p:nvPr>
        </p:nvSpPr>
        <p:spPr>
          <a:xfrm>
            <a:off x="457200" y="215372"/>
            <a:ext cx="8229600" cy="516465"/>
          </a:xfrm>
        </p:spPr>
        <p:txBody>
          <a:bodyPr/>
          <a:lstStyle/>
          <a:p>
            <a:r>
              <a:rPr lang="en-US" altLang="en-US" dirty="0"/>
              <a:t>External Padding</a:t>
            </a:r>
            <a:r>
              <a:rPr lang="en-AU" sz="2000" b="0" dirty="0"/>
              <a:t> (3 of 3)</a:t>
            </a:r>
            <a:endParaRPr lang="en-AU" sz="2000" dirty="0"/>
          </a:p>
        </p:txBody>
      </p:sp>
      <p:sp>
        <p:nvSpPr>
          <p:cNvPr id="4" name="Text Box 2">
            <a:extLst>
              <a:ext uri="{FF2B5EF4-FFF2-40B4-BE49-F238E27FC236}">
                <a16:creationId xmlns:a16="http://schemas.microsoft.com/office/drawing/2014/main" id="{7211F33E-C9BD-42A4-ACF8-CFBEA544B8FF}"/>
              </a:ext>
            </a:extLst>
          </p:cNvPr>
          <p:cNvSpPr txBox="1">
            <a:spLocks noGrp="1" noChangeArrowheads="1"/>
          </p:cNvSpPr>
          <p:nvPr>
            <p:ph idx="1"/>
          </p:nvPr>
        </p:nvSpPr>
        <p:spPr bwMode="auto">
          <a:xfrm>
            <a:off x="452176" y="744397"/>
            <a:ext cx="8463224" cy="55040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marL="0" indent="0">
              <a:spcBef>
                <a:spcPct val="0"/>
              </a:spcBef>
              <a:buFontTx/>
              <a:buNone/>
            </a:pPr>
            <a:r>
              <a:rPr lang="en-US" altLang="en-US" sz="1200" b="0" dirty="0">
                <a:solidFill>
                  <a:srgbClr val="00B0F0"/>
                </a:solidFill>
                <a:latin typeface="Courier New" panose="02070309020205020404" pitchFamily="49" charset="0"/>
                <a:ea typeface="Calibri" panose="020F0502020204030204" pitchFamily="34" charset="0"/>
                <a:cs typeface="Times New Roman" panose="02020603050405020304" pitchFamily="18" charset="0"/>
              </a:rPr>
              <a:t> 1</a:t>
            </a:r>
            <a: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This program demonstrates both internal and external padding.</a:t>
            </a:r>
            <a:b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altLang="en-US" sz="1200" b="0" dirty="0">
                <a:solidFill>
                  <a:srgbClr val="00B0F0"/>
                </a:solidFill>
                <a:latin typeface="Courier New" panose="02070309020205020404" pitchFamily="49" charset="0"/>
                <a:ea typeface="Calibri" panose="020F0502020204030204" pitchFamily="34" charset="0"/>
                <a:cs typeface="Times New Roman" panose="02020603050405020304" pitchFamily="18" charset="0"/>
              </a:rPr>
              <a:t> 2</a:t>
            </a:r>
            <a: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import </a:t>
            </a:r>
            <a:r>
              <a:rPr lang="en-US" altLang="en-US" sz="12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tkinter</a:t>
            </a:r>
            <a:b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altLang="en-US" sz="1200" b="0" dirty="0">
                <a:solidFill>
                  <a:srgbClr val="00B0F0"/>
                </a:solidFill>
                <a:latin typeface="Courier New" panose="02070309020205020404" pitchFamily="49" charset="0"/>
                <a:ea typeface="Calibri" panose="020F0502020204030204" pitchFamily="34" charset="0"/>
                <a:cs typeface="Times New Roman" panose="02020603050405020304" pitchFamily="18" charset="0"/>
              </a:rPr>
              <a:t> 3</a:t>
            </a:r>
            <a: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 </a:t>
            </a:r>
            <a:b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br>
            <a:r>
              <a:rPr lang="en-US" altLang="en-US" sz="1200" b="0" dirty="0">
                <a:solidFill>
                  <a:srgbClr val="00B0F0"/>
                </a:solidFill>
                <a:latin typeface="Courier New" panose="02070309020205020404" pitchFamily="49" charset="0"/>
                <a:ea typeface="Calibri" panose="020F0502020204030204" pitchFamily="34" charset="0"/>
                <a:cs typeface="Times New Roman" panose="02020603050405020304" pitchFamily="18" charset="0"/>
              </a:rPr>
              <a:t> 4</a:t>
            </a:r>
            <a: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class </a:t>
            </a:r>
            <a:r>
              <a:rPr lang="en-US" altLang="en-US" sz="12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MyGUI</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b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altLang="en-US" sz="1200" b="0" dirty="0">
                <a:solidFill>
                  <a:srgbClr val="00B0F0"/>
                </a:solidFill>
                <a:latin typeface="Courier New" panose="02070309020205020404" pitchFamily="49" charset="0"/>
                <a:ea typeface="Calibri" panose="020F0502020204030204" pitchFamily="34" charset="0"/>
                <a:cs typeface="Times New Roman" panose="02020603050405020304" pitchFamily="18" charset="0"/>
              </a:rPr>
              <a:t> 5</a:t>
            </a:r>
            <a: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def __</a:t>
            </a:r>
            <a:r>
              <a:rPr lang="en-US" altLang="en-US" sz="12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init</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__(self):</a:t>
            </a:r>
            <a:b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altLang="en-US" sz="1200" b="0" dirty="0">
                <a:solidFill>
                  <a:srgbClr val="00B0F0"/>
                </a:solidFill>
                <a:latin typeface="Courier New" panose="02070309020205020404" pitchFamily="49" charset="0"/>
                <a:ea typeface="Calibri" panose="020F0502020204030204" pitchFamily="34" charset="0"/>
                <a:cs typeface="Times New Roman" panose="02020603050405020304" pitchFamily="18" charset="0"/>
              </a:rPr>
              <a:t> 6</a:t>
            </a:r>
            <a: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 Create the main window widget.</a:t>
            </a:r>
            <a:b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altLang="en-US" sz="1200" b="0" dirty="0">
                <a:solidFill>
                  <a:srgbClr val="00B0F0"/>
                </a:solidFill>
                <a:latin typeface="Courier New" panose="02070309020205020404" pitchFamily="49" charset="0"/>
                <a:ea typeface="Calibri" panose="020F0502020204030204" pitchFamily="34" charset="0"/>
                <a:cs typeface="Times New Roman" panose="02020603050405020304" pitchFamily="18" charset="0"/>
              </a:rPr>
              <a:t> 7</a:t>
            </a:r>
            <a: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2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self.main_window</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 </a:t>
            </a:r>
            <a:r>
              <a:rPr lang="en-US" altLang="en-US" sz="12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tkinter.Tk</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b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altLang="en-US" sz="1200" b="0" dirty="0">
                <a:solidFill>
                  <a:srgbClr val="00B0F0"/>
                </a:solidFill>
                <a:latin typeface="Courier New" panose="02070309020205020404" pitchFamily="49" charset="0"/>
                <a:ea typeface="Calibri" panose="020F0502020204030204" pitchFamily="34" charset="0"/>
                <a:cs typeface="Times New Roman" panose="02020603050405020304" pitchFamily="18" charset="0"/>
              </a:rPr>
              <a:t> 8</a:t>
            </a:r>
            <a: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 </a:t>
            </a:r>
            <a:b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br>
            <a:r>
              <a:rPr lang="en-US" altLang="en-US" sz="1200" b="0" dirty="0">
                <a:solidFill>
                  <a:srgbClr val="00B0F0"/>
                </a:solidFill>
                <a:latin typeface="Courier New" panose="02070309020205020404" pitchFamily="49" charset="0"/>
                <a:ea typeface="Calibri" panose="020F0502020204030204" pitchFamily="34" charset="0"/>
                <a:cs typeface="Times New Roman" panose="02020603050405020304" pitchFamily="18" charset="0"/>
              </a:rPr>
              <a:t> 9</a:t>
            </a:r>
            <a: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 Create two Label widgets with solid borders.</a:t>
            </a:r>
            <a:b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altLang="en-US" sz="1200" b="0" dirty="0">
                <a:solidFill>
                  <a:srgbClr val="00B0F0"/>
                </a:solidFill>
                <a:latin typeface="Courier New" panose="02070309020205020404" pitchFamily="49" charset="0"/>
                <a:ea typeface="Calibri" panose="020F0502020204030204" pitchFamily="34" charset="0"/>
                <a:cs typeface="Times New Roman" panose="02020603050405020304" pitchFamily="18" charset="0"/>
              </a:rPr>
              <a:t>10</a:t>
            </a:r>
            <a: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self.label1 = </a:t>
            </a:r>
            <a:r>
              <a:rPr lang="en-US" altLang="en-US" sz="12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tkinter.Label</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r>
              <a:rPr lang="en-US" altLang="en-US" sz="12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self.main_window</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b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altLang="en-US" sz="1200" b="0" dirty="0">
                <a:solidFill>
                  <a:srgbClr val="00B0F0"/>
                </a:solidFill>
                <a:latin typeface="Courier New" panose="02070309020205020404" pitchFamily="49" charset="0"/>
                <a:ea typeface="Calibri" panose="020F0502020204030204" pitchFamily="34" charset="0"/>
                <a:cs typeface="Times New Roman" panose="02020603050405020304" pitchFamily="18" charset="0"/>
              </a:rPr>
              <a:t>11</a:t>
            </a:r>
            <a: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text='Hello World!',</a:t>
            </a:r>
            <a:b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altLang="en-US" sz="1200" b="0" dirty="0">
                <a:solidFill>
                  <a:srgbClr val="00B0F0"/>
                </a:solidFill>
                <a:latin typeface="Courier New" panose="02070309020205020404" pitchFamily="49" charset="0"/>
                <a:ea typeface="Calibri" panose="020F0502020204030204" pitchFamily="34" charset="0"/>
                <a:cs typeface="Times New Roman" panose="02020603050405020304" pitchFamily="18" charset="0"/>
              </a:rPr>
              <a:t>12</a:t>
            </a:r>
            <a: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2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borderwidth</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=1,</a:t>
            </a:r>
            <a:b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altLang="en-US" sz="1200" b="0" dirty="0">
                <a:solidFill>
                  <a:srgbClr val="00B0F0"/>
                </a:solidFill>
                <a:latin typeface="Courier New" panose="02070309020205020404" pitchFamily="49" charset="0"/>
                <a:ea typeface="Calibri" panose="020F0502020204030204" pitchFamily="34" charset="0"/>
                <a:cs typeface="Times New Roman" panose="02020603050405020304" pitchFamily="18" charset="0"/>
              </a:rPr>
              <a:t>13</a:t>
            </a:r>
            <a: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relief='solid')</a:t>
            </a:r>
            <a:b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altLang="en-US" sz="1200" b="0" dirty="0">
                <a:solidFill>
                  <a:srgbClr val="00B0F0"/>
                </a:solidFill>
                <a:latin typeface="Courier New" panose="02070309020205020404" pitchFamily="49" charset="0"/>
                <a:ea typeface="Calibri" panose="020F0502020204030204" pitchFamily="34" charset="0"/>
                <a:cs typeface="Times New Roman" panose="02020603050405020304" pitchFamily="18" charset="0"/>
              </a:rPr>
              <a:t>14</a:t>
            </a:r>
            <a: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a:t>
            </a:r>
            <a:b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altLang="en-US" sz="1200" b="0" dirty="0">
                <a:solidFill>
                  <a:srgbClr val="00B0F0"/>
                </a:solidFill>
                <a:latin typeface="Courier New" panose="02070309020205020404" pitchFamily="49" charset="0"/>
                <a:ea typeface="Calibri" panose="020F0502020204030204" pitchFamily="34" charset="0"/>
                <a:cs typeface="Times New Roman" panose="02020603050405020304" pitchFamily="18" charset="0"/>
              </a:rPr>
              <a:t>15</a:t>
            </a:r>
            <a: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self.label2 = </a:t>
            </a:r>
            <a:r>
              <a:rPr lang="en-US" altLang="en-US" sz="12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tkinter.Label</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r>
              <a:rPr lang="en-US" altLang="en-US" sz="12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self.main_window</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b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altLang="en-US" sz="1200" b="0" dirty="0">
                <a:solidFill>
                  <a:srgbClr val="00B0F0"/>
                </a:solidFill>
                <a:latin typeface="Courier New" panose="02070309020205020404" pitchFamily="49" charset="0"/>
                <a:ea typeface="Calibri" panose="020F0502020204030204" pitchFamily="34" charset="0"/>
                <a:cs typeface="Times New Roman" panose="02020603050405020304" pitchFamily="18" charset="0"/>
              </a:rPr>
              <a:t>16</a:t>
            </a:r>
            <a: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text='This is my GUI program.',</a:t>
            </a:r>
            <a:b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altLang="en-US" sz="1200" b="0" dirty="0">
                <a:solidFill>
                  <a:srgbClr val="00B0F0"/>
                </a:solidFill>
                <a:latin typeface="Courier New" panose="02070309020205020404" pitchFamily="49" charset="0"/>
                <a:ea typeface="Calibri" panose="020F0502020204030204" pitchFamily="34" charset="0"/>
                <a:cs typeface="Times New Roman" panose="02020603050405020304" pitchFamily="18" charset="0"/>
              </a:rPr>
              <a:t>17</a:t>
            </a:r>
            <a: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2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borderwidth</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=1,</a:t>
            </a:r>
            <a:b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altLang="en-US" sz="1200" b="0" dirty="0">
                <a:solidFill>
                  <a:srgbClr val="00B0F0"/>
                </a:solidFill>
                <a:latin typeface="Courier New" panose="02070309020205020404" pitchFamily="49" charset="0"/>
                <a:ea typeface="Calibri" panose="020F0502020204030204" pitchFamily="34" charset="0"/>
                <a:cs typeface="Times New Roman" panose="02020603050405020304" pitchFamily="18" charset="0"/>
              </a:rPr>
              <a:t>18</a:t>
            </a:r>
            <a: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relief='solid')</a:t>
            </a:r>
            <a:b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altLang="en-US" sz="1200" b="0" dirty="0">
                <a:solidFill>
                  <a:srgbClr val="00B0F0"/>
                </a:solidFill>
                <a:latin typeface="Courier New" panose="02070309020205020404" pitchFamily="49" charset="0"/>
                <a:ea typeface="Calibri" panose="020F0502020204030204" pitchFamily="34" charset="0"/>
                <a:cs typeface="Times New Roman" panose="02020603050405020304" pitchFamily="18" charset="0"/>
              </a:rPr>
              <a:t>19</a:t>
            </a:r>
            <a: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 </a:t>
            </a:r>
            <a:b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br>
            <a:r>
              <a:rPr lang="en-US" altLang="en-US" sz="1200" b="0" dirty="0">
                <a:solidFill>
                  <a:srgbClr val="00B0F0"/>
                </a:solidFill>
                <a:latin typeface="Courier New" panose="02070309020205020404" pitchFamily="49" charset="0"/>
                <a:ea typeface="Calibri" panose="020F0502020204030204" pitchFamily="34" charset="0"/>
                <a:cs typeface="Times New Roman" panose="02020603050405020304" pitchFamily="18" charset="0"/>
              </a:rPr>
              <a:t>20</a:t>
            </a:r>
            <a: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 Display the Labels with 20 pixels of horizontal</a:t>
            </a:r>
            <a:b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altLang="en-US" sz="1200" b="0" dirty="0">
                <a:solidFill>
                  <a:srgbClr val="00B0F0"/>
                </a:solidFill>
                <a:latin typeface="Courier New" panose="02070309020205020404" pitchFamily="49" charset="0"/>
                <a:ea typeface="Calibri" panose="020F0502020204030204" pitchFamily="34" charset="0"/>
                <a:cs typeface="Times New Roman" panose="02020603050405020304" pitchFamily="18" charset="0"/>
              </a:rPr>
              <a:t>21</a:t>
            </a:r>
            <a: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 and vertical external padding.</a:t>
            </a:r>
            <a:b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altLang="en-US" sz="1200" b="0" dirty="0">
                <a:solidFill>
                  <a:srgbClr val="00B0F0"/>
                </a:solidFill>
                <a:latin typeface="Courier New" panose="02070309020205020404" pitchFamily="49" charset="0"/>
                <a:ea typeface="Calibri" panose="020F0502020204030204" pitchFamily="34" charset="0"/>
                <a:cs typeface="Times New Roman" panose="02020603050405020304" pitchFamily="18" charset="0"/>
              </a:rPr>
              <a:t>22</a:t>
            </a:r>
            <a: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self.label1.pack(</a:t>
            </a:r>
            <a:r>
              <a:rPr lang="en-US" altLang="en-US" sz="12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ipadx</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=20, </a:t>
            </a:r>
            <a:r>
              <a:rPr lang="en-US" altLang="en-US" sz="12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ipady</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=20, </a:t>
            </a:r>
            <a:r>
              <a:rPr lang="en-US" altLang="en-US" sz="12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padx</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=20, </a:t>
            </a:r>
            <a:r>
              <a:rPr lang="en-US" altLang="en-US" sz="12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pady</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=20)</a:t>
            </a:r>
            <a:b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altLang="en-US" sz="1200" b="0" dirty="0">
                <a:solidFill>
                  <a:srgbClr val="00B0F0"/>
                </a:solidFill>
                <a:latin typeface="Courier New" panose="02070309020205020404" pitchFamily="49" charset="0"/>
                <a:ea typeface="Calibri" panose="020F0502020204030204" pitchFamily="34" charset="0"/>
                <a:cs typeface="Times New Roman" panose="02020603050405020304" pitchFamily="18" charset="0"/>
              </a:rPr>
              <a:t>23</a:t>
            </a:r>
            <a: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self.label2.pack(</a:t>
            </a:r>
            <a:r>
              <a:rPr lang="en-US" altLang="en-US" sz="12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ipadx</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=20, </a:t>
            </a:r>
            <a:r>
              <a:rPr lang="en-US" altLang="en-US" sz="12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ipady</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=20, </a:t>
            </a:r>
            <a:r>
              <a:rPr lang="en-US" altLang="en-US" sz="12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padx</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=20, </a:t>
            </a:r>
            <a:r>
              <a:rPr lang="en-US" altLang="en-US" sz="12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pady</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=20)</a:t>
            </a:r>
            <a:b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altLang="en-US" sz="1200" b="0" dirty="0">
                <a:solidFill>
                  <a:srgbClr val="00B0F0"/>
                </a:solidFill>
                <a:latin typeface="Courier New" panose="02070309020205020404" pitchFamily="49" charset="0"/>
                <a:ea typeface="Calibri" panose="020F0502020204030204" pitchFamily="34" charset="0"/>
                <a:cs typeface="Times New Roman" panose="02020603050405020304" pitchFamily="18" charset="0"/>
              </a:rPr>
              <a:t>24</a:t>
            </a:r>
            <a: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 </a:t>
            </a:r>
            <a:b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br>
            <a:r>
              <a:rPr lang="en-US" altLang="en-US" sz="1200" b="0" dirty="0">
                <a:solidFill>
                  <a:srgbClr val="00B0F0"/>
                </a:solidFill>
                <a:latin typeface="Courier New" panose="02070309020205020404" pitchFamily="49" charset="0"/>
                <a:ea typeface="Calibri" panose="020F0502020204030204" pitchFamily="34" charset="0"/>
                <a:cs typeface="Times New Roman" panose="02020603050405020304" pitchFamily="18" charset="0"/>
              </a:rPr>
              <a:t>25</a:t>
            </a:r>
            <a: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 Enter the </a:t>
            </a:r>
            <a:r>
              <a:rPr lang="en-US" altLang="en-US" sz="12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tkinter</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main loop.</a:t>
            </a:r>
            <a:b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altLang="en-US" sz="1200" b="0" dirty="0">
                <a:solidFill>
                  <a:srgbClr val="00B0F0"/>
                </a:solidFill>
                <a:latin typeface="Courier New" panose="02070309020205020404" pitchFamily="49" charset="0"/>
                <a:ea typeface="Calibri" panose="020F0502020204030204" pitchFamily="34" charset="0"/>
                <a:cs typeface="Times New Roman" panose="02020603050405020304" pitchFamily="18" charset="0"/>
              </a:rPr>
              <a:t>26</a:t>
            </a:r>
            <a: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2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tkinter.mainloop</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b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altLang="en-US" sz="1200" b="0" dirty="0">
                <a:solidFill>
                  <a:srgbClr val="00B0F0"/>
                </a:solidFill>
                <a:latin typeface="Courier New" panose="02070309020205020404" pitchFamily="49" charset="0"/>
                <a:ea typeface="Calibri" panose="020F0502020204030204" pitchFamily="34" charset="0"/>
                <a:cs typeface="Times New Roman" panose="02020603050405020304" pitchFamily="18" charset="0"/>
              </a:rPr>
              <a:t>27</a:t>
            </a:r>
            <a: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 </a:t>
            </a:r>
            <a:b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br>
            <a:r>
              <a:rPr lang="en-US" altLang="en-US" sz="1200" b="0" dirty="0">
                <a:solidFill>
                  <a:srgbClr val="00B0F0"/>
                </a:solidFill>
                <a:latin typeface="Courier New" panose="02070309020205020404" pitchFamily="49" charset="0"/>
                <a:ea typeface="Calibri" panose="020F0502020204030204" pitchFamily="34" charset="0"/>
                <a:cs typeface="Times New Roman" panose="02020603050405020304" pitchFamily="18" charset="0"/>
              </a:rPr>
              <a:t>28</a:t>
            </a:r>
            <a: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Create an instance of the </a:t>
            </a:r>
            <a:r>
              <a:rPr lang="en-US" altLang="en-US" sz="12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MyGUI</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class.</a:t>
            </a:r>
            <a:b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altLang="en-US" sz="1200" b="0" dirty="0">
                <a:solidFill>
                  <a:srgbClr val="00B0F0"/>
                </a:solidFill>
                <a:latin typeface="Courier New" panose="02070309020205020404" pitchFamily="49" charset="0"/>
                <a:ea typeface="Calibri" panose="020F0502020204030204" pitchFamily="34" charset="0"/>
                <a:cs typeface="Times New Roman" panose="02020603050405020304" pitchFamily="18" charset="0"/>
              </a:rPr>
              <a:t>29</a:t>
            </a:r>
            <a: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if __name__ == '__main__':</a:t>
            </a:r>
            <a:b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altLang="en-US" sz="1200" b="0" dirty="0">
                <a:solidFill>
                  <a:srgbClr val="00B0F0"/>
                </a:solidFill>
                <a:latin typeface="Courier New" panose="02070309020205020404" pitchFamily="49" charset="0"/>
                <a:ea typeface="Calibri" panose="020F0502020204030204" pitchFamily="34" charset="0"/>
                <a:cs typeface="Times New Roman" panose="02020603050405020304" pitchFamily="18" charset="0"/>
              </a:rPr>
              <a:t>30</a:t>
            </a:r>
            <a: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2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my_gui</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 </a:t>
            </a:r>
            <a:r>
              <a:rPr lang="en-US" altLang="en-US" sz="12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MyGUI</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endParaRPr lang="en-US" altLang="en-US" sz="1100" b="0" dirty="0">
              <a:latin typeface="Calibri" panose="020F0502020204030204" pitchFamily="34" charset="0"/>
              <a:ea typeface="Calibri" panose="020F0502020204030204" pitchFamily="34" charset="0"/>
              <a:cs typeface="Times New Roman" panose="02020603050405020304" pitchFamily="18" charset="0"/>
            </a:endParaRPr>
          </a:p>
        </p:txBody>
      </p:sp>
      <p:pic>
        <p:nvPicPr>
          <p:cNvPr id="5" name="Picture 7">
            <a:extLst>
              <a:ext uri="{FF2B5EF4-FFF2-40B4-BE49-F238E27FC236}">
                <a16:creationId xmlns:a16="http://schemas.microsoft.com/office/drawing/2014/main" id="{263F0E54-BE52-43B6-97EB-B8F45CD916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6612639" y="1066800"/>
            <a:ext cx="1905184" cy="2057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566433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a:extLst>
              <a:ext uri="{FF2B5EF4-FFF2-40B4-BE49-F238E27FC236}">
                <a16:creationId xmlns:a16="http://schemas.microsoft.com/office/drawing/2014/main" id="{67F3CA1A-1FEB-41FD-BD98-C8A5F88AAED6}"/>
              </a:ext>
            </a:extLst>
          </p:cNvPr>
          <p:cNvSpPr>
            <a:spLocks noGrp="1" noChangeArrowheads="1"/>
          </p:cNvSpPr>
          <p:nvPr>
            <p:ph type="title"/>
          </p:nvPr>
        </p:nvSpPr>
        <p:spPr/>
        <p:txBody>
          <a:bodyPr/>
          <a:lstStyle/>
          <a:p>
            <a:r>
              <a:rPr lang="en-US" altLang="en-US" dirty="0"/>
              <a:t>Organizing Widgets with Frames</a:t>
            </a:r>
            <a:r>
              <a:rPr lang="en-AU" sz="2000" b="0" dirty="0"/>
              <a:t> (1 of 2)</a:t>
            </a:r>
            <a:endParaRPr lang="en-US" altLang="en-US" sz="2000" dirty="0"/>
          </a:p>
        </p:txBody>
      </p:sp>
      <p:sp>
        <p:nvSpPr>
          <p:cNvPr id="3" name="Content Placeholder 2">
            <a:extLst>
              <a:ext uri="{FF2B5EF4-FFF2-40B4-BE49-F238E27FC236}">
                <a16:creationId xmlns:a16="http://schemas.microsoft.com/office/drawing/2014/main" id="{46B40566-DF56-4233-AB27-B8872610FA30}"/>
              </a:ext>
            </a:extLst>
          </p:cNvPr>
          <p:cNvSpPr>
            <a:spLocks noGrp="1"/>
          </p:cNvSpPr>
          <p:nvPr>
            <p:ph idx="1"/>
          </p:nvPr>
        </p:nvSpPr>
        <p:spPr/>
        <p:txBody>
          <a:bodyPr/>
          <a:lstStyle/>
          <a:p>
            <a:pPr>
              <a:defRPr/>
            </a:pPr>
            <a:r>
              <a:rPr lang="en-US" dirty="0">
                <a:latin typeface="Courier New" pitchFamily="49" charset="0"/>
                <a:cs typeface="Courier New" pitchFamily="49" charset="0"/>
              </a:rPr>
              <a:t>Frame</a:t>
            </a:r>
            <a:r>
              <a:rPr lang="en-US" dirty="0">
                <a:cs typeface="Courier New" pitchFamily="49" charset="0"/>
              </a:rPr>
              <a:t> widget: container that holds other widgets</a:t>
            </a:r>
          </a:p>
          <a:p>
            <a:pPr lvl="1">
              <a:defRPr/>
            </a:pPr>
            <a:r>
              <a:rPr lang="en-US" dirty="0">
                <a:cs typeface="Courier New" pitchFamily="49" charset="0"/>
              </a:rPr>
              <a:t>Useful for organizing and arranging groups of widgets in a window</a:t>
            </a:r>
          </a:p>
          <a:p>
            <a:pPr lvl="1">
              <a:defRPr/>
            </a:pPr>
            <a:r>
              <a:rPr lang="en-US" dirty="0">
                <a:cs typeface="Courier New" pitchFamily="49" charset="0"/>
              </a:rPr>
              <a:t>The contained widgets are added to the frame widget which contains them</a:t>
            </a:r>
          </a:p>
          <a:p>
            <a:pPr lvl="2">
              <a:defRPr/>
            </a:pPr>
            <a:r>
              <a:rPr lang="en-US" dirty="0">
                <a:cs typeface="Courier New" pitchFamily="49" charset="0"/>
              </a:rPr>
              <a:t>Example:</a:t>
            </a:r>
          </a:p>
          <a:p>
            <a:pPr marL="804863" lvl="2" indent="109538">
              <a:buFontTx/>
              <a:buNone/>
              <a:defRPr/>
            </a:pPr>
            <a:r>
              <a:rPr lang="en-US" dirty="0">
                <a:cs typeface="Courier New" pitchFamily="49" charset="0"/>
              </a:rPr>
              <a:t>	</a:t>
            </a:r>
            <a:r>
              <a:rPr lang="en-US" dirty="0" err="1">
                <a:latin typeface="Courier New" pitchFamily="49" charset="0"/>
                <a:cs typeface="Courier New" pitchFamily="49" charset="0"/>
              </a:rPr>
              <a:t>tkinter.Label</a:t>
            </a:r>
            <a:r>
              <a:rPr lang="en-US" dirty="0">
                <a:latin typeface="Courier New" pitchFamily="49" charset="0"/>
                <a:cs typeface="Courier New" pitchFamily="49" charset="0"/>
              </a:rPr>
              <a:t>(</a:t>
            </a:r>
            <a:r>
              <a:rPr lang="en-US" dirty="0" err="1">
                <a:latin typeface="Courier New" pitchFamily="49" charset="0"/>
                <a:cs typeface="Courier New" pitchFamily="49" charset="0"/>
              </a:rPr>
              <a:t>self.top_frame</a:t>
            </a:r>
            <a:r>
              <a:rPr lang="en-US" dirty="0">
                <a:latin typeface="Courier New" pitchFamily="49" charset="0"/>
                <a:cs typeface="Courier New" pitchFamily="49" charset="0"/>
              </a:rPr>
              <a:t>, 				         text = 'hi')</a:t>
            </a:r>
          </a:p>
          <a:p>
            <a:pPr>
              <a:defRPr/>
            </a:pP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a:extLst>
              <a:ext uri="{FF2B5EF4-FFF2-40B4-BE49-F238E27FC236}">
                <a16:creationId xmlns:a16="http://schemas.microsoft.com/office/drawing/2014/main" id="{61B55631-254A-40AB-852A-25F577EF170E}"/>
              </a:ext>
            </a:extLst>
          </p:cNvPr>
          <p:cNvSpPr>
            <a:spLocks noGrp="1" noChangeArrowheads="1"/>
          </p:cNvSpPr>
          <p:nvPr>
            <p:ph type="title"/>
          </p:nvPr>
        </p:nvSpPr>
        <p:spPr>
          <a:xfrm>
            <a:off x="457200" y="228600"/>
            <a:ext cx="8229600" cy="762000"/>
          </a:xfrm>
        </p:spPr>
        <p:txBody>
          <a:bodyPr/>
          <a:lstStyle/>
          <a:p>
            <a:r>
              <a:rPr lang="en-US" altLang="en-US" dirty="0"/>
              <a:t>Organizing Widgets with Frames</a:t>
            </a:r>
            <a:r>
              <a:rPr lang="en-AU" sz="2000" b="0" dirty="0"/>
              <a:t> (2 of 2)</a:t>
            </a:r>
            <a:endParaRPr lang="en-US" altLang="en-US" sz="2000" dirty="0"/>
          </a:p>
        </p:txBody>
      </p:sp>
      <p:sp>
        <p:nvSpPr>
          <p:cNvPr id="2" name="Text Placeholder 1">
            <a:extLst>
              <a:ext uri="{FF2B5EF4-FFF2-40B4-BE49-F238E27FC236}">
                <a16:creationId xmlns:a16="http://schemas.microsoft.com/office/drawing/2014/main" id="{D9172579-D02D-4428-AAE1-34E5754C8C6E}"/>
              </a:ext>
            </a:extLst>
          </p:cNvPr>
          <p:cNvSpPr>
            <a:spLocks noGrp="1"/>
          </p:cNvSpPr>
          <p:nvPr>
            <p:ph type="body" sz="quarter" idx="13"/>
          </p:nvPr>
        </p:nvSpPr>
        <p:spPr>
          <a:xfrm>
            <a:off x="457200" y="5645150"/>
            <a:ext cx="8229600" cy="639866"/>
          </a:xfrm>
        </p:spPr>
        <p:txBody>
          <a:bodyPr/>
          <a:lstStyle/>
          <a:p>
            <a:r>
              <a:rPr lang="en-US" b="1" dirty="0"/>
              <a:t>Figure 13-19 </a:t>
            </a:r>
            <a:r>
              <a:rPr lang="en-US" dirty="0"/>
              <a:t>Arrangement of widgets</a:t>
            </a:r>
            <a:endParaRPr lang="en-AU" dirty="0"/>
          </a:p>
        </p:txBody>
      </p:sp>
      <p:pic>
        <p:nvPicPr>
          <p:cNvPr id="30723" name="Picture 3" descr="A window displays widgets Winken, Blinken, Nod stacked one on top of the other in the top frame and Winken, blinken, and Nod arranged horizontally in the bottom frame. ">
            <a:extLst>
              <a:ext uri="{FF2B5EF4-FFF2-40B4-BE49-F238E27FC236}">
                <a16:creationId xmlns:a16="http://schemas.microsoft.com/office/drawing/2014/main" id="{6C3C2999-7104-4A0F-B0CA-CDCF5A9C23A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auto">
          <a:xfrm>
            <a:off x="1991047" y="2133600"/>
            <a:ext cx="5161906" cy="2673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34A8FC57-1C36-42FC-B60C-37B6C9BB3D56}"/>
              </a:ext>
            </a:extLst>
          </p:cNvPr>
          <p:cNvSpPr>
            <a:spLocks noGrp="1" noChangeArrowheads="1"/>
          </p:cNvSpPr>
          <p:nvPr>
            <p:ph type="title"/>
          </p:nvPr>
        </p:nvSpPr>
        <p:spPr/>
        <p:txBody>
          <a:bodyPr/>
          <a:lstStyle/>
          <a:p>
            <a:r>
              <a:rPr lang="en-US" altLang="en-US" dirty="0">
                <a:latin typeface="Courier New" panose="02070309020205020404" pitchFamily="49" charset="0"/>
                <a:cs typeface="Courier New" panose="02070309020205020404" pitchFamily="49" charset="0"/>
              </a:rPr>
              <a:t>Button</a:t>
            </a:r>
            <a:r>
              <a:rPr lang="en-US" altLang="en-US" dirty="0"/>
              <a:t> Widgets and Info Dialog Boxes</a:t>
            </a:r>
            <a:r>
              <a:rPr lang="en-AU" sz="3600" b="0" dirty="0"/>
              <a:t> </a:t>
            </a:r>
            <a:r>
              <a:rPr lang="en-AU" sz="2000" b="0" dirty="0"/>
              <a:t>(1 of 4)</a:t>
            </a:r>
            <a:endParaRPr lang="en-US" altLang="en-US" sz="2000" dirty="0"/>
          </a:p>
        </p:txBody>
      </p:sp>
      <p:sp>
        <p:nvSpPr>
          <p:cNvPr id="31747" name="Content Placeholder 2">
            <a:extLst>
              <a:ext uri="{FF2B5EF4-FFF2-40B4-BE49-F238E27FC236}">
                <a16:creationId xmlns:a16="http://schemas.microsoft.com/office/drawing/2014/main" id="{3EC39355-4485-421A-9924-5305608BA0E5}"/>
              </a:ext>
            </a:extLst>
          </p:cNvPr>
          <p:cNvSpPr>
            <a:spLocks noGrp="1" noChangeArrowheads="1"/>
          </p:cNvSpPr>
          <p:nvPr>
            <p:ph idx="1"/>
          </p:nvPr>
        </p:nvSpPr>
        <p:spPr/>
        <p:txBody>
          <a:bodyPr/>
          <a:lstStyle/>
          <a:p>
            <a:pPr>
              <a:buFontTx/>
              <a:buChar char="•"/>
            </a:pPr>
            <a:r>
              <a:rPr lang="en-US" altLang="en-US" u="sng" dirty="0">
                <a:latin typeface="Courier New" panose="02070309020205020404" pitchFamily="49" charset="0"/>
                <a:cs typeface="Courier New" panose="02070309020205020404" pitchFamily="49" charset="0"/>
              </a:rPr>
              <a:t>Button</a:t>
            </a:r>
            <a:r>
              <a:rPr lang="en-US" altLang="en-US" u="sng" dirty="0"/>
              <a:t> widget</a:t>
            </a:r>
            <a:r>
              <a:rPr lang="en-US" altLang="en-US" dirty="0"/>
              <a:t>: widget that the user can click to cause an action to take place</a:t>
            </a:r>
          </a:p>
          <a:p>
            <a:pPr lvl="1"/>
            <a:r>
              <a:rPr lang="en-US" altLang="en-US" dirty="0"/>
              <a:t>When creating a button can specify:</a:t>
            </a:r>
          </a:p>
          <a:p>
            <a:pPr lvl="2"/>
            <a:r>
              <a:rPr lang="en-US" altLang="en-US" dirty="0"/>
              <a:t>Text to appear on the face of the button</a:t>
            </a:r>
          </a:p>
          <a:p>
            <a:pPr lvl="2"/>
            <a:r>
              <a:rPr lang="en-US" altLang="en-US" dirty="0"/>
              <a:t>A callback function</a:t>
            </a:r>
          </a:p>
          <a:p>
            <a:pPr>
              <a:buFontTx/>
              <a:buChar char="•"/>
            </a:pPr>
            <a:r>
              <a:rPr lang="en-US" altLang="en-US" u="sng" dirty="0"/>
              <a:t>Callback function</a:t>
            </a:r>
            <a:r>
              <a:rPr lang="en-US" altLang="en-US" dirty="0"/>
              <a:t>: function or method that executes when the user clicks the button</a:t>
            </a:r>
          </a:p>
          <a:p>
            <a:pPr lvl="1"/>
            <a:r>
              <a:rPr lang="en-US" altLang="en-US" dirty="0"/>
              <a:t>Also known as an event handler</a:t>
            </a:r>
          </a:p>
          <a:p>
            <a:pPr>
              <a:buFontTx/>
              <a:buChar char="•"/>
            </a:pPr>
            <a:endParaRPr lang="en-US" alt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a:extLst>
              <a:ext uri="{FF2B5EF4-FFF2-40B4-BE49-F238E27FC236}">
                <a16:creationId xmlns:a16="http://schemas.microsoft.com/office/drawing/2014/main" id="{FADEECDC-5F38-4E58-9EC4-8C4FD0F56FAF}"/>
              </a:ext>
            </a:extLst>
          </p:cNvPr>
          <p:cNvSpPr>
            <a:spLocks noGrp="1" noChangeArrowheads="1"/>
          </p:cNvSpPr>
          <p:nvPr>
            <p:ph type="title"/>
          </p:nvPr>
        </p:nvSpPr>
        <p:spPr/>
        <p:txBody>
          <a:bodyPr/>
          <a:lstStyle/>
          <a:p>
            <a:r>
              <a:rPr lang="en-US" altLang="en-US" dirty="0">
                <a:latin typeface="Courier New" panose="02070309020205020404" pitchFamily="49" charset="0"/>
                <a:cs typeface="Courier New" panose="02070309020205020404" pitchFamily="49" charset="0"/>
              </a:rPr>
              <a:t>Button</a:t>
            </a:r>
            <a:r>
              <a:rPr lang="en-US" altLang="en-US" dirty="0"/>
              <a:t> Widgets and Info Dialog Boxes</a:t>
            </a:r>
            <a:r>
              <a:rPr lang="en-AU" sz="3600" b="0" dirty="0"/>
              <a:t> </a:t>
            </a:r>
            <a:r>
              <a:rPr lang="en-AU" sz="2000" b="0" dirty="0"/>
              <a:t>(2 of 4)</a:t>
            </a:r>
            <a:endParaRPr lang="en-US" altLang="en-US" sz="2000" dirty="0"/>
          </a:p>
        </p:txBody>
      </p:sp>
      <p:sp>
        <p:nvSpPr>
          <p:cNvPr id="3" name="Content Placeholder 2">
            <a:extLst>
              <a:ext uri="{FF2B5EF4-FFF2-40B4-BE49-F238E27FC236}">
                <a16:creationId xmlns:a16="http://schemas.microsoft.com/office/drawing/2014/main" id="{D7BF4695-8E14-4026-A77C-C08CDC463EC5}"/>
              </a:ext>
            </a:extLst>
          </p:cNvPr>
          <p:cNvSpPr>
            <a:spLocks noGrp="1"/>
          </p:cNvSpPr>
          <p:nvPr>
            <p:ph idx="1"/>
          </p:nvPr>
        </p:nvSpPr>
        <p:spPr/>
        <p:txBody>
          <a:bodyPr/>
          <a:lstStyle/>
          <a:p>
            <a:pPr>
              <a:defRPr/>
            </a:pPr>
            <a:r>
              <a:rPr lang="en-US" u="sng" dirty="0">
                <a:cs typeface="Courier New" pitchFamily="49" charset="0"/>
              </a:rPr>
              <a:t>Info dialog box</a:t>
            </a:r>
            <a:r>
              <a:rPr lang="en-US" dirty="0"/>
              <a:t>: a dialog box that shows information to the user</a:t>
            </a:r>
          </a:p>
          <a:p>
            <a:pPr lvl="1">
              <a:defRPr/>
            </a:pPr>
            <a:r>
              <a:rPr lang="en-US" dirty="0"/>
              <a:t>Format for creating an info dialog box:</a:t>
            </a:r>
          </a:p>
          <a:p>
            <a:pPr lvl="2">
              <a:defRPr/>
            </a:pPr>
            <a:r>
              <a:rPr lang="en-US" dirty="0"/>
              <a:t>Import </a:t>
            </a:r>
            <a:r>
              <a:rPr lang="en-US" dirty="0" err="1">
                <a:latin typeface="Courier New" pitchFamily="49" charset="0"/>
                <a:cs typeface="Courier New" pitchFamily="49" charset="0"/>
              </a:rPr>
              <a:t>tkinter.messagebox</a:t>
            </a:r>
            <a:r>
              <a:rPr lang="en-US" dirty="0"/>
              <a:t> module</a:t>
            </a:r>
          </a:p>
          <a:p>
            <a:pPr lvl="2">
              <a:defRPr/>
            </a:pPr>
            <a:r>
              <a:rPr lang="en-US" dirty="0" err="1">
                <a:latin typeface="Courier New" pitchFamily="49" charset="0"/>
                <a:cs typeface="Courier New" pitchFamily="49" charset="0"/>
              </a:rPr>
              <a:t>tkinter.messagebox.showinfo</a:t>
            </a:r>
            <a:r>
              <a:rPr lang="en-US" dirty="0">
                <a:latin typeface="Courier New" pitchFamily="49" charset="0"/>
                <a:cs typeface="Courier New" pitchFamily="49" charset="0"/>
              </a:rPr>
              <a:t>(</a:t>
            </a:r>
            <a:r>
              <a:rPr lang="en-US" i="1" dirty="0">
                <a:latin typeface="Courier New" pitchFamily="49" charset="0"/>
                <a:cs typeface="Courier New" pitchFamily="49" charset="0"/>
              </a:rPr>
              <a:t>title</a:t>
            </a:r>
            <a:r>
              <a:rPr lang="en-US" dirty="0">
                <a:latin typeface="Courier New" pitchFamily="49" charset="0"/>
                <a:cs typeface="Courier New" pitchFamily="49" charset="0"/>
              </a:rPr>
              <a:t>, </a:t>
            </a:r>
          </a:p>
          <a:p>
            <a:pPr marL="914400" lvl="2" indent="0">
              <a:buFontTx/>
              <a:buNone/>
              <a:defRPr/>
            </a:pPr>
            <a:r>
              <a:rPr lang="en-US" i="1" dirty="0">
                <a:latin typeface="Courier New" pitchFamily="49" charset="0"/>
                <a:cs typeface="Courier New" pitchFamily="49" charset="0"/>
              </a:rPr>
              <a:t>	message</a:t>
            </a:r>
            <a:r>
              <a:rPr lang="en-US" dirty="0">
                <a:latin typeface="Courier New" pitchFamily="49" charset="0"/>
                <a:cs typeface="Courier New" pitchFamily="49" charset="0"/>
              </a:rPr>
              <a:t>)</a:t>
            </a:r>
          </a:p>
          <a:p>
            <a:pPr lvl="3">
              <a:defRPr/>
            </a:pPr>
            <a:r>
              <a:rPr lang="en-US" i="1" dirty="0">
                <a:latin typeface="Courier New" pitchFamily="49" charset="0"/>
                <a:cs typeface="Courier New" pitchFamily="49" charset="0"/>
              </a:rPr>
              <a:t>title</a:t>
            </a:r>
            <a:r>
              <a:rPr lang="en-US" dirty="0">
                <a:latin typeface="Courier New" pitchFamily="49" charset="0"/>
                <a:cs typeface="Courier New" pitchFamily="49" charset="0"/>
              </a:rPr>
              <a:t> </a:t>
            </a:r>
            <a:r>
              <a:rPr lang="en-US" dirty="0">
                <a:cs typeface="Courier New" pitchFamily="49" charset="0"/>
              </a:rPr>
              <a:t>is displayed in dialog box’s title bar</a:t>
            </a:r>
          </a:p>
          <a:p>
            <a:pPr lvl="3">
              <a:defRPr/>
            </a:pPr>
            <a:r>
              <a:rPr lang="en-US" i="1" dirty="0">
                <a:latin typeface="Courier New" pitchFamily="49" charset="0"/>
                <a:cs typeface="Courier New" pitchFamily="49" charset="0"/>
              </a:rPr>
              <a:t>message</a:t>
            </a:r>
            <a:r>
              <a:rPr lang="en-US" dirty="0">
                <a:cs typeface="Courier New" pitchFamily="49" charset="0"/>
              </a:rPr>
              <a:t> is an informational string displayed in the main part of the dialog box</a:t>
            </a:r>
          </a:p>
          <a:p>
            <a:pPr>
              <a:defRPr/>
            </a:pP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a:extLst>
              <a:ext uri="{FF2B5EF4-FFF2-40B4-BE49-F238E27FC236}">
                <a16:creationId xmlns:a16="http://schemas.microsoft.com/office/drawing/2014/main" id="{A51858E6-9DDC-4D43-BF5F-12EDC3FAE353}"/>
              </a:ext>
            </a:extLst>
          </p:cNvPr>
          <p:cNvSpPr>
            <a:spLocks noGrp="1" noChangeArrowheads="1"/>
          </p:cNvSpPr>
          <p:nvPr>
            <p:ph type="title"/>
          </p:nvPr>
        </p:nvSpPr>
        <p:spPr>
          <a:xfrm>
            <a:off x="457200" y="228600"/>
            <a:ext cx="8229600" cy="914400"/>
          </a:xfrm>
        </p:spPr>
        <p:txBody>
          <a:bodyPr/>
          <a:lstStyle/>
          <a:p>
            <a:r>
              <a:rPr lang="en-US" altLang="en-US" dirty="0">
                <a:latin typeface="Courier New" panose="02070309020205020404" pitchFamily="49" charset="0"/>
                <a:cs typeface="Courier New" panose="02070309020205020404" pitchFamily="49" charset="0"/>
              </a:rPr>
              <a:t>Button</a:t>
            </a:r>
            <a:r>
              <a:rPr lang="en-US" altLang="en-US" dirty="0"/>
              <a:t> Widgets and Info Dialog Boxes</a:t>
            </a:r>
            <a:r>
              <a:rPr lang="en-AU" sz="3600" b="0" dirty="0"/>
              <a:t> </a:t>
            </a:r>
            <a:r>
              <a:rPr lang="en-AU" sz="2000" b="0" dirty="0"/>
              <a:t>(3 of 4)</a:t>
            </a:r>
            <a:endParaRPr lang="en-US" altLang="en-US" sz="2000" dirty="0"/>
          </a:p>
        </p:txBody>
      </p:sp>
      <p:sp>
        <p:nvSpPr>
          <p:cNvPr id="3" name="Text Placeholder 2">
            <a:extLst>
              <a:ext uri="{FF2B5EF4-FFF2-40B4-BE49-F238E27FC236}">
                <a16:creationId xmlns:a16="http://schemas.microsoft.com/office/drawing/2014/main" id="{CC37ED75-1B61-4AAE-8F6E-8A57BA58FD33}"/>
              </a:ext>
            </a:extLst>
          </p:cNvPr>
          <p:cNvSpPr>
            <a:spLocks noGrp="1"/>
          </p:cNvSpPr>
          <p:nvPr>
            <p:ph type="body" sz="quarter" idx="13"/>
          </p:nvPr>
        </p:nvSpPr>
        <p:spPr>
          <a:xfrm>
            <a:off x="457200" y="5867400"/>
            <a:ext cx="8229600" cy="417616"/>
          </a:xfrm>
        </p:spPr>
        <p:txBody>
          <a:bodyPr/>
          <a:lstStyle/>
          <a:p>
            <a:r>
              <a:rPr lang="en-US" b="1" dirty="0"/>
              <a:t>Figure 13-20 </a:t>
            </a:r>
            <a:r>
              <a:rPr lang="en-US" dirty="0"/>
              <a:t>The main window displayed by Program 13-10</a:t>
            </a:r>
            <a:endParaRPr lang="en-AU" dirty="0"/>
          </a:p>
        </p:txBody>
      </p:sp>
      <p:pic>
        <p:nvPicPr>
          <p:cNvPr id="33795" name="Picture 4" descr="A window displays the click me button. ">
            <a:extLst>
              <a:ext uri="{FF2B5EF4-FFF2-40B4-BE49-F238E27FC236}">
                <a16:creationId xmlns:a16="http://schemas.microsoft.com/office/drawing/2014/main" id="{4CFF0A64-E5D6-4BBB-8F94-5B12D02D52D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auto">
          <a:xfrm>
            <a:off x="2300276" y="2286000"/>
            <a:ext cx="4543448" cy="21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a:extLst>
              <a:ext uri="{FF2B5EF4-FFF2-40B4-BE49-F238E27FC236}">
                <a16:creationId xmlns:a16="http://schemas.microsoft.com/office/drawing/2014/main" id="{A51858E6-9DDC-4D43-BF5F-12EDC3FAE353}"/>
              </a:ext>
            </a:extLst>
          </p:cNvPr>
          <p:cNvSpPr>
            <a:spLocks noGrp="1" noChangeArrowheads="1"/>
          </p:cNvSpPr>
          <p:nvPr>
            <p:ph type="title"/>
          </p:nvPr>
        </p:nvSpPr>
        <p:spPr>
          <a:xfrm>
            <a:off x="457200" y="228600"/>
            <a:ext cx="8229600" cy="914400"/>
          </a:xfrm>
        </p:spPr>
        <p:txBody>
          <a:bodyPr/>
          <a:lstStyle/>
          <a:p>
            <a:r>
              <a:rPr lang="en-US" altLang="en-US" dirty="0">
                <a:latin typeface="Courier New" panose="02070309020205020404" pitchFamily="49" charset="0"/>
                <a:cs typeface="Courier New" panose="02070309020205020404" pitchFamily="49" charset="0"/>
              </a:rPr>
              <a:t>Button</a:t>
            </a:r>
            <a:r>
              <a:rPr lang="en-US" altLang="en-US" dirty="0"/>
              <a:t> Widgets and Info Dialog Boxes</a:t>
            </a:r>
            <a:r>
              <a:rPr lang="en-AU" sz="3600" b="0" dirty="0"/>
              <a:t> </a:t>
            </a:r>
            <a:r>
              <a:rPr lang="en-AU" sz="2000" b="0" dirty="0"/>
              <a:t>(4 of 4)</a:t>
            </a:r>
            <a:endParaRPr lang="en-US" altLang="en-US" sz="2000" dirty="0"/>
          </a:p>
        </p:txBody>
      </p:sp>
      <p:sp>
        <p:nvSpPr>
          <p:cNvPr id="3" name="Text Placeholder 2">
            <a:extLst>
              <a:ext uri="{FF2B5EF4-FFF2-40B4-BE49-F238E27FC236}">
                <a16:creationId xmlns:a16="http://schemas.microsoft.com/office/drawing/2014/main" id="{CC37ED75-1B61-4AAE-8F6E-8A57BA58FD33}"/>
              </a:ext>
            </a:extLst>
          </p:cNvPr>
          <p:cNvSpPr>
            <a:spLocks noGrp="1"/>
          </p:cNvSpPr>
          <p:nvPr>
            <p:ph type="body" sz="quarter" idx="13"/>
          </p:nvPr>
        </p:nvSpPr>
        <p:spPr>
          <a:xfrm>
            <a:off x="457200" y="5867400"/>
            <a:ext cx="8229600" cy="417616"/>
          </a:xfrm>
        </p:spPr>
        <p:txBody>
          <a:bodyPr/>
          <a:lstStyle/>
          <a:p>
            <a:r>
              <a:rPr lang="en-US" b="1" dirty="0"/>
              <a:t>Figure 13-21 </a:t>
            </a:r>
            <a:r>
              <a:rPr lang="en-US" dirty="0"/>
              <a:t>The info dialog box displayed by Program 13-10</a:t>
            </a:r>
            <a:endParaRPr lang="en-AU" dirty="0"/>
          </a:p>
        </p:txBody>
      </p:sp>
      <p:pic>
        <p:nvPicPr>
          <p:cNvPr id="33795" name="Picture 4" descr="A window titled, response displays the information message icon and a text, thanks for clicking the button. The ok button is at the bottom of the window. ">
            <a:extLst>
              <a:ext uri="{FF2B5EF4-FFF2-40B4-BE49-F238E27FC236}">
                <a16:creationId xmlns:a16="http://schemas.microsoft.com/office/drawing/2014/main" id="{4CFF0A64-E5D6-4BBB-8F94-5B12D02D52D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auto">
          <a:xfrm>
            <a:off x="2830909" y="2286000"/>
            <a:ext cx="3482182" cy="21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485944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a:extLst>
              <a:ext uri="{FF2B5EF4-FFF2-40B4-BE49-F238E27FC236}">
                <a16:creationId xmlns:a16="http://schemas.microsoft.com/office/drawing/2014/main" id="{84928987-CEC8-4DAD-BEA3-355DF60739EC}"/>
              </a:ext>
            </a:extLst>
          </p:cNvPr>
          <p:cNvSpPr>
            <a:spLocks noGrp="1" noChangeArrowheads="1"/>
          </p:cNvSpPr>
          <p:nvPr>
            <p:ph type="title"/>
          </p:nvPr>
        </p:nvSpPr>
        <p:spPr/>
        <p:txBody>
          <a:bodyPr/>
          <a:lstStyle/>
          <a:p>
            <a:r>
              <a:rPr lang="en-US" altLang="en-US" dirty="0"/>
              <a:t>Creating a Quit Button</a:t>
            </a:r>
          </a:p>
        </p:txBody>
      </p:sp>
      <p:sp>
        <p:nvSpPr>
          <p:cNvPr id="34819" name="Content Placeholder 2">
            <a:extLst>
              <a:ext uri="{FF2B5EF4-FFF2-40B4-BE49-F238E27FC236}">
                <a16:creationId xmlns:a16="http://schemas.microsoft.com/office/drawing/2014/main" id="{7BC80868-0808-4939-870F-6298D65F016C}"/>
              </a:ext>
            </a:extLst>
          </p:cNvPr>
          <p:cNvSpPr>
            <a:spLocks noGrp="1" noChangeArrowheads="1"/>
          </p:cNvSpPr>
          <p:nvPr>
            <p:ph idx="1"/>
          </p:nvPr>
        </p:nvSpPr>
        <p:spPr/>
        <p:txBody>
          <a:bodyPr/>
          <a:lstStyle/>
          <a:p>
            <a:pPr>
              <a:buFontTx/>
              <a:buChar char="•"/>
            </a:pPr>
            <a:r>
              <a:rPr lang="en-US" altLang="en-US" u="sng" dirty="0"/>
              <a:t>Quit button</a:t>
            </a:r>
            <a:r>
              <a:rPr lang="en-US" altLang="en-US" dirty="0"/>
              <a:t>: closes the program when the user clicks it</a:t>
            </a:r>
          </a:p>
          <a:p>
            <a:pPr>
              <a:buFontTx/>
              <a:buChar char="•"/>
            </a:pPr>
            <a:r>
              <a:rPr lang="en-US" altLang="en-US" dirty="0"/>
              <a:t>To create a quit button in Python:</a:t>
            </a:r>
          </a:p>
          <a:p>
            <a:pPr lvl="1"/>
            <a:r>
              <a:rPr lang="en-US" altLang="en-US" dirty="0"/>
              <a:t>Create a </a:t>
            </a:r>
            <a:r>
              <a:rPr lang="en-US" altLang="en-US" dirty="0">
                <a:latin typeface="Courier New" panose="02070309020205020404" pitchFamily="49" charset="0"/>
                <a:cs typeface="Courier New" panose="02070309020205020404" pitchFamily="49" charset="0"/>
              </a:rPr>
              <a:t>Button</a:t>
            </a:r>
            <a:r>
              <a:rPr lang="en-US" altLang="en-US" dirty="0"/>
              <a:t> widget</a:t>
            </a:r>
          </a:p>
          <a:p>
            <a:pPr lvl="1"/>
            <a:r>
              <a:rPr lang="en-US" altLang="en-US" dirty="0"/>
              <a:t>Set the root widget’s </a:t>
            </a:r>
            <a:r>
              <a:rPr lang="en-US" altLang="en-US" dirty="0">
                <a:latin typeface="Courier New" panose="02070309020205020404" pitchFamily="49" charset="0"/>
                <a:cs typeface="Courier New" panose="02070309020205020404" pitchFamily="49" charset="0"/>
              </a:rPr>
              <a:t>destroy</a:t>
            </a:r>
            <a:r>
              <a:rPr lang="en-US" altLang="en-US" dirty="0"/>
              <a:t> method as the callback function</a:t>
            </a:r>
          </a:p>
          <a:p>
            <a:pPr lvl="2"/>
            <a:r>
              <a:rPr lang="en-US" altLang="en-US" dirty="0"/>
              <a:t>When the user clicks the button the </a:t>
            </a:r>
            <a:r>
              <a:rPr lang="en-US" altLang="en-US" dirty="0">
                <a:latin typeface="Courier New" panose="02070309020205020404" pitchFamily="49" charset="0"/>
                <a:cs typeface="Courier New" panose="02070309020205020404" pitchFamily="49" charset="0"/>
              </a:rPr>
              <a:t>destroy</a:t>
            </a:r>
            <a:r>
              <a:rPr lang="en-US" altLang="en-US" dirty="0"/>
              <a:t> method is called and the program ends</a:t>
            </a:r>
          </a:p>
          <a:p>
            <a:pPr>
              <a:buFontTx/>
              <a:buChar char="•"/>
            </a:pPr>
            <a:endParaRPr lang="en-US" alt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a:extLst>
              <a:ext uri="{FF2B5EF4-FFF2-40B4-BE49-F238E27FC236}">
                <a16:creationId xmlns:a16="http://schemas.microsoft.com/office/drawing/2014/main" id="{4EBDCDE1-F657-4D4F-B54B-3181A683241A}"/>
              </a:ext>
            </a:extLst>
          </p:cNvPr>
          <p:cNvSpPr>
            <a:spLocks noGrp="1" noChangeArrowheads="1"/>
          </p:cNvSpPr>
          <p:nvPr>
            <p:ph type="title"/>
          </p:nvPr>
        </p:nvSpPr>
        <p:spPr>
          <a:xfrm>
            <a:off x="457200" y="215372"/>
            <a:ext cx="7620000" cy="1097280"/>
          </a:xfrm>
        </p:spPr>
        <p:txBody>
          <a:bodyPr/>
          <a:lstStyle/>
          <a:p>
            <a:r>
              <a:rPr lang="en-US" altLang="en-US" dirty="0"/>
              <a:t>Getting Input with the </a:t>
            </a:r>
            <a:r>
              <a:rPr lang="en-US" altLang="en-US" dirty="0">
                <a:latin typeface="Courier New" panose="02070309020205020404" pitchFamily="49" charset="0"/>
                <a:cs typeface="Courier New" panose="02070309020205020404" pitchFamily="49" charset="0"/>
              </a:rPr>
              <a:t>Entry</a:t>
            </a:r>
            <a:r>
              <a:rPr lang="en-US" altLang="en-US" dirty="0"/>
              <a:t> Widget</a:t>
            </a:r>
            <a:r>
              <a:rPr lang="en-AU" sz="2000" b="0" dirty="0"/>
              <a:t> (1 of 2)</a:t>
            </a:r>
            <a:endParaRPr lang="en-US" altLang="en-US" sz="2000" dirty="0"/>
          </a:p>
        </p:txBody>
      </p:sp>
      <p:sp>
        <p:nvSpPr>
          <p:cNvPr id="35843" name="Content Placeholder 2">
            <a:extLst>
              <a:ext uri="{FF2B5EF4-FFF2-40B4-BE49-F238E27FC236}">
                <a16:creationId xmlns:a16="http://schemas.microsoft.com/office/drawing/2014/main" id="{4E3B4386-E0B3-4C05-A949-F45E64978870}"/>
              </a:ext>
            </a:extLst>
          </p:cNvPr>
          <p:cNvSpPr>
            <a:spLocks noGrp="1" noChangeArrowheads="1"/>
          </p:cNvSpPr>
          <p:nvPr>
            <p:ph idx="1"/>
          </p:nvPr>
        </p:nvSpPr>
        <p:spPr/>
        <p:txBody>
          <a:bodyPr/>
          <a:lstStyle/>
          <a:p>
            <a:pPr>
              <a:buFontTx/>
              <a:buChar char="•"/>
            </a:pPr>
            <a:r>
              <a:rPr lang="en-US" altLang="en-US" u="sng" dirty="0">
                <a:latin typeface="Courier New" panose="02070309020205020404" pitchFamily="49" charset="0"/>
                <a:cs typeface="Courier New" panose="02070309020205020404" pitchFamily="49" charset="0"/>
              </a:rPr>
              <a:t>Entry</a:t>
            </a:r>
            <a:r>
              <a:rPr lang="en-US" altLang="en-US" u="sng" dirty="0">
                <a:cs typeface="Courier New" panose="02070309020205020404" pitchFamily="49" charset="0"/>
              </a:rPr>
              <a:t> widget</a:t>
            </a:r>
            <a:r>
              <a:rPr lang="en-US" altLang="en-US" dirty="0">
                <a:cs typeface="Courier New" panose="02070309020205020404" pitchFamily="49" charset="0"/>
              </a:rPr>
              <a:t>: rectangular area that the user can type text into</a:t>
            </a:r>
          </a:p>
          <a:p>
            <a:pPr lvl="1"/>
            <a:r>
              <a:rPr lang="en-US" altLang="en-US" dirty="0">
                <a:cs typeface="Courier New" panose="02070309020205020404" pitchFamily="49" charset="0"/>
              </a:rPr>
              <a:t>Used to gather input in a GUI program</a:t>
            </a:r>
          </a:p>
          <a:p>
            <a:pPr lvl="1"/>
            <a:r>
              <a:rPr lang="en-US" altLang="en-US" dirty="0">
                <a:cs typeface="Courier New" panose="02070309020205020404" pitchFamily="49" charset="0"/>
              </a:rPr>
              <a:t>Typically followed by a button for submitting the data</a:t>
            </a:r>
          </a:p>
          <a:p>
            <a:pPr lvl="2"/>
            <a:r>
              <a:rPr lang="en-US" altLang="en-US" dirty="0">
                <a:cs typeface="Courier New" panose="02070309020205020404" pitchFamily="49" charset="0"/>
              </a:rPr>
              <a:t>The button’s callback function retrieves the data from the </a:t>
            </a:r>
            <a:r>
              <a:rPr lang="en-US" altLang="en-US" dirty="0">
                <a:latin typeface="Courier New" panose="02070309020205020404" pitchFamily="49" charset="0"/>
                <a:cs typeface="Courier New" panose="02070309020205020404" pitchFamily="49" charset="0"/>
              </a:rPr>
              <a:t>Entry</a:t>
            </a:r>
            <a:r>
              <a:rPr lang="en-US" altLang="en-US" dirty="0">
                <a:cs typeface="Courier New" panose="02070309020205020404" pitchFamily="49" charset="0"/>
              </a:rPr>
              <a:t> widgets and processes it</a:t>
            </a:r>
          </a:p>
          <a:p>
            <a:pPr lvl="1"/>
            <a:r>
              <a:rPr lang="en-US" altLang="en-US" u="sng" dirty="0">
                <a:latin typeface="Courier New" panose="02070309020205020404" pitchFamily="49" charset="0"/>
                <a:cs typeface="Courier New" panose="02070309020205020404" pitchFamily="49" charset="0"/>
              </a:rPr>
              <a:t>Entry </a:t>
            </a:r>
            <a:r>
              <a:rPr lang="en-US" altLang="en-US" u="sng" dirty="0">
                <a:cs typeface="Courier New" panose="02070309020205020404" pitchFamily="49" charset="0"/>
              </a:rPr>
              <a:t>widget’s </a:t>
            </a:r>
            <a:r>
              <a:rPr lang="en-US" altLang="en-US" u="sng" dirty="0">
                <a:latin typeface="Courier New" panose="02070309020205020404" pitchFamily="49" charset="0"/>
                <a:cs typeface="Courier New" panose="02070309020205020404" pitchFamily="49" charset="0"/>
              </a:rPr>
              <a:t>get</a:t>
            </a:r>
            <a:r>
              <a:rPr lang="en-US" altLang="en-US" u="sng" dirty="0">
                <a:cs typeface="Courier New" panose="02070309020205020404" pitchFamily="49" charset="0"/>
              </a:rPr>
              <a:t> method</a:t>
            </a:r>
            <a:r>
              <a:rPr lang="en-US" altLang="en-US" dirty="0">
                <a:cs typeface="Courier New" panose="02070309020205020404" pitchFamily="49" charset="0"/>
              </a:rPr>
              <a:t>: used to retrieve the data from an </a:t>
            </a:r>
            <a:r>
              <a:rPr lang="en-US" altLang="en-US" dirty="0">
                <a:latin typeface="Courier New" panose="02070309020205020404" pitchFamily="49" charset="0"/>
                <a:cs typeface="Courier New" panose="02070309020205020404" pitchFamily="49" charset="0"/>
              </a:rPr>
              <a:t>Entry</a:t>
            </a:r>
            <a:r>
              <a:rPr lang="en-US" altLang="en-US" dirty="0">
                <a:cs typeface="Courier New" panose="02070309020205020404" pitchFamily="49" charset="0"/>
              </a:rPr>
              <a:t> widget</a:t>
            </a:r>
          </a:p>
          <a:p>
            <a:pPr lvl="2"/>
            <a:r>
              <a:rPr lang="en-US" altLang="en-US" dirty="0">
                <a:cs typeface="Courier New" panose="02070309020205020404" pitchFamily="49" charset="0"/>
              </a:rPr>
              <a:t>Returns a string</a:t>
            </a:r>
          </a:p>
          <a:p>
            <a:pPr>
              <a:buFontTx/>
              <a:buChar char="•"/>
            </a:pPr>
            <a:endParaRPr lang="en-US" alt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a:extLst>
              <a:ext uri="{FF2B5EF4-FFF2-40B4-BE49-F238E27FC236}">
                <a16:creationId xmlns:a16="http://schemas.microsoft.com/office/drawing/2014/main" id="{54F76C77-9320-4FA1-86A0-8B4B175C971D}"/>
              </a:ext>
            </a:extLst>
          </p:cNvPr>
          <p:cNvSpPr>
            <a:spLocks noGrp="1" noChangeArrowheads="1"/>
          </p:cNvSpPr>
          <p:nvPr>
            <p:ph type="title"/>
          </p:nvPr>
        </p:nvSpPr>
        <p:spPr>
          <a:xfrm>
            <a:off x="457200" y="228600"/>
            <a:ext cx="7620000" cy="914400"/>
          </a:xfrm>
        </p:spPr>
        <p:txBody>
          <a:bodyPr/>
          <a:lstStyle/>
          <a:p>
            <a:r>
              <a:rPr lang="en-US" altLang="en-US" dirty="0"/>
              <a:t>Getting Input with the </a:t>
            </a:r>
            <a:r>
              <a:rPr lang="en-US" altLang="en-US" dirty="0">
                <a:latin typeface="Courier New" panose="02070309020205020404" pitchFamily="49" charset="0"/>
                <a:cs typeface="Courier New" panose="02070309020205020404" pitchFamily="49" charset="0"/>
              </a:rPr>
              <a:t>Entry</a:t>
            </a:r>
            <a:r>
              <a:rPr lang="en-US" altLang="en-US" dirty="0"/>
              <a:t> Widget</a:t>
            </a:r>
            <a:r>
              <a:rPr lang="en-AU" sz="2000" b="0" dirty="0"/>
              <a:t> (2 of 2)</a:t>
            </a:r>
            <a:endParaRPr lang="en-US" altLang="en-US" sz="2000" dirty="0"/>
          </a:p>
        </p:txBody>
      </p:sp>
      <p:sp>
        <p:nvSpPr>
          <p:cNvPr id="2" name="Text Placeholder 1">
            <a:extLst>
              <a:ext uri="{FF2B5EF4-FFF2-40B4-BE49-F238E27FC236}">
                <a16:creationId xmlns:a16="http://schemas.microsoft.com/office/drawing/2014/main" id="{9C955E94-0E64-49FE-9F9B-FDA948DB042A}"/>
              </a:ext>
            </a:extLst>
          </p:cNvPr>
          <p:cNvSpPr>
            <a:spLocks noGrp="1"/>
          </p:cNvSpPr>
          <p:nvPr>
            <p:ph type="body" sz="quarter" idx="13"/>
          </p:nvPr>
        </p:nvSpPr>
        <p:spPr>
          <a:xfrm>
            <a:off x="457200" y="5791200"/>
            <a:ext cx="8229600" cy="493816"/>
          </a:xfrm>
        </p:spPr>
        <p:txBody>
          <a:bodyPr/>
          <a:lstStyle/>
          <a:p>
            <a:r>
              <a:rPr lang="en-AU" b="1" dirty="0"/>
              <a:t>Figure 13-25 </a:t>
            </a:r>
            <a:r>
              <a:rPr lang="en-AU" dirty="0"/>
              <a:t>The info dialog box</a:t>
            </a:r>
          </a:p>
        </p:txBody>
      </p:sp>
      <p:pic>
        <p:nvPicPr>
          <p:cNvPr id="36867" name="Picture 3" descr="A window titled, t K and info dialog box titled, results depict the steps when a user enters 1000 into the Entry widget and clicks the Convert button.">
            <a:extLst>
              <a:ext uri="{FF2B5EF4-FFF2-40B4-BE49-F238E27FC236}">
                <a16:creationId xmlns:a16="http://schemas.microsoft.com/office/drawing/2014/main" id="{6357843C-817C-41C8-81F5-BEA0D65933D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auto">
          <a:xfrm>
            <a:off x="807395" y="1905000"/>
            <a:ext cx="7529209" cy="303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a:extLst>
              <a:ext uri="{FF2B5EF4-FFF2-40B4-BE49-F238E27FC236}">
                <a16:creationId xmlns:a16="http://schemas.microsoft.com/office/drawing/2014/main" id="{D49B2B6E-9FA8-49F4-BC99-0EAC8810F23F}"/>
              </a:ext>
            </a:extLst>
          </p:cNvPr>
          <p:cNvSpPr>
            <a:spLocks noGrp="1" noChangeArrowheads="1"/>
          </p:cNvSpPr>
          <p:nvPr>
            <p:ph type="title"/>
          </p:nvPr>
        </p:nvSpPr>
        <p:spPr/>
        <p:txBody>
          <a:bodyPr/>
          <a:lstStyle/>
          <a:p>
            <a:r>
              <a:rPr lang="en-US" altLang="en-US" dirty="0"/>
              <a:t>Using Labels as Output Fields</a:t>
            </a:r>
            <a:r>
              <a:rPr lang="en-AU" sz="2000" b="0" dirty="0"/>
              <a:t> (1 of 3)</a:t>
            </a:r>
            <a:endParaRPr lang="en-US" altLang="en-US" sz="2000" dirty="0"/>
          </a:p>
        </p:txBody>
      </p:sp>
      <p:sp>
        <p:nvSpPr>
          <p:cNvPr id="37891" name="Content Placeholder 2">
            <a:extLst>
              <a:ext uri="{FF2B5EF4-FFF2-40B4-BE49-F238E27FC236}">
                <a16:creationId xmlns:a16="http://schemas.microsoft.com/office/drawing/2014/main" id="{03BA04EB-D46B-4222-9F7A-ABCAFBE82808}"/>
              </a:ext>
            </a:extLst>
          </p:cNvPr>
          <p:cNvSpPr>
            <a:spLocks noGrp="1" noChangeArrowheads="1"/>
          </p:cNvSpPr>
          <p:nvPr>
            <p:ph idx="1"/>
          </p:nvPr>
        </p:nvSpPr>
        <p:spPr/>
        <p:txBody>
          <a:bodyPr/>
          <a:lstStyle/>
          <a:p>
            <a:pPr>
              <a:buFontTx/>
              <a:buChar char="•"/>
            </a:pPr>
            <a:r>
              <a:rPr lang="en-US" altLang="en-US" dirty="0"/>
              <a:t>Can use </a:t>
            </a:r>
            <a:r>
              <a:rPr lang="en-US" altLang="en-US" dirty="0">
                <a:latin typeface="Courier New" panose="02070309020205020404" pitchFamily="49" charset="0"/>
                <a:cs typeface="Courier New" panose="02070309020205020404" pitchFamily="49" charset="0"/>
              </a:rPr>
              <a:t>Label</a:t>
            </a:r>
            <a:r>
              <a:rPr lang="en-US" altLang="en-US" dirty="0"/>
              <a:t> widgets to dynamically display output</a:t>
            </a:r>
          </a:p>
          <a:p>
            <a:pPr lvl="1"/>
            <a:r>
              <a:rPr lang="en-US" altLang="en-US" dirty="0"/>
              <a:t>Used to replace info dialog box </a:t>
            </a:r>
          </a:p>
          <a:p>
            <a:pPr lvl="1"/>
            <a:r>
              <a:rPr lang="en-US" altLang="en-US" dirty="0"/>
              <a:t>Create empty </a:t>
            </a:r>
            <a:r>
              <a:rPr lang="en-US" altLang="en-US" dirty="0">
                <a:latin typeface="Courier New" panose="02070309020205020404" pitchFamily="49" charset="0"/>
                <a:cs typeface="Courier New" panose="02070309020205020404" pitchFamily="49" charset="0"/>
              </a:rPr>
              <a:t>Label</a:t>
            </a:r>
            <a:r>
              <a:rPr lang="en-US" altLang="en-US" dirty="0"/>
              <a:t> widget in main window, and write code that displays desired data in the label when a button is clicked</a:t>
            </a:r>
          </a:p>
          <a:p>
            <a:pPr>
              <a:buFontTx/>
              <a:buChar char="•"/>
            </a:pPr>
            <a:endParaRPr lang="en-US" alt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a:extLst>
              <a:ext uri="{FF2B5EF4-FFF2-40B4-BE49-F238E27FC236}">
                <a16:creationId xmlns:a16="http://schemas.microsoft.com/office/drawing/2014/main" id="{DB7CB3E9-B40D-40D6-AE54-F1AE0A069A0F}"/>
              </a:ext>
            </a:extLst>
          </p:cNvPr>
          <p:cNvSpPr>
            <a:spLocks noGrp="1" noChangeArrowheads="1"/>
          </p:cNvSpPr>
          <p:nvPr>
            <p:ph type="title"/>
          </p:nvPr>
        </p:nvSpPr>
        <p:spPr/>
        <p:txBody>
          <a:bodyPr/>
          <a:lstStyle/>
          <a:p>
            <a:r>
              <a:rPr lang="en-US" altLang="en-US" dirty="0"/>
              <a:t>Using Labels as Output Fields</a:t>
            </a:r>
            <a:r>
              <a:rPr lang="en-AU" sz="2000" b="0" dirty="0"/>
              <a:t> (2 of 3)</a:t>
            </a:r>
            <a:endParaRPr lang="en-US" altLang="en-US" sz="2000" dirty="0"/>
          </a:p>
        </p:txBody>
      </p:sp>
      <p:sp>
        <p:nvSpPr>
          <p:cNvPr id="38915" name="Content Placeholder 2">
            <a:extLst>
              <a:ext uri="{FF2B5EF4-FFF2-40B4-BE49-F238E27FC236}">
                <a16:creationId xmlns:a16="http://schemas.microsoft.com/office/drawing/2014/main" id="{4762461C-8946-4E6C-86FF-7252E54C3279}"/>
              </a:ext>
            </a:extLst>
          </p:cNvPr>
          <p:cNvSpPr>
            <a:spLocks noGrp="1" noChangeArrowheads="1"/>
          </p:cNvSpPr>
          <p:nvPr>
            <p:ph idx="1"/>
          </p:nvPr>
        </p:nvSpPr>
        <p:spPr/>
        <p:txBody>
          <a:bodyPr/>
          <a:lstStyle/>
          <a:p>
            <a:pPr>
              <a:buFontTx/>
              <a:buChar char="•"/>
            </a:pPr>
            <a:r>
              <a:rPr lang="en-US" altLang="en-US" u="sng" dirty="0" err="1">
                <a:latin typeface="Courier New" panose="02070309020205020404" pitchFamily="49" charset="0"/>
                <a:cs typeface="Courier New" panose="02070309020205020404" pitchFamily="49" charset="0"/>
              </a:rPr>
              <a:t>StringVar</a:t>
            </a:r>
            <a:r>
              <a:rPr lang="en-US" altLang="en-US" u="sng" dirty="0"/>
              <a:t> class</a:t>
            </a:r>
            <a:r>
              <a:rPr lang="en-US" altLang="en-US" dirty="0"/>
              <a:t>: </a:t>
            </a:r>
            <a:r>
              <a:rPr lang="en-US" altLang="en-US" dirty="0" err="1">
                <a:latin typeface="Courier New" panose="02070309020205020404" pitchFamily="49" charset="0"/>
                <a:cs typeface="Courier New" panose="02070309020205020404" pitchFamily="49" charset="0"/>
              </a:rPr>
              <a:t>tkinter</a:t>
            </a:r>
            <a:r>
              <a:rPr lang="en-US" altLang="en-US" dirty="0"/>
              <a:t> module class that can be used along with </a:t>
            </a:r>
            <a:r>
              <a:rPr lang="en-US" altLang="en-US" dirty="0">
                <a:latin typeface="Courier New" panose="02070309020205020404" pitchFamily="49" charset="0"/>
                <a:cs typeface="Courier New" panose="02070309020205020404" pitchFamily="49" charset="0"/>
              </a:rPr>
              <a:t>Label</a:t>
            </a:r>
            <a:r>
              <a:rPr lang="en-US" altLang="en-US" dirty="0"/>
              <a:t> widget to display data</a:t>
            </a:r>
          </a:p>
          <a:p>
            <a:pPr lvl="1"/>
            <a:r>
              <a:rPr lang="en-US" altLang="en-US" dirty="0"/>
              <a:t>Create </a:t>
            </a:r>
            <a:r>
              <a:rPr lang="en-US" altLang="en-US" dirty="0" err="1">
                <a:latin typeface="Courier New" panose="02070309020205020404" pitchFamily="49" charset="0"/>
                <a:cs typeface="Courier New" panose="02070309020205020404" pitchFamily="49" charset="0"/>
              </a:rPr>
              <a:t>StringVar</a:t>
            </a:r>
            <a:r>
              <a:rPr lang="en-US" altLang="en-US" dirty="0"/>
              <a:t> object and then create </a:t>
            </a:r>
            <a:r>
              <a:rPr lang="en-US" altLang="en-US" dirty="0">
                <a:latin typeface="Courier New" panose="02070309020205020404" pitchFamily="49" charset="0"/>
                <a:cs typeface="Courier New" panose="02070309020205020404" pitchFamily="49" charset="0"/>
              </a:rPr>
              <a:t>Label</a:t>
            </a:r>
            <a:r>
              <a:rPr lang="en-US" altLang="en-US" dirty="0"/>
              <a:t> widget and associate it with the </a:t>
            </a:r>
            <a:r>
              <a:rPr lang="en-US" altLang="en-US" dirty="0" err="1">
                <a:latin typeface="Courier New" panose="02070309020205020404" pitchFamily="49" charset="0"/>
                <a:cs typeface="Courier New" panose="02070309020205020404" pitchFamily="49" charset="0"/>
              </a:rPr>
              <a:t>StringVar</a:t>
            </a:r>
            <a:r>
              <a:rPr lang="en-US" altLang="en-US" dirty="0"/>
              <a:t> object</a:t>
            </a:r>
          </a:p>
          <a:p>
            <a:pPr lvl="1"/>
            <a:r>
              <a:rPr lang="en-US" altLang="en-US" dirty="0"/>
              <a:t>Subsequently, any value stored in the </a:t>
            </a:r>
            <a:r>
              <a:rPr lang="en-US" altLang="en-US" dirty="0" err="1">
                <a:latin typeface="Courier New" panose="02070309020205020404" pitchFamily="49" charset="0"/>
                <a:cs typeface="Courier New" panose="02070309020205020404" pitchFamily="49" charset="0"/>
              </a:rPr>
              <a:t>StringVar</a:t>
            </a:r>
            <a:r>
              <a:rPr lang="en-US" altLang="en-US" dirty="0"/>
              <a:t> object with automatically be displayed in the </a:t>
            </a:r>
            <a:r>
              <a:rPr lang="en-US" altLang="en-US" dirty="0">
                <a:latin typeface="Courier New" panose="02070309020205020404" pitchFamily="49" charset="0"/>
                <a:cs typeface="Courier New" panose="02070309020205020404" pitchFamily="49" charset="0"/>
              </a:rPr>
              <a:t>Label</a:t>
            </a:r>
            <a:r>
              <a:rPr lang="en-US" altLang="en-US" dirty="0"/>
              <a:t> widget</a:t>
            </a:r>
          </a:p>
          <a:p>
            <a:pPr>
              <a:buFontTx/>
              <a:buChar char="•"/>
            </a:pPr>
            <a:endParaRPr lang="en-US" alt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a:extLst>
              <a:ext uri="{FF2B5EF4-FFF2-40B4-BE49-F238E27FC236}">
                <a16:creationId xmlns:a16="http://schemas.microsoft.com/office/drawing/2014/main" id="{008AC48E-B636-470D-B6ED-F2C612955C4D}"/>
              </a:ext>
            </a:extLst>
          </p:cNvPr>
          <p:cNvSpPr>
            <a:spLocks noGrp="1" noChangeArrowheads="1"/>
          </p:cNvSpPr>
          <p:nvPr>
            <p:ph type="title"/>
          </p:nvPr>
        </p:nvSpPr>
        <p:spPr>
          <a:xfrm>
            <a:off x="457200" y="228600"/>
            <a:ext cx="8229600" cy="762000"/>
          </a:xfrm>
        </p:spPr>
        <p:txBody>
          <a:bodyPr/>
          <a:lstStyle/>
          <a:p>
            <a:r>
              <a:rPr lang="en-US" altLang="en-US" dirty="0"/>
              <a:t>Using Labels as Output Fields</a:t>
            </a:r>
            <a:r>
              <a:rPr lang="en-AU" sz="2000" b="0" dirty="0"/>
              <a:t> (3 of 3)</a:t>
            </a:r>
            <a:endParaRPr lang="en-US" altLang="en-US" sz="2000" dirty="0"/>
          </a:p>
        </p:txBody>
      </p:sp>
      <p:sp>
        <p:nvSpPr>
          <p:cNvPr id="3" name="Text Placeholder 2">
            <a:extLst>
              <a:ext uri="{FF2B5EF4-FFF2-40B4-BE49-F238E27FC236}">
                <a16:creationId xmlns:a16="http://schemas.microsoft.com/office/drawing/2014/main" id="{8287A970-9181-4387-9396-4459F3F62CD7}"/>
              </a:ext>
            </a:extLst>
          </p:cNvPr>
          <p:cNvSpPr>
            <a:spLocks noGrp="1"/>
          </p:cNvSpPr>
          <p:nvPr>
            <p:ph type="body" sz="quarter" idx="13"/>
          </p:nvPr>
        </p:nvSpPr>
        <p:spPr>
          <a:xfrm>
            <a:off x="457200" y="5867400"/>
            <a:ext cx="8229600" cy="417616"/>
          </a:xfrm>
        </p:spPr>
        <p:txBody>
          <a:bodyPr/>
          <a:lstStyle/>
          <a:p>
            <a:r>
              <a:rPr lang="en-US" b="1" dirty="0"/>
              <a:t>Figure 13-27 </a:t>
            </a:r>
            <a:r>
              <a:rPr lang="en-US" dirty="0"/>
              <a:t>The window showing 1000 kilometers converted to miles</a:t>
            </a:r>
            <a:endParaRPr lang="en-AU" dirty="0"/>
          </a:p>
        </p:txBody>
      </p:sp>
      <p:pic>
        <p:nvPicPr>
          <p:cNvPr id="39939" name="Picture 3" descr="A window titled, t K displays a blank enter a distance in kilometers text field followed by converted to miles widget. The convert and quit button is at the bottom of the window. ">
            <a:extLst>
              <a:ext uri="{FF2B5EF4-FFF2-40B4-BE49-F238E27FC236}">
                <a16:creationId xmlns:a16="http://schemas.microsoft.com/office/drawing/2014/main" id="{E2FEE569-B611-4A73-8A85-7EB6B118BB9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auto">
          <a:xfrm>
            <a:off x="2923199" y="1343672"/>
            <a:ext cx="3297601" cy="144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id="{725D1FAD-F6EC-40F5-9DD7-0D68E6D29314}"/>
              </a:ext>
            </a:extLst>
          </p:cNvPr>
          <p:cNvSpPr/>
          <p:nvPr/>
        </p:nvSpPr>
        <p:spPr>
          <a:xfrm>
            <a:off x="2453374" y="3043463"/>
            <a:ext cx="3654205" cy="276999"/>
          </a:xfrm>
          <a:prstGeom prst="rect">
            <a:avLst/>
          </a:prstGeom>
        </p:spPr>
        <p:txBody>
          <a:bodyPr wrap="none">
            <a:spAutoFit/>
          </a:bodyPr>
          <a:lstStyle/>
          <a:p>
            <a:r>
              <a:rPr lang="en-US" sz="1200" b="1" dirty="0">
                <a:latin typeface="Verdana" panose="020B0604030504040204" pitchFamily="34" charset="0"/>
                <a:ea typeface="Verdana" panose="020B0604030504040204" pitchFamily="34" charset="0"/>
              </a:rPr>
              <a:t>Figure 13-26 </a:t>
            </a:r>
            <a:r>
              <a:rPr lang="en-US" sz="1200" dirty="0">
                <a:latin typeface="Verdana" panose="020B0604030504040204" pitchFamily="34" charset="0"/>
                <a:ea typeface="Verdana" panose="020B0604030504040204" pitchFamily="34" charset="0"/>
              </a:rPr>
              <a:t>The window initially displayed</a:t>
            </a:r>
            <a:endParaRPr lang="en-AU" sz="1200" dirty="0">
              <a:latin typeface="Verdana" panose="020B0604030504040204" pitchFamily="34" charset="0"/>
              <a:ea typeface="Verdana" panose="020B0604030504040204" pitchFamily="34" charset="0"/>
            </a:endParaRPr>
          </a:p>
        </p:txBody>
      </p:sp>
      <p:pic>
        <p:nvPicPr>
          <p:cNvPr id="5" name="Picture 4" descr="A window titled, t K displays enter a distance in kilometers text field with value 1000 followed by converted to miles, 62.14 widget. The convert button is highlighted. ">
            <a:extLst>
              <a:ext uri="{FF2B5EF4-FFF2-40B4-BE49-F238E27FC236}">
                <a16:creationId xmlns:a16="http://schemas.microsoft.com/office/drawing/2014/main" id="{3FC2351B-647B-49C4-840A-C752547278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23199" y="3872392"/>
            <a:ext cx="3297599" cy="144000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a:extLst>
              <a:ext uri="{FF2B5EF4-FFF2-40B4-BE49-F238E27FC236}">
                <a16:creationId xmlns:a16="http://schemas.microsoft.com/office/drawing/2014/main" id="{1FE2FA21-EA6D-4BC8-A786-300B4B94A60F}"/>
              </a:ext>
            </a:extLst>
          </p:cNvPr>
          <p:cNvSpPr>
            <a:spLocks noGrp="1" noChangeArrowheads="1"/>
          </p:cNvSpPr>
          <p:nvPr>
            <p:ph type="title"/>
          </p:nvPr>
        </p:nvSpPr>
        <p:spPr/>
        <p:txBody>
          <a:bodyPr/>
          <a:lstStyle/>
          <a:p>
            <a:r>
              <a:rPr lang="en-US" altLang="en-US" dirty="0"/>
              <a:t>Radio Buttons and Check Buttons</a:t>
            </a:r>
            <a:r>
              <a:rPr lang="en-AU" sz="2000" b="0" dirty="0"/>
              <a:t> (1 of 2)</a:t>
            </a:r>
            <a:endParaRPr lang="en-US" altLang="en-US" sz="2000" dirty="0"/>
          </a:p>
        </p:txBody>
      </p:sp>
      <p:sp>
        <p:nvSpPr>
          <p:cNvPr id="40963" name="Content Placeholder 2">
            <a:extLst>
              <a:ext uri="{FF2B5EF4-FFF2-40B4-BE49-F238E27FC236}">
                <a16:creationId xmlns:a16="http://schemas.microsoft.com/office/drawing/2014/main" id="{6CD5F981-1BE9-4C45-9414-6F26402C32B3}"/>
              </a:ext>
            </a:extLst>
          </p:cNvPr>
          <p:cNvSpPr>
            <a:spLocks noGrp="1" noChangeArrowheads="1"/>
          </p:cNvSpPr>
          <p:nvPr>
            <p:ph idx="1"/>
          </p:nvPr>
        </p:nvSpPr>
        <p:spPr/>
        <p:txBody>
          <a:bodyPr/>
          <a:lstStyle/>
          <a:p>
            <a:pPr>
              <a:buFontTx/>
              <a:buChar char="•"/>
            </a:pPr>
            <a:r>
              <a:rPr lang="en-US" altLang="en-US" u="sng" dirty="0">
                <a:cs typeface="Courier New" panose="02070309020205020404" pitchFamily="49" charset="0"/>
              </a:rPr>
              <a:t>Radio button</a:t>
            </a:r>
            <a:r>
              <a:rPr lang="en-US" altLang="en-US" dirty="0">
                <a:cs typeface="Courier New" panose="02070309020205020404" pitchFamily="49" charset="0"/>
              </a:rPr>
              <a:t>: small circle that appears filled when it is selected and appears empty when it is deselected</a:t>
            </a:r>
          </a:p>
          <a:p>
            <a:pPr lvl="1"/>
            <a:r>
              <a:rPr lang="en-US" altLang="en-US" dirty="0">
                <a:cs typeface="Courier New" panose="02070309020205020404" pitchFamily="49" charset="0"/>
              </a:rPr>
              <a:t>Useful when you want the user to select one choice from several possible options</a:t>
            </a:r>
          </a:p>
          <a:p>
            <a:pPr>
              <a:buFontTx/>
              <a:buChar char="•"/>
            </a:pPr>
            <a:r>
              <a:rPr lang="en-US" altLang="en-US" u="sng" dirty="0" err="1">
                <a:latin typeface="Courier New" panose="02070309020205020404" pitchFamily="49" charset="0"/>
                <a:cs typeface="Courier New" panose="02070309020205020404" pitchFamily="49" charset="0"/>
              </a:rPr>
              <a:t>Radiobutton</a:t>
            </a:r>
            <a:r>
              <a:rPr lang="en-US" altLang="en-US" u="sng" dirty="0">
                <a:cs typeface="Courier New" panose="02070309020205020404" pitchFamily="49" charset="0"/>
              </a:rPr>
              <a:t> widgets</a:t>
            </a:r>
            <a:r>
              <a:rPr lang="en-US" altLang="en-US" dirty="0">
                <a:cs typeface="Courier New" panose="02070309020205020404" pitchFamily="49" charset="0"/>
              </a:rPr>
              <a:t>: created using </a:t>
            </a:r>
            <a:r>
              <a:rPr lang="en-US" altLang="en-US" dirty="0" err="1">
                <a:latin typeface="Courier New" panose="02070309020205020404" pitchFamily="49" charset="0"/>
                <a:cs typeface="Courier New" panose="02070309020205020404" pitchFamily="49" charset="0"/>
              </a:rPr>
              <a:t>tkinter</a:t>
            </a:r>
            <a:r>
              <a:rPr lang="en-US" altLang="en-US" dirty="0">
                <a:cs typeface="Courier New" panose="02070309020205020404" pitchFamily="49" charset="0"/>
              </a:rPr>
              <a:t> module’s </a:t>
            </a:r>
            <a:r>
              <a:rPr lang="en-US" altLang="en-US" dirty="0" err="1">
                <a:latin typeface="Courier New" panose="02070309020205020404" pitchFamily="49" charset="0"/>
                <a:cs typeface="Courier New" panose="02070309020205020404" pitchFamily="49" charset="0"/>
              </a:rPr>
              <a:t>Radiobutton</a:t>
            </a:r>
            <a:r>
              <a:rPr lang="en-US" altLang="en-US" dirty="0">
                <a:cs typeface="Courier New" panose="02070309020205020404" pitchFamily="49" charset="0"/>
              </a:rPr>
              <a:t> class</a:t>
            </a:r>
          </a:p>
          <a:p>
            <a:pPr lvl="1"/>
            <a:r>
              <a:rPr lang="en-US" altLang="en-US" dirty="0" err="1">
                <a:latin typeface="Courier New" panose="02070309020205020404" pitchFamily="49" charset="0"/>
                <a:cs typeface="Courier New" panose="02070309020205020404" pitchFamily="49" charset="0"/>
              </a:rPr>
              <a:t>Radiobutton</a:t>
            </a:r>
            <a:r>
              <a:rPr lang="en-US" altLang="en-US" dirty="0">
                <a:cs typeface="Courier New" panose="02070309020205020404" pitchFamily="49" charset="0"/>
              </a:rPr>
              <a:t> widgets are mutually exclusive</a:t>
            </a:r>
          </a:p>
          <a:p>
            <a:pPr lvl="2"/>
            <a:r>
              <a:rPr lang="en-US" altLang="en-US" dirty="0">
                <a:cs typeface="Courier New" panose="02070309020205020404" pitchFamily="49" charset="0"/>
              </a:rPr>
              <a:t>Only one radio button in a container may be selected at any given time</a:t>
            </a:r>
          </a:p>
          <a:p>
            <a:pPr>
              <a:buFontTx/>
              <a:buChar char="•"/>
            </a:pPr>
            <a:endParaRPr lang="en-US" alt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a:extLst>
              <a:ext uri="{FF2B5EF4-FFF2-40B4-BE49-F238E27FC236}">
                <a16:creationId xmlns:a16="http://schemas.microsoft.com/office/drawing/2014/main" id="{69FB01A3-0E33-45F6-9D52-2D0AD6EB6E36}"/>
              </a:ext>
            </a:extLst>
          </p:cNvPr>
          <p:cNvSpPr>
            <a:spLocks noGrp="1" noChangeArrowheads="1"/>
          </p:cNvSpPr>
          <p:nvPr>
            <p:ph type="title"/>
          </p:nvPr>
        </p:nvSpPr>
        <p:spPr/>
        <p:txBody>
          <a:bodyPr/>
          <a:lstStyle/>
          <a:p>
            <a:r>
              <a:rPr lang="en-US" altLang="en-US" dirty="0"/>
              <a:t>Radio Buttons and Check Buttons</a:t>
            </a:r>
            <a:r>
              <a:rPr lang="en-AU" sz="2000" b="0" dirty="0"/>
              <a:t> (2 of 2)</a:t>
            </a:r>
            <a:endParaRPr lang="en-US" altLang="en-US" sz="2000" dirty="0"/>
          </a:p>
        </p:txBody>
      </p:sp>
      <p:sp>
        <p:nvSpPr>
          <p:cNvPr id="41987" name="Content Placeholder 2">
            <a:extLst>
              <a:ext uri="{FF2B5EF4-FFF2-40B4-BE49-F238E27FC236}">
                <a16:creationId xmlns:a16="http://schemas.microsoft.com/office/drawing/2014/main" id="{27ABF6F6-8B6C-43F0-8E53-2C181026B969}"/>
              </a:ext>
            </a:extLst>
          </p:cNvPr>
          <p:cNvSpPr>
            <a:spLocks noGrp="1" noChangeArrowheads="1"/>
          </p:cNvSpPr>
          <p:nvPr>
            <p:ph idx="1"/>
          </p:nvPr>
        </p:nvSpPr>
        <p:spPr/>
        <p:txBody>
          <a:bodyPr/>
          <a:lstStyle/>
          <a:p>
            <a:pPr>
              <a:buFontTx/>
              <a:buChar char="•"/>
            </a:pPr>
            <a:r>
              <a:rPr lang="en-US" altLang="en-US" u="sng" dirty="0" err="1">
                <a:latin typeface="Courier New" panose="02070309020205020404" pitchFamily="49" charset="0"/>
                <a:cs typeface="Courier New" panose="02070309020205020404" pitchFamily="49" charset="0"/>
              </a:rPr>
              <a:t>IntVar</a:t>
            </a:r>
            <a:r>
              <a:rPr lang="en-US" altLang="en-US" u="sng" dirty="0">
                <a:cs typeface="Courier New" panose="02070309020205020404" pitchFamily="49" charset="0"/>
              </a:rPr>
              <a:t> class</a:t>
            </a:r>
            <a:r>
              <a:rPr lang="en-US" altLang="en-US" dirty="0">
                <a:cs typeface="Courier New" panose="02070309020205020404" pitchFamily="49" charset="0"/>
              </a:rPr>
              <a:t>: a </a:t>
            </a:r>
            <a:r>
              <a:rPr lang="en-US" altLang="en-US" dirty="0" err="1">
                <a:latin typeface="Courier New" panose="02070309020205020404" pitchFamily="49" charset="0"/>
                <a:cs typeface="Courier New" panose="02070309020205020404" pitchFamily="49" charset="0"/>
              </a:rPr>
              <a:t>tkinter</a:t>
            </a:r>
            <a:r>
              <a:rPr lang="en-US" altLang="en-US" dirty="0">
                <a:cs typeface="Courier New" panose="02070309020205020404" pitchFamily="49" charset="0"/>
              </a:rPr>
              <a:t> module class that can be used along with </a:t>
            </a:r>
            <a:r>
              <a:rPr lang="en-US" altLang="en-US" dirty="0" err="1">
                <a:latin typeface="Courier New" panose="02070309020205020404" pitchFamily="49" charset="0"/>
                <a:cs typeface="Courier New" panose="02070309020205020404" pitchFamily="49" charset="0"/>
              </a:rPr>
              <a:t>Radiobutton</a:t>
            </a:r>
            <a:r>
              <a:rPr lang="en-US" altLang="en-US" dirty="0">
                <a:cs typeface="Courier New" panose="02070309020205020404" pitchFamily="49" charset="0"/>
              </a:rPr>
              <a:t> widgets</a:t>
            </a:r>
          </a:p>
          <a:p>
            <a:pPr lvl="1"/>
            <a:r>
              <a:rPr lang="en-US" altLang="en-US" dirty="0">
                <a:cs typeface="Courier New" panose="02070309020205020404" pitchFamily="49" charset="0"/>
              </a:rPr>
              <a:t>Steps for use: </a:t>
            </a:r>
          </a:p>
          <a:p>
            <a:pPr lvl="2"/>
            <a:r>
              <a:rPr lang="en-US" altLang="en-US" dirty="0">
                <a:cs typeface="Courier New" panose="02070309020205020404" pitchFamily="49" charset="0"/>
              </a:rPr>
              <a:t>Associate group of </a:t>
            </a:r>
            <a:r>
              <a:rPr lang="en-US" altLang="en-US" dirty="0" err="1">
                <a:latin typeface="Courier New" panose="02070309020205020404" pitchFamily="49" charset="0"/>
                <a:cs typeface="Courier New" panose="02070309020205020404" pitchFamily="49" charset="0"/>
              </a:rPr>
              <a:t>Radiobutton</a:t>
            </a:r>
            <a:r>
              <a:rPr lang="en-US" altLang="en-US" dirty="0">
                <a:cs typeface="Courier New" panose="02070309020205020404" pitchFamily="49" charset="0"/>
              </a:rPr>
              <a:t> widgets with the same </a:t>
            </a:r>
            <a:r>
              <a:rPr lang="en-US" altLang="en-US" dirty="0" err="1">
                <a:latin typeface="Courier New" panose="02070309020205020404" pitchFamily="49" charset="0"/>
                <a:cs typeface="Courier New" panose="02070309020205020404" pitchFamily="49" charset="0"/>
              </a:rPr>
              <a:t>IntVar</a:t>
            </a:r>
            <a:r>
              <a:rPr lang="en-US" altLang="en-US" dirty="0">
                <a:cs typeface="Courier New" panose="02070309020205020404" pitchFamily="49" charset="0"/>
              </a:rPr>
              <a:t> object</a:t>
            </a:r>
          </a:p>
          <a:p>
            <a:pPr lvl="2"/>
            <a:r>
              <a:rPr lang="en-US" altLang="en-US" dirty="0">
                <a:cs typeface="Courier New" panose="02070309020205020404" pitchFamily="49" charset="0"/>
              </a:rPr>
              <a:t>Assign unique integer to each </a:t>
            </a:r>
            <a:r>
              <a:rPr lang="en-US" altLang="en-US" dirty="0" err="1">
                <a:latin typeface="Courier New" panose="02070309020205020404" pitchFamily="49" charset="0"/>
                <a:cs typeface="Courier New" panose="02070309020205020404" pitchFamily="49" charset="0"/>
              </a:rPr>
              <a:t>Radiobutton</a:t>
            </a:r>
            <a:endParaRPr lang="en-US" altLang="en-US" dirty="0">
              <a:cs typeface="Courier New" panose="02070309020205020404" pitchFamily="49" charset="0"/>
            </a:endParaRPr>
          </a:p>
          <a:p>
            <a:pPr lvl="2"/>
            <a:r>
              <a:rPr lang="en-US" altLang="en-US" dirty="0">
                <a:cs typeface="Courier New" panose="02070309020205020404" pitchFamily="49" charset="0"/>
              </a:rPr>
              <a:t>When a </a:t>
            </a:r>
            <a:r>
              <a:rPr lang="en-US" altLang="en-US" dirty="0" err="1">
                <a:latin typeface="Courier New" panose="02070309020205020404" pitchFamily="49" charset="0"/>
                <a:cs typeface="Courier New" panose="02070309020205020404" pitchFamily="49" charset="0"/>
              </a:rPr>
              <a:t>Radiobutton</a:t>
            </a:r>
            <a:r>
              <a:rPr lang="en-US" altLang="en-US" dirty="0">
                <a:cs typeface="Courier New" panose="02070309020205020404" pitchFamily="49" charset="0"/>
              </a:rPr>
              <a:t> widgets is selected, its unique integer is stored in the </a:t>
            </a:r>
            <a:r>
              <a:rPr lang="en-US" altLang="en-US" dirty="0" err="1">
                <a:latin typeface="Courier New" panose="02070309020205020404" pitchFamily="49" charset="0"/>
                <a:cs typeface="Courier New" panose="02070309020205020404" pitchFamily="49" charset="0"/>
              </a:rPr>
              <a:t>IntVar</a:t>
            </a:r>
            <a:r>
              <a:rPr lang="en-US" altLang="en-US" dirty="0">
                <a:latin typeface="Courier New" panose="02070309020205020404" pitchFamily="49" charset="0"/>
                <a:cs typeface="Courier New" panose="02070309020205020404" pitchFamily="49" charset="0"/>
              </a:rPr>
              <a:t> </a:t>
            </a:r>
            <a:r>
              <a:rPr lang="en-US" altLang="en-US" dirty="0">
                <a:cs typeface="Courier New" panose="02070309020205020404" pitchFamily="49" charset="0"/>
              </a:rPr>
              <a:t>object</a:t>
            </a:r>
          </a:p>
          <a:p>
            <a:pPr lvl="1"/>
            <a:r>
              <a:rPr lang="en-US" altLang="en-US" dirty="0">
                <a:cs typeface="Courier New" panose="02070309020205020404" pitchFamily="49" charset="0"/>
              </a:rPr>
              <a:t>Can be used to select a default radio button</a:t>
            </a:r>
          </a:p>
          <a:p>
            <a:pPr>
              <a:buFontTx/>
              <a:buChar char="•"/>
            </a:pPr>
            <a:endParaRPr lang="en-US" alt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a:extLst>
              <a:ext uri="{FF2B5EF4-FFF2-40B4-BE49-F238E27FC236}">
                <a16:creationId xmlns:a16="http://schemas.microsoft.com/office/drawing/2014/main" id="{8C43208D-063E-41C3-AFA9-966769C22913}"/>
              </a:ext>
            </a:extLst>
          </p:cNvPr>
          <p:cNvSpPr>
            <a:spLocks noGrp="1" noChangeArrowheads="1"/>
          </p:cNvSpPr>
          <p:nvPr>
            <p:ph type="title"/>
          </p:nvPr>
        </p:nvSpPr>
        <p:spPr/>
        <p:txBody>
          <a:bodyPr/>
          <a:lstStyle/>
          <a:p>
            <a:r>
              <a:rPr lang="en-US" altLang="en-US" dirty="0"/>
              <a:t>Using Callback Functions with </a:t>
            </a:r>
            <a:r>
              <a:rPr lang="en-US" altLang="en-US" dirty="0" err="1">
                <a:latin typeface="Courier New" panose="02070309020205020404" pitchFamily="49" charset="0"/>
                <a:cs typeface="Courier New" panose="02070309020205020404" pitchFamily="49" charset="0"/>
              </a:rPr>
              <a:t>Radiobuttons</a:t>
            </a:r>
            <a:endParaRPr lang="en-US" altLang="en-US" dirty="0"/>
          </a:p>
        </p:txBody>
      </p:sp>
      <p:sp>
        <p:nvSpPr>
          <p:cNvPr id="43011" name="Content Placeholder 2">
            <a:extLst>
              <a:ext uri="{FF2B5EF4-FFF2-40B4-BE49-F238E27FC236}">
                <a16:creationId xmlns:a16="http://schemas.microsoft.com/office/drawing/2014/main" id="{26225458-2663-46BA-AE81-C4305C19F047}"/>
              </a:ext>
            </a:extLst>
          </p:cNvPr>
          <p:cNvSpPr>
            <a:spLocks noGrp="1" noChangeArrowheads="1"/>
          </p:cNvSpPr>
          <p:nvPr>
            <p:ph idx="1"/>
          </p:nvPr>
        </p:nvSpPr>
        <p:spPr/>
        <p:txBody>
          <a:bodyPr/>
          <a:lstStyle/>
          <a:p>
            <a:pPr>
              <a:buFontTx/>
              <a:buChar char="•"/>
            </a:pPr>
            <a:r>
              <a:rPr lang="en-US" altLang="en-US" dirty="0">
                <a:cs typeface="Courier New" panose="02070309020205020404" pitchFamily="49" charset="0"/>
              </a:rPr>
              <a:t>You can specify a callback function with </a:t>
            </a:r>
            <a:r>
              <a:rPr lang="en-US" altLang="en-US" dirty="0" err="1">
                <a:latin typeface="Courier New" panose="02070309020205020404" pitchFamily="49" charset="0"/>
                <a:cs typeface="Courier New" panose="02070309020205020404" pitchFamily="49" charset="0"/>
              </a:rPr>
              <a:t>Radiobutton</a:t>
            </a:r>
            <a:r>
              <a:rPr lang="en-US" altLang="en-US" dirty="0">
                <a:cs typeface="Courier New" panose="02070309020205020404" pitchFamily="49" charset="0"/>
              </a:rPr>
              <a:t> widgets</a:t>
            </a:r>
          </a:p>
          <a:p>
            <a:pPr lvl="1"/>
            <a:r>
              <a:rPr lang="en-US" altLang="en-US" dirty="0">
                <a:cs typeface="Courier New" panose="02070309020205020404" pitchFamily="49" charset="0"/>
              </a:rPr>
              <a:t>Provide an argument </a:t>
            </a:r>
            <a:r>
              <a:rPr lang="en-US" altLang="en-US" dirty="0">
                <a:latin typeface="Courier New" panose="02070309020205020404" pitchFamily="49" charset="0"/>
                <a:cs typeface="Courier New" panose="02070309020205020404" pitchFamily="49" charset="0"/>
              </a:rPr>
              <a:t>command=</a:t>
            </a:r>
            <a:r>
              <a:rPr lang="en-US" altLang="en-US" dirty="0" err="1">
                <a:latin typeface="Courier New" panose="02070309020205020404" pitchFamily="49" charset="0"/>
                <a:cs typeface="Courier New" panose="02070309020205020404" pitchFamily="49" charset="0"/>
              </a:rPr>
              <a:t>self.my_method</a:t>
            </a:r>
            <a:r>
              <a:rPr lang="en-US" altLang="en-US" dirty="0">
                <a:cs typeface="Courier New" panose="02070309020205020404" pitchFamily="49" charset="0"/>
              </a:rPr>
              <a:t> when creating the </a:t>
            </a:r>
            <a:r>
              <a:rPr lang="en-US" altLang="en-US" dirty="0" err="1">
                <a:latin typeface="Courier New" panose="02070309020205020404" pitchFamily="49" charset="0"/>
                <a:cs typeface="Courier New" panose="02070309020205020404" pitchFamily="49" charset="0"/>
              </a:rPr>
              <a:t>Radiobutton</a:t>
            </a:r>
            <a:r>
              <a:rPr lang="en-US" altLang="en-US" dirty="0">
                <a:cs typeface="Courier New" panose="02070309020205020404" pitchFamily="49" charset="0"/>
              </a:rPr>
              <a:t> widget</a:t>
            </a:r>
          </a:p>
          <a:p>
            <a:pPr lvl="1"/>
            <a:r>
              <a:rPr lang="en-US" altLang="en-US" dirty="0">
                <a:cs typeface="Courier New" panose="02070309020205020404" pitchFamily="49" charset="0"/>
              </a:rPr>
              <a:t>The command will execute immediately when the radio button is selected</a:t>
            </a:r>
          </a:p>
          <a:p>
            <a:pPr lvl="1"/>
            <a:r>
              <a:rPr lang="en-US" altLang="en-US" dirty="0">
                <a:cs typeface="Courier New" panose="02070309020205020404" pitchFamily="49" charset="0"/>
              </a:rPr>
              <a:t>Replaces the need for a user to click OK or submit before determining which </a:t>
            </a:r>
            <a:r>
              <a:rPr lang="en-US" altLang="en-US" dirty="0" err="1">
                <a:latin typeface="Courier New" panose="02070309020205020404" pitchFamily="49" charset="0"/>
                <a:cs typeface="Courier New" panose="02070309020205020404" pitchFamily="49" charset="0"/>
              </a:rPr>
              <a:t>Radiobutton</a:t>
            </a:r>
            <a:r>
              <a:rPr lang="en-US" altLang="en-US" dirty="0">
                <a:cs typeface="Courier New" panose="02070309020205020404" pitchFamily="49" charset="0"/>
              </a:rPr>
              <a:t> is selected</a:t>
            </a:r>
          </a:p>
          <a:p>
            <a:pPr>
              <a:buFontTx/>
              <a:buChar char="•"/>
            </a:pPr>
            <a:endParaRPr lang="en-US" alt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a:extLst>
              <a:ext uri="{FF2B5EF4-FFF2-40B4-BE49-F238E27FC236}">
                <a16:creationId xmlns:a16="http://schemas.microsoft.com/office/drawing/2014/main" id="{71E6F95E-CD74-434C-BCE4-888901C3F8A3}"/>
              </a:ext>
            </a:extLst>
          </p:cNvPr>
          <p:cNvSpPr>
            <a:spLocks noGrp="1" noChangeArrowheads="1"/>
          </p:cNvSpPr>
          <p:nvPr>
            <p:ph type="title"/>
          </p:nvPr>
        </p:nvSpPr>
        <p:spPr/>
        <p:txBody>
          <a:bodyPr/>
          <a:lstStyle/>
          <a:p>
            <a:r>
              <a:rPr lang="en-US" altLang="en-US" dirty="0"/>
              <a:t>Check Buttons</a:t>
            </a:r>
          </a:p>
        </p:txBody>
      </p:sp>
      <p:sp>
        <p:nvSpPr>
          <p:cNvPr id="44035" name="Content Placeholder 2">
            <a:extLst>
              <a:ext uri="{FF2B5EF4-FFF2-40B4-BE49-F238E27FC236}">
                <a16:creationId xmlns:a16="http://schemas.microsoft.com/office/drawing/2014/main" id="{D80B22FD-FEFA-418F-9BEC-67789BDDA3BD}"/>
              </a:ext>
            </a:extLst>
          </p:cNvPr>
          <p:cNvSpPr>
            <a:spLocks noGrp="1" noChangeArrowheads="1"/>
          </p:cNvSpPr>
          <p:nvPr>
            <p:ph idx="1"/>
          </p:nvPr>
        </p:nvSpPr>
        <p:spPr/>
        <p:txBody>
          <a:bodyPr/>
          <a:lstStyle/>
          <a:p>
            <a:pPr>
              <a:buFontTx/>
              <a:buChar char="•"/>
            </a:pPr>
            <a:r>
              <a:rPr lang="en-US" altLang="en-US" u="sng" dirty="0"/>
              <a:t>Check button</a:t>
            </a:r>
            <a:r>
              <a:rPr lang="en-US" altLang="en-US" dirty="0"/>
              <a:t>: small box with a label appearing next to it; check mark indicates when it is selected</a:t>
            </a:r>
          </a:p>
          <a:p>
            <a:pPr lvl="1"/>
            <a:r>
              <a:rPr lang="en-US" altLang="en-US" dirty="0"/>
              <a:t>User is allowed to select any or all of the check buttons that are displayed in a group</a:t>
            </a:r>
          </a:p>
          <a:p>
            <a:pPr lvl="2"/>
            <a:r>
              <a:rPr lang="en-US" altLang="en-US" dirty="0"/>
              <a:t>Not mutually exclusive</a:t>
            </a:r>
          </a:p>
          <a:p>
            <a:pPr>
              <a:buFontTx/>
              <a:buChar char="•"/>
            </a:pPr>
            <a:r>
              <a:rPr lang="en-US" altLang="en-US" u="sng" dirty="0" err="1">
                <a:latin typeface="Courier New" panose="02070309020205020404" pitchFamily="49" charset="0"/>
                <a:cs typeface="Courier New" panose="02070309020205020404" pitchFamily="49" charset="0"/>
              </a:rPr>
              <a:t>Checkbutton</a:t>
            </a:r>
            <a:r>
              <a:rPr lang="en-US" altLang="en-US" u="sng" dirty="0"/>
              <a:t> widgets</a:t>
            </a:r>
            <a:r>
              <a:rPr lang="en-US" altLang="en-US" dirty="0"/>
              <a:t>: created using </a:t>
            </a:r>
            <a:r>
              <a:rPr lang="en-US" altLang="en-US" dirty="0" err="1">
                <a:latin typeface="Courier New" panose="02070309020205020404" pitchFamily="49" charset="0"/>
                <a:cs typeface="Courier New" panose="02070309020205020404" pitchFamily="49" charset="0"/>
              </a:rPr>
              <a:t>tkinter</a:t>
            </a:r>
            <a:r>
              <a:rPr lang="en-US" altLang="en-US" dirty="0"/>
              <a:t> module’s </a:t>
            </a:r>
            <a:r>
              <a:rPr lang="en-US" altLang="en-US" dirty="0" err="1">
                <a:latin typeface="Courier New" panose="02070309020205020404" pitchFamily="49" charset="0"/>
                <a:cs typeface="Courier New" panose="02070309020205020404" pitchFamily="49" charset="0"/>
              </a:rPr>
              <a:t>Checkbutton</a:t>
            </a:r>
            <a:r>
              <a:rPr lang="en-US" altLang="en-US" dirty="0"/>
              <a:t> class</a:t>
            </a:r>
          </a:p>
          <a:p>
            <a:pPr lvl="1"/>
            <a:r>
              <a:rPr lang="en-US" altLang="en-US" dirty="0"/>
              <a:t>Associate different </a:t>
            </a:r>
            <a:r>
              <a:rPr lang="en-US" altLang="en-US" dirty="0" err="1">
                <a:latin typeface="Courier New" panose="02070309020205020404" pitchFamily="49" charset="0"/>
                <a:cs typeface="Courier New" panose="02070309020205020404" pitchFamily="49" charset="0"/>
              </a:rPr>
              <a:t>IntVar</a:t>
            </a:r>
            <a:r>
              <a:rPr lang="en-US" altLang="en-US" dirty="0"/>
              <a:t> object with each </a:t>
            </a:r>
            <a:r>
              <a:rPr lang="en-US" altLang="en-US" dirty="0" err="1">
                <a:latin typeface="Courier New" panose="02070309020205020404" pitchFamily="49" charset="0"/>
                <a:cs typeface="Courier New" panose="02070309020205020404" pitchFamily="49" charset="0"/>
              </a:rPr>
              <a:t>Checkbutton</a:t>
            </a:r>
            <a:r>
              <a:rPr lang="en-US" altLang="en-US" dirty="0"/>
              <a:t> widget</a:t>
            </a:r>
          </a:p>
          <a:p>
            <a:pPr>
              <a:buFontTx/>
              <a:buChar char="•"/>
            </a:pPr>
            <a:endParaRPr lang="en-US" alt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a:extLst>
              <a:ext uri="{FF2B5EF4-FFF2-40B4-BE49-F238E27FC236}">
                <a16:creationId xmlns:a16="http://schemas.microsoft.com/office/drawing/2014/main" id="{549FD20B-ABC8-415F-AB39-852C74F2BA23}"/>
              </a:ext>
            </a:extLst>
          </p:cNvPr>
          <p:cNvSpPr>
            <a:spLocks noGrp="1" noChangeArrowheads="1"/>
          </p:cNvSpPr>
          <p:nvPr>
            <p:ph type="title"/>
          </p:nvPr>
        </p:nvSpPr>
        <p:spPr/>
        <p:txBody>
          <a:bodyPr/>
          <a:lstStyle/>
          <a:p>
            <a:r>
              <a:rPr lang="en-US" altLang="en-US" dirty="0" err="1">
                <a:latin typeface="Courier New" panose="02070309020205020404" pitchFamily="49" charset="0"/>
                <a:cs typeface="Courier New" panose="02070309020205020404" pitchFamily="49" charset="0"/>
              </a:rPr>
              <a:t>Listbox</a:t>
            </a:r>
            <a:r>
              <a:rPr lang="en-US" altLang="en-US" dirty="0"/>
              <a:t> Widgets</a:t>
            </a:r>
          </a:p>
        </p:txBody>
      </p:sp>
      <p:sp>
        <p:nvSpPr>
          <p:cNvPr id="45059" name="Content Placeholder 2">
            <a:extLst>
              <a:ext uri="{FF2B5EF4-FFF2-40B4-BE49-F238E27FC236}">
                <a16:creationId xmlns:a16="http://schemas.microsoft.com/office/drawing/2014/main" id="{49B40B83-6E40-4536-B49A-19BFDD922A87}"/>
              </a:ext>
            </a:extLst>
          </p:cNvPr>
          <p:cNvSpPr>
            <a:spLocks noGrp="1" noChangeArrowheads="1"/>
          </p:cNvSpPr>
          <p:nvPr>
            <p:ph idx="1"/>
          </p:nvPr>
        </p:nvSpPr>
        <p:spPr>
          <a:xfrm>
            <a:off x="457200" y="1600201"/>
            <a:ext cx="8229600" cy="914400"/>
          </a:xfrm>
        </p:spPr>
        <p:txBody>
          <a:bodyPr/>
          <a:lstStyle/>
          <a:p>
            <a:pPr>
              <a:buFontTx/>
              <a:buChar char="•"/>
            </a:pPr>
            <a:r>
              <a:rPr lang="en-US" altLang="en-US" dirty="0"/>
              <a:t>A </a:t>
            </a:r>
            <a:r>
              <a:rPr lang="en-US" altLang="en-US" dirty="0" err="1">
                <a:latin typeface="Courier New" panose="02070309020205020404" pitchFamily="49" charset="0"/>
                <a:cs typeface="Courier New" panose="02070309020205020404" pitchFamily="49" charset="0"/>
              </a:rPr>
              <a:t>Listbox</a:t>
            </a:r>
            <a:r>
              <a:rPr lang="en-US" altLang="en-US" i="1" dirty="0"/>
              <a:t> </a:t>
            </a:r>
            <a:r>
              <a:rPr lang="en-US" altLang="en-US" dirty="0"/>
              <a:t>widget displays a list of items and allows the user to select one or more items</a:t>
            </a:r>
          </a:p>
        </p:txBody>
      </p:sp>
      <p:pic>
        <p:nvPicPr>
          <p:cNvPr id="45060" name="Picture 3" descr="A window displays the lists box with lists Monday, Tuesday, Wednesday, Thursday, Friday, Saturday and Sunday. ">
            <a:extLst>
              <a:ext uri="{FF2B5EF4-FFF2-40B4-BE49-F238E27FC236}">
                <a16:creationId xmlns:a16="http://schemas.microsoft.com/office/drawing/2014/main" id="{827D92AC-F560-4C9F-886D-D9AE376877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3787775" y="3124578"/>
            <a:ext cx="1568450" cy="2159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3">
            <a:extLst>
              <a:ext uri="{FF2B5EF4-FFF2-40B4-BE49-F238E27FC236}">
                <a16:creationId xmlns:a16="http://schemas.microsoft.com/office/drawing/2014/main" id="{6B9E45E8-EAC4-43E8-9605-5B3D9ADB6FDE}"/>
              </a:ext>
            </a:extLst>
          </p:cNvPr>
          <p:cNvSpPr>
            <a:spLocks noGrp="1" noChangeArrowheads="1"/>
          </p:cNvSpPr>
          <p:nvPr>
            <p:ph type="title"/>
          </p:nvPr>
        </p:nvSpPr>
        <p:spPr>
          <a:xfrm>
            <a:off x="457200" y="304800"/>
            <a:ext cx="8229600" cy="762000"/>
          </a:xfrm>
        </p:spPr>
        <p:txBody>
          <a:bodyPr/>
          <a:lstStyle/>
          <a:p>
            <a:r>
              <a:rPr lang="en-US" altLang="en-US" sz="3600" dirty="0"/>
              <a:t>Example</a:t>
            </a:r>
          </a:p>
        </p:txBody>
      </p:sp>
      <p:sp>
        <p:nvSpPr>
          <p:cNvPr id="46083" name="Text Box 2">
            <a:extLst>
              <a:ext uri="{FF2B5EF4-FFF2-40B4-BE49-F238E27FC236}">
                <a16:creationId xmlns:a16="http://schemas.microsoft.com/office/drawing/2014/main" id="{485056CE-597A-451A-8578-A984682256E8}"/>
              </a:ext>
            </a:extLst>
          </p:cNvPr>
          <p:cNvSpPr txBox="1">
            <a:spLocks noChangeArrowheads="1"/>
          </p:cNvSpPr>
          <p:nvPr/>
        </p:nvSpPr>
        <p:spPr bwMode="auto">
          <a:xfrm>
            <a:off x="381000" y="1185863"/>
            <a:ext cx="5924550" cy="50625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 1 </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This program demonstrates a simple </a:t>
            </a:r>
            <a:r>
              <a:rPr lang="en-US" altLang="en-US" sz="12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Listbox</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b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 2 </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import </a:t>
            </a:r>
            <a:r>
              <a:rPr lang="en-US" altLang="en-US" sz="12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tkinter</a:t>
            </a:r>
            <a:b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 3 </a:t>
            </a:r>
            <a:b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br>
            <a: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 4 </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class </a:t>
            </a:r>
            <a:r>
              <a:rPr lang="en-US" altLang="en-US" sz="12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ListboxExample</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b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 5 </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def __</a:t>
            </a:r>
            <a:r>
              <a:rPr lang="en-US" altLang="en-US" sz="12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init</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__(self):</a:t>
            </a:r>
            <a:b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 6 </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 Create the main window.</a:t>
            </a:r>
            <a:b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 7 </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2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self.main_window</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 </a:t>
            </a:r>
            <a:r>
              <a:rPr lang="en-US" altLang="en-US" sz="12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tkinter.Tk</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b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 8 </a:t>
            </a:r>
            <a:b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br>
            <a: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 9 </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 Create a </a:t>
            </a:r>
            <a:r>
              <a:rPr lang="en-US" altLang="en-US" sz="12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Listbox</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widget.</a:t>
            </a:r>
            <a:b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10 </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2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self.listbox</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 </a:t>
            </a:r>
            <a:r>
              <a:rPr lang="en-US" altLang="en-US" sz="12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tkinter.Listbox</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r>
              <a:rPr lang="en-US" altLang="en-US" sz="12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self.main_window</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b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11 </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2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self.listbox.pack</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r>
              <a:rPr lang="en-US" altLang="en-US" sz="12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padx</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=10, </a:t>
            </a:r>
            <a:r>
              <a:rPr lang="en-US" altLang="en-US" sz="12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pady</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=10)</a:t>
            </a:r>
            <a:b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12 </a:t>
            </a:r>
            <a:b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br>
            <a: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13 </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 Populate the </a:t>
            </a:r>
            <a:r>
              <a:rPr lang="en-US" altLang="en-US" sz="12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Listbox</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with the data.</a:t>
            </a:r>
            <a:b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14 </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2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self.listbox.insert</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(0, 'Monday')</a:t>
            </a:r>
            <a:b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15 </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2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self.listbox.insert</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(1, 'Tuesday')</a:t>
            </a:r>
            <a:b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16 </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2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self.listbox.insert</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(2, 'Wednesday')</a:t>
            </a:r>
            <a:b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17 </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2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self.listbox.insert</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(3, 'Thursday')</a:t>
            </a:r>
            <a:b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18 </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2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self.listbox.insert</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(4, 'Friday')</a:t>
            </a:r>
            <a:b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19 </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2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self.listbox.insert</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(5, 'Saturday')</a:t>
            </a:r>
            <a:b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20 </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2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self.listbox.insert</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(6, 'Sunday')</a:t>
            </a:r>
            <a:b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21 </a:t>
            </a:r>
            <a:b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br>
            <a: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22 </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 Start the main loop.</a:t>
            </a:r>
            <a:b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23 </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2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tkinter.mainloop</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b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24 </a:t>
            </a:r>
            <a:b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br>
            <a: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25 </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Create an instance of the </a:t>
            </a:r>
            <a:r>
              <a:rPr lang="en-US" altLang="en-US" sz="12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ListboxExample</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class.</a:t>
            </a:r>
            <a:endParaRPr lang="en-US" altLang="en-US" sz="1200" b="0" dirty="0">
              <a:latin typeface="Calibri" panose="020F0502020204030204" pitchFamily="34" charset="0"/>
              <a:ea typeface="Calibri" panose="020F0502020204030204" pitchFamily="34" charset="0"/>
              <a:cs typeface="Times New Roman" panose="02020603050405020304" pitchFamily="18" charset="0"/>
            </a:endParaRPr>
          </a:p>
          <a:p>
            <a:pPr>
              <a:spcBef>
                <a:spcPct val="0"/>
              </a:spcBef>
              <a:buFontTx/>
              <a:buNone/>
            </a:pPr>
            <a:r>
              <a:rPr lang="en-US" altLang="en-US" sz="14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26 </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if __name__ == '__main__':</a:t>
            </a:r>
            <a:b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altLang="en-US" sz="1200" b="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27      </a:t>
            </a:r>
            <a:r>
              <a:rPr lang="en-US" altLang="en-US" sz="12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listbox_example</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 </a:t>
            </a:r>
            <a:r>
              <a:rPr lang="en-US" altLang="en-US" sz="12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ListboxExample</a:t>
            </a:r>
            <a:r>
              <a:rPr lang="en-US" altLang="en-US" sz="12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endParaRPr lang="en-US" altLang="en-US" sz="1200" b="0" dirty="0">
              <a:latin typeface="Calibri" panose="020F0502020204030204" pitchFamily="34" charset="0"/>
              <a:ea typeface="Calibri" panose="020F0502020204030204" pitchFamily="34" charset="0"/>
              <a:cs typeface="Times New Roman" panose="02020603050405020304" pitchFamily="18" charset="0"/>
            </a:endParaRPr>
          </a:p>
        </p:txBody>
      </p:sp>
      <p:pic>
        <p:nvPicPr>
          <p:cNvPr id="46084" name="Picture 6" descr="A window displays the lists box with lists Monday, Tuesday, Wednesday, Thursday, Friday, Saturday and Sunday. ">
            <a:extLst>
              <a:ext uri="{FF2B5EF4-FFF2-40B4-BE49-F238E27FC236}">
                <a16:creationId xmlns:a16="http://schemas.microsoft.com/office/drawing/2014/main" id="{8473333A-A3E1-46F9-BD91-88067B129A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6553200" y="1753133"/>
            <a:ext cx="1828800" cy="2705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3">
            <a:extLst>
              <a:ext uri="{FF2B5EF4-FFF2-40B4-BE49-F238E27FC236}">
                <a16:creationId xmlns:a16="http://schemas.microsoft.com/office/drawing/2014/main" id="{CE61C04A-1B00-41F8-9F4F-1F82AADC61C8}"/>
              </a:ext>
            </a:extLst>
          </p:cNvPr>
          <p:cNvSpPr>
            <a:spLocks noGrp="1" noChangeArrowheads="1"/>
          </p:cNvSpPr>
          <p:nvPr>
            <p:ph type="title"/>
          </p:nvPr>
        </p:nvSpPr>
        <p:spPr>
          <a:xfrm>
            <a:off x="457200" y="228600"/>
            <a:ext cx="8229600" cy="762000"/>
          </a:xfrm>
        </p:spPr>
        <p:txBody>
          <a:bodyPr/>
          <a:lstStyle/>
          <a:p>
            <a:r>
              <a:rPr lang="en-US" altLang="en-US" sz="3600" dirty="0"/>
              <a:t>Specifying the Size of a </a:t>
            </a:r>
            <a:r>
              <a:rPr lang="en-US" altLang="en-US" sz="3600" dirty="0" err="1">
                <a:latin typeface="Courier New" panose="02070309020205020404" pitchFamily="49" charset="0"/>
              </a:rPr>
              <a:t>Listbox</a:t>
            </a:r>
            <a:endParaRPr lang="en-US" altLang="en-US" sz="3600" dirty="0">
              <a:latin typeface="Courier New" panose="02070309020205020404" pitchFamily="49" charset="0"/>
            </a:endParaRPr>
          </a:p>
        </p:txBody>
      </p:sp>
      <p:sp>
        <p:nvSpPr>
          <p:cNvPr id="6" name="Text Box 2">
            <a:extLst>
              <a:ext uri="{FF2B5EF4-FFF2-40B4-BE49-F238E27FC236}">
                <a16:creationId xmlns:a16="http://schemas.microsoft.com/office/drawing/2014/main" id="{F71F7542-EF33-4639-8462-C38571968AA3}"/>
              </a:ext>
            </a:extLst>
          </p:cNvPr>
          <p:cNvSpPr txBox="1">
            <a:spLocks noChangeArrowheads="1"/>
          </p:cNvSpPr>
          <p:nvPr/>
        </p:nvSpPr>
        <p:spPr bwMode="auto">
          <a:xfrm>
            <a:off x="423169" y="1066800"/>
            <a:ext cx="5749031" cy="5262979"/>
          </a:xfrm>
          <a:prstGeom prst="rect">
            <a:avLst/>
          </a:prstGeom>
          <a:solidFill>
            <a:srgbClr val="FFFFFF"/>
          </a:solidFill>
          <a:ln w="9525">
            <a:noFill/>
            <a:miter lim="800000"/>
            <a:headEnd/>
            <a:tailEnd/>
          </a:ln>
        </p:spPr>
        <p:txBody>
          <a:bodyPr wrap="square">
            <a:spAutoFit/>
          </a:bodyPr>
          <a:lstStyle/>
          <a:p>
            <a:pPr>
              <a:spcBef>
                <a:spcPts val="0"/>
              </a:spcBef>
              <a:spcAft>
                <a:spcPts val="0"/>
              </a:spcAft>
              <a:defRPr/>
            </a:pPr>
            <a:r>
              <a:rPr lang="en-US" sz="120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 1 </a:t>
            </a:r>
            <a:r>
              <a:rPr lang="en-US" sz="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This program demonstrates a simple </a:t>
            </a:r>
            <a:r>
              <a:rPr lang="en-US" sz="120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Listbox</a:t>
            </a:r>
            <a:r>
              <a:rPr lang="en-US" sz="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br>
              <a:rPr lang="en-US" sz="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sz="120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 2 </a:t>
            </a:r>
            <a:r>
              <a:rPr lang="en-US" sz="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import </a:t>
            </a:r>
            <a:r>
              <a:rPr lang="en-US" sz="120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tkinter</a:t>
            </a:r>
            <a:br>
              <a:rPr lang="en-US" sz="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sz="120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 3 </a:t>
            </a:r>
            <a:br>
              <a:rPr lang="en-US" sz="120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br>
            <a:r>
              <a:rPr lang="en-US" sz="120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 4 </a:t>
            </a:r>
            <a:r>
              <a:rPr lang="en-US" sz="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class </a:t>
            </a:r>
            <a:r>
              <a:rPr lang="en-US" sz="120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ListboxExample</a:t>
            </a:r>
            <a:r>
              <a:rPr lang="en-US" sz="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br>
              <a:rPr lang="en-US" sz="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sz="120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 5 </a:t>
            </a:r>
            <a:r>
              <a:rPr lang="en-US" sz="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def __</a:t>
            </a:r>
            <a:r>
              <a:rPr lang="en-US" sz="120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init</a:t>
            </a:r>
            <a:r>
              <a:rPr lang="en-US" sz="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__(self):</a:t>
            </a:r>
            <a:br>
              <a:rPr lang="en-US" sz="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sz="120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 6 </a:t>
            </a:r>
            <a:r>
              <a:rPr lang="en-US" sz="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 Create the main window.</a:t>
            </a:r>
            <a:br>
              <a:rPr lang="en-US" sz="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sz="120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 7 </a:t>
            </a:r>
            <a:r>
              <a:rPr lang="en-US" sz="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a:t>
            </a:r>
            <a:r>
              <a:rPr lang="en-US" sz="120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self.main_window</a:t>
            </a:r>
            <a:r>
              <a:rPr lang="en-US" sz="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 </a:t>
            </a:r>
            <a:r>
              <a:rPr lang="en-US" sz="120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tkinter.Tk</a:t>
            </a:r>
            <a:r>
              <a:rPr lang="en-US" sz="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br>
              <a:rPr lang="en-US" sz="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sz="120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 8 </a:t>
            </a:r>
            <a:br>
              <a:rPr lang="en-US" sz="120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br>
            <a:r>
              <a:rPr lang="en-US" sz="120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 9 </a:t>
            </a:r>
            <a:r>
              <a:rPr lang="en-US" sz="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 Create a </a:t>
            </a:r>
            <a:r>
              <a:rPr lang="en-US" sz="120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Listbox</a:t>
            </a:r>
            <a:r>
              <a:rPr lang="en-US" sz="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widget.</a:t>
            </a:r>
            <a:br>
              <a:rPr lang="en-US" sz="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sz="120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10 </a:t>
            </a:r>
            <a:r>
              <a:rPr lang="en-US" sz="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a:t>
            </a:r>
            <a:r>
              <a:rPr lang="en-US" sz="120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self.listbox</a:t>
            </a:r>
            <a:r>
              <a:rPr lang="en-US" sz="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 </a:t>
            </a:r>
            <a:r>
              <a:rPr lang="en-US" sz="120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tkinter.Listbox</a:t>
            </a:r>
            <a:r>
              <a:rPr lang="en-US" sz="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br>
              <a:rPr lang="en-US" sz="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sz="120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11 </a:t>
            </a:r>
            <a:r>
              <a:rPr lang="en-US" sz="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a:t>
            </a:r>
            <a:r>
              <a:rPr lang="en-US" sz="120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self.main_window</a:t>
            </a:r>
            <a:r>
              <a:rPr lang="en-US" sz="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a:t>
            </a:r>
            <a:r>
              <a:rPr lang="en-US" sz="1200" dirty="0">
                <a:solidFill>
                  <a:srgbClr val="000000"/>
                </a:solidFill>
                <a:highlight>
                  <a:srgbClr val="FFFF00"/>
                </a:highlight>
                <a:latin typeface="Courier New" panose="02070309020205020404" pitchFamily="49" charset="0"/>
                <a:ea typeface="Calibri" panose="020F0502020204030204" pitchFamily="34" charset="0"/>
                <a:cs typeface="Times New Roman" panose="02020603050405020304" pitchFamily="18" charset="0"/>
              </a:rPr>
              <a:t>height=0, width=0</a:t>
            </a:r>
            <a:r>
              <a:rPr lang="en-US" sz="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br>
              <a:rPr lang="en-US" sz="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sz="120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12 </a:t>
            </a:r>
            <a:r>
              <a:rPr lang="en-US" sz="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a:t>
            </a:r>
            <a:r>
              <a:rPr lang="en-US" sz="120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self.listbox.pack</a:t>
            </a:r>
            <a:r>
              <a:rPr lang="en-US" sz="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r>
              <a:rPr lang="en-US" sz="120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padx</a:t>
            </a:r>
            <a:r>
              <a:rPr lang="en-US" sz="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=10, </a:t>
            </a:r>
            <a:r>
              <a:rPr lang="en-US" sz="120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pady</a:t>
            </a:r>
            <a:r>
              <a:rPr lang="en-US" sz="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=10)</a:t>
            </a:r>
            <a:br>
              <a:rPr lang="en-US" sz="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sz="120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13 </a:t>
            </a:r>
            <a:br>
              <a:rPr lang="en-US" sz="120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br>
            <a:r>
              <a:rPr lang="en-US" sz="120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14 </a:t>
            </a:r>
            <a:r>
              <a:rPr lang="en-US" sz="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 Create a list with the days of the week.</a:t>
            </a:r>
            <a:br>
              <a:rPr lang="en-US" sz="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sz="120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15 </a:t>
            </a:r>
            <a:r>
              <a:rPr lang="en-US" sz="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days = ['Monday', 'Tuesday', 'Wednesday',</a:t>
            </a:r>
            <a:br>
              <a:rPr lang="en-US" sz="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sz="120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16 </a:t>
            </a:r>
            <a:r>
              <a:rPr lang="en-US" sz="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'Thursday', 'Friday', 'Saturday', </a:t>
            </a:r>
            <a:br>
              <a:rPr lang="en-US" sz="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sz="120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17 </a:t>
            </a:r>
            <a:r>
              <a:rPr lang="en-US" sz="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'Sunday']</a:t>
            </a:r>
            <a:br>
              <a:rPr lang="en-US" sz="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sz="120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18 </a:t>
            </a:r>
            <a:br>
              <a:rPr lang="en-US" sz="120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br>
            <a:r>
              <a:rPr lang="en-US" sz="120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19 </a:t>
            </a:r>
            <a:r>
              <a:rPr lang="en-US" sz="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 Populate the </a:t>
            </a:r>
            <a:r>
              <a:rPr lang="en-US" sz="120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Listbox</a:t>
            </a:r>
            <a:r>
              <a:rPr lang="en-US" sz="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with the data.</a:t>
            </a:r>
            <a:br>
              <a:rPr lang="en-US" sz="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sz="120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20 </a:t>
            </a:r>
            <a:r>
              <a:rPr lang="en-US" sz="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for day in days:</a:t>
            </a:r>
            <a:br>
              <a:rPr lang="en-US" sz="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sz="120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21 </a:t>
            </a:r>
            <a:r>
              <a:rPr lang="en-US" sz="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a:t>
            </a:r>
            <a:r>
              <a:rPr lang="en-US" sz="120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self.listbox.insert</a:t>
            </a:r>
            <a:r>
              <a:rPr lang="en-US" sz="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r>
              <a:rPr lang="en-US" sz="120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tkinter.END</a:t>
            </a:r>
            <a:r>
              <a:rPr lang="en-US" sz="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day)</a:t>
            </a:r>
            <a:br>
              <a:rPr lang="en-US" sz="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sz="120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22 </a:t>
            </a:r>
            <a:br>
              <a:rPr lang="en-US" sz="120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br>
            <a:r>
              <a:rPr lang="en-US" sz="120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23 </a:t>
            </a:r>
            <a:r>
              <a:rPr lang="en-US" sz="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 Start the main loop.</a:t>
            </a:r>
            <a:br>
              <a:rPr lang="en-US" sz="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sz="120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24 </a:t>
            </a:r>
            <a:r>
              <a:rPr lang="en-US" sz="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a:t>
            </a:r>
            <a:r>
              <a:rPr lang="en-US" sz="120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tkinter.mainloop</a:t>
            </a:r>
            <a:r>
              <a:rPr lang="en-US" sz="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br>
              <a:rPr lang="en-US" sz="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sz="120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25 </a:t>
            </a:r>
            <a:br>
              <a:rPr lang="en-US" sz="120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br>
            <a:r>
              <a:rPr lang="en-US" sz="120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26 </a:t>
            </a:r>
            <a:r>
              <a:rPr lang="en-US" sz="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Create an instance of the </a:t>
            </a:r>
            <a:r>
              <a:rPr lang="en-US" sz="120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ListboxExample</a:t>
            </a:r>
            <a:r>
              <a:rPr lang="en-US" sz="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class.</a:t>
            </a:r>
            <a:br>
              <a:rPr lang="en-US" sz="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sz="120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27 </a:t>
            </a:r>
            <a:r>
              <a:rPr lang="en-US" sz="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if __name__ == '__main__':</a:t>
            </a:r>
            <a:br>
              <a:rPr lang="en-US" sz="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sz="1200" dirty="0">
                <a:solidFill>
                  <a:srgbClr val="787878"/>
                </a:solidFill>
                <a:latin typeface="Courier New" panose="02070309020205020404" pitchFamily="49" charset="0"/>
                <a:ea typeface="Calibri" panose="020F0502020204030204" pitchFamily="34" charset="0"/>
                <a:cs typeface="Times New Roman" panose="02020603050405020304" pitchFamily="18" charset="0"/>
              </a:rPr>
              <a:t>28      </a:t>
            </a:r>
            <a:r>
              <a:rPr lang="en-US" sz="120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listbox_example</a:t>
            </a:r>
            <a:r>
              <a:rPr lang="en-US" sz="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 </a:t>
            </a:r>
            <a:r>
              <a:rPr lang="en-US" sz="120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ListboxExample</a:t>
            </a:r>
            <a:r>
              <a:rPr lang="en-US" sz="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endParaRPr lang="en-US" sz="1100" dirty="0">
              <a:latin typeface="Calibri" panose="020F0502020204030204" pitchFamily="34" charset="0"/>
              <a:ea typeface="Calibri" panose="020F0502020204030204" pitchFamily="34" charset="0"/>
              <a:cs typeface="Times New Roman" panose="02020603050405020304" pitchFamily="18" charset="0"/>
            </a:endParaRPr>
          </a:p>
        </p:txBody>
      </p:sp>
      <p:pic>
        <p:nvPicPr>
          <p:cNvPr id="47108" name="Picture 7" descr="A window displays the lists box with lists Monday, Tuesday, Wednesday, Thursday, Friday, Saturday and Sunday. ">
            <a:extLst>
              <a:ext uri="{FF2B5EF4-FFF2-40B4-BE49-F238E27FC236}">
                <a16:creationId xmlns:a16="http://schemas.microsoft.com/office/drawing/2014/main" id="{986D05AF-10C1-47E9-AC6D-64938D9A47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6348413" y="1602738"/>
            <a:ext cx="1493837" cy="2057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a:extLst>
              <a:ext uri="{FF2B5EF4-FFF2-40B4-BE49-F238E27FC236}">
                <a16:creationId xmlns:a16="http://schemas.microsoft.com/office/drawing/2014/main" id="{A0AB0368-0EA3-4A7F-AE37-40DF0A3CD847}"/>
              </a:ext>
            </a:extLst>
          </p:cNvPr>
          <p:cNvSpPr>
            <a:spLocks noGrp="1" noChangeArrowheads="1"/>
          </p:cNvSpPr>
          <p:nvPr>
            <p:ph type="title"/>
          </p:nvPr>
        </p:nvSpPr>
        <p:spPr/>
        <p:txBody>
          <a:bodyPr/>
          <a:lstStyle/>
          <a:p>
            <a:r>
              <a:rPr lang="en-US" altLang="en-US" dirty="0"/>
              <a:t>Selection Modes</a:t>
            </a:r>
          </a:p>
        </p:txBody>
      </p:sp>
      <p:graphicFrame>
        <p:nvGraphicFramePr>
          <p:cNvPr id="3" name="Table 2">
            <a:extLst>
              <a:ext uri="{FF2B5EF4-FFF2-40B4-BE49-F238E27FC236}">
                <a16:creationId xmlns:a16="http://schemas.microsoft.com/office/drawing/2014/main" id="{23B70B77-B233-49A2-8EE8-B3668B504D89}"/>
              </a:ext>
            </a:extLst>
          </p:cNvPr>
          <p:cNvGraphicFramePr>
            <a:graphicFrameLocks noGrp="1"/>
          </p:cNvGraphicFramePr>
          <p:nvPr>
            <p:extLst>
              <p:ext uri="{D42A27DB-BD31-4B8C-83A1-F6EECF244321}">
                <p14:modId xmlns:p14="http://schemas.microsoft.com/office/powerpoint/2010/main" val="3393827071"/>
              </p:ext>
            </p:extLst>
          </p:nvPr>
        </p:nvGraphicFramePr>
        <p:xfrm>
          <a:off x="914400" y="1600200"/>
          <a:ext cx="7086600" cy="3375026"/>
        </p:xfrm>
        <a:graphic>
          <a:graphicData uri="http://schemas.openxmlformats.org/drawingml/2006/table">
            <a:tbl>
              <a:tblPr firstRow="1" firstCol="1" bandRow="1">
                <a:tableStyleId>{5C22544A-7EE6-4342-B048-85BDC9FD1C3A}</a:tableStyleId>
              </a:tblPr>
              <a:tblGrid>
                <a:gridCol w="2133600">
                  <a:extLst>
                    <a:ext uri="{9D8B030D-6E8A-4147-A177-3AD203B41FA5}">
                      <a16:colId xmlns:a16="http://schemas.microsoft.com/office/drawing/2014/main" val="20000"/>
                    </a:ext>
                  </a:extLst>
                </a:gridCol>
                <a:gridCol w="4953000">
                  <a:extLst>
                    <a:ext uri="{9D8B030D-6E8A-4147-A177-3AD203B41FA5}">
                      <a16:colId xmlns:a16="http://schemas.microsoft.com/office/drawing/2014/main" val="20001"/>
                    </a:ext>
                  </a:extLst>
                </a:gridCol>
              </a:tblGrid>
              <a:tr h="326698">
                <a:tc>
                  <a:txBody>
                    <a:bodyPr/>
                    <a:lstStyle/>
                    <a:p>
                      <a:pPr marL="0" marR="0">
                        <a:spcBef>
                          <a:spcPts val="0"/>
                        </a:spcBef>
                        <a:spcAft>
                          <a:spcPts val="0"/>
                        </a:spcAft>
                      </a:pPr>
                      <a:r>
                        <a:rPr lang="en-US" sz="1600" dirty="0">
                          <a:effectLst/>
                          <a:latin typeface="+mn-lt"/>
                          <a:cs typeface="Courier New" panose="02070309020205020404" pitchFamily="49" charset="0"/>
                        </a:rPr>
                        <a:t>Mode</a:t>
                      </a:r>
                      <a:endParaRPr lang="en-US" sz="1600" dirty="0">
                        <a:effectLst/>
                        <a:latin typeface="+mn-lt"/>
                        <a:ea typeface="Calibri" panose="020F0502020204030204" pitchFamily="34" charset="0"/>
                        <a:cs typeface="Times New Roman" panose="02020603050405020304" pitchFamily="18" charset="0"/>
                      </a:endParaRPr>
                    </a:p>
                  </a:txBody>
                  <a:tcPr marL="68580" marR="68580" marT="0" marB="0">
                    <a:lnB w="6350" cap="flat" cmpd="sng" algn="ctr">
                      <a:solidFill>
                        <a:schemeClr val="tx1"/>
                      </a:solidFill>
                      <a:prstDash val="solid"/>
                      <a:round/>
                      <a:headEnd type="none" w="med" len="med"/>
                      <a:tailEnd type="none" w="med" len="med"/>
                    </a:lnB>
                    <a:solidFill>
                      <a:schemeClr val="accent2"/>
                    </a:solidFill>
                  </a:tcPr>
                </a:tc>
                <a:tc>
                  <a:txBody>
                    <a:bodyPr/>
                    <a:lstStyle/>
                    <a:p>
                      <a:pPr marL="0" marR="0">
                        <a:spcBef>
                          <a:spcPts val="0"/>
                        </a:spcBef>
                        <a:spcAft>
                          <a:spcPts val="0"/>
                        </a:spcAft>
                      </a:pPr>
                      <a:r>
                        <a:rPr lang="en-US" sz="1600" dirty="0">
                          <a:effectLst/>
                        </a:rPr>
                        <a:t>Description</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B w="635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0000"/>
                  </a:ext>
                </a:extLst>
              </a:tr>
              <a:tr h="1066858">
                <a:tc>
                  <a:txBody>
                    <a:bodyPr/>
                    <a:lstStyle/>
                    <a:p>
                      <a:pPr marL="0" marR="0">
                        <a:spcBef>
                          <a:spcPts val="0"/>
                        </a:spcBef>
                        <a:spcAft>
                          <a:spcPts val="0"/>
                        </a:spcAft>
                      </a:pPr>
                      <a:r>
                        <a:rPr lang="en-US" sz="1600" dirty="0" err="1">
                          <a:solidFill>
                            <a:sysClr val="windowText" lastClr="000000"/>
                          </a:solidFill>
                          <a:effectLst/>
                          <a:latin typeface="Courier New" panose="02070309020205020404" pitchFamily="49" charset="0"/>
                          <a:ea typeface="Calibri" panose="020F0502020204030204" pitchFamily="34" charset="0"/>
                          <a:cs typeface="Times New Roman" panose="02020603050405020304" pitchFamily="18" charset="0"/>
                        </a:rPr>
                        <a:t>tkinter.BROWSE</a:t>
                      </a:r>
                      <a:br>
                        <a:rPr lang="en-US" sz="1600" dirty="0">
                          <a:solidFill>
                            <a:sysClr val="windowText" lastClr="000000"/>
                          </a:solidFill>
                          <a:effectLst/>
                          <a:latin typeface="Courier New" panose="02070309020205020404" pitchFamily="49" charset="0"/>
                          <a:ea typeface="Calibri" panose="020F0502020204030204" pitchFamily="34" charset="0"/>
                          <a:cs typeface="Times New Roman" panose="02020603050405020304" pitchFamily="18" charset="0"/>
                        </a:rPr>
                      </a:br>
                      <a:endParaRPr lang="en-US" sz="1600" dirty="0">
                        <a:solidFill>
                          <a:sysClr val="windowText" lastClr="000000"/>
                        </a:solidFill>
                        <a:effectLst/>
                        <a:latin typeface="Courier New" panose="02070309020205020404" pitchFamily="49" charset="0"/>
                        <a:ea typeface="Calibri" panose="020F0502020204030204" pitchFamily="34" charset="0"/>
                        <a:cs typeface="Times New Roman" panose="02020603050405020304" pitchFamily="18" charset="0"/>
                      </a:endParaRPr>
                    </a:p>
                    <a:p>
                      <a:pPr marL="0" marR="0">
                        <a:spcBef>
                          <a:spcPts val="0"/>
                        </a:spcBef>
                        <a:spcAft>
                          <a:spcPts val="0"/>
                        </a:spcAft>
                      </a:pPr>
                      <a:r>
                        <a:rPr lang="en-US" sz="1200" i="1" dirty="0">
                          <a:solidFill>
                            <a:sysClr val="windowText" lastClr="000000"/>
                          </a:solidFill>
                          <a:effectLst/>
                          <a:latin typeface="+mn-lt"/>
                          <a:ea typeface="Calibri" panose="020F0502020204030204" pitchFamily="34" charset="0"/>
                          <a:cs typeface="Times New Roman" panose="02020603050405020304" pitchFamily="18" charset="0"/>
                        </a:rPr>
                        <a:t>(This is the default mode)</a:t>
                      </a:r>
                    </a:p>
                  </a:txBody>
                  <a:tcPr marL="68580" marR="6858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a:spcBef>
                          <a:spcPts val="0"/>
                        </a:spcBef>
                        <a:spcAft>
                          <a:spcPts val="0"/>
                        </a:spcAft>
                      </a:pPr>
                      <a:r>
                        <a:rPr lang="en-US" sz="1400" dirty="0">
                          <a:effectLst/>
                          <a:latin typeface="Calibri" panose="020F0502020204030204" pitchFamily="34" charset="0"/>
                          <a:ea typeface="Calibri" panose="020F0502020204030204" pitchFamily="34" charset="0"/>
                          <a:cs typeface="Times New Roman" panose="02020603050405020304" pitchFamily="18" charset="0"/>
                        </a:rPr>
                        <a:t>The user can select one item at a time by clicking in the </a:t>
                      </a:r>
                      <a:r>
                        <a:rPr lang="en-US" sz="1400" dirty="0" err="1">
                          <a:effectLst/>
                          <a:latin typeface="Courier New" panose="02070309020205020404" pitchFamily="49" charset="0"/>
                          <a:ea typeface="Calibri" panose="020F0502020204030204" pitchFamily="34" charset="0"/>
                          <a:cs typeface="Times New Roman" panose="02020603050405020304" pitchFamily="18" charset="0"/>
                        </a:rPr>
                        <a:t>Listbox</a:t>
                      </a:r>
                      <a:r>
                        <a:rPr lang="en-US" sz="1400" dirty="0">
                          <a:effectLst/>
                          <a:latin typeface="Calibri" panose="020F0502020204030204" pitchFamily="34" charset="0"/>
                          <a:ea typeface="Calibri" panose="020F0502020204030204" pitchFamily="34" charset="0"/>
                          <a:cs typeface="Times New Roman" panose="02020603050405020304" pitchFamily="18" charset="0"/>
                        </a:rPr>
                        <a:t>. Additionally, if the user clicks and drags the mouse inside the </a:t>
                      </a:r>
                      <a:r>
                        <a:rPr lang="en-US" sz="1400" dirty="0" err="1">
                          <a:effectLst/>
                          <a:latin typeface="Courier New" panose="02070309020205020404" pitchFamily="49" charset="0"/>
                          <a:ea typeface="Calibri" panose="020F0502020204030204" pitchFamily="34" charset="0"/>
                          <a:cs typeface="Times New Roman" panose="02020603050405020304" pitchFamily="18" charset="0"/>
                        </a:rPr>
                        <a:t>Listbox</a:t>
                      </a:r>
                      <a:r>
                        <a:rPr lang="en-US" sz="1400" dirty="0">
                          <a:effectLst/>
                          <a:latin typeface="Calibri" panose="020F0502020204030204" pitchFamily="34" charset="0"/>
                          <a:ea typeface="Calibri" panose="020F0502020204030204" pitchFamily="34" charset="0"/>
                          <a:cs typeface="Times New Roman" panose="02020603050405020304" pitchFamily="18" charset="0"/>
                        </a:rPr>
                        <a:t>, the item that is currently under the cursor will be selected.</a:t>
                      </a:r>
                    </a:p>
                    <a:p>
                      <a:pPr marL="0" marR="0">
                        <a:spcBef>
                          <a:spcPts val="0"/>
                        </a:spcBef>
                        <a:spcAft>
                          <a:spcPts val="0"/>
                        </a:spcAft>
                      </a:pPr>
                      <a:r>
                        <a:rPr lang="en-US" sz="1400" dirty="0">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640115">
                <a:tc>
                  <a:txBody>
                    <a:bodyPr/>
                    <a:lstStyle/>
                    <a:p>
                      <a:pPr marL="0" marR="0">
                        <a:spcBef>
                          <a:spcPts val="0"/>
                        </a:spcBef>
                        <a:spcAft>
                          <a:spcPts val="0"/>
                        </a:spcAft>
                      </a:pPr>
                      <a:r>
                        <a:rPr lang="en-US" sz="1600" dirty="0" err="1">
                          <a:solidFill>
                            <a:sysClr val="windowText" lastClr="000000"/>
                          </a:solidFill>
                          <a:effectLst/>
                          <a:latin typeface="Courier New" panose="02070309020205020404" pitchFamily="49" charset="0"/>
                          <a:ea typeface="Calibri" panose="020F0502020204030204" pitchFamily="34" charset="0"/>
                          <a:cs typeface="Times New Roman" panose="02020603050405020304" pitchFamily="18" charset="0"/>
                        </a:rPr>
                        <a:t>tkinter.EXTENDED</a:t>
                      </a:r>
                      <a:endParaRPr lang="en-US" sz="1600" dirty="0">
                        <a:solidFill>
                          <a:sysClr val="windowText" lastClr="000000"/>
                        </a:solidFill>
                        <a:effectLst/>
                        <a:latin typeface="Courier New" panose="02070309020205020404" pitchFamily="49" charset="0"/>
                        <a:ea typeface="Calibri" panose="020F0502020204030204" pitchFamily="34" charset="0"/>
                        <a:cs typeface="Times New Roman" panose="02020603050405020304" pitchFamily="18" charset="0"/>
                      </a:endParaRPr>
                    </a:p>
                  </a:txBody>
                  <a:tcPr marL="68580" marR="6858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a:spcBef>
                          <a:spcPts val="0"/>
                        </a:spcBef>
                        <a:spcAft>
                          <a:spcPts val="0"/>
                        </a:spcAft>
                      </a:pPr>
                      <a:r>
                        <a:rPr lang="en-US" sz="1400" dirty="0">
                          <a:effectLst/>
                          <a:latin typeface="Calibri" panose="020F0502020204030204" pitchFamily="34" charset="0"/>
                          <a:ea typeface="Calibri" panose="020F0502020204030204" pitchFamily="34" charset="0"/>
                          <a:cs typeface="Times New Roman" panose="02020603050405020304" pitchFamily="18" charset="0"/>
                        </a:rPr>
                        <a:t>The user can select a group of adjacent items by clicking on the first item and dragging the mouse to the last item.</a:t>
                      </a:r>
                    </a:p>
                    <a:p>
                      <a:pPr marL="0" marR="0">
                        <a:spcBef>
                          <a:spcPts val="0"/>
                        </a:spcBef>
                        <a:spcAft>
                          <a:spcPts val="0"/>
                        </a:spcAft>
                      </a:pP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853486">
                <a:tc>
                  <a:txBody>
                    <a:bodyPr/>
                    <a:lstStyle/>
                    <a:p>
                      <a:pPr marL="0" marR="0">
                        <a:spcBef>
                          <a:spcPts val="0"/>
                        </a:spcBef>
                        <a:spcAft>
                          <a:spcPts val="0"/>
                        </a:spcAft>
                      </a:pPr>
                      <a:r>
                        <a:rPr lang="en-US" sz="1600" dirty="0" err="1">
                          <a:solidFill>
                            <a:sysClr val="windowText" lastClr="000000"/>
                          </a:solidFill>
                          <a:effectLst/>
                          <a:latin typeface="Courier New" panose="02070309020205020404" pitchFamily="49" charset="0"/>
                          <a:ea typeface="Calibri" panose="020F0502020204030204" pitchFamily="34" charset="0"/>
                          <a:cs typeface="Times New Roman" panose="02020603050405020304" pitchFamily="18" charset="0"/>
                        </a:rPr>
                        <a:t>tkinter.MULTIPLE</a:t>
                      </a:r>
                      <a:endParaRPr lang="en-US" sz="1600" dirty="0">
                        <a:solidFill>
                          <a:sysClr val="windowText" lastClr="000000"/>
                        </a:solidFill>
                        <a:effectLst/>
                        <a:latin typeface="Courier New" panose="02070309020205020404" pitchFamily="49" charset="0"/>
                        <a:ea typeface="Calibri" panose="020F0502020204030204" pitchFamily="34" charset="0"/>
                        <a:cs typeface="Times New Roman" panose="02020603050405020304" pitchFamily="18" charset="0"/>
                      </a:endParaRPr>
                    </a:p>
                  </a:txBody>
                  <a:tcPr marL="68580" marR="6858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a:spcBef>
                          <a:spcPts val="0"/>
                        </a:spcBef>
                        <a:spcAft>
                          <a:spcPts val="0"/>
                        </a:spcAft>
                      </a:pPr>
                      <a:r>
                        <a:rPr lang="en-US" sz="1400" dirty="0">
                          <a:effectLst/>
                          <a:latin typeface="Calibri" panose="020F0502020204030204" pitchFamily="34" charset="0"/>
                          <a:ea typeface="Calibri" panose="020F0502020204030204" pitchFamily="34" charset="0"/>
                          <a:cs typeface="Times New Roman" panose="02020603050405020304" pitchFamily="18" charset="0"/>
                        </a:rPr>
                        <a:t>Multiple items can be selected. When you click an unselected item, the item becomes selected. When you click a selected item, the item becomes unselected.</a:t>
                      </a:r>
                    </a:p>
                    <a:p>
                      <a:pPr marL="0" marR="0">
                        <a:spcBef>
                          <a:spcPts val="0"/>
                        </a:spcBef>
                        <a:spcAft>
                          <a:spcPts val="0"/>
                        </a:spcAft>
                      </a:pP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87869">
                <a:tc>
                  <a:txBody>
                    <a:bodyPr/>
                    <a:lstStyle/>
                    <a:p>
                      <a:pPr marL="0" marR="0">
                        <a:spcBef>
                          <a:spcPts val="0"/>
                        </a:spcBef>
                        <a:spcAft>
                          <a:spcPts val="0"/>
                        </a:spcAft>
                      </a:pPr>
                      <a:r>
                        <a:rPr lang="en-US" sz="1600" dirty="0" err="1">
                          <a:solidFill>
                            <a:sysClr val="windowText" lastClr="000000"/>
                          </a:solidFill>
                          <a:effectLst/>
                          <a:latin typeface="Courier New" panose="02070309020205020404" pitchFamily="49" charset="0"/>
                          <a:ea typeface="Calibri" panose="020F0502020204030204" pitchFamily="34" charset="0"/>
                          <a:cs typeface="Times New Roman" panose="02020603050405020304" pitchFamily="18" charset="0"/>
                        </a:rPr>
                        <a:t>tkinter.SINGLE</a:t>
                      </a:r>
                      <a:endParaRPr lang="en-US" sz="1600" dirty="0">
                        <a:solidFill>
                          <a:sysClr val="windowText" lastClr="000000"/>
                        </a:solidFill>
                        <a:effectLst/>
                        <a:latin typeface="Courier New" panose="02070309020205020404" pitchFamily="49" charset="0"/>
                        <a:ea typeface="Calibri" panose="020F0502020204030204" pitchFamily="34" charset="0"/>
                        <a:cs typeface="Times New Roman" panose="02020603050405020304" pitchFamily="18" charset="0"/>
                      </a:endParaRPr>
                    </a:p>
                  </a:txBody>
                  <a:tcPr marL="68580" marR="6858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a:spcBef>
                          <a:spcPts val="0"/>
                        </a:spcBef>
                        <a:spcAft>
                          <a:spcPts val="0"/>
                        </a:spcAft>
                      </a:pPr>
                      <a:r>
                        <a:rPr lang="en-US" sz="1400" dirty="0">
                          <a:effectLst/>
                          <a:latin typeface="Calibri" panose="020F0502020204030204" pitchFamily="34" charset="0"/>
                          <a:ea typeface="Calibri" panose="020F0502020204030204" pitchFamily="34" charset="0"/>
                          <a:cs typeface="Times New Roman" panose="02020603050405020304" pitchFamily="18" charset="0"/>
                        </a:rPr>
                        <a:t>The user can select one item at a time by clicking in the </a:t>
                      </a:r>
                      <a:r>
                        <a:rPr lang="en-US" sz="1400" dirty="0" err="1">
                          <a:effectLst/>
                          <a:latin typeface="Courier New" panose="02070309020205020404" pitchFamily="49" charset="0"/>
                          <a:ea typeface="Calibri" panose="020F0502020204030204" pitchFamily="34" charset="0"/>
                          <a:cs typeface="Times New Roman" panose="02020603050405020304" pitchFamily="18" charset="0"/>
                        </a:rPr>
                        <a:t>Listbox</a:t>
                      </a:r>
                      <a:r>
                        <a:rPr lang="en-US" sz="1400" dirty="0">
                          <a:effectLst/>
                          <a:latin typeface="Calibri" panose="020F0502020204030204" pitchFamily="34" charset="0"/>
                          <a:ea typeface="Calibri" panose="020F0502020204030204" pitchFamily="34" charset="0"/>
                          <a:cs typeface="Times New Roman" panose="02020603050405020304" pitchFamily="18" charset="0"/>
                        </a:rPr>
                        <a:t>.</a:t>
                      </a:r>
                    </a:p>
                  </a:txBody>
                  <a:tcPr marL="68580" marR="6858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a:extLst>
              <a:ext uri="{FF2B5EF4-FFF2-40B4-BE49-F238E27FC236}">
                <a16:creationId xmlns:a16="http://schemas.microsoft.com/office/drawing/2014/main" id="{CA10B81D-1301-4C11-8260-9C3E907EE81E}"/>
              </a:ext>
            </a:extLst>
          </p:cNvPr>
          <p:cNvSpPr>
            <a:spLocks noGrp="1" noChangeArrowheads="1"/>
          </p:cNvSpPr>
          <p:nvPr>
            <p:ph type="title"/>
          </p:nvPr>
        </p:nvSpPr>
        <p:spPr/>
        <p:txBody>
          <a:bodyPr/>
          <a:lstStyle/>
          <a:p>
            <a:r>
              <a:rPr lang="en-US" altLang="en-US" dirty="0"/>
              <a:t>Retrieving the Selected Item(s)</a:t>
            </a:r>
            <a:r>
              <a:rPr lang="en-AU" sz="2000" b="0" dirty="0"/>
              <a:t> (1 of 2)</a:t>
            </a:r>
            <a:endParaRPr lang="en-US" altLang="en-US" sz="2000" dirty="0"/>
          </a:p>
        </p:txBody>
      </p:sp>
      <p:sp>
        <p:nvSpPr>
          <p:cNvPr id="49155" name="Content Placeholder 2">
            <a:extLst>
              <a:ext uri="{FF2B5EF4-FFF2-40B4-BE49-F238E27FC236}">
                <a16:creationId xmlns:a16="http://schemas.microsoft.com/office/drawing/2014/main" id="{24BAD10D-E4DA-4685-B563-3427D5E872D0}"/>
              </a:ext>
            </a:extLst>
          </p:cNvPr>
          <p:cNvSpPr>
            <a:spLocks noGrp="1" noChangeArrowheads="1"/>
          </p:cNvSpPr>
          <p:nvPr>
            <p:ph idx="1"/>
          </p:nvPr>
        </p:nvSpPr>
        <p:spPr/>
        <p:txBody>
          <a:bodyPr/>
          <a:lstStyle/>
          <a:p>
            <a:pPr>
              <a:buFontTx/>
              <a:buChar char="•"/>
            </a:pPr>
            <a:r>
              <a:rPr lang="en-US" altLang="en-US" dirty="0"/>
              <a:t>The </a:t>
            </a:r>
            <a:r>
              <a:rPr lang="en-US" altLang="en-US" dirty="0" err="1">
                <a:latin typeface="Courier New" panose="02070309020205020404" pitchFamily="49" charset="0"/>
                <a:cs typeface="Courier New" panose="02070309020205020404" pitchFamily="49" charset="0"/>
              </a:rPr>
              <a:t>curselection</a:t>
            </a:r>
            <a:r>
              <a:rPr lang="en-US" altLang="en-US" dirty="0"/>
              <a:t> method returns a tuple containing the indexes of the items that are currently selected in the </a:t>
            </a:r>
            <a:r>
              <a:rPr lang="en-US" altLang="en-US" dirty="0" err="1">
                <a:latin typeface="Courier New" panose="02070309020205020404" pitchFamily="49" charset="0"/>
                <a:cs typeface="Courier New" panose="02070309020205020404" pitchFamily="49" charset="0"/>
              </a:rPr>
              <a:t>Listbox</a:t>
            </a:r>
            <a:endParaRPr lang="en-US" altLang="en-US" sz="2400" dirty="0">
              <a:latin typeface="Courier New" panose="02070309020205020404" pitchFamily="49" charset="0"/>
              <a:cs typeface="Courier New" panose="02070309020205020404" pitchFamily="49" charset="0"/>
            </a:endParaRPr>
          </a:p>
          <a:p>
            <a:pPr lvl="1">
              <a:spcBef>
                <a:spcPct val="0"/>
              </a:spcBef>
            </a:pPr>
            <a:r>
              <a:rPr lang="en-US" altLang="en-US" dirty="0">
                <a:latin typeface="+mj-lt"/>
                <a:ea typeface="Calibri" panose="020F0502020204030204" pitchFamily="34" charset="0"/>
                <a:cs typeface="Times New Roman" panose="02020603050405020304" pitchFamily="18" charset="0"/>
              </a:rPr>
              <a:t>If no item is selected, the tuple will be empty</a:t>
            </a:r>
          </a:p>
          <a:p>
            <a:pPr lvl="1">
              <a:spcBef>
                <a:spcPct val="0"/>
              </a:spcBef>
            </a:pPr>
            <a:r>
              <a:rPr lang="en-US" altLang="en-US" dirty="0">
                <a:latin typeface="+mj-lt"/>
                <a:ea typeface="Calibri" panose="020F0502020204030204" pitchFamily="34" charset="0"/>
                <a:cs typeface="Times New Roman" panose="02020603050405020304" pitchFamily="18" charset="0"/>
              </a:rPr>
              <a:t>If an item is selected and the selection mode is</a:t>
            </a:r>
            <a:r>
              <a:rPr lang="en-US" altLang="en-US" dirty="0">
                <a:latin typeface="Calibri" panose="020F0502020204030204" pitchFamily="34" charset="0"/>
                <a:ea typeface="Calibri" panose="020F0502020204030204" pitchFamily="34" charset="0"/>
                <a:cs typeface="Times New Roman" panose="02020603050405020304" pitchFamily="18" charset="0"/>
              </a:rPr>
              <a:t> </a:t>
            </a:r>
            <a:r>
              <a:rPr lang="en-US" altLang="en-US" dirty="0" err="1">
                <a:latin typeface="Courier New" panose="02070309020205020404" pitchFamily="49" charset="0"/>
                <a:ea typeface="Calibri" panose="020F0502020204030204" pitchFamily="34" charset="0"/>
                <a:cs typeface="Courier New" panose="02070309020205020404" pitchFamily="49" charset="0"/>
              </a:rPr>
              <a:t>tkinter</a:t>
            </a:r>
            <a:r>
              <a:rPr lang="en-US" altLang="en-US" dirty="0" err="1">
                <a:latin typeface="Courier New" panose="02070309020205020404" pitchFamily="49" charset="0"/>
                <a:ea typeface="Calibri" panose="020F0502020204030204" pitchFamily="34" charset="0"/>
                <a:cs typeface="Times New Roman" panose="02020603050405020304" pitchFamily="18" charset="0"/>
              </a:rPr>
              <a:t>.</a:t>
            </a:r>
            <a:r>
              <a:rPr lang="en-US" altLang="en-US" dirty="0" err="1">
                <a:latin typeface="Courier New" panose="02070309020205020404" pitchFamily="49" charset="0"/>
                <a:ea typeface="Calibri" panose="020F0502020204030204" pitchFamily="34" charset="0"/>
                <a:cs typeface="Courier New" panose="02070309020205020404" pitchFamily="49" charset="0"/>
              </a:rPr>
              <a:t>BROWSE</a:t>
            </a:r>
            <a:r>
              <a:rPr lang="en-US" altLang="en-US" dirty="0">
                <a:latin typeface="Courier New" panose="02070309020205020404" pitchFamily="49" charset="0"/>
                <a:ea typeface="Calibri" panose="020F0502020204030204" pitchFamily="34" charset="0"/>
                <a:cs typeface="Times New Roman" panose="02020603050405020304" pitchFamily="18" charset="0"/>
              </a:rPr>
              <a:t> </a:t>
            </a:r>
            <a:r>
              <a:rPr lang="en-US" altLang="en-US" dirty="0">
                <a:latin typeface="+mj-lt"/>
                <a:ea typeface="Calibri" panose="020F0502020204030204" pitchFamily="34" charset="0"/>
                <a:cs typeface="Times New Roman" panose="02020603050405020304" pitchFamily="18" charset="0"/>
              </a:rPr>
              <a:t>or</a:t>
            </a:r>
            <a:r>
              <a:rPr lang="en-US" altLang="en-US" dirty="0">
                <a:latin typeface="Calibri" panose="020F0502020204030204" pitchFamily="34" charset="0"/>
                <a:ea typeface="Calibri" panose="020F0502020204030204" pitchFamily="34" charset="0"/>
                <a:cs typeface="Times New Roman" panose="02020603050405020304" pitchFamily="18" charset="0"/>
              </a:rPr>
              <a:t> </a:t>
            </a:r>
            <a:r>
              <a:rPr lang="en-US" altLang="en-US" dirty="0" err="1">
                <a:latin typeface="Courier New" panose="02070309020205020404" pitchFamily="49" charset="0"/>
                <a:ea typeface="Calibri" panose="020F0502020204030204" pitchFamily="34" charset="0"/>
                <a:cs typeface="Courier New" panose="02070309020205020404" pitchFamily="49" charset="0"/>
              </a:rPr>
              <a:t>tkinter</a:t>
            </a:r>
            <a:r>
              <a:rPr lang="en-US" altLang="en-US" dirty="0" err="1">
                <a:latin typeface="Courier New" panose="02070309020205020404" pitchFamily="49" charset="0"/>
                <a:ea typeface="Calibri" panose="020F0502020204030204" pitchFamily="34" charset="0"/>
                <a:cs typeface="Times New Roman" panose="02020603050405020304" pitchFamily="18" charset="0"/>
              </a:rPr>
              <a:t>.</a:t>
            </a:r>
            <a:r>
              <a:rPr lang="en-US" altLang="en-US" dirty="0" err="1">
                <a:latin typeface="Courier New" panose="02070309020205020404" pitchFamily="49" charset="0"/>
                <a:ea typeface="Calibri" panose="020F0502020204030204" pitchFamily="34" charset="0"/>
                <a:cs typeface="Courier New" panose="02070309020205020404" pitchFamily="49" charset="0"/>
              </a:rPr>
              <a:t>SINGLE</a:t>
            </a:r>
            <a:r>
              <a:rPr lang="en-US" altLang="en-US" dirty="0">
                <a:latin typeface="Calibri" panose="020F0502020204030204" pitchFamily="34" charset="0"/>
                <a:ea typeface="Calibri" panose="020F0502020204030204" pitchFamily="34" charset="0"/>
                <a:cs typeface="Times New Roman" panose="02020603050405020304" pitchFamily="18" charset="0"/>
              </a:rPr>
              <a:t>, </a:t>
            </a:r>
            <a:r>
              <a:rPr lang="en-US" altLang="en-US" dirty="0">
                <a:latin typeface="+mj-lt"/>
                <a:ea typeface="Calibri" panose="020F0502020204030204" pitchFamily="34" charset="0"/>
                <a:cs typeface="Times New Roman" panose="02020603050405020304" pitchFamily="18" charset="0"/>
              </a:rPr>
              <a:t>the tuple will contain only one element</a:t>
            </a:r>
          </a:p>
          <a:p>
            <a:pPr lvl="1">
              <a:spcBef>
                <a:spcPct val="0"/>
              </a:spcBef>
            </a:pPr>
            <a:r>
              <a:rPr lang="en-US" altLang="en-US" dirty="0">
                <a:latin typeface="+mj-lt"/>
                <a:ea typeface="Calibri" panose="020F0502020204030204" pitchFamily="34" charset="0"/>
                <a:cs typeface="Times New Roman" panose="02020603050405020304" pitchFamily="18" charset="0"/>
              </a:rPr>
              <a:t>If the </a:t>
            </a:r>
            <a:r>
              <a:rPr lang="en-US" altLang="en-US" dirty="0" err="1">
                <a:latin typeface="Courier New" panose="02070309020205020404" pitchFamily="49" charset="0"/>
                <a:cs typeface="Courier New" panose="02070309020205020404" pitchFamily="49" charset="0"/>
              </a:rPr>
              <a:t>Listbox's</a:t>
            </a:r>
            <a:r>
              <a:rPr lang="en-US" altLang="en-US" dirty="0">
                <a:latin typeface="Calibri" panose="020F0502020204030204" pitchFamily="34" charset="0"/>
                <a:cs typeface="Calibri" panose="020F0502020204030204" pitchFamily="34" charset="0"/>
              </a:rPr>
              <a:t> </a:t>
            </a:r>
            <a:r>
              <a:rPr lang="en-US" altLang="en-US" dirty="0">
                <a:latin typeface="+mj-lt"/>
                <a:cs typeface="Calibri" panose="020F0502020204030204" pitchFamily="34" charset="0"/>
              </a:rPr>
              <a:t>selection mode is </a:t>
            </a:r>
            <a:r>
              <a:rPr lang="en-US" altLang="en-US" dirty="0" err="1">
                <a:latin typeface="Courier New" panose="02070309020205020404" pitchFamily="49" charset="0"/>
                <a:cs typeface="Courier New" panose="02070309020205020404" pitchFamily="49" charset="0"/>
              </a:rPr>
              <a:t>tkinter</a:t>
            </a:r>
            <a:r>
              <a:rPr lang="en-US" altLang="en-US" dirty="0" err="1">
                <a:latin typeface="Courier New" panose="02070309020205020404" pitchFamily="49" charset="0"/>
                <a:cs typeface="Calibri" panose="020F0502020204030204" pitchFamily="34" charset="0"/>
              </a:rPr>
              <a:t>.</a:t>
            </a:r>
            <a:r>
              <a:rPr lang="en-US" altLang="en-US" dirty="0" err="1">
                <a:latin typeface="Courier New" panose="02070309020205020404" pitchFamily="49" charset="0"/>
                <a:cs typeface="Courier New" panose="02070309020205020404" pitchFamily="49" charset="0"/>
              </a:rPr>
              <a:t>EXTENDED</a:t>
            </a:r>
            <a:r>
              <a:rPr lang="en-US" altLang="en-US" dirty="0">
                <a:latin typeface="Courier New" panose="02070309020205020404" pitchFamily="49" charset="0"/>
                <a:cs typeface="Calibri" panose="020F0502020204030204" pitchFamily="34" charset="0"/>
              </a:rPr>
              <a:t> </a:t>
            </a:r>
            <a:r>
              <a:rPr lang="en-US" altLang="en-US" dirty="0">
                <a:latin typeface="+mj-lt"/>
                <a:cs typeface="Calibri" panose="020F0502020204030204" pitchFamily="34" charset="0"/>
              </a:rPr>
              <a:t>or</a:t>
            </a:r>
            <a:r>
              <a:rPr lang="en-US" altLang="en-US" dirty="0">
                <a:latin typeface="Calibri" panose="020F0502020204030204" pitchFamily="34" charset="0"/>
                <a:cs typeface="Calibri" panose="020F0502020204030204" pitchFamily="34" charset="0"/>
              </a:rPr>
              <a:t> </a:t>
            </a:r>
            <a:r>
              <a:rPr lang="en-US" altLang="en-US" dirty="0" err="1">
                <a:latin typeface="Courier New" panose="02070309020205020404" pitchFamily="49" charset="0"/>
                <a:cs typeface="Courier New" panose="02070309020205020404" pitchFamily="49" charset="0"/>
              </a:rPr>
              <a:t>tkinter</a:t>
            </a:r>
            <a:r>
              <a:rPr lang="en-US" altLang="en-US" dirty="0" err="1">
                <a:latin typeface="Courier New" panose="02070309020205020404" pitchFamily="49" charset="0"/>
                <a:cs typeface="Calibri" panose="020F0502020204030204" pitchFamily="34" charset="0"/>
              </a:rPr>
              <a:t>.</a:t>
            </a:r>
            <a:r>
              <a:rPr lang="en-US" altLang="en-US" dirty="0" err="1">
                <a:latin typeface="Courier New" panose="02070309020205020404" pitchFamily="49" charset="0"/>
                <a:cs typeface="Courier New" panose="02070309020205020404" pitchFamily="49" charset="0"/>
              </a:rPr>
              <a:t>MULTIPLE</a:t>
            </a:r>
            <a:r>
              <a:rPr lang="en-US" altLang="en-US" dirty="0">
                <a:latin typeface="Calibri" panose="020F0502020204030204" pitchFamily="34" charset="0"/>
                <a:cs typeface="Calibri" panose="020F0502020204030204" pitchFamily="34" charset="0"/>
              </a:rPr>
              <a:t>, </a:t>
            </a:r>
            <a:r>
              <a:rPr lang="en-US" altLang="en-US" dirty="0">
                <a:latin typeface="+mj-lt"/>
                <a:cs typeface="Calibri" panose="020F0502020204030204" pitchFamily="34" charset="0"/>
              </a:rPr>
              <a:t>the tuple can contain multiple elements because those selection modes allow the user to select multiple items</a:t>
            </a:r>
            <a:endParaRPr lang="en-US" altLang="en-US" dirty="0">
              <a:latin typeface="+mj-lt"/>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a:extLst>
              <a:ext uri="{FF2B5EF4-FFF2-40B4-BE49-F238E27FC236}">
                <a16:creationId xmlns:a16="http://schemas.microsoft.com/office/drawing/2014/main" id="{1AB81369-E059-43CA-9EC4-F655E418CE90}"/>
              </a:ext>
            </a:extLst>
          </p:cNvPr>
          <p:cNvSpPr>
            <a:spLocks noGrp="1" noChangeArrowheads="1"/>
          </p:cNvSpPr>
          <p:nvPr>
            <p:ph type="title"/>
          </p:nvPr>
        </p:nvSpPr>
        <p:spPr/>
        <p:txBody>
          <a:bodyPr/>
          <a:lstStyle/>
          <a:p>
            <a:r>
              <a:rPr lang="en-US" altLang="en-US" dirty="0"/>
              <a:t>Retrieving the Selected Item(s)</a:t>
            </a:r>
            <a:r>
              <a:rPr lang="en-AU" sz="2000" b="0" dirty="0"/>
              <a:t> (2 of 2)</a:t>
            </a:r>
            <a:endParaRPr lang="en-US" altLang="en-US" sz="2000" dirty="0"/>
          </a:p>
        </p:txBody>
      </p:sp>
      <p:sp>
        <p:nvSpPr>
          <p:cNvPr id="50179" name="Content Placeholder 2">
            <a:extLst>
              <a:ext uri="{FF2B5EF4-FFF2-40B4-BE49-F238E27FC236}">
                <a16:creationId xmlns:a16="http://schemas.microsoft.com/office/drawing/2014/main" id="{757AAB0E-C03D-411F-A5B6-D4621D887AB1}"/>
              </a:ext>
            </a:extLst>
          </p:cNvPr>
          <p:cNvSpPr>
            <a:spLocks noGrp="1" noChangeArrowheads="1"/>
          </p:cNvSpPr>
          <p:nvPr>
            <p:ph idx="1"/>
          </p:nvPr>
        </p:nvSpPr>
        <p:spPr>
          <a:xfrm>
            <a:off x="457200" y="1600200"/>
            <a:ext cx="8229600" cy="4572000"/>
          </a:xfrm>
        </p:spPr>
        <p:txBody>
          <a:bodyPr/>
          <a:lstStyle/>
          <a:p>
            <a:pPr>
              <a:buFontTx/>
              <a:buChar char="•"/>
            </a:pPr>
            <a:r>
              <a:rPr lang="en-US" altLang="en-US" dirty="0"/>
              <a:t>Once you have the index of the selected item, you can use the </a:t>
            </a:r>
            <a:r>
              <a:rPr lang="en-US" altLang="en-US" dirty="0">
                <a:latin typeface="Courier New" panose="02070309020205020404" pitchFamily="49" charset="0"/>
              </a:rPr>
              <a:t>get</a:t>
            </a:r>
            <a:r>
              <a:rPr lang="en-US" altLang="en-US" dirty="0"/>
              <a:t> method to retrieve the selected item or items from the </a:t>
            </a:r>
            <a:r>
              <a:rPr lang="en-US" altLang="en-US" dirty="0" err="1">
                <a:latin typeface="Courier New" panose="02070309020205020404" pitchFamily="49" charset="0"/>
                <a:cs typeface="Courier New" panose="02070309020205020404" pitchFamily="49" charset="0"/>
              </a:rPr>
              <a:t>Listbox</a:t>
            </a:r>
            <a:endParaRPr lang="en-US" altLang="en-US" dirty="0">
              <a:latin typeface="Courier New" panose="02070309020205020404" pitchFamily="49" charset="0"/>
            </a:endParaRPr>
          </a:p>
          <a:p>
            <a:pPr>
              <a:buFontTx/>
              <a:buChar char="•"/>
            </a:pPr>
            <a:r>
              <a:rPr lang="en-US" altLang="en-US" dirty="0"/>
              <a:t>The </a:t>
            </a:r>
            <a:r>
              <a:rPr lang="en-US" altLang="en-US" dirty="0">
                <a:latin typeface="Courier New" panose="02070309020205020404" pitchFamily="49" charset="0"/>
              </a:rPr>
              <a:t>get</a:t>
            </a:r>
            <a:r>
              <a:rPr lang="en-US" altLang="en-US" dirty="0"/>
              <a:t> method accepts an integer index as its argument and returns the item that is located at that index in the </a:t>
            </a:r>
            <a:r>
              <a:rPr lang="en-US" altLang="en-US" dirty="0" err="1">
                <a:latin typeface="Courier New" panose="02070309020205020404" pitchFamily="49" charset="0"/>
                <a:cs typeface="Courier New" panose="02070309020205020404" pitchFamily="49" charset="0"/>
              </a:rPr>
              <a:t>Listbox</a:t>
            </a:r>
            <a:endParaRPr lang="en-US" altLang="en-US" dirty="0">
              <a:latin typeface="Courier New" panose="02070309020205020404" pitchFamily="49" charset="0"/>
              <a:cs typeface="Courier New" panose="02070309020205020404" pitchFamily="49"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a:extLst>
              <a:ext uri="{FF2B5EF4-FFF2-40B4-BE49-F238E27FC236}">
                <a16:creationId xmlns:a16="http://schemas.microsoft.com/office/drawing/2014/main" id="{C718A3BE-6D85-46F4-8CF5-BDF1FBE7453D}"/>
              </a:ext>
            </a:extLst>
          </p:cNvPr>
          <p:cNvSpPr>
            <a:spLocks noGrp="1" noChangeArrowheads="1"/>
          </p:cNvSpPr>
          <p:nvPr>
            <p:ph type="title"/>
          </p:nvPr>
        </p:nvSpPr>
        <p:spPr/>
        <p:txBody>
          <a:bodyPr/>
          <a:lstStyle/>
          <a:p>
            <a:r>
              <a:rPr lang="en-US" altLang="en-US" sz="4000"/>
              <a:t>Examples</a:t>
            </a:r>
          </a:p>
        </p:txBody>
      </p:sp>
      <p:sp>
        <p:nvSpPr>
          <p:cNvPr id="6" name="Text Box 2">
            <a:extLst>
              <a:ext uri="{FF2B5EF4-FFF2-40B4-BE49-F238E27FC236}">
                <a16:creationId xmlns:a16="http://schemas.microsoft.com/office/drawing/2014/main" id="{46692BCE-69F2-41C4-B028-8D48445376C4}"/>
              </a:ext>
            </a:extLst>
          </p:cNvPr>
          <p:cNvSpPr txBox="1">
            <a:spLocks noChangeArrowheads="1"/>
          </p:cNvSpPr>
          <p:nvPr/>
        </p:nvSpPr>
        <p:spPr bwMode="auto">
          <a:xfrm>
            <a:off x="838200" y="1752600"/>
            <a:ext cx="7010400" cy="1384300"/>
          </a:xfrm>
          <a:prstGeom prst="rect">
            <a:avLst/>
          </a:prstGeom>
          <a:solidFill>
            <a:srgbClr val="FFFFFF"/>
          </a:solidFill>
          <a:ln w="9525">
            <a:solidFill>
              <a:srgbClr val="000000"/>
            </a:solidFill>
            <a:miter lim="800000"/>
            <a:headEnd/>
            <a:tailEnd/>
          </a:ln>
        </p:spPr>
        <p:txBody>
          <a:bodyPr>
            <a:spAutoFit/>
          </a:bodyPr>
          <a:lstStyle/>
          <a:p>
            <a:pPr>
              <a:spcBef>
                <a:spcPts val="0"/>
              </a:spcBef>
              <a:spcAft>
                <a:spcPts val="0"/>
              </a:spcAft>
              <a:defRPr/>
            </a:pPr>
            <a:r>
              <a:rPr lang="en-US" sz="1400" dirty="0" err="1">
                <a:latin typeface="Courier New" panose="02070309020205020404" pitchFamily="49" charset="0"/>
                <a:ea typeface="Calibri" panose="020F0502020204030204" pitchFamily="34" charset="0"/>
                <a:cs typeface="Courier New" panose="02070309020205020404" pitchFamily="49" charset="0"/>
              </a:rPr>
              <a:t>self.listbox</a:t>
            </a:r>
            <a:r>
              <a:rPr lang="en-US" sz="1400" dirty="0">
                <a:latin typeface="Courier New" panose="02070309020205020404" pitchFamily="49" charset="0"/>
                <a:ea typeface="Calibri" panose="020F0502020204030204" pitchFamily="34" charset="0"/>
                <a:cs typeface="Courier New" panose="02070309020205020404" pitchFamily="49" charset="0"/>
              </a:rPr>
              <a:t> = </a:t>
            </a:r>
            <a:r>
              <a:rPr lang="en-US" sz="1400" dirty="0" err="1">
                <a:latin typeface="Courier New" panose="02070309020205020404" pitchFamily="49" charset="0"/>
                <a:ea typeface="Calibri" panose="020F0502020204030204" pitchFamily="34" charset="0"/>
                <a:cs typeface="Courier New" panose="02070309020205020404" pitchFamily="49" charset="0"/>
              </a:rPr>
              <a:t>tkinter.Listbox</a:t>
            </a:r>
            <a:r>
              <a:rPr lang="en-US" sz="1400" dirty="0">
                <a:latin typeface="Courier New" panose="02070309020205020404" pitchFamily="49" charset="0"/>
                <a:ea typeface="Calibri" panose="020F0502020204030204" pitchFamily="34" charset="0"/>
                <a:cs typeface="Courier New" panose="02070309020205020404" pitchFamily="49" charset="0"/>
              </a:rPr>
              <a:t>(</a:t>
            </a:r>
            <a:r>
              <a:rPr lang="en-US" sz="1400" dirty="0" err="1">
                <a:latin typeface="Courier New" panose="02070309020205020404" pitchFamily="49" charset="0"/>
                <a:ea typeface="Calibri" panose="020F0502020204030204" pitchFamily="34" charset="0"/>
                <a:cs typeface="Courier New" panose="02070309020205020404" pitchFamily="49" charset="0"/>
              </a:rPr>
              <a:t>self.main_window</a:t>
            </a:r>
            <a:r>
              <a:rPr lang="en-US" sz="1400" dirty="0">
                <a:latin typeface="Courier New" panose="02070309020205020404" pitchFamily="49" charset="0"/>
                <a:ea typeface="Calibri" panose="020F0502020204030204" pitchFamily="34" charset="0"/>
                <a:cs typeface="Courier New" panose="02070309020205020404" pitchFamily="49" charset="0"/>
              </a:rPr>
              <a:t>)</a:t>
            </a:r>
            <a:br>
              <a:rPr lang="en-US" sz="1400" dirty="0">
                <a:latin typeface="Courier New" panose="02070309020205020404" pitchFamily="49" charset="0"/>
                <a:ea typeface="Calibri" panose="020F0502020204030204" pitchFamily="34" charset="0"/>
                <a:cs typeface="Times New Roman" panose="02020603050405020304" pitchFamily="18" charset="0"/>
              </a:rPr>
            </a:br>
            <a:r>
              <a:rPr lang="en-US" sz="1400" dirty="0">
                <a:latin typeface="Courier New" panose="02070309020205020404" pitchFamily="49" charset="0"/>
                <a:ea typeface="Calibri" panose="020F0502020204030204" pitchFamily="34" charset="0"/>
                <a:cs typeface="Times New Roman" panose="02020603050405020304" pitchFamily="18" charset="0"/>
              </a:rPr>
              <a:t> </a:t>
            </a:r>
          </a:p>
          <a:p>
            <a:pPr>
              <a:spcBef>
                <a:spcPts val="0"/>
              </a:spcBef>
              <a:spcAft>
                <a:spcPts val="0"/>
              </a:spcAft>
              <a:defRPr/>
            </a:pPr>
            <a:r>
              <a:rPr lang="en-US" sz="1400" dirty="0">
                <a:latin typeface="Courier New" panose="02070309020205020404" pitchFamily="49" charset="0"/>
                <a:ea typeface="Calibri" panose="020F0502020204030204" pitchFamily="34" charset="0"/>
                <a:cs typeface="Times New Roman" panose="02020603050405020304" pitchFamily="18" charset="0"/>
              </a:rPr>
              <a:t> (</a:t>
            </a:r>
            <a:r>
              <a:rPr lang="en-US" sz="1400" i="1" dirty="0" err="1">
                <a:ea typeface="Calibri" panose="020F0502020204030204" pitchFamily="34" charset="0"/>
                <a:cs typeface="Times New Roman" panose="02020603050405020304" pitchFamily="18" charset="0"/>
              </a:rPr>
              <a:t>etc</a:t>
            </a:r>
            <a:r>
              <a:rPr lang="en-US" sz="1400" i="1" dirty="0">
                <a:ea typeface="Calibri" panose="020F0502020204030204" pitchFamily="34" charset="0"/>
                <a:cs typeface="Times New Roman" panose="02020603050405020304" pitchFamily="18" charset="0"/>
              </a:rPr>
              <a:t>…</a:t>
            </a:r>
            <a:r>
              <a:rPr lang="en-US" sz="1400" dirty="0">
                <a:latin typeface="Courier New" panose="02070309020205020404" pitchFamily="49" charset="0"/>
                <a:ea typeface="Calibri" panose="020F0502020204030204" pitchFamily="34" charset="0"/>
                <a:cs typeface="Times New Roman" panose="02020603050405020304" pitchFamily="18" charset="0"/>
              </a:rPr>
              <a:t>)</a:t>
            </a:r>
          </a:p>
          <a:p>
            <a:pPr>
              <a:spcBef>
                <a:spcPts val="0"/>
              </a:spcBef>
              <a:spcAft>
                <a:spcPts val="0"/>
              </a:spcAft>
              <a:defRPr/>
            </a:pPr>
            <a:br>
              <a:rPr lang="en-US" sz="1400" dirty="0">
                <a:latin typeface="Courier New" panose="02070309020205020404" pitchFamily="49" charset="0"/>
                <a:ea typeface="Calibri" panose="020F0502020204030204" pitchFamily="34" charset="0"/>
                <a:cs typeface="Times New Roman" panose="02020603050405020304" pitchFamily="18" charset="0"/>
              </a:rPr>
            </a:br>
            <a:r>
              <a:rPr lang="en-US" sz="1400" dirty="0">
                <a:latin typeface="Courier New" panose="02070309020205020404" pitchFamily="49" charset="0"/>
                <a:ea typeface="Calibri" panose="020F0502020204030204" pitchFamily="34" charset="0"/>
                <a:cs typeface="Courier New" panose="02070309020205020404" pitchFamily="49" charset="0"/>
              </a:rPr>
              <a:t>index = </a:t>
            </a:r>
            <a:r>
              <a:rPr lang="en-US" sz="1400" dirty="0" err="1">
                <a:latin typeface="Courier New" panose="02070309020205020404" pitchFamily="49" charset="0"/>
                <a:ea typeface="Calibri" panose="020F0502020204030204" pitchFamily="34" charset="0"/>
                <a:cs typeface="Courier New" panose="02070309020205020404" pitchFamily="49" charset="0"/>
              </a:rPr>
              <a:t>self.listbox.curselection</a:t>
            </a:r>
            <a:r>
              <a:rPr lang="en-US" sz="1400" dirty="0">
                <a:latin typeface="Courier New" panose="02070309020205020404" pitchFamily="49" charset="0"/>
                <a:ea typeface="Calibri" panose="020F0502020204030204" pitchFamily="34" charset="0"/>
                <a:cs typeface="Courier New" panose="02070309020205020404" pitchFamily="49" charset="0"/>
              </a:rPr>
              <a:t>()</a:t>
            </a:r>
          </a:p>
          <a:p>
            <a:pPr>
              <a:spcBef>
                <a:spcPts val="0"/>
              </a:spcBef>
              <a:spcAft>
                <a:spcPts val="0"/>
              </a:spcAft>
              <a:defRPr/>
            </a:pPr>
            <a:r>
              <a:rPr lang="en-US" sz="1400" dirty="0" err="1">
                <a:latin typeface="Courier New" panose="02070309020205020404" pitchFamily="49" charset="0"/>
                <a:ea typeface="Calibri" panose="020F0502020204030204" pitchFamily="34" charset="0"/>
                <a:cs typeface="Courier New" panose="02070309020205020404" pitchFamily="49" charset="0"/>
              </a:rPr>
              <a:t>tkinter.messagebox.showinfo</a:t>
            </a:r>
            <a:r>
              <a:rPr lang="en-US" sz="1400" dirty="0">
                <a:latin typeface="Courier New" panose="02070309020205020404" pitchFamily="49" charset="0"/>
                <a:ea typeface="Calibri" panose="020F0502020204030204" pitchFamily="34" charset="0"/>
                <a:cs typeface="Courier New" panose="02070309020205020404" pitchFamily="49" charset="0"/>
              </a:rPr>
              <a:t>(</a:t>
            </a:r>
            <a:r>
              <a:rPr lang="en-US" sz="1400" dirty="0" err="1">
                <a:latin typeface="Courier New" panose="02070309020205020404" pitchFamily="49" charset="0"/>
                <a:ea typeface="Calibri" panose="020F0502020204030204" pitchFamily="34" charset="0"/>
                <a:cs typeface="Courier New" panose="02070309020205020404" pitchFamily="49" charset="0"/>
              </a:rPr>
              <a:t>self.listbox.get</a:t>
            </a:r>
            <a:r>
              <a:rPr lang="en-US" sz="1400" dirty="0">
                <a:latin typeface="Courier New" panose="02070309020205020404" pitchFamily="49" charset="0"/>
                <a:ea typeface="Calibri" panose="020F0502020204030204" pitchFamily="34" charset="0"/>
                <a:cs typeface="Courier New" panose="02070309020205020404" pitchFamily="49" charset="0"/>
              </a:rPr>
              <a:t>(index))</a:t>
            </a:r>
          </a:p>
        </p:txBody>
      </p:sp>
      <p:sp>
        <p:nvSpPr>
          <p:cNvPr id="7" name="Text Box 2">
            <a:extLst>
              <a:ext uri="{FF2B5EF4-FFF2-40B4-BE49-F238E27FC236}">
                <a16:creationId xmlns:a16="http://schemas.microsoft.com/office/drawing/2014/main" id="{103A388E-0E32-4373-93FE-F39543ED9E98}"/>
              </a:ext>
            </a:extLst>
          </p:cNvPr>
          <p:cNvSpPr txBox="1">
            <a:spLocks noChangeArrowheads="1"/>
          </p:cNvSpPr>
          <p:nvPr/>
        </p:nvSpPr>
        <p:spPr bwMode="auto">
          <a:xfrm>
            <a:off x="838200" y="3657600"/>
            <a:ext cx="7010400" cy="1816100"/>
          </a:xfrm>
          <a:prstGeom prst="rect">
            <a:avLst/>
          </a:prstGeom>
          <a:solidFill>
            <a:srgbClr val="FFFFFF"/>
          </a:solidFill>
          <a:ln w="9525">
            <a:solidFill>
              <a:srgbClr val="000000"/>
            </a:solidFill>
            <a:miter lim="800000"/>
            <a:headEnd/>
            <a:tailEnd/>
          </a:ln>
        </p:spPr>
        <p:txBody>
          <a:bodyPr>
            <a:spAutoFit/>
          </a:bodyPr>
          <a:lstStyle/>
          <a:p>
            <a:pPr>
              <a:spcBef>
                <a:spcPts val="0"/>
              </a:spcBef>
              <a:spcAft>
                <a:spcPts val="0"/>
              </a:spcAft>
              <a:defRPr/>
            </a:pPr>
            <a:r>
              <a:rPr lang="en-US" sz="1400" dirty="0" err="1">
                <a:latin typeface="Courier New" panose="02070309020205020404" pitchFamily="49" charset="0"/>
                <a:ea typeface="Calibri" panose="020F0502020204030204" pitchFamily="34" charset="0"/>
                <a:cs typeface="Courier New" panose="02070309020205020404" pitchFamily="49" charset="0"/>
              </a:rPr>
              <a:t>self.listbox</a:t>
            </a:r>
            <a:r>
              <a:rPr lang="en-US" sz="1400" dirty="0">
                <a:latin typeface="Courier New" panose="02070309020205020404" pitchFamily="49" charset="0"/>
                <a:ea typeface="Calibri" panose="020F0502020204030204" pitchFamily="34" charset="0"/>
                <a:cs typeface="Courier New" panose="02070309020205020404" pitchFamily="49" charset="0"/>
              </a:rPr>
              <a:t> = </a:t>
            </a:r>
            <a:r>
              <a:rPr lang="en-US" sz="1400" dirty="0" err="1">
                <a:latin typeface="Courier New" panose="02070309020205020404" pitchFamily="49" charset="0"/>
                <a:ea typeface="Calibri" panose="020F0502020204030204" pitchFamily="34" charset="0"/>
                <a:cs typeface="Courier New" panose="02070309020205020404" pitchFamily="49" charset="0"/>
              </a:rPr>
              <a:t>tkinter.Listbox</a:t>
            </a:r>
            <a:r>
              <a:rPr lang="en-US" sz="1400" dirty="0">
                <a:latin typeface="Courier New" panose="02070309020205020404" pitchFamily="49" charset="0"/>
                <a:ea typeface="Calibri" panose="020F0502020204030204" pitchFamily="34" charset="0"/>
                <a:cs typeface="Courier New" panose="02070309020205020404" pitchFamily="49" charset="0"/>
              </a:rPr>
              <a:t>(</a:t>
            </a:r>
            <a:r>
              <a:rPr lang="en-US" sz="1400" dirty="0" err="1">
                <a:latin typeface="Courier New" panose="02070309020205020404" pitchFamily="49" charset="0"/>
                <a:ea typeface="Calibri" panose="020F0502020204030204" pitchFamily="34" charset="0"/>
                <a:cs typeface="Courier New" panose="02070309020205020404" pitchFamily="49" charset="0"/>
              </a:rPr>
              <a:t>self.main_window</a:t>
            </a:r>
            <a:r>
              <a:rPr lang="en-US" sz="1400" dirty="0">
                <a:latin typeface="Courier New" panose="02070309020205020404" pitchFamily="49" charset="0"/>
                <a:ea typeface="Calibri" panose="020F0502020204030204" pitchFamily="34" charset="0"/>
                <a:cs typeface="Courier New" panose="02070309020205020404" pitchFamily="49" charset="0"/>
              </a:rPr>
              <a:t>,</a:t>
            </a:r>
          </a:p>
          <a:p>
            <a:pPr>
              <a:spcBef>
                <a:spcPts val="0"/>
              </a:spcBef>
              <a:spcAft>
                <a:spcPts val="0"/>
              </a:spcAft>
              <a:defRPr/>
            </a:pPr>
            <a:r>
              <a:rPr lang="en-US" sz="1400" dirty="0">
                <a:latin typeface="Courier New" panose="02070309020205020404" pitchFamily="49" charset="0"/>
                <a:ea typeface="Calibri" panose="020F0502020204030204" pitchFamily="34" charset="0"/>
                <a:cs typeface="Courier New" panose="02070309020205020404" pitchFamily="49" charset="0"/>
              </a:rPr>
              <a:t>                               </a:t>
            </a:r>
            <a:r>
              <a:rPr lang="en-US" sz="1400" dirty="0" err="1">
                <a:latin typeface="Courier New" panose="02070309020205020404" pitchFamily="49" charset="0"/>
                <a:ea typeface="Calibri" panose="020F0502020204030204" pitchFamily="34" charset="0"/>
                <a:cs typeface="Courier New" panose="02070309020205020404" pitchFamily="49" charset="0"/>
              </a:rPr>
              <a:t>selectmode</a:t>
            </a:r>
            <a:r>
              <a:rPr lang="en-US" sz="1400" dirty="0">
                <a:latin typeface="Courier New" panose="02070309020205020404" pitchFamily="49" charset="0"/>
                <a:ea typeface="Calibri" panose="020F0502020204030204" pitchFamily="34" charset="0"/>
                <a:cs typeface="Courier New" panose="02070309020205020404" pitchFamily="49" charset="0"/>
              </a:rPr>
              <a:t>=</a:t>
            </a:r>
            <a:r>
              <a:rPr lang="en-US" sz="1400" dirty="0" err="1">
                <a:latin typeface="Courier New" panose="02070309020205020404" pitchFamily="49" charset="0"/>
                <a:ea typeface="Calibri" panose="020F0502020204030204" pitchFamily="34" charset="0"/>
                <a:cs typeface="Courier New" panose="02070309020205020404" pitchFamily="49" charset="0"/>
              </a:rPr>
              <a:t>tkinter.EXTENDED</a:t>
            </a:r>
            <a:r>
              <a:rPr lang="en-US" sz="1400" dirty="0">
                <a:latin typeface="Courier New" panose="02070309020205020404" pitchFamily="49" charset="0"/>
                <a:ea typeface="Calibri" panose="020F0502020204030204" pitchFamily="34" charset="0"/>
                <a:cs typeface="Courier New" panose="02070309020205020404" pitchFamily="49" charset="0"/>
              </a:rPr>
              <a:t>)</a:t>
            </a:r>
            <a:br>
              <a:rPr lang="en-US" sz="1400" dirty="0">
                <a:latin typeface="Courier New" panose="02070309020205020404" pitchFamily="49" charset="0"/>
                <a:ea typeface="Calibri" panose="020F0502020204030204" pitchFamily="34" charset="0"/>
                <a:cs typeface="Times New Roman" panose="02020603050405020304" pitchFamily="18" charset="0"/>
              </a:rPr>
            </a:br>
            <a:r>
              <a:rPr lang="en-US" sz="1400" dirty="0">
                <a:latin typeface="Courier New" panose="02070309020205020404" pitchFamily="49" charset="0"/>
                <a:ea typeface="Calibri" panose="020F0502020204030204" pitchFamily="34" charset="0"/>
                <a:cs typeface="Times New Roman" panose="02020603050405020304" pitchFamily="18" charset="0"/>
              </a:rPr>
              <a:t> </a:t>
            </a:r>
          </a:p>
          <a:p>
            <a:pPr>
              <a:spcBef>
                <a:spcPts val="0"/>
              </a:spcBef>
              <a:spcAft>
                <a:spcPts val="0"/>
              </a:spcAft>
              <a:defRPr/>
            </a:pPr>
            <a:r>
              <a:rPr lang="en-US" sz="1400" dirty="0">
                <a:latin typeface="Courier New" panose="02070309020205020404" pitchFamily="49" charset="0"/>
                <a:ea typeface="Calibri" panose="020F0502020204030204" pitchFamily="34" charset="0"/>
                <a:cs typeface="Times New Roman" panose="02020603050405020304" pitchFamily="18" charset="0"/>
              </a:rPr>
              <a:t> (</a:t>
            </a:r>
            <a:r>
              <a:rPr lang="en-US" sz="1400" i="1" dirty="0" err="1">
                <a:latin typeface="+mn-lt"/>
                <a:ea typeface="Calibri" panose="020F0502020204030204" pitchFamily="34" charset="0"/>
                <a:cs typeface="Times New Roman" panose="02020603050405020304" pitchFamily="18" charset="0"/>
              </a:rPr>
              <a:t>etc</a:t>
            </a:r>
            <a:r>
              <a:rPr lang="en-US" sz="1400" i="1" dirty="0">
                <a:latin typeface="+mn-lt"/>
                <a:ea typeface="Calibri" panose="020F0502020204030204" pitchFamily="34" charset="0"/>
                <a:cs typeface="Times New Roman" panose="02020603050405020304" pitchFamily="18" charset="0"/>
              </a:rPr>
              <a:t>…</a:t>
            </a:r>
            <a:r>
              <a:rPr lang="en-US" sz="1400" dirty="0">
                <a:latin typeface="Courier New" panose="02070309020205020404" pitchFamily="49" charset="0"/>
                <a:ea typeface="Calibri" panose="020F0502020204030204" pitchFamily="34" charset="0"/>
                <a:cs typeface="Times New Roman" panose="02020603050405020304" pitchFamily="18" charset="0"/>
              </a:rPr>
              <a:t>)</a:t>
            </a:r>
          </a:p>
          <a:p>
            <a:pPr>
              <a:spcBef>
                <a:spcPts val="0"/>
              </a:spcBef>
              <a:spcAft>
                <a:spcPts val="0"/>
              </a:spcAft>
              <a:defRPr/>
            </a:pPr>
            <a:br>
              <a:rPr lang="en-US" sz="1400" dirty="0">
                <a:latin typeface="Courier New" panose="02070309020205020404" pitchFamily="49" charset="0"/>
                <a:ea typeface="Calibri" panose="020F0502020204030204" pitchFamily="34" charset="0"/>
                <a:cs typeface="Times New Roman" panose="02020603050405020304" pitchFamily="18" charset="0"/>
              </a:rPr>
            </a:br>
            <a:r>
              <a:rPr lang="en-US" sz="1400" dirty="0">
                <a:latin typeface="Courier New" panose="02070309020205020404" pitchFamily="49" charset="0"/>
                <a:ea typeface="Calibri" panose="020F0502020204030204" pitchFamily="34" charset="0"/>
                <a:cs typeface="Courier New" panose="02070309020205020404" pitchFamily="49" charset="0"/>
              </a:rPr>
              <a:t>indexes = </a:t>
            </a:r>
            <a:r>
              <a:rPr lang="en-US" sz="1400" dirty="0" err="1">
                <a:latin typeface="Courier New" panose="02070309020205020404" pitchFamily="49" charset="0"/>
                <a:ea typeface="Calibri" panose="020F0502020204030204" pitchFamily="34" charset="0"/>
                <a:cs typeface="Courier New" panose="02070309020205020404" pitchFamily="49" charset="0"/>
              </a:rPr>
              <a:t>self.listbox.curselection</a:t>
            </a:r>
            <a:r>
              <a:rPr lang="en-US" sz="1400" dirty="0">
                <a:latin typeface="Courier New" panose="02070309020205020404" pitchFamily="49" charset="0"/>
                <a:ea typeface="Calibri" panose="020F0502020204030204" pitchFamily="34" charset="0"/>
                <a:cs typeface="Courier New" panose="02070309020205020404" pitchFamily="49" charset="0"/>
              </a:rPr>
              <a:t>()</a:t>
            </a:r>
          </a:p>
          <a:p>
            <a:pPr>
              <a:spcBef>
                <a:spcPts val="0"/>
              </a:spcBef>
              <a:spcAft>
                <a:spcPts val="0"/>
              </a:spcAft>
              <a:defRPr/>
            </a:pPr>
            <a:r>
              <a:rPr lang="en-US" sz="1400" dirty="0">
                <a:latin typeface="Courier New" panose="02070309020205020404" pitchFamily="49" charset="0"/>
                <a:ea typeface="Calibri" panose="020F0502020204030204" pitchFamily="34" charset="0"/>
                <a:cs typeface="Courier New" panose="02070309020205020404" pitchFamily="49" charset="0"/>
              </a:rPr>
              <a:t>for </a:t>
            </a:r>
            <a:r>
              <a:rPr lang="en-US" sz="1400" dirty="0" err="1">
                <a:latin typeface="Courier New" panose="02070309020205020404" pitchFamily="49" charset="0"/>
                <a:ea typeface="Calibri" panose="020F0502020204030204" pitchFamily="34" charset="0"/>
                <a:cs typeface="Courier New" panose="02070309020205020404" pitchFamily="49" charset="0"/>
              </a:rPr>
              <a:t>i</a:t>
            </a:r>
            <a:r>
              <a:rPr lang="en-US" sz="1400" dirty="0">
                <a:latin typeface="Courier New" panose="02070309020205020404" pitchFamily="49" charset="0"/>
                <a:ea typeface="Calibri" panose="020F0502020204030204" pitchFamily="34" charset="0"/>
                <a:cs typeface="Courier New" panose="02070309020205020404" pitchFamily="49" charset="0"/>
              </a:rPr>
              <a:t> in indexes:</a:t>
            </a:r>
          </a:p>
          <a:p>
            <a:pPr>
              <a:spcBef>
                <a:spcPts val="0"/>
              </a:spcBef>
              <a:spcAft>
                <a:spcPts val="0"/>
              </a:spcAft>
              <a:defRPr/>
            </a:pPr>
            <a:r>
              <a:rPr lang="en-US" sz="1400" dirty="0">
                <a:latin typeface="Courier New" panose="02070309020205020404" pitchFamily="49" charset="0"/>
                <a:ea typeface="Calibri" panose="020F0502020204030204" pitchFamily="34" charset="0"/>
                <a:cs typeface="Courier New" panose="02070309020205020404" pitchFamily="49" charset="0"/>
              </a:rPr>
              <a:t>    </a:t>
            </a:r>
            <a:r>
              <a:rPr lang="en-US" sz="1400" dirty="0" err="1">
                <a:latin typeface="Courier New" panose="02070309020205020404" pitchFamily="49" charset="0"/>
                <a:ea typeface="Calibri" panose="020F0502020204030204" pitchFamily="34" charset="0"/>
                <a:cs typeface="Courier New" panose="02070309020205020404" pitchFamily="49" charset="0"/>
              </a:rPr>
              <a:t>tkinter.messagebox.showinfo</a:t>
            </a:r>
            <a:r>
              <a:rPr lang="en-US" sz="1400" dirty="0">
                <a:latin typeface="Courier New" panose="02070309020205020404" pitchFamily="49" charset="0"/>
                <a:ea typeface="Calibri" panose="020F0502020204030204" pitchFamily="34" charset="0"/>
                <a:cs typeface="Courier New" panose="02070309020205020404" pitchFamily="49" charset="0"/>
              </a:rPr>
              <a:t>(</a:t>
            </a:r>
            <a:r>
              <a:rPr lang="en-US" sz="1400" dirty="0" err="1">
                <a:latin typeface="Courier New" panose="02070309020205020404" pitchFamily="49" charset="0"/>
                <a:ea typeface="Calibri" panose="020F0502020204030204" pitchFamily="34" charset="0"/>
                <a:cs typeface="Courier New" panose="02070309020205020404" pitchFamily="49" charset="0"/>
              </a:rPr>
              <a:t>self.listbox.get</a:t>
            </a:r>
            <a:r>
              <a:rPr lang="en-US" sz="1400" dirty="0">
                <a:latin typeface="Courier New" panose="02070309020205020404" pitchFamily="49" charset="0"/>
                <a:ea typeface="Calibri" panose="020F0502020204030204" pitchFamily="34" charset="0"/>
                <a:cs typeface="Courier New" panose="02070309020205020404" pitchFamily="49" charset="0"/>
              </a:rPr>
              <a:t>(</a:t>
            </a:r>
            <a:r>
              <a:rPr lang="en-US" sz="1400" dirty="0" err="1">
                <a:latin typeface="Courier New" panose="02070309020205020404" pitchFamily="49" charset="0"/>
                <a:ea typeface="Calibri" panose="020F0502020204030204" pitchFamily="34" charset="0"/>
                <a:cs typeface="Courier New" panose="02070309020205020404" pitchFamily="49" charset="0"/>
              </a:rPr>
              <a:t>i</a:t>
            </a:r>
            <a:r>
              <a:rPr lang="en-US" sz="1400" dirty="0">
                <a:latin typeface="Courier New" panose="02070309020205020404" pitchFamily="49" charset="0"/>
                <a:ea typeface="Calibri" panose="020F0502020204030204" pitchFamily="34" charset="0"/>
                <a:cs typeface="Courier New" panose="02070309020205020404" pitchFamily="49" charset="0"/>
              </a:rPr>
              <a:t>))</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a:extLst>
              <a:ext uri="{FF2B5EF4-FFF2-40B4-BE49-F238E27FC236}">
                <a16:creationId xmlns:a16="http://schemas.microsoft.com/office/drawing/2014/main" id="{A84577B1-350F-432F-8EBE-922794E40845}"/>
              </a:ext>
            </a:extLst>
          </p:cNvPr>
          <p:cNvSpPr>
            <a:spLocks noGrp="1" noChangeArrowheads="1"/>
          </p:cNvSpPr>
          <p:nvPr>
            <p:ph type="title"/>
          </p:nvPr>
        </p:nvSpPr>
        <p:spPr>
          <a:xfrm>
            <a:off x="457200" y="215372"/>
            <a:ext cx="7620000" cy="1156228"/>
          </a:xfrm>
        </p:spPr>
        <p:txBody>
          <a:bodyPr/>
          <a:lstStyle/>
          <a:p>
            <a:r>
              <a:rPr lang="en-US" altLang="en-US" sz="3600" dirty="0" err="1"/>
              <a:t>Listboxes</a:t>
            </a:r>
            <a:r>
              <a:rPr lang="en-US" altLang="en-US" sz="3600" dirty="0"/>
              <a:t> and Callback Functions</a:t>
            </a:r>
            <a:r>
              <a:rPr lang="en-AU" sz="2000" b="0" dirty="0"/>
              <a:t> (1 of 3)</a:t>
            </a:r>
            <a:endParaRPr lang="en-US" altLang="en-US" sz="2000" dirty="0"/>
          </a:p>
        </p:txBody>
      </p:sp>
      <p:sp>
        <p:nvSpPr>
          <p:cNvPr id="52227" name="Content Placeholder 2">
            <a:extLst>
              <a:ext uri="{FF2B5EF4-FFF2-40B4-BE49-F238E27FC236}">
                <a16:creationId xmlns:a16="http://schemas.microsoft.com/office/drawing/2014/main" id="{F413F41E-AA79-4C07-A109-1ED99630288F}"/>
              </a:ext>
            </a:extLst>
          </p:cNvPr>
          <p:cNvSpPr>
            <a:spLocks noGrp="1" noChangeArrowheads="1"/>
          </p:cNvSpPr>
          <p:nvPr>
            <p:ph idx="1"/>
          </p:nvPr>
        </p:nvSpPr>
        <p:spPr/>
        <p:txBody>
          <a:bodyPr/>
          <a:lstStyle/>
          <a:p>
            <a:pPr>
              <a:buFontTx/>
              <a:buChar char="•"/>
            </a:pPr>
            <a:r>
              <a:rPr lang="en-US" altLang="en-US" dirty="0"/>
              <a:t>You can optionally bind a callback function to a </a:t>
            </a:r>
            <a:r>
              <a:rPr lang="en-US" altLang="en-US" dirty="0" err="1">
                <a:latin typeface="Courier New" panose="02070309020205020404" pitchFamily="49" charset="0"/>
                <a:cs typeface="Courier New" panose="02070309020205020404" pitchFamily="49" charset="0"/>
              </a:rPr>
              <a:t>Listbox</a:t>
            </a:r>
            <a:endParaRPr lang="en-US" altLang="en-US" dirty="0">
              <a:latin typeface="Courier New" panose="02070309020205020404" pitchFamily="49" charset="0"/>
              <a:cs typeface="Courier New" panose="02070309020205020404" pitchFamily="49" charset="0"/>
            </a:endParaRPr>
          </a:p>
          <a:p>
            <a:pPr>
              <a:buFontTx/>
              <a:buChar char="•"/>
            </a:pPr>
            <a:r>
              <a:rPr lang="en-US" altLang="en-US" dirty="0"/>
              <a:t>When the user clicks an item in the </a:t>
            </a:r>
            <a:r>
              <a:rPr lang="en-US" altLang="en-US" dirty="0" err="1">
                <a:latin typeface="Courier New" panose="02070309020205020404" pitchFamily="49" charset="0"/>
                <a:cs typeface="Courier New" panose="02070309020205020404" pitchFamily="49" charset="0"/>
              </a:rPr>
              <a:t>Listbox</a:t>
            </a:r>
            <a:r>
              <a:rPr lang="en-US" altLang="en-US" dirty="0"/>
              <a:t>, the callback function is immediately executed</a:t>
            </a:r>
          </a:p>
          <a:p>
            <a:pPr>
              <a:buFontTx/>
              <a:buChar char="•"/>
            </a:pPr>
            <a:endParaRPr lang="en-US" altLang="en-US" sz="28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a:extLst>
              <a:ext uri="{FF2B5EF4-FFF2-40B4-BE49-F238E27FC236}">
                <a16:creationId xmlns:a16="http://schemas.microsoft.com/office/drawing/2014/main" id="{611B550F-0563-4F52-B53D-0D72BD475F02}"/>
              </a:ext>
            </a:extLst>
          </p:cNvPr>
          <p:cNvSpPr>
            <a:spLocks noGrp="1" noChangeArrowheads="1"/>
          </p:cNvSpPr>
          <p:nvPr>
            <p:ph type="title"/>
          </p:nvPr>
        </p:nvSpPr>
        <p:spPr>
          <a:xfrm>
            <a:off x="457200" y="215372"/>
            <a:ext cx="7581900" cy="1097280"/>
          </a:xfrm>
        </p:spPr>
        <p:txBody>
          <a:bodyPr/>
          <a:lstStyle/>
          <a:p>
            <a:r>
              <a:rPr lang="en-US" altLang="en-US" sz="3600" dirty="0" err="1"/>
              <a:t>Listboxes</a:t>
            </a:r>
            <a:r>
              <a:rPr lang="en-US" altLang="en-US" sz="3600" dirty="0"/>
              <a:t> and Callback Functions</a:t>
            </a:r>
            <a:r>
              <a:rPr lang="en-AU" sz="2000" b="0" dirty="0"/>
              <a:t> (2 of 3)</a:t>
            </a:r>
            <a:endParaRPr lang="en-US" altLang="en-US" sz="2000" dirty="0"/>
          </a:p>
        </p:txBody>
      </p:sp>
      <p:sp>
        <p:nvSpPr>
          <p:cNvPr id="53251" name="Content Placeholder 2">
            <a:extLst>
              <a:ext uri="{FF2B5EF4-FFF2-40B4-BE49-F238E27FC236}">
                <a16:creationId xmlns:a16="http://schemas.microsoft.com/office/drawing/2014/main" id="{4726B9A2-0C23-4C14-AB30-D4968989E590}"/>
              </a:ext>
            </a:extLst>
          </p:cNvPr>
          <p:cNvSpPr>
            <a:spLocks noGrp="1" noChangeArrowheads="1"/>
          </p:cNvSpPr>
          <p:nvPr>
            <p:ph idx="1"/>
          </p:nvPr>
        </p:nvSpPr>
        <p:spPr>
          <a:xfrm>
            <a:off x="457200" y="1600200"/>
            <a:ext cx="8229600" cy="1828800"/>
          </a:xfrm>
        </p:spPr>
        <p:txBody>
          <a:bodyPr/>
          <a:lstStyle/>
          <a:p>
            <a:pPr>
              <a:buFontTx/>
              <a:buChar char="•"/>
            </a:pPr>
            <a:r>
              <a:rPr lang="en-US" altLang="en-US" dirty="0"/>
              <a:t>Example callback function:</a:t>
            </a:r>
          </a:p>
          <a:p>
            <a:pPr lvl="1"/>
            <a:r>
              <a:rPr lang="en-US" altLang="en-US" sz="2400" dirty="0"/>
              <a:t>Assume </a:t>
            </a:r>
            <a:r>
              <a:rPr lang="en-US" altLang="en-US" sz="2400" dirty="0" err="1">
                <a:latin typeface="Courier New" panose="02070309020205020404" pitchFamily="49" charset="0"/>
                <a:cs typeface="Courier New" panose="02070309020205020404" pitchFamily="49" charset="0"/>
              </a:rPr>
              <a:t>listbox</a:t>
            </a:r>
            <a:r>
              <a:rPr lang="en-US" altLang="en-US" sz="2400" dirty="0"/>
              <a:t> is a </a:t>
            </a:r>
            <a:r>
              <a:rPr lang="en-US" altLang="en-US" sz="2400" dirty="0" err="1">
                <a:latin typeface="Courier New" panose="02070309020205020404" pitchFamily="49" charset="0"/>
                <a:cs typeface="Courier New" panose="02070309020205020404" pitchFamily="49" charset="0"/>
              </a:rPr>
              <a:t>Listbox</a:t>
            </a:r>
            <a:r>
              <a:rPr lang="en-US" altLang="en-US" sz="2400" dirty="0"/>
              <a:t> widget</a:t>
            </a:r>
          </a:p>
          <a:p>
            <a:pPr lvl="1"/>
            <a:r>
              <a:rPr lang="en-US" altLang="en-US" sz="2400" dirty="0"/>
              <a:t>You must provide a parameter to accept an event object as an argument</a:t>
            </a:r>
          </a:p>
          <a:p>
            <a:pPr>
              <a:buFontTx/>
              <a:buChar char="•"/>
            </a:pPr>
            <a:endParaRPr lang="en-US" altLang="en-US" sz="2800" dirty="0"/>
          </a:p>
        </p:txBody>
      </p:sp>
      <p:sp>
        <p:nvSpPr>
          <p:cNvPr id="53252" name="Text Box 2">
            <a:extLst>
              <a:ext uri="{FF2B5EF4-FFF2-40B4-BE49-F238E27FC236}">
                <a16:creationId xmlns:a16="http://schemas.microsoft.com/office/drawing/2014/main" id="{C8A6B1D2-9F89-403A-ACEE-2FB92030FD29}"/>
              </a:ext>
            </a:extLst>
          </p:cNvPr>
          <p:cNvSpPr txBox="1">
            <a:spLocks noChangeArrowheads="1"/>
          </p:cNvSpPr>
          <p:nvPr/>
        </p:nvSpPr>
        <p:spPr bwMode="auto">
          <a:xfrm>
            <a:off x="1104900" y="4179888"/>
            <a:ext cx="6934200" cy="10779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600" b="0" dirty="0">
                <a:latin typeface="Courier New" panose="02070309020205020404" pitchFamily="49" charset="0"/>
                <a:ea typeface="Calibri" panose="020F0502020204030204" pitchFamily="34" charset="0"/>
                <a:cs typeface="Times New Roman" panose="02020603050405020304" pitchFamily="18" charset="0"/>
              </a:rPr>
              <a:t>def </a:t>
            </a:r>
            <a:r>
              <a:rPr lang="en-US" altLang="en-US" sz="1600" b="0" dirty="0" err="1">
                <a:latin typeface="Courier New" panose="02070309020205020404" pitchFamily="49" charset="0"/>
                <a:ea typeface="Calibri" panose="020F0502020204030204" pitchFamily="34" charset="0"/>
                <a:cs typeface="Times New Roman" panose="02020603050405020304" pitchFamily="18" charset="0"/>
              </a:rPr>
              <a:t>show_item</a:t>
            </a:r>
            <a:r>
              <a:rPr lang="en-US" altLang="en-US" sz="1600" b="0" dirty="0">
                <a:latin typeface="Courier New" panose="02070309020205020404" pitchFamily="49" charset="0"/>
                <a:ea typeface="Calibri" panose="020F0502020204030204" pitchFamily="34" charset="0"/>
                <a:cs typeface="Times New Roman" panose="02020603050405020304" pitchFamily="18" charset="0"/>
              </a:rPr>
              <a:t>(self, event):</a:t>
            </a:r>
            <a:endParaRPr lang="en-US" altLang="en-US" sz="1600" b="0" dirty="0">
              <a:latin typeface="Calibri" panose="020F0502020204030204" pitchFamily="34" charset="0"/>
              <a:ea typeface="Calibri" panose="020F0502020204030204" pitchFamily="34" charset="0"/>
              <a:cs typeface="Times New Roman" panose="02020603050405020304" pitchFamily="18" charset="0"/>
            </a:endParaRPr>
          </a:p>
          <a:p>
            <a:pPr>
              <a:spcBef>
                <a:spcPct val="0"/>
              </a:spcBef>
              <a:buFontTx/>
              <a:buNone/>
            </a:pPr>
            <a:r>
              <a:rPr lang="en-US" altLang="en-US" sz="1600" b="0" dirty="0">
                <a:latin typeface="Courier New" panose="02070309020205020404" pitchFamily="49" charset="0"/>
                <a:ea typeface="Calibri" panose="020F0502020204030204" pitchFamily="34" charset="0"/>
                <a:cs typeface="Times New Roman" panose="02020603050405020304" pitchFamily="18" charset="0"/>
              </a:rPr>
              <a:t>    index = </a:t>
            </a:r>
            <a:r>
              <a:rPr lang="en-US" altLang="en-US" sz="1600" b="0" dirty="0" err="1">
                <a:latin typeface="Courier New" panose="02070309020205020404" pitchFamily="49" charset="0"/>
                <a:ea typeface="Calibri" panose="020F0502020204030204" pitchFamily="34" charset="0"/>
                <a:cs typeface="Times New Roman" panose="02020603050405020304" pitchFamily="18" charset="0"/>
              </a:rPr>
              <a:t>self.listbox.curselection</a:t>
            </a:r>
            <a:r>
              <a:rPr lang="en-US" altLang="en-US" sz="1600" b="0" dirty="0">
                <a:latin typeface="Courier New" panose="02070309020205020404" pitchFamily="49" charset="0"/>
                <a:ea typeface="Calibri" panose="020F0502020204030204" pitchFamily="34" charset="0"/>
                <a:cs typeface="Times New Roman" panose="02020603050405020304" pitchFamily="18" charset="0"/>
              </a:rPr>
              <a:t>()</a:t>
            </a:r>
            <a:endParaRPr lang="en-US" altLang="en-US" sz="1600" b="0" dirty="0">
              <a:latin typeface="Calibri" panose="020F0502020204030204" pitchFamily="34" charset="0"/>
              <a:ea typeface="Calibri" panose="020F0502020204030204" pitchFamily="34" charset="0"/>
              <a:cs typeface="Times New Roman" panose="02020603050405020304" pitchFamily="18" charset="0"/>
            </a:endParaRPr>
          </a:p>
          <a:p>
            <a:pPr>
              <a:spcBef>
                <a:spcPct val="0"/>
              </a:spcBef>
              <a:buFontTx/>
              <a:buNone/>
            </a:pPr>
            <a:r>
              <a:rPr lang="en-US" altLang="en-US" sz="1600" b="0" dirty="0">
                <a:latin typeface="Courier New" panose="02070309020205020404" pitchFamily="49" charset="0"/>
                <a:ea typeface="Calibri" panose="020F0502020204030204" pitchFamily="34" charset="0"/>
                <a:cs typeface="Times New Roman" panose="02020603050405020304" pitchFamily="18" charset="0"/>
              </a:rPr>
              <a:t>    item = </a:t>
            </a:r>
            <a:r>
              <a:rPr lang="en-US" altLang="en-US" sz="1600" b="0" dirty="0" err="1">
                <a:latin typeface="Courier New" panose="02070309020205020404" pitchFamily="49" charset="0"/>
                <a:ea typeface="Calibri" panose="020F0502020204030204" pitchFamily="34" charset="0"/>
                <a:cs typeface="Times New Roman" panose="02020603050405020304" pitchFamily="18" charset="0"/>
              </a:rPr>
              <a:t>self.listbox.get</a:t>
            </a:r>
            <a:r>
              <a:rPr lang="en-US" altLang="en-US" sz="1600" b="0" dirty="0">
                <a:latin typeface="Courier New" panose="02070309020205020404" pitchFamily="49" charset="0"/>
                <a:ea typeface="Calibri" panose="020F0502020204030204" pitchFamily="34" charset="0"/>
                <a:cs typeface="Times New Roman" panose="02020603050405020304" pitchFamily="18" charset="0"/>
              </a:rPr>
              <a:t>(index)</a:t>
            </a:r>
            <a:endParaRPr lang="en-US" altLang="en-US" sz="1600" b="0" dirty="0">
              <a:latin typeface="Calibri" panose="020F0502020204030204" pitchFamily="34" charset="0"/>
              <a:ea typeface="Calibri" panose="020F0502020204030204" pitchFamily="34" charset="0"/>
              <a:cs typeface="Times New Roman" panose="02020603050405020304" pitchFamily="18" charset="0"/>
            </a:endParaRPr>
          </a:p>
          <a:p>
            <a:pPr>
              <a:spcBef>
                <a:spcPct val="0"/>
              </a:spcBef>
              <a:buFontTx/>
              <a:buNone/>
            </a:pPr>
            <a:r>
              <a:rPr lang="en-US" altLang="en-US" sz="1600" b="0" dirty="0">
                <a:latin typeface="Courier New" panose="02070309020205020404" pitchFamily="49" charset="0"/>
                <a:ea typeface="Calibri" panose="020F0502020204030204" pitchFamily="34" charset="0"/>
                <a:cs typeface="Times New Roman" panose="02020603050405020304" pitchFamily="18" charset="0"/>
              </a:rPr>
              <a:t>    </a:t>
            </a:r>
            <a:r>
              <a:rPr lang="en-US" altLang="en-US" sz="1600" b="0" dirty="0" err="1">
                <a:latin typeface="Courier New" panose="02070309020205020404" pitchFamily="49" charset="0"/>
                <a:ea typeface="Calibri" panose="020F0502020204030204" pitchFamily="34" charset="0"/>
                <a:cs typeface="Times New Roman" panose="02020603050405020304" pitchFamily="18" charset="0"/>
              </a:rPr>
              <a:t>tkinter.messagebox.showinfo</a:t>
            </a:r>
            <a:r>
              <a:rPr lang="en-US" altLang="en-US" sz="1600" b="0" dirty="0">
                <a:latin typeface="Courier New" panose="02070309020205020404" pitchFamily="49" charset="0"/>
                <a:ea typeface="Calibri" panose="020F0502020204030204" pitchFamily="34" charset="0"/>
                <a:cs typeface="Times New Roman" panose="02020603050405020304" pitchFamily="18" charset="0"/>
              </a:rPr>
              <a:t>('Selected Item', item)</a:t>
            </a:r>
            <a:endParaRPr lang="en-US" altLang="en-US" sz="1600" b="0" dirty="0">
              <a:latin typeface="Calibri" panose="020F0502020204030204" pitchFamily="34" charset="0"/>
              <a:ea typeface="Calibri" panose="020F0502020204030204" pitchFamily="34" charset="0"/>
              <a:cs typeface="Times New Roman" panose="02020603050405020304" pitchFamily="18" charset="0"/>
            </a:endParaRPr>
          </a:p>
        </p:txBody>
      </p:sp>
      <p:cxnSp>
        <p:nvCxnSpPr>
          <p:cNvPr id="53253" name="Straight Arrow Connector 5">
            <a:extLst>
              <a:ext uri="{FF2B5EF4-FFF2-40B4-BE49-F238E27FC236}">
                <a16:creationId xmlns:a16="http://schemas.microsoft.com/office/drawing/2014/main" id="{DC6C6FE6-F00B-45BD-832A-EB10B8068483}"/>
              </a:ext>
            </a:extLst>
          </p:cNvPr>
          <p:cNvCxnSpPr>
            <a:cxnSpLocks/>
          </p:cNvCxnSpPr>
          <p:nvPr/>
        </p:nvCxnSpPr>
        <p:spPr bwMode="auto">
          <a:xfrm>
            <a:off x="3657600" y="3352800"/>
            <a:ext cx="304800" cy="914400"/>
          </a:xfrm>
          <a:prstGeom prst="straightConnector1">
            <a:avLst/>
          </a:prstGeom>
          <a:noFill/>
          <a:ln w="19050" algn="ctr">
            <a:solidFill>
              <a:srgbClr val="007FA3"/>
            </a:solidFill>
            <a:round/>
            <a:headEnd/>
            <a:tailEnd type="triangle" w="med" len="med"/>
          </a:ln>
          <a:extLst>
            <a:ext uri="{909E8E84-426E-40DD-AFC4-6F175D3DCCD1}">
              <a14:hiddenFill xmlns:a14="http://schemas.microsoft.com/office/drawing/2010/main">
                <a:noFill/>
              </a14:hiddenFill>
            </a:ext>
          </a:extLst>
        </p:spPr>
      </p:cxn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a:extLst>
              <a:ext uri="{FF2B5EF4-FFF2-40B4-BE49-F238E27FC236}">
                <a16:creationId xmlns:a16="http://schemas.microsoft.com/office/drawing/2014/main" id="{3E2866AC-1D87-4E17-93DF-419F11143F6D}"/>
              </a:ext>
            </a:extLst>
          </p:cNvPr>
          <p:cNvSpPr>
            <a:spLocks noGrp="1" noChangeArrowheads="1"/>
          </p:cNvSpPr>
          <p:nvPr>
            <p:ph type="title"/>
          </p:nvPr>
        </p:nvSpPr>
        <p:spPr>
          <a:xfrm>
            <a:off x="457200" y="215372"/>
            <a:ext cx="7620000" cy="1097280"/>
          </a:xfrm>
        </p:spPr>
        <p:txBody>
          <a:bodyPr/>
          <a:lstStyle/>
          <a:p>
            <a:r>
              <a:rPr lang="en-US" altLang="en-US" sz="3600" dirty="0" err="1"/>
              <a:t>Listboxes</a:t>
            </a:r>
            <a:r>
              <a:rPr lang="en-US" altLang="en-US" sz="3600" dirty="0"/>
              <a:t> and Callback Functions</a:t>
            </a:r>
            <a:r>
              <a:rPr lang="en-AU" sz="2000" b="0" dirty="0"/>
              <a:t> (3 of 3)</a:t>
            </a:r>
            <a:endParaRPr lang="en-US" altLang="en-US" sz="2000" dirty="0"/>
          </a:p>
        </p:txBody>
      </p:sp>
      <p:sp>
        <p:nvSpPr>
          <p:cNvPr id="54275" name="Content Placeholder 2">
            <a:extLst>
              <a:ext uri="{FF2B5EF4-FFF2-40B4-BE49-F238E27FC236}">
                <a16:creationId xmlns:a16="http://schemas.microsoft.com/office/drawing/2014/main" id="{C789A1AF-D0DB-4F07-A9BE-AE8930144BFD}"/>
              </a:ext>
            </a:extLst>
          </p:cNvPr>
          <p:cNvSpPr>
            <a:spLocks noGrp="1" noChangeArrowheads="1"/>
          </p:cNvSpPr>
          <p:nvPr>
            <p:ph idx="1"/>
          </p:nvPr>
        </p:nvSpPr>
        <p:spPr>
          <a:xfrm>
            <a:off x="457200" y="1600200"/>
            <a:ext cx="8229600" cy="3581400"/>
          </a:xfrm>
        </p:spPr>
        <p:txBody>
          <a:bodyPr/>
          <a:lstStyle/>
          <a:p>
            <a:pPr>
              <a:buFontTx/>
              <a:buChar char="•"/>
            </a:pPr>
            <a:r>
              <a:rPr lang="en-US" altLang="en-US" dirty="0"/>
              <a:t>To bind the </a:t>
            </a:r>
            <a:r>
              <a:rPr lang="en-US" altLang="en-US" dirty="0" err="1">
                <a:latin typeface="Courier New" panose="02070309020205020404" pitchFamily="49" charset="0"/>
              </a:rPr>
              <a:t>show_item</a:t>
            </a:r>
            <a:r>
              <a:rPr lang="en-US" altLang="en-US" dirty="0"/>
              <a:t> function to the </a:t>
            </a:r>
            <a:r>
              <a:rPr lang="en-US" altLang="en-US" dirty="0" err="1">
                <a:latin typeface="Courier New" panose="02070309020205020404" pitchFamily="49" charset="0"/>
              </a:rPr>
              <a:t>listbox</a:t>
            </a:r>
            <a:r>
              <a:rPr lang="en-US" altLang="en-US" dirty="0"/>
              <a:t> widget:</a:t>
            </a:r>
            <a:br>
              <a:rPr lang="en-US" altLang="en-US" sz="2800" dirty="0"/>
            </a:br>
            <a:br>
              <a:rPr lang="en-US" altLang="en-US" sz="2800" dirty="0"/>
            </a:br>
            <a:endParaRPr lang="en-US" altLang="en-US" sz="2800" dirty="0"/>
          </a:p>
          <a:p>
            <a:pPr>
              <a:buFontTx/>
              <a:buChar char="•"/>
            </a:pPr>
            <a:r>
              <a:rPr lang="en-US" altLang="en-US" dirty="0"/>
              <a:t>Once done, the </a:t>
            </a:r>
            <a:r>
              <a:rPr lang="en-US" altLang="en-US" dirty="0" err="1">
                <a:latin typeface="Courier New" panose="02070309020205020404" pitchFamily="49" charset="0"/>
              </a:rPr>
              <a:t>show_item</a:t>
            </a:r>
            <a:r>
              <a:rPr lang="en-US" altLang="en-US" dirty="0"/>
              <a:t> function will execute whenever the user clicks an item in the </a:t>
            </a:r>
            <a:r>
              <a:rPr lang="en-US" altLang="en-US" dirty="0" err="1">
                <a:latin typeface="Courier New" panose="02070309020205020404" pitchFamily="49" charset="0"/>
              </a:rPr>
              <a:t>listbox</a:t>
            </a:r>
            <a:r>
              <a:rPr lang="en-US" altLang="en-US" dirty="0"/>
              <a:t> widget</a:t>
            </a:r>
          </a:p>
        </p:txBody>
      </p:sp>
      <p:sp>
        <p:nvSpPr>
          <p:cNvPr id="54276" name="Text Box 2">
            <a:extLst>
              <a:ext uri="{FF2B5EF4-FFF2-40B4-BE49-F238E27FC236}">
                <a16:creationId xmlns:a16="http://schemas.microsoft.com/office/drawing/2014/main" id="{6577C141-8B43-4F6A-9E31-F4B78351D3BB}"/>
              </a:ext>
            </a:extLst>
          </p:cNvPr>
          <p:cNvSpPr txBox="1">
            <a:spLocks noChangeArrowheads="1"/>
          </p:cNvSpPr>
          <p:nvPr/>
        </p:nvSpPr>
        <p:spPr bwMode="auto">
          <a:xfrm>
            <a:off x="914400" y="2743200"/>
            <a:ext cx="6934200" cy="3381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600" b="0" dirty="0" err="1">
                <a:latin typeface="Courier New" panose="02070309020205020404" pitchFamily="49" charset="0"/>
                <a:ea typeface="Calibri" panose="020F0502020204030204" pitchFamily="34" charset="0"/>
                <a:cs typeface="Times New Roman" panose="02020603050405020304" pitchFamily="18" charset="0"/>
              </a:rPr>
              <a:t>self.listbox.bind</a:t>
            </a:r>
            <a:r>
              <a:rPr lang="en-US" altLang="en-US" sz="1600" b="0" dirty="0">
                <a:latin typeface="Courier New" panose="02070309020205020404" pitchFamily="49" charset="0"/>
                <a:ea typeface="Calibri" panose="020F0502020204030204" pitchFamily="34" charset="0"/>
                <a:cs typeface="Times New Roman" panose="02020603050405020304" pitchFamily="18" charset="0"/>
              </a:rPr>
              <a:t>('&lt;&lt;</a:t>
            </a:r>
            <a:r>
              <a:rPr lang="en-US" altLang="en-US" sz="1600" b="0" dirty="0" err="1">
                <a:latin typeface="Courier New" panose="02070309020205020404" pitchFamily="49" charset="0"/>
                <a:ea typeface="Calibri" panose="020F0502020204030204" pitchFamily="34" charset="0"/>
                <a:cs typeface="Times New Roman" panose="02020603050405020304" pitchFamily="18" charset="0"/>
              </a:rPr>
              <a:t>ListboxSelect</a:t>
            </a:r>
            <a:r>
              <a:rPr lang="en-US" altLang="en-US" sz="1600" b="0" dirty="0">
                <a:latin typeface="Courier New" panose="02070309020205020404" pitchFamily="49" charset="0"/>
                <a:ea typeface="Calibri" panose="020F0502020204030204" pitchFamily="34" charset="0"/>
                <a:cs typeface="Times New Roman" panose="02020603050405020304" pitchFamily="18" charset="0"/>
              </a:rPr>
              <a:t>&gt;&gt;', </a:t>
            </a:r>
            <a:r>
              <a:rPr lang="en-US" altLang="en-US" sz="1600" b="0" dirty="0" err="1">
                <a:latin typeface="Courier New" panose="02070309020205020404" pitchFamily="49" charset="0"/>
                <a:ea typeface="Calibri" panose="020F0502020204030204" pitchFamily="34" charset="0"/>
                <a:cs typeface="Times New Roman" panose="02020603050405020304" pitchFamily="18" charset="0"/>
              </a:rPr>
              <a:t>self.show_item</a:t>
            </a:r>
            <a:r>
              <a:rPr lang="en-US" altLang="en-US" sz="1600" b="0" dirty="0">
                <a:latin typeface="Courier New" panose="02070309020205020404" pitchFamily="49" charset="0"/>
                <a:ea typeface="Calibri" panose="020F0502020204030204" pitchFamily="34" charset="0"/>
                <a:cs typeface="Times New Roman" panose="02020603050405020304" pitchFamily="18" charset="0"/>
              </a:rPr>
              <a:t>)</a:t>
            </a:r>
            <a:endParaRPr lang="en-US" altLang="en-US" sz="1600" b="0" dirty="0">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a:extLst>
              <a:ext uri="{FF2B5EF4-FFF2-40B4-BE49-F238E27FC236}">
                <a16:creationId xmlns:a16="http://schemas.microsoft.com/office/drawing/2014/main" id="{3084387B-473F-4C66-A887-502A202DABBF}"/>
              </a:ext>
            </a:extLst>
          </p:cNvPr>
          <p:cNvSpPr>
            <a:spLocks noGrp="1" noChangeArrowheads="1"/>
          </p:cNvSpPr>
          <p:nvPr>
            <p:ph type="title"/>
          </p:nvPr>
        </p:nvSpPr>
        <p:spPr/>
        <p:txBody>
          <a:bodyPr/>
          <a:lstStyle/>
          <a:p>
            <a:r>
              <a:rPr lang="en-US" altLang="en-US" sz="3200" dirty="0"/>
              <a:t>Adding a Vertical Scrollbar to a </a:t>
            </a:r>
            <a:r>
              <a:rPr lang="en-US" altLang="en-US" sz="3200" dirty="0" err="1">
                <a:latin typeface="Courier New" panose="02070309020205020404" pitchFamily="49" charset="0"/>
                <a:cs typeface="Courier New" panose="02070309020205020404" pitchFamily="49" charset="0"/>
              </a:rPr>
              <a:t>Listbox</a:t>
            </a:r>
            <a:endParaRPr lang="en-US" altLang="en-US" sz="3200" dirty="0">
              <a:latin typeface="Courier New" panose="02070309020205020404" pitchFamily="49" charset="0"/>
              <a:cs typeface="Courier New" panose="02070309020205020404" pitchFamily="49" charset="0"/>
            </a:endParaRPr>
          </a:p>
        </p:txBody>
      </p:sp>
      <p:sp>
        <p:nvSpPr>
          <p:cNvPr id="55299" name="Content Placeholder 2">
            <a:extLst>
              <a:ext uri="{FF2B5EF4-FFF2-40B4-BE49-F238E27FC236}">
                <a16:creationId xmlns:a16="http://schemas.microsoft.com/office/drawing/2014/main" id="{FF3E15AE-EB23-42C5-8E6A-2869381C87DB}"/>
              </a:ext>
            </a:extLst>
          </p:cNvPr>
          <p:cNvSpPr>
            <a:spLocks noGrp="1" noChangeArrowheads="1"/>
          </p:cNvSpPr>
          <p:nvPr>
            <p:ph idx="1"/>
          </p:nvPr>
        </p:nvSpPr>
        <p:spPr/>
        <p:txBody>
          <a:bodyPr/>
          <a:lstStyle/>
          <a:p>
            <a:pPr marL="514350" indent="-514350">
              <a:spcBef>
                <a:spcPts val="600"/>
              </a:spcBef>
              <a:buFontTx/>
              <a:buAutoNum type="arabicPeriod"/>
            </a:pPr>
            <a:r>
              <a:rPr lang="en-US" altLang="en-US" sz="2400" dirty="0"/>
              <a:t>Create a frame to hold the </a:t>
            </a:r>
            <a:r>
              <a:rPr lang="en-US" altLang="en-US" sz="2400" dirty="0" err="1">
                <a:latin typeface="Courier New" panose="02070309020205020404" pitchFamily="49" charset="0"/>
              </a:rPr>
              <a:t>Listbox</a:t>
            </a:r>
            <a:r>
              <a:rPr lang="en-US" altLang="en-US" sz="2400" dirty="0"/>
              <a:t> and the scrollbar</a:t>
            </a:r>
          </a:p>
          <a:p>
            <a:pPr marL="514350" indent="-514350">
              <a:spcBef>
                <a:spcPts val="600"/>
              </a:spcBef>
              <a:buFontTx/>
              <a:buAutoNum type="arabicPeriod"/>
            </a:pPr>
            <a:r>
              <a:rPr lang="en-US" altLang="en-US" sz="2400" dirty="0"/>
              <a:t>Pack the frame</a:t>
            </a:r>
          </a:p>
          <a:p>
            <a:pPr marL="514350" indent="-514350">
              <a:spcBef>
                <a:spcPts val="600"/>
              </a:spcBef>
              <a:buFontTx/>
              <a:buAutoNum type="arabicPeriod"/>
            </a:pPr>
            <a:r>
              <a:rPr lang="en-US" altLang="en-US" sz="2400" dirty="0"/>
              <a:t>Create a </a:t>
            </a:r>
            <a:r>
              <a:rPr lang="en-US" altLang="en-US" sz="2400" dirty="0" err="1">
                <a:latin typeface="Courier New" panose="02070309020205020404" pitchFamily="49" charset="0"/>
                <a:cs typeface="Courier New" panose="02070309020205020404" pitchFamily="49" charset="0"/>
              </a:rPr>
              <a:t>Listbox</a:t>
            </a:r>
            <a:r>
              <a:rPr lang="en-US" altLang="en-US" sz="2400" dirty="0">
                <a:latin typeface="Courier New" panose="02070309020205020404" pitchFamily="49" charset="0"/>
                <a:cs typeface="Courier New" panose="02070309020205020404" pitchFamily="49" charset="0"/>
              </a:rPr>
              <a:t> </a:t>
            </a:r>
            <a:r>
              <a:rPr lang="en-US" altLang="en-US" sz="2400" dirty="0"/>
              <a:t>inside the frame</a:t>
            </a:r>
          </a:p>
          <a:p>
            <a:pPr marL="514350" indent="-514350">
              <a:spcBef>
                <a:spcPts val="600"/>
              </a:spcBef>
              <a:buFontTx/>
              <a:buAutoNum type="arabicPeriod"/>
            </a:pPr>
            <a:r>
              <a:rPr lang="en-US" altLang="en-US" sz="2400" dirty="0"/>
              <a:t>Pack the </a:t>
            </a:r>
            <a:r>
              <a:rPr lang="en-US" altLang="en-US" sz="2400" dirty="0" err="1">
                <a:latin typeface="Courier New" panose="02070309020205020404" pitchFamily="49" charset="0"/>
                <a:cs typeface="Courier New" panose="02070309020205020404" pitchFamily="49" charset="0"/>
              </a:rPr>
              <a:t>Listbox</a:t>
            </a:r>
            <a:r>
              <a:rPr lang="en-US" altLang="en-US" sz="2400" dirty="0"/>
              <a:t> to the left side of the frame</a:t>
            </a:r>
          </a:p>
          <a:p>
            <a:pPr marL="514350" indent="-514350">
              <a:spcBef>
                <a:spcPts val="600"/>
              </a:spcBef>
              <a:buFontTx/>
              <a:buAutoNum type="arabicPeriod"/>
            </a:pPr>
            <a:r>
              <a:rPr lang="en-US" altLang="en-US" sz="2400" dirty="0"/>
              <a:t>Create the vertical scrollbar inside the frame</a:t>
            </a:r>
          </a:p>
          <a:p>
            <a:pPr marL="514350" indent="-514350">
              <a:spcBef>
                <a:spcPts val="600"/>
              </a:spcBef>
              <a:buFontTx/>
              <a:buAutoNum type="arabicPeriod"/>
            </a:pPr>
            <a:r>
              <a:rPr lang="en-US" altLang="en-US" sz="2400" dirty="0"/>
              <a:t>Pack the scrollbar to the right side of the frame</a:t>
            </a:r>
          </a:p>
          <a:p>
            <a:pPr marL="514350" indent="-514350">
              <a:spcBef>
                <a:spcPts val="600"/>
              </a:spcBef>
              <a:buFontTx/>
              <a:buAutoNum type="arabicPeriod"/>
            </a:pPr>
            <a:r>
              <a:rPr lang="en-US" altLang="en-US" sz="2400" dirty="0"/>
              <a:t>Configure the scrollbar to call the </a:t>
            </a:r>
            <a:r>
              <a:rPr lang="en-US" altLang="en-US" sz="2400" dirty="0" err="1">
                <a:latin typeface="Courier New" panose="02070309020205020404" pitchFamily="49" charset="0"/>
                <a:cs typeface="Courier New" panose="02070309020205020404" pitchFamily="49" charset="0"/>
              </a:rPr>
              <a:t>Listbox's</a:t>
            </a:r>
            <a:r>
              <a:rPr lang="en-US" altLang="en-US" sz="2400" dirty="0">
                <a:latin typeface="Courier New" panose="02070309020205020404" pitchFamily="49" charset="0"/>
                <a:cs typeface="Courier New" panose="02070309020205020404" pitchFamily="49" charset="0"/>
              </a:rPr>
              <a:t> </a:t>
            </a:r>
            <a:r>
              <a:rPr lang="en-US" altLang="en-US" sz="2400" dirty="0" err="1">
                <a:latin typeface="Courier New" panose="02070309020205020404" pitchFamily="49" charset="0"/>
                <a:cs typeface="Courier New" panose="02070309020205020404" pitchFamily="49" charset="0"/>
              </a:rPr>
              <a:t>yview</a:t>
            </a:r>
            <a:r>
              <a:rPr lang="en-US" altLang="en-US" sz="2400" dirty="0">
                <a:latin typeface="Courier New" panose="02070309020205020404" pitchFamily="49" charset="0"/>
                <a:cs typeface="Courier New" panose="02070309020205020404" pitchFamily="49" charset="0"/>
              </a:rPr>
              <a:t> </a:t>
            </a:r>
            <a:r>
              <a:rPr lang="en-US" altLang="en-US" sz="2400" dirty="0"/>
              <a:t>method when the slider knob is moved</a:t>
            </a:r>
          </a:p>
          <a:p>
            <a:pPr marL="514350" indent="-514350">
              <a:spcBef>
                <a:spcPts val="600"/>
              </a:spcBef>
              <a:buFontTx/>
              <a:buAutoNum type="arabicPeriod"/>
            </a:pPr>
            <a:r>
              <a:rPr lang="en-US" altLang="en-US" sz="2400" dirty="0"/>
              <a:t>Configure the </a:t>
            </a:r>
            <a:r>
              <a:rPr lang="en-US" altLang="en-US" sz="2400" dirty="0" err="1">
                <a:latin typeface="Courier New" panose="02070309020205020404" pitchFamily="49" charset="0"/>
                <a:cs typeface="Courier New" panose="02070309020205020404" pitchFamily="49" charset="0"/>
              </a:rPr>
              <a:t>Listbox</a:t>
            </a:r>
            <a:r>
              <a:rPr lang="en-US" altLang="en-US" sz="2400" dirty="0"/>
              <a:t> to call the scrollbar's </a:t>
            </a:r>
            <a:r>
              <a:rPr lang="en-US" altLang="en-US" sz="2400" dirty="0">
                <a:latin typeface="Courier New" panose="02070309020205020404" pitchFamily="49" charset="0"/>
              </a:rPr>
              <a:t>set</a:t>
            </a:r>
            <a:r>
              <a:rPr lang="en-US" altLang="en-US" sz="2400" dirty="0"/>
              <a:t> method any time the </a:t>
            </a:r>
            <a:r>
              <a:rPr lang="en-US" altLang="en-US" sz="2400" dirty="0" err="1">
                <a:latin typeface="Courier New" panose="02070309020205020404" pitchFamily="49" charset="0"/>
                <a:cs typeface="Courier New" panose="02070309020205020404" pitchFamily="49" charset="0"/>
              </a:rPr>
              <a:t>Listbox</a:t>
            </a:r>
            <a:r>
              <a:rPr lang="en-US" altLang="en-US" sz="2400" dirty="0"/>
              <a:t> is updated</a:t>
            </a:r>
          </a:p>
          <a:p>
            <a:pPr marL="514350" indent="-514350">
              <a:buFontTx/>
              <a:buAutoNum type="arabicPeriod"/>
            </a:pPr>
            <a:endParaRPr lang="en-US" altLang="en-US" sz="24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a:extLst>
              <a:ext uri="{FF2B5EF4-FFF2-40B4-BE49-F238E27FC236}">
                <a16:creationId xmlns:a16="http://schemas.microsoft.com/office/drawing/2014/main" id="{75B82328-342D-4F9E-A50E-1228C50C06D4}"/>
              </a:ext>
            </a:extLst>
          </p:cNvPr>
          <p:cNvSpPr>
            <a:spLocks noGrp="1" noChangeArrowheads="1"/>
          </p:cNvSpPr>
          <p:nvPr>
            <p:ph type="title"/>
          </p:nvPr>
        </p:nvSpPr>
        <p:spPr/>
        <p:txBody>
          <a:bodyPr/>
          <a:lstStyle/>
          <a:p>
            <a:r>
              <a:rPr lang="en-US" altLang="en-US" dirty="0"/>
              <a:t>Example</a:t>
            </a:r>
            <a:r>
              <a:rPr lang="en-AU" sz="2000" b="0" dirty="0"/>
              <a:t> (1 of 4)</a:t>
            </a:r>
            <a:endParaRPr lang="en-US" altLang="en-US" sz="2000" dirty="0"/>
          </a:p>
        </p:txBody>
      </p:sp>
      <p:sp>
        <p:nvSpPr>
          <p:cNvPr id="56323" name="Text Box 2">
            <a:extLst>
              <a:ext uri="{FF2B5EF4-FFF2-40B4-BE49-F238E27FC236}">
                <a16:creationId xmlns:a16="http://schemas.microsoft.com/office/drawing/2014/main" id="{216F032B-E246-4498-9653-D05ACEB06C23}"/>
              </a:ext>
            </a:extLst>
          </p:cNvPr>
          <p:cNvSpPr txBox="1">
            <a:spLocks noChangeArrowheads="1"/>
          </p:cNvSpPr>
          <p:nvPr/>
        </p:nvSpPr>
        <p:spPr bwMode="auto">
          <a:xfrm>
            <a:off x="1066800" y="1447800"/>
            <a:ext cx="6553200" cy="44005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Create the main window.</a:t>
            </a:r>
            <a:endParaRPr lang="en-US" altLang="en-US" sz="1400" b="0" dirty="0">
              <a:latin typeface="Calibri" panose="020F0502020204030204" pitchFamily="34" charset="0"/>
              <a:ea typeface="Calibri" panose="020F0502020204030204" pitchFamily="34" charset="0"/>
              <a:cs typeface="Times New Roman" panose="02020603050405020304" pitchFamily="18" charset="0"/>
            </a:endParaRPr>
          </a:p>
          <a:p>
            <a:pPr>
              <a:spcBef>
                <a:spcPct val="0"/>
              </a:spcBef>
              <a:buFontTx/>
              <a:buNone/>
            </a:pP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self.main_window</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 </a:t>
            </a: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tkinter.Tk</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endParaRPr lang="en-US" altLang="en-US" sz="1400" b="0" dirty="0">
              <a:latin typeface="Calibri" panose="020F0502020204030204" pitchFamily="34" charset="0"/>
              <a:ea typeface="Calibri" panose="020F0502020204030204" pitchFamily="34" charset="0"/>
              <a:cs typeface="Times New Roman" panose="02020603050405020304" pitchFamily="18" charset="0"/>
            </a:endParaRPr>
          </a:p>
          <a:p>
            <a:pPr>
              <a:spcBef>
                <a:spcPct val="0"/>
              </a:spcBef>
              <a:buFontTx/>
              <a:buNone/>
            </a:pPr>
            <a:r>
              <a:rPr lang="en-US" altLang="en-US" sz="1400" b="0" dirty="0">
                <a:latin typeface="Calibri" panose="020F0502020204030204" pitchFamily="34" charset="0"/>
                <a:ea typeface="Calibri" panose="020F0502020204030204" pitchFamily="34" charset="0"/>
                <a:cs typeface="Times New Roman" panose="02020603050405020304" pitchFamily="18" charset="0"/>
              </a:rPr>
              <a:t> </a:t>
            </a:r>
          </a:p>
          <a:p>
            <a:pPr>
              <a:spcBef>
                <a:spcPct val="0"/>
              </a:spcBef>
              <a:buFontTx/>
              <a:buNone/>
            </a:pP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Create a frame for the </a:t>
            </a: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Listbox</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and vertical scrollbar.</a:t>
            </a:r>
            <a:endParaRPr lang="en-US" altLang="en-US" sz="1400" b="0" dirty="0">
              <a:latin typeface="Calibri" panose="020F0502020204030204" pitchFamily="34" charset="0"/>
              <a:ea typeface="Calibri" panose="020F0502020204030204" pitchFamily="34" charset="0"/>
              <a:cs typeface="Times New Roman" panose="02020603050405020304" pitchFamily="18" charset="0"/>
            </a:endParaRPr>
          </a:p>
          <a:p>
            <a:pPr>
              <a:spcBef>
                <a:spcPct val="0"/>
              </a:spcBef>
              <a:buFontTx/>
              <a:buNone/>
            </a:pP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self.listbox_frame</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 </a:t>
            </a: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tkinter.Frame</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self.main_window</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endParaRPr lang="en-US" altLang="en-US" sz="1400" b="0" dirty="0">
              <a:latin typeface="Calibri" panose="020F0502020204030204" pitchFamily="34" charset="0"/>
              <a:ea typeface="Calibri" panose="020F0502020204030204" pitchFamily="34" charset="0"/>
              <a:cs typeface="Times New Roman" panose="02020603050405020304" pitchFamily="18" charset="0"/>
            </a:endParaRPr>
          </a:p>
          <a:p>
            <a:pPr>
              <a:spcBef>
                <a:spcPct val="0"/>
              </a:spcBef>
              <a:buFontTx/>
              <a:buNone/>
            </a:pP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self.listbox_frame.pack</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padx</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=20, </a:t>
            </a: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pady</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=20)</a:t>
            </a:r>
            <a:endParaRPr lang="en-US" altLang="en-US" sz="1400" b="0" dirty="0">
              <a:latin typeface="Calibri" panose="020F0502020204030204" pitchFamily="34" charset="0"/>
              <a:ea typeface="Calibri" panose="020F0502020204030204" pitchFamily="34" charset="0"/>
              <a:cs typeface="Times New Roman" panose="02020603050405020304" pitchFamily="18" charset="0"/>
            </a:endParaRPr>
          </a:p>
          <a:p>
            <a:pPr>
              <a:spcBef>
                <a:spcPct val="0"/>
              </a:spcBef>
              <a:buFontTx/>
              <a:buNone/>
            </a:pPr>
            <a:r>
              <a:rPr lang="en-US" altLang="en-US" sz="1400" b="0" dirty="0">
                <a:latin typeface="Calibri" panose="020F0502020204030204" pitchFamily="34" charset="0"/>
                <a:ea typeface="Calibri" panose="020F0502020204030204" pitchFamily="34" charset="0"/>
                <a:cs typeface="Times New Roman" panose="02020603050405020304" pitchFamily="18" charset="0"/>
              </a:rPr>
              <a:t> </a:t>
            </a:r>
          </a:p>
          <a:p>
            <a:pPr>
              <a:spcBef>
                <a:spcPct val="0"/>
              </a:spcBef>
              <a:buFontTx/>
              <a:buNone/>
            </a:pP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Create a </a:t>
            </a: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Listbox</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widget in the </a:t>
            </a: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listbox_frame</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endParaRPr lang="en-US" altLang="en-US" sz="1400" b="0" dirty="0">
              <a:latin typeface="Calibri" panose="020F0502020204030204" pitchFamily="34" charset="0"/>
              <a:ea typeface="Calibri" panose="020F0502020204030204" pitchFamily="34" charset="0"/>
              <a:cs typeface="Times New Roman" panose="02020603050405020304" pitchFamily="18" charset="0"/>
            </a:endParaRPr>
          </a:p>
          <a:p>
            <a:pPr>
              <a:spcBef>
                <a:spcPct val="0"/>
              </a:spcBef>
              <a:buFontTx/>
              <a:buNone/>
            </a:pP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self.listbox</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 </a:t>
            </a: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tkinter.Listbox</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endParaRPr lang="en-US" altLang="en-US" sz="1400" b="0" dirty="0">
              <a:latin typeface="Calibri" panose="020F0502020204030204" pitchFamily="34" charset="0"/>
              <a:ea typeface="Calibri" panose="020F0502020204030204" pitchFamily="34" charset="0"/>
              <a:cs typeface="Times New Roman" panose="02020603050405020304" pitchFamily="18" charset="0"/>
            </a:endParaRPr>
          </a:p>
          <a:p>
            <a:pPr>
              <a:spcBef>
                <a:spcPct val="0"/>
              </a:spcBef>
              <a:buFontTx/>
              <a:buNone/>
            </a:pP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self.listbox_frame</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height=6, width=0)</a:t>
            </a:r>
            <a:endParaRPr lang="en-US" altLang="en-US" sz="1400" b="0" dirty="0">
              <a:latin typeface="Calibri" panose="020F0502020204030204" pitchFamily="34" charset="0"/>
              <a:ea typeface="Calibri" panose="020F0502020204030204" pitchFamily="34" charset="0"/>
              <a:cs typeface="Times New Roman" panose="02020603050405020304" pitchFamily="18" charset="0"/>
            </a:endParaRPr>
          </a:p>
          <a:p>
            <a:pPr>
              <a:spcBef>
                <a:spcPct val="0"/>
              </a:spcBef>
              <a:buFontTx/>
              <a:buNone/>
            </a:pP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self.listbox.pack</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(side='left')</a:t>
            </a:r>
            <a:endParaRPr lang="en-US" altLang="en-US" sz="1400" b="0" dirty="0">
              <a:latin typeface="Calibri" panose="020F0502020204030204" pitchFamily="34" charset="0"/>
              <a:ea typeface="Calibri" panose="020F0502020204030204" pitchFamily="34" charset="0"/>
              <a:cs typeface="Times New Roman" panose="02020603050405020304" pitchFamily="18" charset="0"/>
            </a:endParaRPr>
          </a:p>
          <a:p>
            <a:pPr>
              <a:spcBef>
                <a:spcPct val="0"/>
              </a:spcBef>
              <a:buFontTx/>
              <a:buNone/>
            </a:pPr>
            <a:r>
              <a:rPr lang="en-US" altLang="en-US" sz="1400" b="0" dirty="0">
                <a:latin typeface="Calibri" panose="020F0502020204030204" pitchFamily="34" charset="0"/>
                <a:ea typeface="Calibri" panose="020F0502020204030204" pitchFamily="34" charset="0"/>
                <a:cs typeface="Times New Roman" panose="02020603050405020304" pitchFamily="18" charset="0"/>
              </a:rPr>
              <a:t> </a:t>
            </a:r>
          </a:p>
          <a:p>
            <a:pPr>
              <a:spcBef>
                <a:spcPct val="0"/>
              </a:spcBef>
              <a:buFontTx/>
              <a:buNone/>
            </a:pP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Create a vertical Scrollbar in the </a:t>
            </a: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listbox_frame</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endParaRPr lang="en-US" altLang="en-US" sz="1400" b="0" dirty="0">
              <a:latin typeface="Calibri" panose="020F0502020204030204" pitchFamily="34" charset="0"/>
              <a:ea typeface="Calibri" panose="020F0502020204030204" pitchFamily="34" charset="0"/>
              <a:cs typeface="Times New Roman" panose="02020603050405020304" pitchFamily="18" charset="0"/>
            </a:endParaRPr>
          </a:p>
          <a:p>
            <a:pPr>
              <a:spcBef>
                <a:spcPct val="0"/>
              </a:spcBef>
              <a:buFontTx/>
              <a:buNone/>
            </a:pP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self.scrollbar</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 </a:t>
            </a: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tkinter.Scrollbar</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endParaRPr lang="en-US" altLang="en-US" sz="1400" b="0" dirty="0">
              <a:latin typeface="Calibri" panose="020F0502020204030204" pitchFamily="34" charset="0"/>
              <a:ea typeface="Calibri" panose="020F0502020204030204" pitchFamily="34" charset="0"/>
              <a:cs typeface="Times New Roman" panose="02020603050405020304" pitchFamily="18" charset="0"/>
            </a:endParaRPr>
          </a:p>
          <a:p>
            <a:pPr>
              <a:spcBef>
                <a:spcPct val="0"/>
              </a:spcBef>
              <a:buFontTx/>
              <a:buNone/>
            </a:pP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self.listbox_frame</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orient=</a:t>
            </a: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tkinter.VERTICAL</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endParaRPr lang="en-US" altLang="en-US" sz="1400" b="0" dirty="0">
              <a:latin typeface="Calibri" panose="020F0502020204030204" pitchFamily="34" charset="0"/>
              <a:ea typeface="Calibri" panose="020F0502020204030204" pitchFamily="34" charset="0"/>
              <a:cs typeface="Times New Roman" panose="02020603050405020304" pitchFamily="18" charset="0"/>
            </a:endParaRPr>
          </a:p>
          <a:p>
            <a:pPr>
              <a:spcBef>
                <a:spcPct val="0"/>
              </a:spcBef>
              <a:buFontTx/>
              <a:buNone/>
            </a:pP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self.scrollbar.pack</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(side='right', fill=</a:t>
            </a: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tkinter.Y</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endParaRPr lang="en-US" altLang="en-US" sz="1400" b="0" dirty="0">
              <a:latin typeface="Calibri" panose="020F0502020204030204" pitchFamily="34" charset="0"/>
              <a:ea typeface="Calibri" panose="020F0502020204030204" pitchFamily="34" charset="0"/>
              <a:cs typeface="Times New Roman" panose="02020603050405020304" pitchFamily="18" charset="0"/>
            </a:endParaRPr>
          </a:p>
          <a:p>
            <a:pPr>
              <a:spcBef>
                <a:spcPct val="0"/>
              </a:spcBef>
              <a:buFontTx/>
              <a:buNone/>
            </a:pPr>
            <a:r>
              <a:rPr lang="en-US" altLang="en-US" sz="1400" b="0" dirty="0">
                <a:latin typeface="Calibri" panose="020F0502020204030204" pitchFamily="34" charset="0"/>
                <a:ea typeface="Calibri" panose="020F0502020204030204" pitchFamily="34" charset="0"/>
                <a:cs typeface="Times New Roman" panose="02020603050405020304" pitchFamily="18" charset="0"/>
              </a:rPr>
              <a:t> </a:t>
            </a:r>
          </a:p>
          <a:p>
            <a:pPr>
              <a:spcBef>
                <a:spcPct val="0"/>
              </a:spcBef>
              <a:buFontTx/>
              <a:buNone/>
            </a:pP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Configure the Scrollbar and </a:t>
            </a: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Listbox</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to work together.</a:t>
            </a:r>
            <a:endParaRPr lang="en-US" altLang="en-US" sz="1400" b="0" dirty="0">
              <a:latin typeface="Calibri" panose="020F0502020204030204" pitchFamily="34" charset="0"/>
              <a:ea typeface="Calibri" panose="020F0502020204030204" pitchFamily="34" charset="0"/>
              <a:cs typeface="Times New Roman" panose="02020603050405020304" pitchFamily="18" charset="0"/>
            </a:endParaRPr>
          </a:p>
          <a:p>
            <a:pPr>
              <a:spcBef>
                <a:spcPct val="0"/>
              </a:spcBef>
              <a:buFontTx/>
              <a:buNone/>
            </a:pP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self.scrollbar.config</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(command=</a:t>
            </a: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self.listbox.yview</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endParaRPr lang="en-US" altLang="en-US" sz="1400" b="0" dirty="0">
              <a:latin typeface="Calibri" panose="020F0502020204030204" pitchFamily="34" charset="0"/>
              <a:ea typeface="Calibri" panose="020F0502020204030204" pitchFamily="34" charset="0"/>
              <a:cs typeface="Times New Roman" panose="02020603050405020304" pitchFamily="18" charset="0"/>
            </a:endParaRPr>
          </a:p>
          <a:p>
            <a:pPr>
              <a:spcBef>
                <a:spcPct val="0"/>
              </a:spcBef>
              <a:buFontTx/>
              <a:buNone/>
            </a:pP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self.listbox.config</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yscrollcommand</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self.scrollbar.set</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endParaRPr lang="en-US" altLang="en-US" sz="1400" b="0" dirty="0">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a:extLst>
              <a:ext uri="{FF2B5EF4-FFF2-40B4-BE49-F238E27FC236}">
                <a16:creationId xmlns:a16="http://schemas.microsoft.com/office/drawing/2014/main" id="{755ACF68-9F51-4B9F-9D31-CCF7F1A2A894}"/>
              </a:ext>
            </a:extLst>
          </p:cNvPr>
          <p:cNvSpPr>
            <a:spLocks noGrp="1" noChangeArrowheads="1"/>
          </p:cNvSpPr>
          <p:nvPr>
            <p:ph type="title"/>
          </p:nvPr>
        </p:nvSpPr>
        <p:spPr/>
        <p:txBody>
          <a:bodyPr/>
          <a:lstStyle/>
          <a:p>
            <a:r>
              <a:rPr lang="en-US" altLang="en-US" sz="3200" dirty="0"/>
              <a:t>Adding a Horizontal Scrollbar to a </a:t>
            </a:r>
            <a:r>
              <a:rPr lang="en-US" altLang="en-US" sz="3200" dirty="0" err="1">
                <a:latin typeface="Courier New" panose="02070309020205020404" pitchFamily="49" charset="0"/>
                <a:cs typeface="Courier New" panose="02070309020205020404" pitchFamily="49" charset="0"/>
              </a:rPr>
              <a:t>Listbox</a:t>
            </a:r>
            <a:endParaRPr lang="en-US" altLang="en-US" sz="3200" dirty="0">
              <a:latin typeface="Courier New" panose="02070309020205020404" pitchFamily="49" charset="0"/>
              <a:cs typeface="Courier New" panose="02070309020205020404" pitchFamily="49" charset="0"/>
            </a:endParaRPr>
          </a:p>
        </p:txBody>
      </p:sp>
      <p:sp>
        <p:nvSpPr>
          <p:cNvPr id="57347" name="Content Placeholder 2">
            <a:extLst>
              <a:ext uri="{FF2B5EF4-FFF2-40B4-BE49-F238E27FC236}">
                <a16:creationId xmlns:a16="http://schemas.microsoft.com/office/drawing/2014/main" id="{20E56DFC-29DC-4A4A-99DE-F8FE6C40FC1C}"/>
              </a:ext>
            </a:extLst>
          </p:cNvPr>
          <p:cNvSpPr>
            <a:spLocks noGrp="1" noChangeArrowheads="1"/>
          </p:cNvSpPr>
          <p:nvPr>
            <p:ph idx="1"/>
          </p:nvPr>
        </p:nvSpPr>
        <p:spPr/>
        <p:txBody>
          <a:bodyPr/>
          <a:lstStyle/>
          <a:p>
            <a:pPr marL="514350" indent="-514350">
              <a:spcBef>
                <a:spcPts val="600"/>
              </a:spcBef>
              <a:buFontTx/>
              <a:buAutoNum type="arabicPeriod"/>
            </a:pPr>
            <a:r>
              <a:rPr lang="en-US" altLang="en-US" sz="2400" dirty="0"/>
              <a:t>Create a frame to hold the </a:t>
            </a:r>
            <a:r>
              <a:rPr lang="en-US" altLang="en-US" sz="2400" dirty="0" err="1">
                <a:latin typeface="Courier New" panose="02070309020205020404" pitchFamily="49" charset="0"/>
                <a:cs typeface="Courier New" panose="02070309020205020404" pitchFamily="49" charset="0"/>
              </a:rPr>
              <a:t>Listbox</a:t>
            </a:r>
            <a:r>
              <a:rPr lang="en-US" altLang="en-US" sz="2400" dirty="0"/>
              <a:t> and the scrollbar</a:t>
            </a:r>
          </a:p>
          <a:p>
            <a:pPr marL="514350" indent="-514350">
              <a:spcBef>
                <a:spcPts val="600"/>
              </a:spcBef>
              <a:buFontTx/>
              <a:buAutoNum type="arabicPeriod"/>
            </a:pPr>
            <a:r>
              <a:rPr lang="en-US" altLang="en-US" sz="2400" dirty="0"/>
              <a:t>Pack the frame</a:t>
            </a:r>
          </a:p>
          <a:p>
            <a:pPr marL="514350" indent="-514350">
              <a:spcBef>
                <a:spcPts val="600"/>
              </a:spcBef>
              <a:buFontTx/>
              <a:buAutoNum type="arabicPeriod"/>
            </a:pPr>
            <a:r>
              <a:rPr lang="en-US" altLang="en-US" sz="2400" dirty="0"/>
              <a:t>Create a </a:t>
            </a:r>
            <a:r>
              <a:rPr lang="en-US" altLang="en-US" sz="2400" dirty="0" err="1">
                <a:latin typeface="Courier New" panose="02070309020205020404" pitchFamily="49" charset="0"/>
                <a:cs typeface="Courier New" panose="02070309020205020404" pitchFamily="49" charset="0"/>
              </a:rPr>
              <a:t>Listbox</a:t>
            </a:r>
            <a:r>
              <a:rPr lang="en-US" altLang="en-US" sz="2400" dirty="0"/>
              <a:t> inside the frame</a:t>
            </a:r>
          </a:p>
          <a:p>
            <a:pPr marL="514350" indent="-514350">
              <a:spcBef>
                <a:spcPts val="600"/>
              </a:spcBef>
              <a:buFontTx/>
              <a:buAutoNum type="arabicPeriod"/>
            </a:pPr>
            <a:r>
              <a:rPr lang="en-US" altLang="en-US" sz="2400" dirty="0"/>
              <a:t>Pack the </a:t>
            </a:r>
            <a:r>
              <a:rPr lang="en-US" altLang="en-US" sz="2400" dirty="0" err="1">
                <a:latin typeface="Courier New" panose="02070309020205020404" pitchFamily="49" charset="0"/>
                <a:cs typeface="Courier New" panose="02070309020205020404" pitchFamily="49" charset="0"/>
              </a:rPr>
              <a:t>Listbox</a:t>
            </a:r>
            <a:r>
              <a:rPr lang="en-US" altLang="en-US" sz="2400" dirty="0"/>
              <a:t> to the top of the frame</a:t>
            </a:r>
          </a:p>
          <a:p>
            <a:pPr marL="514350" indent="-514350">
              <a:spcBef>
                <a:spcPts val="600"/>
              </a:spcBef>
              <a:buFontTx/>
              <a:buAutoNum type="arabicPeriod"/>
            </a:pPr>
            <a:r>
              <a:rPr lang="en-US" altLang="en-US" sz="2400" dirty="0"/>
              <a:t>Create the horizontal scrollbar inside the frame</a:t>
            </a:r>
          </a:p>
          <a:p>
            <a:pPr marL="514350" indent="-514350">
              <a:spcBef>
                <a:spcPts val="600"/>
              </a:spcBef>
              <a:buFontTx/>
              <a:buAutoNum type="arabicPeriod"/>
            </a:pPr>
            <a:r>
              <a:rPr lang="en-US" altLang="en-US" sz="2400" dirty="0"/>
              <a:t>Pack the scrollbar to the bottom of the frame</a:t>
            </a:r>
          </a:p>
          <a:p>
            <a:pPr marL="514350" indent="-514350">
              <a:spcBef>
                <a:spcPts val="600"/>
              </a:spcBef>
              <a:buFontTx/>
              <a:buAutoNum type="arabicPeriod"/>
            </a:pPr>
            <a:r>
              <a:rPr lang="en-US" altLang="en-US" sz="2400" dirty="0"/>
              <a:t>Configure the scrollbar to call the </a:t>
            </a:r>
            <a:r>
              <a:rPr lang="en-US" altLang="en-US" sz="2400" dirty="0" err="1">
                <a:latin typeface="Courier New" panose="02070309020205020404" pitchFamily="49" charset="0"/>
                <a:cs typeface="Courier New" panose="02070309020205020404" pitchFamily="49" charset="0"/>
              </a:rPr>
              <a:t>Listbox's</a:t>
            </a:r>
            <a:r>
              <a:rPr lang="en-US" altLang="en-US" sz="2400" dirty="0">
                <a:latin typeface="Courier New" panose="02070309020205020404" pitchFamily="49" charset="0"/>
                <a:cs typeface="Courier New" panose="02070309020205020404" pitchFamily="49" charset="0"/>
              </a:rPr>
              <a:t> </a:t>
            </a:r>
            <a:r>
              <a:rPr lang="en-US" altLang="en-US" sz="2400" dirty="0" err="1">
                <a:latin typeface="Courier New" panose="02070309020205020404" pitchFamily="49" charset="0"/>
                <a:cs typeface="Courier New" panose="02070309020205020404" pitchFamily="49" charset="0"/>
              </a:rPr>
              <a:t>xview</a:t>
            </a:r>
            <a:r>
              <a:rPr lang="en-US" altLang="en-US" sz="2400" dirty="0">
                <a:latin typeface="Courier New" panose="02070309020205020404" pitchFamily="49" charset="0"/>
                <a:cs typeface="Courier New" panose="02070309020205020404" pitchFamily="49" charset="0"/>
              </a:rPr>
              <a:t> </a:t>
            </a:r>
            <a:r>
              <a:rPr lang="en-US" altLang="en-US" sz="2400" dirty="0"/>
              <a:t>method when the slider knob is moved</a:t>
            </a:r>
          </a:p>
          <a:p>
            <a:pPr marL="514350" indent="-514350">
              <a:spcBef>
                <a:spcPts val="600"/>
              </a:spcBef>
              <a:buFontTx/>
              <a:buAutoNum type="arabicPeriod"/>
            </a:pPr>
            <a:r>
              <a:rPr lang="en-US" altLang="en-US" sz="2400" dirty="0"/>
              <a:t>Configure the </a:t>
            </a:r>
            <a:r>
              <a:rPr lang="en-US" altLang="en-US" sz="2400" dirty="0" err="1">
                <a:latin typeface="Courier New" panose="02070309020205020404" pitchFamily="49" charset="0"/>
                <a:cs typeface="Courier New" panose="02070309020205020404" pitchFamily="49" charset="0"/>
              </a:rPr>
              <a:t>Listbox</a:t>
            </a:r>
            <a:r>
              <a:rPr lang="en-US" altLang="en-US" sz="2400" dirty="0"/>
              <a:t> to call the scrollbar's </a:t>
            </a:r>
            <a:r>
              <a:rPr lang="en-US" altLang="en-US" sz="2400" dirty="0">
                <a:latin typeface="Courier New" panose="02070309020205020404" pitchFamily="49" charset="0"/>
              </a:rPr>
              <a:t>set</a:t>
            </a:r>
            <a:r>
              <a:rPr lang="en-US" altLang="en-US" sz="2400" dirty="0"/>
              <a:t> method any time the </a:t>
            </a:r>
            <a:r>
              <a:rPr lang="en-US" altLang="en-US" sz="2400" dirty="0" err="1">
                <a:latin typeface="Courier New" panose="02070309020205020404" pitchFamily="49" charset="0"/>
                <a:cs typeface="Courier New" panose="02070309020205020404" pitchFamily="49" charset="0"/>
              </a:rPr>
              <a:t>Listbox</a:t>
            </a:r>
            <a:r>
              <a:rPr lang="en-US" altLang="en-US" sz="2400" dirty="0"/>
              <a:t> is updated</a:t>
            </a:r>
          </a:p>
          <a:p>
            <a:pPr marL="514350" indent="-514350">
              <a:buFontTx/>
              <a:buAutoNum type="arabicPeriod"/>
            </a:pPr>
            <a:endParaRPr lang="en-US" altLang="en-US" sz="24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a:extLst>
              <a:ext uri="{FF2B5EF4-FFF2-40B4-BE49-F238E27FC236}">
                <a16:creationId xmlns:a16="http://schemas.microsoft.com/office/drawing/2014/main" id="{D76EFDE4-E4A3-4BCF-AE15-7A43927D0BCE}"/>
              </a:ext>
            </a:extLst>
          </p:cNvPr>
          <p:cNvSpPr>
            <a:spLocks noGrp="1" noChangeArrowheads="1"/>
          </p:cNvSpPr>
          <p:nvPr>
            <p:ph type="title"/>
          </p:nvPr>
        </p:nvSpPr>
        <p:spPr/>
        <p:txBody>
          <a:bodyPr/>
          <a:lstStyle/>
          <a:p>
            <a:r>
              <a:rPr lang="en-US" altLang="en-US" dirty="0"/>
              <a:t>Example</a:t>
            </a:r>
            <a:r>
              <a:rPr lang="en-AU" sz="2000" b="0" dirty="0"/>
              <a:t> (2 of 4)</a:t>
            </a:r>
            <a:endParaRPr lang="en-US" altLang="en-US" sz="2000" dirty="0"/>
          </a:p>
        </p:txBody>
      </p:sp>
      <p:sp>
        <p:nvSpPr>
          <p:cNvPr id="58371" name="Text Box 2">
            <a:extLst>
              <a:ext uri="{FF2B5EF4-FFF2-40B4-BE49-F238E27FC236}">
                <a16:creationId xmlns:a16="http://schemas.microsoft.com/office/drawing/2014/main" id="{C5748A7F-B4D4-4276-BDA9-6FFF5AC3E379}"/>
              </a:ext>
            </a:extLst>
          </p:cNvPr>
          <p:cNvSpPr txBox="1">
            <a:spLocks noChangeArrowheads="1"/>
          </p:cNvSpPr>
          <p:nvPr/>
        </p:nvSpPr>
        <p:spPr bwMode="auto">
          <a:xfrm>
            <a:off x="762000" y="1600200"/>
            <a:ext cx="7315200" cy="4400550"/>
          </a:xfrm>
          <a:prstGeom prst="rect">
            <a:avLst/>
          </a:prstGeom>
          <a:solidFill>
            <a:srgbClr val="FFFFFF"/>
          </a:solidFill>
          <a:ln w="9525">
            <a:solidFill>
              <a:srgbClr val="000000"/>
            </a:solidFill>
            <a:miter lim="800000"/>
            <a:headEnd/>
            <a:tailEnd/>
          </a:ln>
        </p:spPr>
        <p:txBody>
          <a:bodyPr>
            <a:spAutoFit/>
          </a:bodyPr>
          <a:lstStyle>
            <a:lvl1pPr>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Create the main window.</a:t>
            </a:r>
            <a:endParaRPr lang="en-US" altLang="en-US" sz="1400" b="0" dirty="0">
              <a:latin typeface="Calibri" panose="020F0502020204030204" pitchFamily="34" charset="0"/>
              <a:ea typeface="Calibri" panose="020F0502020204030204" pitchFamily="34" charset="0"/>
              <a:cs typeface="Times New Roman" panose="02020603050405020304" pitchFamily="18" charset="0"/>
            </a:endParaRPr>
          </a:p>
          <a:p>
            <a:pPr>
              <a:spcBef>
                <a:spcPct val="0"/>
              </a:spcBef>
              <a:buFontTx/>
              <a:buNone/>
            </a:pP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self.main_window</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 </a:t>
            </a: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tkinter.Tk</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endParaRPr lang="en-US" altLang="en-US" sz="1400" b="0" dirty="0">
              <a:latin typeface="Calibri" panose="020F0502020204030204" pitchFamily="34" charset="0"/>
              <a:ea typeface="Calibri" panose="020F0502020204030204" pitchFamily="34" charset="0"/>
              <a:cs typeface="Times New Roman" panose="02020603050405020304" pitchFamily="18" charset="0"/>
            </a:endParaRPr>
          </a:p>
          <a:p>
            <a:pPr>
              <a:spcBef>
                <a:spcPct val="0"/>
              </a:spcBef>
              <a:buFontTx/>
              <a:buNone/>
            </a:pPr>
            <a:r>
              <a:rPr lang="en-US" altLang="en-US" sz="1400" b="0" dirty="0">
                <a:latin typeface="Calibri" panose="020F0502020204030204" pitchFamily="34" charset="0"/>
                <a:ea typeface="Calibri" panose="020F0502020204030204" pitchFamily="34" charset="0"/>
                <a:cs typeface="Times New Roman" panose="02020603050405020304" pitchFamily="18" charset="0"/>
              </a:rPr>
              <a:t> </a:t>
            </a:r>
          </a:p>
          <a:p>
            <a:pPr>
              <a:spcBef>
                <a:spcPct val="0"/>
              </a:spcBef>
              <a:buFontTx/>
              <a:buNone/>
            </a:pP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Create a frame for the </a:t>
            </a: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Listbox</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and scrollbar.</a:t>
            </a:r>
            <a:endParaRPr lang="en-US" altLang="en-US" sz="1400" b="0" dirty="0">
              <a:latin typeface="Calibri" panose="020F0502020204030204" pitchFamily="34" charset="0"/>
              <a:ea typeface="Calibri" panose="020F0502020204030204" pitchFamily="34" charset="0"/>
              <a:cs typeface="Times New Roman" panose="02020603050405020304" pitchFamily="18" charset="0"/>
            </a:endParaRPr>
          </a:p>
          <a:p>
            <a:pPr>
              <a:spcBef>
                <a:spcPct val="0"/>
              </a:spcBef>
              <a:buFontTx/>
              <a:buNone/>
            </a:pP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self.listbox_frame</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 </a:t>
            </a: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tkinter.Frame</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self.main_window</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endParaRPr lang="en-US" altLang="en-US" sz="1400" b="0" dirty="0">
              <a:latin typeface="Calibri" panose="020F0502020204030204" pitchFamily="34" charset="0"/>
              <a:ea typeface="Calibri" panose="020F0502020204030204" pitchFamily="34" charset="0"/>
              <a:cs typeface="Times New Roman" panose="02020603050405020304" pitchFamily="18" charset="0"/>
            </a:endParaRPr>
          </a:p>
          <a:p>
            <a:pPr>
              <a:spcBef>
                <a:spcPct val="0"/>
              </a:spcBef>
              <a:buFontTx/>
              <a:buNone/>
            </a:pP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self.listbox_frame.pack</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padx</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=20, </a:t>
            </a: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pady</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=20)</a:t>
            </a:r>
            <a:endParaRPr lang="en-US" altLang="en-US" sz="1400" b="0" dirty="0">
              <a:latin typeface="Calibri" panose="020F0502020204030204" pitchFamily="34" charset="0"/>
              <a:ea typeface="Calibri" panose="020F0502020204030204" pitchFamily="34" charset="0"/>
              <a:cs typeface="Times New Roman" panose="02020603050405020304" pitchFamily="18" charset="0"/>
            </a:endParaRPr>
          </a:p>
          <a:p>
            <a:pPr>
              <a:spcBef>
                <a:spcPct val="0"/>
              </a:spcBef>
              <a:buFontTx/>
              <a:buNone/>
            </a:pPr>
            <a:r>
              <a:rPr lang="en-US" altLang="en-US" sz="1400" b="0" dirty="0">
                <a:latin typeface="Calibri" panose="020F0502020204030204" pitchFamily="34" charset="0"/>
                <a:ea typeface="Calibri" panose="020F0502020204030204" pitchFamily="34" charset="0"/>
                <a:cs typeface="Times New Roman" panose="02020603050405020304" pitchFamily="18" charset="0"/>
              </a:rPr>
              <a:t> </a:t>
            </a:r>
          </a:p>
          <a:p>
            <a:pPr>
              <a:spcBef>
                <a:spcPct val="0"/>
              </a:spcBef>
              <a:buFontTx/>
              <a:buNone/>
            </a:pP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Create a </a:t>
            </a: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Listbox</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widget in the </a:t>
            </a: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listbox_frame</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endParaRPr lang="en-US" altLang="en-US" sz="1400" b="0" dirty="0">
              <a:latin typeface="Calibri" panose="020F0502020204030204" pitchFamily="34" charset="0"/>
              <a:ea typeface="Calibri" panose="020F0502020204030204" pitchFamily="34" charset="0"/>
              <a:cs typeface="Times New Roman" panose="02020603050405020304" pitchFamily="18" charset="0"/>
            </a:endParaRPr>
          </a:p>
          <a:p>
            <a:pPr>
              <a:spcBef>
                <a:spcPct val="0"/>
              </a:spcBef>
              <a:buFontTx/>
              <a:buNone/>
            </a:pP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self.listbox</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 </a:t>
            </a: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tkinter.Listbox</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endParaRPr lang="en-US" altLang="en-US" sz="1400" b="0" dirty="0">
              <a:latin typeface="Calibri" panose="020F0502020204030204" pitchFamily="34" charset="0"/>
              <a:ea typeface="Calibri" panose="020F0502020204030204" pitchFamily="34" charset="0"/>
              <a:cs typeface="Times New Roman" panose="02020603050405020304" pitchFamily="18" charset="0"/>
            </a:endParaRPr>
          </a:p>
          <a:p>
            <a:pPr>
              <a:spcBef>
                <a:spcPct val="0"/>
              </a:spcBef>
              <a:buFontTx/>
              <a:buNone/>
            </a:pP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self.listbox_frame</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height=0, width=30)</a:t>
            </a:r>
            <a:endParaRPr lang="en-US" altLang="en-US" sz="1400" b="0" dirty="0">
              <a:latin typeface="Calibri" panose="020F0502020204030204" pitchFamily="34" charset="0"/>
              <a:ea typeface="Calibri" panose="020F0502020204030204" pitchFamily="34" charset="0"/>
              <a:cs typeface="Times New Roman" panose="02020603050405020304" pitchFamily="18" charset="0"/>
            </a:endParaRPr>
          </a:p>
          <a:p>
            <a:pPr>
              <a:spcBef>
                <a:spcPct val="0"/>
              </a:spcBef>
              <a:buFontTx/>
              <a:buNone/>
            </a:pP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self.listbox.pack</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(side='top')</a:t>
            </a:r>
            <a:endParaRPr lang="en-US" altLang="en-US" sz="1400" b="0" dirty="0">
              <a:latin typeface="Calibri" panose="020F0502020204030204" pitchFamily="34" charset="0"/>
              <a:ea typeface="Calibri" panose="020F0502020204030204" pitchFamily="34" charset="0"/>
              <a:cs typeface="Times New Roman" panose="02020603050405020304" pitchFamily="18" charset="0"/>
            </a:endParaRPr>
          </a:p>
          <a:p>
            <a:pPr>
              <a:spcBef>
                <a:spcPct val="0"/>
              </a:spcBef>
              <a:buFontTx/>
              <a:buNone/>
            </a:pPr>
            <a:r>
              <a:rPr lang="en-US" altLang="en-US" sz="1400" b="0" dirty="0">
                <a:latin typeface="Calibri" panose="020F0502020204030204" pitchFamily="34" charset="0"/>
                <a:ea typeface="Calibri" panose="020F0502020204030204" pitchFamily="34" charset="0"/>
                <a:cs typeface="Times New Roman" panose="02020603050405020304" pitchFamily="18" charset="0"/>
              </a:rPr>
              <a:t> </a:t>
            </a:r>
          </a:p>
          <a:p>
            <a:pPr>
              <a:spcBef>
                <a:spcPct val="0"/>
              </a:spcBef>
              <a:buFontTx/>
              <a:buNone/>
            </a:pP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Create a horizontal Scrollbar in the </a:t>
            </a: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listbox_frame</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endParaRPr lang="en-US" altLang="en-US" sz="1400" b="0" dirty="0">
              <a:latin typeface="Calibri" panose="020F0502020204030204" pitchFamily="34" charset="0"/>
              <a:ea typeface="Calibri" panose="020F0502020204030204" pitchFamily="34" charset="0"/>
              <a:cs typeface="Times New Roman" panose="02020603050405020304" pitchFamily="18" charset="0"/>
            </a:endParaRPr>
          </a:p>
          <a:p>
            <a:pPr>
              <a:spcBef>
                <a:spcPct val="0"/>
              </a:spcBef>
              <a:buFontTx/>
              <a:buNone/>
            </a:pP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self.scrollbar</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 </a:t>
            </a: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tkinter.Scrollbar</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endParaRPr lang="en-US" altLang="en-US" sz="1400" b="0" dirty="0">
              <a:latin typeface="Calibri" panose="020F0502020204030204" pitchFamily="34" charset="0"/>
              <a:ea typeface="Calibri" panose="020F0502020204030204" pitchFamily="34" charset="0"/>
              <a:cs typeface="Times New Roman" panose="02020603050405020304" pitchFamily="18" charset="0"/>
            </a:endParaRPr>
          </a:p>
          <a:p>
            <a:pPr>
              <a:spcBef>
                <a:spcPct val="0"/>
              </a:spcBef>
              <a:buFontTx/>
              <a:buNone/>
            </a:pP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self.listbox_frame</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orient=</a:t>
            </a: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tkinter.HORIZONTAL</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endParaRPr lang="en-US" altLang="en-US" sz="1400" b="0" dirty="0">
              <a:latin typeface="Calibri" panose="020F0502020204030204" pitchFamily="34" charset="0"/>
              <a:ea typeface="Calibri" panose="020F0502020204030204" pitchFamily="34" charset="0"/>
              <a:cs typeface="Times New Roman" panose="02020603050405020304" pitchFamily="18" charset="0"/>
            </a:endParaRPr>
          </a:p>
          <a:p>
            <a:pPr>
              <a:spcBef>
                <a:spcPct val="0"/>
              </a:spcBef>
              <a:buFontTx/>
              <a:buNone/>
            </a:pP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self.scrollbar.pack</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(side='bottom', fill=</a:t>
            </a: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tkinter.X</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endParaRPr lang="en-US" altLang="en-US" sz="1400" b="0" dirty="0">
              <a:latin typeface="Calibri" panose="020F0502020204030204" pitchFamily="34" charset="0"/>
              <a:ea typeface="Calibri" panose="020F0502020204030204" pitchFamily="34" charset="0"/>
              <a:cs typeface="Times New Roman" panose="02020603050405020304" pitchFamily="18" charset="0"/>
            </a:endParaRPr>
          </a:p>
          <a:p>
            <a:pPr>
              <a:spcBef>
                <a:spcPct val="0"/>
              </a:spcBef>
              <a:buFontTx/>
              <a:buNone/>
            </a:pPr>
            <a:r>
              <a:rPr lang="en-US" altLang="en-US" sz="1400" b="0" dirty="0">
                <a:latin typeface="Calibri" panose="020F0502020204030204" pitchFamily="34" charset="0"/>
                <a:ea typeface="Calibri" panose="020F0502020204030204" pitchFamily="34" charset="0"/>
                <a:cs typeface="Times New Roman" panose="02020603050405020304" pitchFamily="18" charset="0"/>
              </a:rPr>
              <a:t> </a:t>
            </a:r>
          </a:p>
          <a:p>
            <a:pPr>
              <a:spcBef>
                <a:spcPct val="0"/>
              </a:spcBef>
              <a:buFontTx/>
              <a:buNone/>
            </a:pP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Configure the Scrollbar and </a:t>
            </a: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Listbox</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to work together.</a:t>
            </a:r>
            <a:endParaRPr lang="en-US" altLang="en-US" sz="1400" b="0" dirty="0">
              <a:latin typeface="Calibri" panose="020F0502020204030204" pitchFamily="34" charset="0"/>
              <a:ea typeface="Calibri" panose="020F0502020204030204" pitchFamily="34" charset="0"/>
              <a:cs typeface="Times New Roman" panose="02020603050405020304" pitchFamily="18" charset="0"/>
            </a:endParaRPr>
          </a:p>
          <a:p>
            <a:pPr>
              <a:spcBef>
                <a:spcPct val="0"/>
              </a:spcBef>
              <a:buFontTx/>
              <a:buNone/>
            </a:pP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self.scrollbar.config</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(command=</a:t>
            </a: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self.listbox.xview</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endParaRPr lang="en-US" altLang="en-US" sz="1400" b="0" dirty="0">
              <a:latin typeface="Calibri" panose="020F0502020204030204" pitchFamily="34" charset="0"/>
              <a:ea typeface="Calibri" panose="020F0502020204030204" pitchFamily="34" charset="0"/>
              <a:cs typeface="Times New Roman" panose="02020603050405020304" pitchFamily="18" charset="0"/>
            </a:endParaRPr>
          </a:p>
          <a:p>
            <a:pPr>
              <a:spcBef>
                <a:spcPct val="0"/>
              </a:spcBef>
              <a:buFontTx/>
              <a:buNone/>
            </a:pP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self.listbox.config</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xscrollcommand</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self.scrollbar.set</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endParaRPr lang="en-US" altLang="en-US" sz="1400" b="0" dirty="0">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a:extLst>
              <a:ext uri="{FF2B5EF4-FFF2-40B4-BE49-F238E27FC236}">
                <a16:creationId xmlns:a16="http://schemas.microsoft.com/office/drawing/2014/main" id="{4490829D-B208-478C-8FEB-635B39803B87}"/>
              </a:ext>
            </a:extLst>
          </p:cNvPr>
          <p:cNvSpPr>
            <a:spLocks noGrp="1" noChangeArrowheads="1"/>
          </p:cNvSpPr>
          <p:nvPr>
            <p:ph type="title"/>
          </p:nvPr>
        </p:nvSpPr>
        <p:spPr/>
        <p:txBody>
          <a:bodyPr/>
          <a:lstStyle/>
          <a:p>
            <a:r>
              <a:rPr lang="en-US" altLang="en-US" sz="3200" dirty="0"/>
              <a:t>Adding Vertical and Horizontal Scrollbars to a </a:t>
            </a:r>
            <a:r>
              <a:rPr lang="en-US" altLang="en-US" sz="3200" dirty="0" err="1">
                <a:latin typeface="Courier New" panose="02070309020205020404" pitchFamily="49" charset="0"/>
                <a:cs typeface="Courier New" panose="02070309020205020404" pitchFamily="49" charset="0"/>
              </a:rPr>
              <a:t>Listbox</a:t>
            </a:r>
            <a:r>
              <a:rPr lang="en-AU" sz="2000" b="0" dirty="0"/>
              <a:t> (1 of 2)</a:t>
            </a:r>
            <a:endParaRPr lang="en-US" altLang="en-US" sz="2000" dirty="0">
              <a:latin typeface="Courier New" panose="02070309020205020404" pitchFamily="49" charset="0"/>
              <a:cs typeface="Courier New" panose="02070309020205020404" pitchFamily="49" charset="0"/>
            </a:endParaRPr>
          </a:p>
        </p:txBody>
      </p:sp>
      <p:sp>
        <p:nvSpPr>
          <p:cNvPr id="59395" name="Content Placeholder 2">
            <a:extLst>
              <a:ext uri="{FF2B5EF4-FFF2-40B4-BE49-F238E27FC236}">
                <a16:creationId xmlns:a16="http://schemas.microsoft.com/office/drawing/2014/main" id="{2A72E99C-A34F-4F01-B158-718CE9EC698E}"/>
              </a:ext>
            </a:extLst>
          </p:cNvPr>
          <p:cNvSpPr>
            <a:spLocks noGrp="1" noChangeArrowheads="1"/>
          </p:cNvSpPr>
          <p:nvPr>
            <p:ph idx="1"/>
          </p:nvPr>
        </p:nvSpPr>
        <p:spPr>
          <a:xfrm>
            <a:off x="457200" y="1600200"/>
            <a:ext cx="8229600" cy="4724400"/>
          </a:xfrm>
        </p:spPr>
        <p:txBody>
          <a:bodyPr/>
          <a:lstStyle/>
          <a:p>
            <a:pPr marL="514350" indent="-514350">
              <a:spcBef>
                <a:spcPts val="600"/>
              </a:spcBef>
              <a:buFontTx/>
              <a:buAutoNum type="arabicPeriod"/>
            </a:pPr>
            <a:r>
              <a:rPr lang="en-US" altLang="en-US" sz="2400" dirty="0"/>
              <a:t>Create the outer frame to hold the inner frame and the horizontal scrollbar</a:t>
            </a:r>
          </a:p>
          <a:p>
            <a:pPr marL="514350" indent="-514350">
              <a:spcBef>
                <a:spcPts val="600"/>
              </a:spcBef>
              <a:buFontTx/>
              <a:buAutoNum type="arabicPeriod"/>
            </a:pPr>
            <a:r>
              <a:rPr lang="en-US" altLang="en-US" sz="2400" dirty="0"/>
              <a:t>Pack the outer frame</a:t>
            </a:r>
          </a:p>
          <a:p>
            <a:pPr marL="514350" indent="-514350">
              <a:spcBef>
                <a:spcPts val="600"/>
              </a:spcBef>
              <a:buFontTx/>
              <a:buAutoNum type="arabicPeriod"/>
            </a:pPr>
            <a:r>
              <a:rPr lang="en-US" altLang="en-US" sz="2400" dirty="0"/>
              <a:t>Create the inner frame to hold the </a:t>
            </a:r>
            <a:r>
              <a:rPr lang="en-US" altLang="en-US" sz="2400" dirty="0" err="1">
                <a:latin typeface="Courier New" panose="02070309020205020404" pitchFamily="49" charset="0"/>
                <a:cs typeface="Courier New" panose="02070309020205020404" pitchFamily="49" charset="0"/>
              </a:rPr>
              <a:t>Listbox</a:t>
            </a:r>
            <a:r>
              <a:rPr lang="en-US" altLang="en-US" sz="2400" dirty="0"/>
              <a:t> and the vertical scrollbar</a:t>
            </a:r>
          </a:p>
          <a:p>
            <a:pPr marL="514350" indent="-514350">
              <a:spcBef>
                <a:spcPts val="600"/>
              </a:spcBef>
              <a:buFontTx/>
              <a:buAutoNum type="arabicPeriod"/>
            </a:pPr>
            <a:r>
              <a:rPr lang="en-US" altLang="en-US" sz="2400" dirty="0"/>
              <a:t>Pack the inner frame</a:t>
            </a:r>
          </a:p>
          <a:p>
            <a:pPr marL="514350" indent="-514350">
              <a:spcBef>
                <a:spcPts val="600"/>
              </a:spcBef>
              <a:buFontTx/>
              <a:buAutoNum type="arabicPeriod"/>
            </a:pPr>
            <a:r>
              <a:rPr lang="en-US" altLang="en-US" sz="2400" dirty="0"/>
              <a:t>Create a </a:t>
            </a:r>
            <a:r>
              <a:rPr lang="en-US" altLang="en-US" sz="2400" dirty="0" err="1">
                <a:latin typeface="Courier New" panose="02070309020205020404" pitchFamily="49" charset="0"/>
                <a:cs typeface="Courier New" panose="02070309020205020404" pitchFamily="49" charset="0"/>
              </a:rPr>
              <a:t>Listbox</a:t>
            </a:r>
            <a:r>
              <a:rPr lang="en-US" altLang="en-US" sz="2400" dirty="0"/>
              <a:t> inside the inner frame</a:t>
            </a:r>
          </a:p>
          <a:p>
            <a:pPr marL="514350" indent="-514350">
              <a:spcBef>
                <a:spcPts val="600"/>
              </a:spcBef>
              <a:buFontTx/>
              <a:buAutoNum type="arabicPeriod"/>
            </a:pPr>
            <a:r>
              <a:rPr lang="en-US" altLang="en-US" sz="2400" dirty="0"/>
              <a:t>Pack the </a:t>
            </a:r>
            <a:r>
              <a:rPr lang="en-US" altLang="en-US" sz="2400" dirty="0" err="1">
                <a:latin typeface="Courier New" panose="02070309020205020404" pitchFamily="49" charset="0"/>
                <a:cs typeface="Courier New" panose="02070309020205020404" pitchFamily="49" charset="0"/>
              </a:rPr>
              <a:t>Listbox</a:t>
            </a:r>
            <a:r>
              <a:rPr lang="en-US" altLang="en-US" sz="2400" dirty="0"/>
              <a:t> to the left side of the inner frame</a:t>
            </a:r>
          </a:p>
          <a:p>
            <a:pPr marL="514350" indent="-514350">
              <a:spcBef>
                <a:spcPts val="600"/>
              </a:spcBef>
              <a:buFontTx/>
              <a:buAutoNum type="arabicPeriod"/>
            </a:pPr>
            <a:r>
              <a:rPr lang="en-US" altLang="en-US" sz="2400" dirty="0"/>
              <a:t>Create a vertical scrollbar inside the inner frame</a:t>
            </a:r>
          </a:p>
          <a:p>
            <a:pPr marL="514350" indent="-514350">
              <a:spcBef>
                <a:spcPts val="600"/>
              </a:spcBef>
              <a:buFontTx/>
              <a:buAutoNum type="arabicPeriod"/>
            </a:pPr>
            <a:r>
              <a:rPr lang="en-US" altLang="en-US" sz="2400" dirty="0"/>
              <a:t>Pack the scrollbar to the right side of the inner frame</a:t>
            </a:r>
          </a:p>
          <a:p>
            <a:pPr marL="514350" indent="-514350">
              <a:spcBef>
                <a:spcPts val="600"/>
              </a:spcBef>
              <a:buFontTx/>
              <a:buAutoNum type="arabicPeriod"/>
            </a:pPr>
            <a:r>
              <a:rPr lang="en-US" altLang="en-US" sz="2400" dirty="0"/>
              <a:t>Create the horizontal scrollbar inside the outer frame</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a:extLst>
              <a:ext uri="{FF2B5EF4-FFF2-40B4-BE49-F238E27FC236}">
                <a16:creationId xmlns:a16="http://schemas.microsoft.com/office/drawing/2014/main" id="{4490829D-B208-478C-8FEB-635B39803B87}"/>
              </a:ext>
            </a:extLst>
          </p:cNvPr>
          <p:cNvSpPr>
            <a:spLocks noGrp="1" noChangeArrowheads="1"/>
          </p:cNvSpPr>
          <p:nvPr>
            <p:ph type="title"/>
          </p:nvPr>
        </p:nvSpPr>
        <p:spPr/>
        <p:txBody>
          <a:bodyPr/>
          <a:lstStyle/>
          <a:p>
            <a:r>
              <a:rPr lang="en-US" altLang="en-US" sz="3200" dirty="0"/>
              <a:t>Adding Vertical and Horizontal Scrollbars to a </a:t>
            </a:r>
            <a:r>
              <a:rPr lang="en-US" altLang="en-US" sz="3200" dirty="0" err="1">
                <a:latin typeface="Courier New" panose="02070309020205020404" pitchFamily="49" charset="0"/>
                <a:cs typeface="Courier New" panose="02070309020205020404" pitchFamily="49" charset="0"/>
              </a:rPr>
              <a:t>Listbox</a:t>
            </a:r>
            <a:r>
              <a:rPr lang="en-AU" sz="2000" b="0" dirty="0"/>
              <a:t> (2 of 2)</a:t>
            </a:r>
            <a:endParaRPr lang="en-US" altLang="en-US" sz="2000" dirty="0">
              <a:latin typeface="Courier New" panose="02070309020205020404" pitchFamily="49" charset="0"/>
              <a:cs typeface="Courier New" panose="02070309020205020404" pitchFamily="49" charset="0"/>
            </a:endParaRPr>
          </a:p>
        </p:txBody>
      </p:sp>
      <p:sp>
        <p:nvSpPr>
          <p:cNvPr id="59395" name="Content Placeholder 2">
            <a:extLst>
              <a:ext uri="{FF2B5EF4-FFF2-40B4-BE49-F238E27FC236}">
                <a16:creationId xmlns:a16="http://schemas.microsoft.com/office/drawing/2014/main" id="{2A72E99C-A34F-4F01-B158-718CE9EC698E}"/>
              </a:ext>
            </a:extLst>
          </p:cNvPr>
          <p:cNvSpPr>
            <a:spLocks noGrp="1" noChangeArrowheads="1"/>
          </p:cNvSpPr>
          <p:nvPr>
            <p:ph idx="1"/>
          </p:nvPr>
        </p:nvSpPr>
        <p:spPr/>
        <p:txBody>
          <a:bodyPr/>
          <a:lstStyle/>
          <a:p>
            <a:pPr marL="514350" indent="-514350">
              <a:spcBef>
                <a:spcPts val="600"/>
              </a:spcBef>
              <a:buFont typeface="+mj-lt"/>
              <a:buAutoNum type="arabicPeriod" startAt="10"/>
            </a:pPr>
            <a:r>
              <a:rPr lang="en-US" altLang="en-US" sz="2400" dirty="0"/>
              <a:t>Pack the horizontal scrollbar to the bottom of the outer frame</a:t>
            </a:r>
          </a:p>
          <a:p>
            <a:pPr marL="514350" indent="-514350">
              <a:spcBef>
                <a:spcPts val="600"/>
              </a:spcBef>
              <a:buFont typeface="+mj-lt"/>
              <a:buAutoNum type="arabicPeriod" startAt="10"/>
            </a:pPr>
            <a:r>
              <a:rPr lang="en-US" altLang="en-US" sz="2400" dirty="0"/>
              <a:t>Configure the vertical scrollbar to call the </a:t>
            </a:r>
            <a:r>
              <a:rPr lang="en-US" altLang="en-US" sz="2400" dirty="0" err="1">
                <a:latin typeface="Courier New" panose="02070309020205020404" pitchFamily="49" charset="0"/>
                <a:cs typeface="Courier New" panose="02070309020205020404" pitchFamily="49" charset="0"/>
              </a:rPr>
              <a:t>Listbox's</a:t>
            </a:r>
            <a:r>
              <a:rPr lang="en-US" altLang="en-US" sz="2400" dirty="0">
                <a:latin typeface="Courier New" panose="02070309020205020404" pitchFamily="49" charset="0"/>
                <a:cs typeface="Courier New" panose="02070309020205020404" pitchFamily="49" charset="0"/>
              </a:rPr>
              <a:t> </a:t>
            </a:r>
            <a:r>
              <a:rPr lang="en-US" altLang="en-US" sz="2400" dirty="0" err="1">
                <a:latin typeface="Courier New" panose="02070309020205020404" pitchFamily="49" charset="0"/>
                <a:cs typeface="Courier New" panose="02070309020205020404" pitchFamily="49" charset="0"/>
              </a:rPr>
              <a:t>yview</a:t>
            </a:r>
            <a:r>
              <a:rPr lang="en-US" altLang="en-US" sz="2400" dirty="0"/>
              <a:t> method when the slider knob is moved</a:t>
            </a:r>
          </a:p>
          <a:p>
            <a:pPr marL="514350" indent="-514350">
              <a:spcBef>
                <a:spcPts val="600"/>
              </a:spcBef>
              <a:buFont typeface="+mj-lt"/>
              <a:buAutoNum type="arabicPeriod" startAt="10"/>
            </a:pPr>
            <a:r>
              <a:rPr lang="en-US" altLang="en-US" sz="2400" dirty="0"/>
              <a:t>Configure the horizontal scrollbar to call the </a:t>
            </a:r>
            <a:r>
              <a:rPr lang="en-US" altLang="en-US" sz="2400" dirty="0" err="1">
                <a:latin typeface="Courier New" panose="02070309020205020404" pitchFamily="49" charset="0"/>
                <a:cs typeface="Courier New" panose="02070309020205020404" pitchFamily="49" charset="0"/>
              </a:rPr>
              <a:t>Listbox's</a:t>
            </a:r>
            <a:r>
              <a:rPr lang="en-US" altLang="en-US" sz="2400" dirty="0">
                <a:latin typeface="Courier New" panose="02070309020205020404" pitchFamily="49" charset="0"/>
                <a:cs typeface="Courier New" panose="02070309020205020404" pitchFamily="49" charset="0"/>
              </a:rPr>
              <a:t> </a:t>
            </a:r>
            <a:r>
              <a:rPr lang="en-US" altLang="en-US" sz="2400" dirty="0" err="1">
                <a:latin typeface="Courier New" panose="02070309020205020404" pitchFamily="49" charset="0"/>
                <a:cs typeface="Courier New" panose="02070309020205020404" pitchFamily="49" charset="0"/>
              </a:rPr>
              <a:t>xview</a:t>
            </a:r>
            <a:r>
              <a:rPr lang="en-US" altLang="en-US" sz="2400" dirty="0"/>
              <a:t> method when the slider knob is moved</a:t>
            </a:r>
          </a:p>
          <a:p>
            <a:pPr marL="514350" indent="-514350">
              <a:spcBef>
                <a:spcPts val="600"/>
              </a:spcBef>
              <a:buFont typeface="+mj-lt"/>
              <a:buAutoNum type="arabicPeriod" startAt="10"/>
            </a:pPr>
            <a:r>
              <a:rPr lang="en-US" altLang="en-US" sz="2400" dirty="0"/>
              <a:t>Configure the </a:t>
            </a:r>
            <a:r>
              <a:rPr lang="en-US" altLang="en-US" sz="2400" dirty="0" err="1">
                <a:latin typeface="Courier New" panose="02070309020205020404" pitchFamily="49" charset="0"/>
                <a:cs typeface="Courier New" panose="02070309020205020404" pitchFamily="49" charset="0"/>
              </a:rPr>
              <a:t>Listbox</a:t>
            </a:r>
            <a:r>
              <a:rPr lang="en-US" altLang="en-US" sz="2400" dirty="0"/>
              <a:t> to call both scrollbar's </a:t>
            </a:r>
            <a:r>
              <a:rPr lang="en-US" altLang="en-US" sz="2400" dirty="0">
                <a:latin typeface="Courier New" panose="02070309020205020404" pitchFamily="49" charset="0"/>
              </a:rPr>
              <a:t>set</a:t>
            </a:r>
            <a:r>
              <a:rPr lang="en-US" altLang="en-US" sz="2400" dirty="0"/>
              <a:t> method any time the </a:t>
            </a:r>
            <a:r>
              <a:rPr lang="en-US" altLang="en-US" sz="2400" dirty="0" err="1">
                <a:latin typeface="Courier New" panose="02070309020205020404" pitchFamily="49" charset="0"/>
                <a:cs typeface="Courier New" panose="02070309020205020404" pitchFamily="49" charset="0"/>
              </a:rPr>
              <a:t>Listbox</a:t>
            </a:r>
            <a:r>
              <a:rPr lang="en-US" altLang="en-US" sz="2400" dirty="0"/>
              <a:t> is updated</a:t>
            </a:r>
          </a:p>
          <a:p>
            <a:pPr marL="514350" indent="-514350">
              <a:buFontTx/>
              <a:buAutoNum type="arabicPeriod" startAt="10"/>
            </a:pPr>
            <a:endParaRPr lang="en-US" altLang="en-US" sz="1600" dirty="0"/>
          </a:p>
        </p:txBody>
      </p:sp>
    </p:spTree>
    <p:extLst>
      <p:ext uri="{BB962C8B-B14F-4D97-AF65-F5344CB8AC3E}">
        <p14:creationId xmlns:p14="http://schemas.microsoft.com/office/powerpoint/2010/main" val="388667011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Text Box 2">
            <a:extLst>
              <a:ext uri="{FF2B5EF4-FFF2-40B4-BE49-F238E27FC236}">
                <a16:creationId xmlns:a16="http://schemas.microsoft.com/office/drawing/2014/main" id="{E90CFD0F-8961-4FAB-9886-BA6752044BDF}"/>
              </a:ext>
            </a:extLst>
          </p:cNvPr>
          <p:cNvSpPr txBox="1">
            <a:spLocks noChangeArrowheads="1"/>
          </p:cNvSpPr>
          <p:nvPr/>
        </p:nvSpPr>
        <p:spPr bwMode="auto">
          <a:xfrm>
            <a:off x="914400" y="1447800"/>
            <a:ext cx="7315200" cy="461664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Create the main window.</a:t>
            </a:r>
            <a:endParaRPr lang="en-US" altLang="en-US" sz="1400" b="0" dirty="0">
              <a:latin typeface="Calibri" panose="020F0502020204030204" pitchFamily="34" charset="0"/>
              <a:ea typeface="Calibri" panose="020F0502020204030204" pitchFamily="34" charset="0"/>
              <a:cs typeface="Times New Roman" panose="02020603050405020304" pitchFamily="18" charset="0"/>
            </a:endParaRPr>
          </a:p>
          <a:p>
            <a:pPr>
              <a:spcBef>
                <a:spcPct val="0"/>
              </a:spcBef>
              <a:buFontTx/>
              <a:buNone/>
            </a:pP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self.main_window</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 </a:t>
            </a: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tkinter.Tk</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endParaRPr lang="en-US" altLang="en-US" sz="1400" b="0" dirty="0">
              <a:latin typeface="Calibri" panose="020F0502020204030204" pitchFamily="34" charset="0"/>
              <a:ea typeface="Calibri" panose="020F0502020204030204" pitchFamily="34" charset="0"/>
              <a:cs typeface="Times New Roman" panose="02020603050405020304" pitchFamily="18" charset="0"/>
            </a:endParaRPr>
          </a:p>
          <a:p>
            <a:pPr>
              <a:spcBef>
                <a:spcPct val="0"/>
              </a:spcBef>
              <a:buFontTx/>
              <a:buNone/>
            </a:pPr>
            <a:r>
              <a:rPr lang="en-US" altLang="en-US" sz="1400" b="0" dirty="0">
                <a:latin typeface="Calibri" panose="020F0502020204030204" pitchFamily="34" charset="0"/>
                <a:ea typeface="Calibri" panose="020F0502020204030204" pitchFamily="34" charset="0"/>
                <a:cs typeface="Times New Roman" panose="02020603050405020304" pitchFamily="18" charset="0"/>
              </a:rPr>
              <a:t> </a:t>
            </a:r>
          </a:p>
          <a:p>
            <a:pPr>
              <a:spcBef>
                <a:spcPct val="0"/>
              </a:spcBef>
              <a:buFontTx/>
              <a:buNone/>
            </a:pP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Create an outer frame to hold the inner frame</a:t>
            </a:r>
            <a:endParaRPr lang="en-US" altLang="en-US" sz="1400" b="0" dirty="0">
              <a:latin typeface="Calibri" panose="020F0502020204030204" pitchFamily="34" charset="0"/>
              <a:ea typeface="Calibri" panose="020F0502020204030204" pitchFamily="34" charset="0"/>
              <a:cs typeface="Times New Roman" panose="02020603050405020304" pitchFamily="18" charset="0"/>
            </a:endParaRPr>
          </a:p>
          <a:p>
            <a:pPr>
              <a:spcBef>
                <a:spcPct val="0"/>
              </a:spcBef>
              <a:buFontTx/>
              <a:buNone/>
            </a:pP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and the horizontal scrollbar.</a:t>
            </a:r>
            <a:endParaRPr lang="en-US" altLang="en-US" sz="1400" b="0" dirty="0">
              <a:latin typeface="Calibri" panose="020F0502020204030204" pitchFamily="34" charset="0"/>
              <a:ea typeface="Calibri" panose="020F0502020204030204" pitchFamily="34" charset="0"/>
              <a:cs typeface="Times New Roman" panose="02020603050405020304" pitchFamily="18" charset="0"/>
            </a:endParaRPr>
          </a:p>
          <a:p>
            <a:pPr>
              <a:spcBef>
                <a:spcPct val="0"/>
              </a:spcBef>
              <a:buFontTx/>
              <a:buNone/>
            </a:pP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self.outer_frame</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 </a:t>
            </a: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tkinter.Frame</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self.main_window</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endParaRPr lang="en-US" altLang="en-US" sz="1400" b="0" dirty="0">
              <a:latin typeface="Calibri" panose="020F0502020204030204" pitchFamily="34" charset="0"/>
              <a:ea typeface="Calibri" panose="020F0502020204030204" pitchFamily="34" charset="0"/>
              <a:cs typeface="Times New Roman" panose="02020603050405020304" pitchFamily="18" charset="0"/>
            </a:endParaRPr>
          </a:p>
          <a:p>
            <a:pPr>
              <a:spcBef>
                <a:spcPct val="0"/>
              </a:spcBef>
              <a:buFontTx/>
              <a:buNone/>
            </a:pP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self.outer_frame.pack</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padx</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=20, </a:t>
            </a: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pady</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=20)</a:t>
            </a:r>
            <a:endParaRPr lang="en-US" altLang="en-US" sz="1400" b="0" dirty="0">
              <a:latin typeface="Calibri" panose="020F0502020204030204" pitchFamily="34" charset="0"/>
              <a:ea typeface="Calibri" panose="020F0502020204030204" pitchFamily="34" charset="0"/>
              <a:cs typeface="Times New Roman" panose="02020603050405020304" pitchFamily="18" charset="0"/>
            </a:endParaRPr>
          </a:p>
          <a:p>
            <a:pPr>
              <a:spcBef>
                <a:spcPct val="0"/>
              </a:spcBef>
              <a:buFontTx/>
              <a:buNone/>
            </a:pPr>
            <a:r>
              <a:rPr lang="en-US" altLang="en-US" sz="1400" b="0" dirty="0">
                <a:latin typeface="Calibri" panose="020F0502020204030204" pitchFamily="34" charset="0"/>
                <a:ea typeface="Calibri" panose="020F0502020204030204" pitchFamily="34" charset="0"/>
                <a:cs typeface="Times New Roman" panose="02020603050405020304" pitchFamily="18" charset="0"/>
              </a:rPr>
              <a:t> </a:t>
            </a:r>
          </a:p>
          <a:p>
            <a:pPr>
              <a:spcBef>
                <a:spcPct val="0"/>
              </a:spcBef>
              <a:buFontTx/>
              <a:buNone/>
            </a:pP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Create an inner frame for the </a:t>
            </a: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Listbox</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and vertical scrollbar.</a:t>
            </a:r>
            <a:endParaRPr lang="en-US" altLang="en-US" sz="1400" b="0" dirty="0">
              <a:latin typeface="Calibri" panose="020F0502020204030204" pitchFamily="34" charset="0"/>
              <a:ea typeface="Calibri" panose="020F0502020204030204" pitchFamily="34" charset="0"/>
              <a:cs typeface="Times New Roman" panose="02020603050405020304" pitchFamily="18" charset="0"/>
            </a:endParaRPr>
          </a:p>
          <a:p>
            <a:pPr>
              <a:spcBef>
                <a:spcPct val="0"/>
              </a:spcBef>
              <a:buFontTx/>
              <a:buNone/>
            </a:pP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self.inner_frame</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 </a:t>
            </a: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tkinter.Frame</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self.outer_frame</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endParaRPr lang="en-US" altLang="en-US" sz="1400" b="0" dirty="0">
              <a:latin typeface="Calibri" panose="020F0502020204030204" pitchFamily="34" charset="0"/>
              <a:ea typeface="Calibri" panose="020F0502020204030204" pitchFamily="34" charset="0"/>
              <a:cs typeface="Times New Roman" panose="02020603050405020304" pitchFamily="18" charset="0"/>
            </a:endParaRPr>
          </a:p>
          <a:p>
            <a:pPr>
              <a:spcBef>
                <a:spcPct val="0"/>
              </a:spcBef>
              <a:buFontTx/>
              <a:buNone/>
            </a:pP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self.inner_frame.pack</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endParaRPr lang="en-US" altLang="en-US" sz="1400" b="0" dirty="0">
              <a:latin typeface="Calibri" panose="020F0502020204030204" pitchFamily="34" charset="0"/>
              <a:ea typeface="Calibri" panose="020F0502020204030204" pitchFamily="34" charset="0"/>
              <a:cs typeface="Times New Roman" panose="02020603050405020304" pitchFamily="18" charset="0"/>
            </a:endParaRPr>
          </a:p>
          <a:p>
            <a:pPr>
              <a:spcBef>
                <a:spcPct val="0"/>
              </a:spcBef>
              <a:buFontTx/>
              <a:buNone/>
            </a:pPr>
            <a:r>
              <a:rPr lang="en-US" altLang="en-US" sz="1400" b="0" dirty="0">
                <a:latin typeface="Calibri" panose="020F0502020204030204" pitchFamily="34" charset="0"/>
                <a:ea typeface="Calibri" panose="020F0502020204030204" pitchFamily="34" charset="0"/>
                <a:cs typeface="Times New Roman" panose="02020603050405020304" pitchFamily="18" charset="0"/>
              </a:rPr>
              <a:t> </a:t>
            </a:r>
          </a:p>
          <a:p>
            <a:pPr>
              <a:spcBef>
                <a:spcPct val="0"/>
              </a:spcBef>
              <a:buFontTx/>
              <a:buNone/>
            </a:pP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Create a </a:t>
            </a: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Listbox</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widget in the </a:t>
            </a: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inner_frame</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endParaRPr lang="en-US" altLang="en-US" sz="1400" b="0" dirty="0">
              <a:latin typeface="Calibri" panose="020F0502020204030204" pitchFamily="34" charset="0"/>
              <a:ea typeface="Calibri" panose="020F0502020204030204" pitchFamily="34" charset="0"/>
              <a:cs typeface="Times New Roman" panose="02020603050405020304" pitchFamily="18" charset="0"/>
            </a:endParaRPr>
          </a:p>
          <a:p>
            <a:pPr>
              <a:spcBef>
                <a:spcPct val="0"/>
              </a:spcBef>
              <a:buFontTx/>
              <a:buNone/>
            </a:pP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self.listbox</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 </a:t>
            </a: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tkinter.Listbox</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endParaRPr lang="en-US" altLang="en-US" sz="1400" b="0" dirty="0">
              <a:latin typeface="Calibri" panose="020F0502020204030204" pitchFamily="34" charset="0"/>
              <a:ea typeface="Calibri" panose="020F0502020204030204" pitchFamily="34" charset="0"/>
              <a:cs typeface="Times New Roman" panose="02020603050405020304" pitchFamily="18" charset="0"/>
            </a:endParaRPr>
          </a:p>
          <a:p>
            <a:pPr>
              <a:spcBef>
                <a:spcPct val="0"/>
              </a:spcBef>
              <a:buFontTx/>
              <a:buNone/>
            </a:pP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self.inner_frame</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height=5, width=30)</a:t>
            </a:r>
            <a:endParaRPr lang="en-US" altLang="en-US" sz="1400" b="0" dirty="0">
              <a:latin typeface="Calibri" panose="020F0502020204030204" pitchFamily="34" charset="0"/>
              <a:ea typeface="Calibri" panose="020F0502020204030204" pitchFamily="34" charset="0"/>
              <a:cs typeface="Times New Roman" panose="02020603050405020304" pitchFamily="18" charset="0"/>
            </a:endParaRPr>
          </a:p>
          <a:p>
            <a:pPr>
              <a:spcBef>
                <a:spcPct val="0"/>
              </a:spcBef>
              <a:buFontTx/>
              <a:buNone/>
            </a:pP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self.listbox.pack</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(side='left')        </a:t>
            </a:r>
            <a:endParaRPr lang="en-US" altLang="en-US" sz="1400" b="0" dirty="0">
              <a:latin typeface="Calibri" panose="020F0502020204030204" pitchFamily="34" charset="0"/>
              <a:ea typeface="Calibri" panose="020F0502020204030204" pitchFamily="34" charset="0"/>
              <a:cs typeface="Times New Roman" panose="02020603050405020304" pitchFamily="18" charset="0"/>
            </a:endParaRPr>
          </a:p>
          <a:p>
            <a:pPr>
              <a:spcBef>
                <a:spcPct val="0"/>
              </a:spcBef>
              <a:buFontTx/>
              <a:buNone/>
            </a:pPr>
            <a:r>
              <a:rPr lang="en-US" altLang="en-US" sz="1400" b="0" dirty="0">
                <a:latin typeface="Calibri" panose="020F0502020204030204" pitchFamily="34" charset="0"/>
                <a:ea typeface="Calibri" panose="020F0502020204030204" pitchFamily="34" charset="0"/>
                <a:cs typeface="Times New Roman" panose="02020603050405020304" pitchFamily="18" charset="0"/>
              </a:rPr>
              <a:t> </a:t>
            </a:r>
          </a:p>
          <a:p>
            <a:pPr>
              <a:spcBef>
                <a:spcPct val="0"/>
              </a:spcBef>
              <a:buFontTx/>
              <a:buNone/>
            </a:pP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Create a vertical Scrollbar in the </a:t>
            </a: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inner_frame</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endParaRPr lang="en-US" altLang="en-US" sz="1400" b="0" dirty="0">
              <a:latin typeface="Calibri" panose="020F0502020204030204" pitchFamily="34" charset="0"/>
              <a:ea typeface="Calibri" panose="020F0502020204030204" pitchFamily="34" charset="0"/>
              <a:cs typeface="Times New Roman" panose="02020603050405020304" pitchFamily="18" charset="0"/>
            </a:endParaRPr>
          </a:p>
          <a:p>
            <a:pPr>
              <a:spcBef>
                <a:spcPct val="0"/>
              </a:spcBef>
              <a:buFontTx/>
              <a:buNone/>
            </a:pP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self.v_scrollbar</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 </a:t>
            </a: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tkinter.Scrollbar</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endParaRPr lang="en-US" altLang="en-US" sz="1400" b="0" dirty="0">
              <a:latin typeface="Calibri" panose="020F0502020204030204" pitchFamily="34" charset="0"/>
              <a:ea typeface="Calibri" panose="020F0502020204030204" pitchFamily="34" charset="0"/>
              <a:cs typeface="Times New Roman" panose="02020603050405020304" pitchFamily="18" charset="0"/>
            </a:endParaRPr>
          </a:p>
          <a:p>
            <a:pPr>
              <a:spcBef>
                <a:spcPct val="0"/>
              </a:spcBef>
              <a:buFontTx/>
              <a:buNone/>
            </a:pP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self.inner_frame</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orient=</a:t>
            </a: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tkinter.VERTICAL</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endParaRPr lang="en-US" altLang="en-US" sz="1400" b="0" dirty="0">
              <a:latin typeface="Calibri" panose="020F0502020204030204" pitchFamily="34" charset="0"/>
              <a:ea typeface="Calibri" panose="020F0502020204030204" pitchFamily="34" charset="0"/>
              <a:cs typeface="Times New Roman" panose="02020603050405020304" pitchFamily="18" charset="0"/>
            </a:endParaRPr>
          </a:p>
          <a:p>
            <a:pPr>
              <a:spcBef>
                <a:spcPct val="0"/>
              </a:spcBef>
              <a:buFontTx/>
              <a:buNone/>
            </a:pP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self.v_scrollbar.pack</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(side='right', fill=</a:t>
            </a: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tkinter.Y</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endParaRPr lang="en-US" altLang="en-US" sz="1400" b="0" dirty="0">
              <a:latin typeface="Calibri" panose="020F0502020204030204" pitchFamily="34" charset="0"/>
              <a:ea typeface="Calibri" panose="020F0502020204030204" pitchFamily="34" charset="0"/>
              <a:cs typeface="Times New Roman" panose="02020603050405020304" pitchFamily="18" charset="0"/>
            </a:endParaRPr>
          </a:p>
        </p:txBody>
      </p:sp>
      <p:sp>
        <p:nvSpPr>
          <p:cNvPr id="3" name="Title 2">
            <a:extLst>
              <a:ext uri="{FF2B5EF4-FFF2-40B4-BE49-F238E27FC236}">
                <a16:creationId xmlns:a16="http://schemas.microsoft.com/office/drawing/2014/main" id="{D94F3853-1D35-4592-BFBB-E55FC32C1BDF}"/>
              </a:ext>
            </a:extLst>
          </p:cNvPr>
          <p:cNvSpPr>
            <a:spLocks noGrp="1"/>
          </p:cNvSpPr>
          <p:nvPr>
            <p:ph type="title"/>
          </p:nvPr>
        </p:nvSpPr>
        <p:spPr/>
        <p:txBody>
          <a:bodyPr/>
          <a:lstStyle/>
          <a:p>
            <a:r>
              <a:rPr lang="en-US" altLang="en-US" dirty="0"/>
              <a:t>Example</a:t>
            </a:r>
            <a:r>
              <a:rPr lang="en-AU" sz="2000" b="0" dirty="0"/>
              <a:t> (3 of 4)</a:t>
            </a:r>
            <a:endParaRPr lang="en-AU" sz="20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CC54E-54AF-4D5D-91A8-86B8FE42F055}"/>
              </a:ext>
            </a:extLst>
          </p:cNvPr>
          <p:cNvSpPr>
            <a:spLocks noGrp="1"/>
          </p:cNvSpPr>
          <p:nvPr>
            <p:ph type="title"/>
          </p:nvPr>
        </p:nvSpPr>
        <p:spPr/>
        <p:txBody>
          <a:bodyPr/>
          <a:lstStyle/>
          <a:p>
            <a:r>
              <a:rPr lang="en-US" altLang="en-US" dirty="0"/>
              <a:t>Example</a:t>
            </a:r>
            <a:r>
              <a:rPr lang="en-AU" sz="2000" b="0" dirty="0"/>
              <a:t> (4 of 4)</a:t>
            </a:r>
            <a:endParaRPr lang="en-AU" sz="2000" dirty="0"/>
          </a:p>
        </p:txBody>
      </p:sp>
      <p:sp>
        <p:nvSpPr>
          <p:cNvPr id="3" name="Text Box 2">
            <a:extLst>
              <a:ext uri="{FF2B5EF4-FFF2-40B4-BE49-F238E27FC236}">
                <a16:creationId xmlns:a16="http://schemas.microsoft.com/office/drawing/2014/main" id="{5F2F6A2D-57CB-43EE-9837-19460FCA0978}"/>
              </a:ext>
            </a:extLst>
          </p:cNvPr>
          <p:cNvSpPr txBox="1">
            <a:spLocks noChangeArrowheads="1"/>
          </p:cNvSpPr>
          <p:nvPr/>
        </p:nvSpPr>
        <p:spPr bwMode="auto">
          <a:xfrm>
            <a:off x="914400" y="1905000"/>
            <a:ext cx="6858000" cy="224676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Create a horizontal Scrollbar in the </a:t>
            </a: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outer_frame</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endParaRPr lang="en-US" altLang="en-US" sz="1400" b="0" dirty="0">
              <a:latin typeface="Calibri" panose="020F0502020204030204" pitchFamily="34" charset="0"/>
              <a:ea typeface="Calibri" panose="020F0502020204030204" pitchFamily="34" charset="0"/>
              <a:cs typeface="Times New Roman" panose="02020603050405020304" pitchFamily="18" charset="0"/>
            </a:endParaRPr>
          </a:p>
          <a:p>
            <a:pPr>
              <a:spcBef>
                <a:spcPct val="0"/>
              </a:spcBef>
              <a:buFontTx/>
              <a:buNone/>
            </a:pP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self.h_scrollbar</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 </a:t>
            </a: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tkinter.Scrollbar</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endParaRPr lang="en-US" altLang="en-US" sz="1400" b="0" dirty="0">
              <a:latin typeface="Calibri" panose="020F0502020204030204" pitchFamily="34" charset="0"/>
              <a:ea typeface="Calibri" panose="020F0502020204030204" pitchFamily="34" charset="0"/>
              <a:cs typeface="Times New Roman" panose="02020603050405020304" pitchFamily="18" charset="0"/>
            </a:endParaRPr>
          </a:p>
          <a:p>
            <a:pPr>
              <a:spcBef>
                <a:spcPct val="0"/>
              </a:spcBef>
              <a:buFontTx/>
              <a:buNone/>
            </a:pP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self.outer_frame</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orient=</a:t>
            </a: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tkinter.HORIZONTAL</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endParaRPr lang="en-US" altLang="en-US" sz="1400" b="0" dirty="0">
              <a:latin typeface="Calibri" panose="020F0502020204030204" pitchFamily="34" charset="0"/>
              <a:ea typeface="Calibri" panose="020F0502020204030204" pitchFamily="34" charset="0"/>
              <a:cs typeface="Times New Roman" panose="02020603050405020304" pitchFamily="18" charset="0"/>
            </a:endParaRPr>
          </a:p>
          <a:p>
            <a:pPr>
              <a:spcBef>
                <a:spcPct val="0"/>
              </a:spcBef>
              <a:buFontTx/>
              <a:buNone/>
            </a:pP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self.h_scrollbar.pack</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(side='bottom', fill=</a:t>
            </a: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tkinter.X</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endParaRPr lang="en-US" altLang="en-US" sz="1400" b="0" dirty="0">
              <a:latin typeface="Calibri" panose="020F0502020204030204" pitchFamily="34" charset="0"/>
              <a:ea typeface="Calibri" panose="020F0502020204030204" pitchFamily="34" charset="0"/>
              <a:cs typeface="Times New Roman" panose="02020603050405020304" pitchFamily="18" charset="0"/>
            </a:endParaRPr>
          </a:p>
          <a:p>
            <a:pPr>
              <a:spcBef>
                <a:spcPct val="0"/>
              </a:spcBef>
              <a:buFontTx/>
              <a:buNone/>
            </a:pPr>
            <a:r>
              <a:rPr lang="en-US" altLang="en-US" sz="1400" b="0" dirty="0">
                <a:latin typeface="Calibri" panose="020F0502020204030204" pitchFamily="34" charset="0"/>
                <a:ea typeface="Calibri" panose="020F0502020204030204" pitchFamily="34" charset="0"/>
                <a:cs typeface="Times New Roman" panose="02020603050405020304" pitchFamily="18" charset="0"/>
              </a:rPr>
              <a:t> </a:t>
            </a:r>
          </a:p>
          <a:p>
            <a:pPr>
              <a:spcBef>
                <a:spcPct val="0"/>
              </a:spcBef>
              <a:buFontTx/>
              <a:buNone/>
            </a:pP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Configure the Scrollbars and the </a:t>
            </a: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Listbox</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to work together.</a:t>
            </a:r>
            <a:endParaRPr lang="en-US" altLang="en-US" sz="1400" b="0" dirty="0">
              <a:latin typeface="Calibri" panose="020F0502020204030204" pitchFamily="34" charset="0"/>
              <a:ea typeface="Calibri" panose="020F0502020204030204" pitchFamily="34" charset="0"/>
              <a:cs typeface="Times New Roman" panose="02020603050405020304" pitchFamily="18" charset="0"/>
            </a:endParaRPr>
          </a:p>
          <a:p>
            <a:pPr>
              <a:spcBef>
                <a:spcPct val="0"/>
              </a:spcBef>
              <a:buFontTx/>
              <a:buNone/>
            </a:pP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self.v_scrollbar.config</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(command=</a:t>
            </a: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self.listbox.yview</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endParaRPr lang="en-US" altLang="en-US" sz="1400" b="0" dirty="0">
              <a:latin typeface="Calibri" panose="020F0502020204030204" pitchFamily="34" charset="0"/>
              <a:ea typeface="Calibri" panose="020F0502020204030204" pitchFamily="34" charset="0"/>
              <a:cs typeface="Times New Roman" panose="02020603050405020304" pitchFamily="18" charset="0"/>
            </a:endParaRPr>
          </a:p>
          <a:p>
            <a:pPr>
              <a:spcBef>
                <a:spcPct val="0"/>
              </a:spcBef>
              <a:buFontTx/>
              <a:buNone/>
            </a:pP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self.h_scrollbar.config</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(command=</a:t>
            </a: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self.listbox.xview</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endParaRPr lang="en-US" altLang="en-US" sz="1400" b="0" dirty="0">
              <a:latin typeface="Calibri" panose="020F0502020204030204" pitchFamily="34" charset="0"/>
              <a:ea typeface="Calibri" panose="020F0502020204030204" pitchFamily="34" charset="0"/>
              <a:cs typeface="Times New Roman" panose="02020603050405020304" pitchFamily="18" charset="0"/>
            </a:endParaRPr>
          </a:p>
          <a:p>
            <a:pPr>
              <a:spcBef>
                <a:spcPct val="0"/>
              </a:spcBef>
              <a:buFontTx/>
              <a:buNone/>
            </a:pP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self.listbox.config</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yscrollcommand</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self.v_scrollbar.set</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endParaRPr lang="en-US" altLang="en-US" sz="1400" b="0" dirty="0">
              <a:latin typeface="Calibri" panose="020F0502020204030204" pitchFamily="34" charset="0"/>
              <a:ea typeface="Calibri" panose="020F0502020204030204" pitchFamily="34" charset="0"/>
              <a:cs typeface="Times New Roman" panose="02020603050405020304" pitchFamily="18" charset="0"/>
            </a:endParaRPr>
          </a:p>
          <a:p>
            <a:pPr>
              <a:spcBef>
                <a:spcPct val="0"/>
              </a:spcBef>
              <a:buFontTx/>
              <a:buNone/>
            </a:pP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xscrollcommand</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r>
              <a:rPr lang="en-US" altLang="en-US" sz="1400" b="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self.h_scrollbar.set</a:t>
            </a:r>
            <a:r>
              <a:rPr lang="en-US" altLang="en-US" sz="1400" b="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endParaRPr lang="en-US" altLang="en-US" sz="1400" b="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71402395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1">
            <a:extLst>
              <a:ext uri="{FF2B5EF4-FFF2-40B4-BE49-F238E27FC236}">
                <a16:creationId xmlns:a16="http://schemas.microsoft.com/office/drawing/2014/main" id="{A7287470-B12B-44AA-8BD9-E7C164BA9F50}"/>
              </a:ext>
            </a:extLst>
          </p:cNvPr>
          <p:cNvSpPr>
            <a:spLocks noGrp="1" noChangeArrowheads="1"/>
          </p:cNvSpPr>
          <p:nvPr>
            <p:ph type="title"/>
          </p:nvPr>
        </p:nvSpPr>
        <p:spPr/>
        <p:txBody>
          <a:bodyPr/>
          <a:lstStyle/>
          <a:p>
            <a:r>
              <a:rPr lang="en-US" altLang="en-US" dirty="0"/>
              <a:t>Drawing Shapes with the </a:t>
            </a:r>
            <a:r>
              <a:rPr lang="en-US" altLang="en-US" dirty="0">
                <a:latin typeface="Courier New" panose="02070309020205020404" pitchFamily="49" charset="0"/>
                <a:cs typeface="Courier New" panose="02070309020205020404" pitchFamily="49" charset="0"/>
              </a:rPr>
              <a:t>Canvas</a:t>
            </a:r>
            <a:r>
              <a:rPr lang="en-US" altLang="en-US" dirty="0"/>
              <a:t> Widget</a:t>
            </a:r>
            <a:r>
              <a:rPr lang="en-AU" sz="2000" b="0" dirty="0"/>
              <a:t> (1 of 4)</a:t>
            </a:r>
            <a:endParaRPr lang="en-US" altLang="en-US" sz="2000" dirty="0"/>
          </a:p>
        </p:txBody>
      </p:sp>
      <p:sp>
        <p:nvSpPr>
          <p:cNvPr id="61443" name="Content Placeholder 2">
            <a:extLst>
              <a:ext uri="{FF2B5EF4-FFF2-40B4-BE49-F238E27FC236}">
                <a16:creationId xmlns:a16="http://schemas.microsoft.com/office/drawing/2014/main" id="{3208B97D-BC7B-4770-BDF1-F87959CE4113}"/>
              </a:ext>
            </a:extLst>
          </p:cNvPr>
          <p:cNvSpPr>
            <a:spLocks noGrp="1" noChangeArrowheads="1"/>
          </p:cNvSpPr>
          <p:nvPr>
            <p:ph idx="1"/>
          </p:nvPr>
        </p:nvSpPr>
        <p:spPr/>
        <p:txBody>
          <a:bodyPr/>
          <a:lstStyle/>
          <a:p>
            <a:pPr>
              <a:buFontTx/>
              <a:buChar char="•"/>
            </a:pPr>
            <a:r>
              <a:rPr lang="en-US" altLang="en-US" sz="2400" dirty="0"/>
              <a:t>The </a:t>
            </a:r>
            <a:r>
              <a:rPr lang="en-US" altLang="en-US" sz="2400" dirty="0">
                <a:latin typeface="Courier New" panose="02070309020205020404" pitchFamily="49" charset="0"/>
                <a:cs typeface="Courier New" panose="02070309020205020404" pitchFamily="49" charset="0"/>
              </a:rPr>
              <a:t>Canvas</a:t>
            </a:r>
            <a:r>
              <a:rPr lang="en-US" altLang="en-US" sz="2400" dirty="0"/>
              <a:t> widget is a blank, rectangular area that allows you to draw simple 2D shapes.</a:t>
            </a:r>
          </a:p>
          <a:p>
            <a:pPr>
              <a:buFontTx/>
              <a:buChar char="•"/>
            </a:pPr>
            <a:r>
              <a:rPr lang="en-US" altLang="en-US" sz="2400" dirty="0">
                <a:latin typeface="+mj-lt"/>
                <a:ea typeface="Calibri" panose="020F0502020204030204" pitchFamily="34" charset="0"/>
                <a:cs typeface="Times New Roman" panose="02020603050405020304" pitchFamily="18" charset="0"/>
              </a:rPr>
              <a:t>You use the </a:t>
            </a:r>
            <a:r>
              <a:rPr lang="en-US" altLang="en-US" sz="2400" dirty="0">
                <a:latin typeface="Courier New" panose="02070309020205020404" pitchFamily="49" charset="0"/>
                <a:cs typeface="Calibri" panose="020F0502020204030204" pitchFamily="34" charset="0"/>
              </a:rPr>
              <a:t>Canvas</a:t>
            </a:r>
            <a:r>
              <a:rPr lang="en-US" altLang="en-US" sz="2400" dirty="0">
                <a:latin typeface="Calibri" panose="020F0502020204030204" pitchFamily="34" charset="0"/>
                <a:cs typeface="Calibri" panose="020F0502020204030204" pitchFamily="34" charset="0"/>
              </a:rPr>
              <a:t> </a:t>
            </a:r>
            <a:r>
              <a:rPr lang="en-US" altLang="en-US" sz="2400" dirty="0">
                <a:latin typeface="+mj-lt"/>
                <a:cs typeface="Calibri" panose="020F0502020204030204" pitchFamily="34" charset="0"/>
              </a:rPr>
              <a:t>widget’s </a:t>
            </a:r>
            <a:r>
              <a:rPr lang="en-US" altLang="en-US" sz="2400" i="1" dirty="0">
                <a:latin typeface="+mj-lt"/>
                <a:cs typeface="Calibri" panose="020F0502020204030204" pitchFamily="34" charset="0"/>
              </a:rPr>
              <a:t>screen</a:t>
            </a:r>
            <a:r>
              <a:rPr lang="en-US" altLang="en-US" sz="2400" dirty="0">
                <a:latin typeface="+mj-lt"/>
                <a:cs typeface="Calibri" panose="020F0502020204030204" pitchFamily="34" charset="0"/>
              </a:rPr>
              <a:t> </a:t>
            </a:r>
            <a:r>
              <a:rPr lang="en-US" altLang="en-US" sz="2400" i="1" dirty="0">
                <a:latin typeface="+mj-lt"/>
                <a:cs typeface="Calibri" panose="020F0502020204030204" pitchFamily="34" charset="0"/>
              </a:rPr>
              <a:t>coordinate</a:t>
            </a:r>
            <a:r>
              <a:rPr lang="en-US" altLang="en-US" sz="2400" dirty="0">
                <a:latin typeface="+mj-lt"/>
                <a:cs typeface="Calibri" panose="020F0502020204030204" pitchFamily="34" charset="0"/>
              </a:rPr>
              <a:t> </a:t>
            </a:r>
            <a:r>
              <a:rPr lang="en-US" altLang="en-US" sz="2400" i="1" dirty="0">
                <a:latin typeface="+mj-lt"/>
                <a:cs typeface="Calibri" panose="020F0502020204030204" pitchFamily="34" charset="0"/>
              </a:rPr>
              <a:t>system</a:t>
            </a:r>
            <a:r>
              <a:rPr lang="en-US" altLang="en-US" sz="2400" dirty="0">
                <a:latin typeface="+mj-lt"/>
                <a:cs typeface="Calibri" panose="020F0502020204030204" pitchFamily="34" charset="0"/>
              </a:rPr>
              <a:t> to specify the location of your graphics.</a:t>
            </a:r>
          </a:p>
          <a:p>
            <a:pPr>
              <a:buFontTx/>
              <a:buChar char="•"/>
            </a:pPr>
            <a:r>
              <a:rPr lang="en-US" altLang="en-US" sz="2400" dirty="0">
                <a:latin typeface="+mj-lt"/>
                <a:cs typeface="Calibri" panose="020F0502020204030204" pitchFamily="34" charset="0"/>
              </a:rPr>
              <a:t>The coordinates of the pixel in the upper-left corner of the screen are (0, 0). </a:t>
            </a:r>
          </a:p>
          <a:p>
            <a:pPr lvl="1"/>
            <a:r>
              <a:rPr lang="en-US" altLang="en-US" sz="2000" dirty="0">
                <a:latin typeface="+mj-lt"/>
                <a:cs typeface="Calibri" panose="020F0502020204030204" pitchFamily="34" charset="0"/>
              </a:rPr>
              <a:t>The </a:t>
            </a:r>
            <a:r>
              <a:rPr lang="en-US" altLang="en-US" sz="2000" i="1" dirty="0">
                <a:latin typeface="+mj-lt"/>
                <a:cs typeface="Calibri" panose="020F0502020204030204" pitchFamily="34" charset="0"/>
              </a:rPr>
              <a:t>X </a:t>
            </a:r>
            <a:r>
              <a:rPr lang="en-US" altLang="en-US" sz="2000" dirty="0">
                <a:latin typeface="+mj-lt"/>
                <a:cs typeface="Calibri" panose="020F0502020204030204" pitchFamily="34" charset="0"/>
              </a:rPr>
              <a:t>coordinates increase from left to right</a:t>
            </a:r>
          </a:p>
          <a:p>
            <a:pPr lvl="1"/>
            <a:r>
              <a:rPr lang="en-US" altLang="en-US" sz="2000" dirty="0">
                <a:latin typeface="+mj-lt"/>
                <a:cs typeface="Calibri" panose="020F0502020204030204" pitchFamily="34" charset="0"/>
              </a:rPr>
              <a:t>The </a:t>
            </a:r>
            <a:r>
              <a:rPr lang="en-US" altLang="en-US" sz="2000" i="1" dirty="0">
                <a:latin typeface="+mj-lt"/>
                <a:cs typeface="Calibri" panose="020F0502020204030204" pitchFamily="34" charset="0"/>
              </a:rPr>
              <a:t>Y </a:t>
            </a:r>
            <a:r>
              <a:rPr lang="en-US" altLang="en-US" sz="2000" dirty="0">
                <a:latin typeface="+mj-lt"/>
                <a:cs typeface="Calibri" panose="020F0502020204030204" pitchFamily="34" charset="0"/>
              </a:rPr>
              <a:t>coordinates increase from top to bottom. </a:t>
            </a:r>
            <a:endParaRPr lang="en-US" altLang="en-US" sz="2000" dirty="0">
              <a:latin typeface="+mj-lt"/>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1">
            <a:extLst>
              <a:ext uri="{FF2B5EF4-FFF2-40B4-BE49-F238E27FC236}">
                <a16:creationId xmlns:a16="http://schemas.microsoft.com/office/drawing/2014/main" id="{628108D9-2EB8-49B1-AFD1-44BA6F1C4C29}"/>
              </a:ext>
            </a:extLst>
          </p:cNvPr>
          <p:cNvSpPr>
            <a:spLocks noGrp="1" noChangeArrowheads="1"/>
          </p:cNvSpPr>
          <p:nvPr>
            <p:ph type="title"/>
          </p:nvPr>
        </p:nvSpPr>
        <p:spPr/>
        <p:txBody>
          <a:bodyPr/>
          <a:lstStyle/>
          <a:p>
            <a:r>
              <a:rPr lang="en-US" altLang="en-US" dirty="0"/>
              <a:t>Drawing Shapes with the </a:t>
            </a:r>
            <a:r>
              <a:rPr lang="en-US" altLang="en-US" dirty="0">
                <a:latin typeface="Courier New" panose="02070309020205020404" pitchFamily="49" charset="0"/>
                <a:cs typeface="Courier New" panose="02070309020205020404" pitchFamily="49" charset="0"/>
              </a:rPr>
              <a:t>Canvas</a:t>
            </a:r>
            <a:r>
              <a:rPr lang="en-US" altLang="en-US" dirty="0"/>
              <a:t> Widget</a:t>
            </a:r>
            <a:r>
              <a:rPr lang="en-AU" sz="2000" b="0" dirty="0"/>
              <a:t> (2 of 4)</a:t>
            </a:r>
            <a:endParaRPr lang="en-US" altLang="en-US" sz="2000" dirty="0"/>
          </a:p>
        </p:txBody>
      </p:sp>
      <p:sp>
        <p:nvSpPr>
          <p:cNvPr id="5" name="Text Placeholder 4">
            <a:extLst>
              <a:ext uri="{FF2B5EF4-FFF2-40B4-BE49-F238E27FC236}">
                <a16:creationId xmlns:a16="http://schemas.microsoft.com/office/drawing/2014/main" id="{1617EEE3-9866-44C2-AE3B-FD411088F380}"/>
              </a:ext>
            </a:extLst>
          </p:cNvPr>
          <p:cNvSpPr>
            <a:spLocks noGrp="1"/>
          </p:cNvSpPr>
          <p:nvPr>
            <p:ph type="body" sz="quarter" idx="13"/>
          </p:nvPr>
        </p:nvSpPr>
        <p:spPr>
          <a:xfrm>
            <a:off x="457200" y="5768974"/>
            <a:ext cx="8229600" cy="516041"/>
          </a:xfrm>
        </p:spPr>
        <p:txBody>
          <a:bodyPr/>
          <a:lstStyle/>
          <a:p>
            <a:r>
              <a:rPr lang="en-US" b="1" dirty="0"/>
              <a:t>Figure 13-45 </a:t>
            </a:r>
            <a:r>
              <a:rPr lang="en-US" dirty="0"/>
              <a:t>Various pixel locations in a 640 by 480 window</a:t>
            </a:r>
            <a:endParaRPr lang="en-AU" dirty="0"/>
          </a:p>
        </p:txBody>
      </p:sp>
      <p:pic>
        <p:nvPicPr>
          <p:cNvPr id="62467" name="Picture 1" descr="A window titled t k, displays the coordinates of various pixels in the window. ">
            <a:extLst>
              <a:ext uri="{FF2B5EF4-FFF2-40B4-BE49-F238E27FC236}">
                <a16:creationId xmlns:a16="http://schemas.microsoft.com/office/drawing/2014/main" id="{004494B7-6CC2-44BF-AD9E-8006E061EA9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auto">
          <a:xfrm>
            <a:off x="2634707" y="1981200"/>
            <a:ext cx="3874585" cy="310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a:extLst>
              <a:ext uri="{FF2B5EF4-FFF2-40B4-BE49-F238E27FC236}">
                <a16:creationId xmlns:a16="http://schemas.microsoft.com/office/drawing/2014/main" id="{D8001861-2F14-4A8C-8DD7-A7C9F9F975F7}"/>
              </a:ext>
            </a:extLst>
          </p:cNvPr>
          <p:cNvSpPr>
            <a:spLocks noGrp="1" noChangeArrowheads="1"/>
          </p:cNvSpPr>
          <p:nvPr>
            <p:ph type="title"/>
          </p:nvPr>
        </p:nvSpPr>
        <p:spPr/>
        <p:txBody>
          <a:bodyPr/>
          <a:lstStyle/>
          <a:p>
            <a:r>
              <a:rPr lang="en-US" altLang="en-US" dirty="0"/>
              <a:t>Drawing Shapes with the </a:t>
            </a:r>
            <a:r>
              <a:rPr lang="en-US" altLang="en-US" dirty="0">
                <a:latin typeface="Courier New" panose="02070309020205020404" pitchFamily="49" charset="0"/>
                <a:cs typeface="Courier New" panose="02070309020205020404" pitchFamily="49" charset="0"/>
              </a:rPr>
              <a:t>Canvas</a:t>
            </a:r>
            <a:r>
              <a:rPr lang="en-US" altLang="en-US" dirty="0"/>
              <a:t> Widget</a:t>
            </a:r>
            <a:r>
              <a:rPr lang="en-AU" sz="2000" b="0" dirty="0"/>
              <a:t> (3 of 4)</a:t>
            </a:r>
            <a:endParaRPr lang="en-US" altLang="en-US" sz="2000" dirty="0"/>
          </a:p>
        </p:txBody>
      </p:sp>
      <p:sp>
        <p:nvSpPr>
          <p:cNvPr id="63491" name="Content Placeholder 2">
            <a:extLst>
              <a:ext uri="{FF2B5EF4-FFF2-40B4-BE49-F238E27FC236}">
                <a16:creationId xmlns:a16="http://schemas.microsoft.com/office/drawing/2014/main" id="{83F362A8-C2CE-4ACC-8269-F6F947431512}"/>
              </a:ext>
            </a:extLst>
          </p:cNvPr>
          <p:cNvSpPr>
            <a:spLocks noGrp="1" noChangeArrowheads="1"/>
          </p:cNvSpPr>
          <p:nvPr>
            <p:ph idx="1"/>
          </p:nvPr>
        </p:nvSpPr>
        <p:spPr/>
        <p:txBody>
          <a:bodyPr/>
          <a:lstStyle/>
          <a:p>
            <a:pPr>
              <a:lnSpc>
                <a:spcPct val="107000"/>
              </a:lnSpc>
              <a:spcBef>
                <a:spcPct val="0"/>
              </a:spcBef>
              <a:spcAft>
                <a:spcPts val="800"/>
              </a:spcAft>
              <a:buFontTx/>
              <a:buChar char="•"/>
            </a:pPr>
            <a:r>
              <a:rPr lang="en-US" altLang="en-US" sz="2400" dirty="0">
                <a:latin typeface="+mj-lt"/>
                <a:ea typeface="Calibri" panose="020F0502020204030204" pitchFamily="34" charset="0"/>
                <a:cs typeface="Times New Roman" panose="02020603050405020304" pitchFamily="18" charset="0"/>
              </a:rPr>
              <a:t>Creating a</a:t>
            </a:r>
            <a:r>
              <a:rPr lang="en-US" altLang="en-US" sz="2400" dirty="0">
                <a:latin typeface="Calibri" panose="020F0502020204030204" pitchFamily="34" charset="0"/>
                <a:ea typeface="Calibri" panose="020F0502020204030204" pitchFamily="34" charset="0"/>
                <a:cs typeface="Times New Roman" panose="02020603050405020304" pitchFamily="18" charset="0"/>
              </a:rPr>
              <a:t> </a:t>
            </a:r>
            <a:r>
              <a:rPr lang="en-US" altLang="en-US" sz="2400" dirty="0">
                <a:latin typeface="Courier New" panose="02070309020205020404" pitchFamily="49" charset="0"/>
                <a:ea typeface="Calibri" panose="020F0502020204030204" pitchFamily="34" charset="0"/>
                <a:cs typeface="Courier New" panose="02070309020205020404" pitchFamily="49" charset="0"/>
              </a:rPr>
              <a:t>Canvas</a:t>
            </a:r>
            <a:r>
              <a:rPr lang="en-US" altLang="en-US" sz="2400" dirty="0">
                <a:latin typeface="Calibri" panose="020F0502020204030204" pitchFamily="34" charset="0"/>
                <a:ea typeface="Calibri" panose="020F0502020204030204" pitchFamily="34" charset="0"/>
                <a:cs typeface="Times New Roman" panose="02020603050405020304" pitchFamily="18" charset="0"/>
              </a:rPr>
              <a:t> </a:t>
            </a:r>
            <a:r>
              <a:rPr lang="en-US" altLang="en-US" sz="2400" dirty="0">
                <a:latin typeface="+mj-lt"/>
                <a:ea typeface="Calibri" panose="020F0502020204030204" pitchFamily="34" charset="0"/>
                <a:cs typeface="Times New Roman" panose="02020603050405020304" pitchFamily="18" charset="0"/>
              </a:rPr>
              <a:t>widget:</a:t>
            </a:r>
          </a:p>
        </p:txBody>
      </p:sp>
      <p:sp>
        <p:nvSpPr>
          <p:cNvPr id="63492" name="TextBox 1">
            <a:extLst>
              <a:ext uri="{FF2B5EF4-FFF2-40B4-BE49-F238E27FC236}">
                <a16:creationId xmlns:a16="http://schemas.microsoft.com/office/drawing/2014/main" id="{BAFD4509-D65B-4039-9654-A22FAA2AC578}"/>
              </a:ext>
            </a:extLst>
          </p:cNvPr>
          <p:cNvSpPr txBox="1">
            <a:spLocks noChangeArrowheads="1"/>
          </p:cNvSpPr>
          <p:nvPr/>
        </p:nvSpPr>
        <p:spPr bwMode="auto">
          <a:xfrm>
            <a:off x="609600" y="2362200"/>
            <a:ext cx="7696200" cy="157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spcAft>
                <a:spcPts val="800"/>
              </a:spcAft>
              <a:buFontTx/>
              <a:buNone/>
            </a:pPr>
            <a:r>
              <a:rPr lang="en-US" altLang="en-US" sz="1400" b="0" dirty="0">
                <a:latin typeface="Courier New" panose="02070309020205020404" pitchFamily="49" charset="0"/>
                <a:ea typeface="Calibri" panose="020F0502020204030204" pitchFamily="34" charset="0"/>
                <a:cs typeface="Times New Roman" panose="02020603050405020304" pitchFamily="18" charset="0"/>
              </a:rPr>
              <a:t># Create the main window.</a:t>
            </a:r>
            <a:endParaRPr lang="en-US" altLang="en-US" sz="1400" b="0" dirty="0">
              <a:latin typeface="Calibri" panose="020F0502020204030204" pitchFamily="34" charset="0"/>
              <a:ea typeface="Calibri" panose="020F0502020204030204" pitchFamily="34" charset="0"/>
              <a:cs typeface="Times New Roman" panose="02020603050405020304" pitchFamily="18" charset="0"/>
            </a:endParaRPr>
          </a:p>
          <a:p>
            <a:pPr eaLnBrk="1" hangingPunct="1">
              <a:spcBef>
                <a:spcPct val="0"/>
              </a:spcBef>
              <a:spcAft>
                <a:spcPts val="800"/>
              </a:spcAft>
              <a:buFontTx/>
              <a:buNone/>
            </a:pPr>
            <a:r>
              <a:rPr lang="en-US" altLang="en-US" sz="1400" b="0" dirty="0" err="1">
                <a:latin typeface="Courier New" panose="02070309020205020404" pitchFamily="49" charset="0"/>
                <a:ea typeface="Calibri" panose="020F0502020204030204" pitchFamily="34" charset="0"/>
                <a:cs typeface="Times New Roman" panose="02020603050405020304" pitchFamily="18" charset="0"/>
              </a:rPr>
              <a:t>self.main_window</a:t>
            </a:r>
            <a:r>
              <a:rPr lang="en-US" altLang="en-US" sz="1400" b="0" dirty="0">
                <a:latin typeface="Courier New" panose="02070309020205020404" pitchFamily="49" charset="0"/>
                <a:ea typeface="Calibri" panose="020F0502020204030204" pitchFamily="34" charset="0"/>
                <a:cs typeface="Times New Roman" panose="02020603050405020304" pitchFamily="18" charset="0"/>
              </a:rPr>
              <a:t> = </a:t>
            </a:r>
            <a:r>
              <a:rPr lang="en-US" altLang="en-US" sz="1400" b="0" dirty="0" err="1">
                <a:latin typeface="Courier New" panose="02070309020205020404" pitchFamily="49" charset="0"/>
                <a:ea typeface="Calibri" panose="020F0502020204030204" pitchFamily="34" charset="0"/>
                <a:cs typeface="Times New Roman" panose="02020603050405020304" pitchFamily="18" charset="0"/>
              </a:rPr>
              <a:t>tkinter.Tk</a:t>
            </a:r>
            <a:r>
              <a:rPr lang="en-US" altLang="en-US" sz="1400" b="0" dirty="0">
                <a:latin typeface="Courier New" panose="02070309020205020404" pitchFamily="49" charset="0"/>
                <a:ea typeface="Calibri" panose="020F0502020204030204" pitchFamily="34" charset="0"/>
                <a:cs typeface="Times New Roman" panose="02020603050405020304" pitchFamily="18" charset="0"/>
              </a:rPr>
              <a:t>()</a:t>
            </a:r>
            <a:endParaRPr lang="en-US" altLang="en-US" sz="1400" b="0" dirty="0">
              <a:latin typeface="Calibri" panose="020F0502020204030204" pitchFamily="34" charset="0"/>
              <a:ea typeface="Calibri" panose="020F0502020204030204" pitchFamily="34" charset="0"/>
              <a:cs typeface="Times New Roman" panose="02020603050405020304" pitchFamily="18" charset="0"/>
            </a:endParaRPr>
          </a:p>
          <a:p>
            <a:pPr eaLnBrk="1" hangingPunct="1">
              <a:spcBef>
                <a:spcPct val="0"/>
              </a:spcBef>
              <a:spcAft>
                <a:spcPts val="800"/>
              </a:spcAft>
              <a:buFontTx/>
              <a:buNone/>
            </a:pPr>
            <a:r>
              <a:rPr lang="en-US" altLang="en-US" sz="1400" b="0" dirty="0">
                <a:latin typeface="Calibri" panose="020F0502020204030204" pitchFamily="34" charset="0"/>
                <a:ea typeface="Calibri" panose="020F0502020204030204" pitchFamily="34" charset="0"/>
                <a:cs typeface="Times New Roman" panose="02020603050405020304" pitchFamily="18" charset="0"/>
              </a:rPr>
              <a:t> </a:t>
            </a:r>
          </a:p>
          <a:p>
            <a:pPr eaLnBrk="1" hangingPunct="1">
              <a:spcBef>
                <a:spcPct val="0"/>
              </a:spcBef>
              <a:spcAft>
                <a:spcPts val="800"/>
              </a:spcAft>
              <a:buFontTx/>
              <a:buNone/>
            </a:pPr>
            <a:r>
              <a:rPr lang="en-US" altLang="en-US" sz="1400" b="0" dirty="0">
                <a:latin typeface="Courier New" panose="02070309020205020404" pitchFamily="49" charset="0"/>
                <a:ea typeface="Calibri" panose="020F0502020204030204" pitchFamily="34" charset="0"/>
                <a:cs typeface="Times New Roman" panose="02020603050405020304" pitchFamily="18" charset="0"/>
              </a:rPr>
              <a:t># Create the Canvas widget.</a:t>
            </a:r>
            <a:endParaRPr lang="en-US" altLang="en-US" sz="1400" b="0" dirty="0">
              <a:latin typeface="Calibri" panose="020F0502020204030204" pitchFamily="34" charset="0"/>
              <a:ea typeface="Calibri" panose="020F0502020204030204" pitchFamily="34" charset="0"/>
              <a:cs typeface="Times New Roman" panose="02020603050405020304" pitchFamily="18" charset="0"/>
            </a:endParaRPr>
          </a:p>
          <a:p>
            <a:pPr eaLnBrk="1" hangingPunct="1">
              <a:spcBef>
                <a:spcPct val="0"/>
              </a:spcBef>
              <a:spcAft>
                <a:spcPts val="800"/>
              </a:spcAft>
              <a:buFontTx/>
              <a:buNone/>
            </a:pPr>
            <a:r>
              <a:rPr lang="en-US" altLang="en-US" sz="1400" b="0" dirty="0" err="1">
                <a:latin typeface="Courier New" panose="02070309020205020404" pitchFamily="49" charset="0"/>
                <a:ea typeface="Calibri" panose="020F0502020204030204" pitchFamily="34" charset="0"/>
                <a:cs typeface="Times New Roman" panose="02020603050405020304" pitchFamily="18" charset="0"/>
              </a:rPr>
              <a:t>self.canvas</a:t>
            </a:r>
            <a:r>
              <a:rPr lang="en-US" altLang="en-US" sz="1400" b="0" dirty="0">
                <a:latin typeface="Courier New" panose="02070309020205020404" pitchFamily="49" charset="0"/>
                <a:ea typeface="Calibri" panose="020F0502020204030204" pitchFamily="34" charset="0"/>
                <a:cs typeface="Times New Roman" panose="02020603050405020304" pitchFamily="18" charset="0"/>
              </a:rPr>
              <a:t> = </a:t>
            </a:r>
            <a:r>
              <a:rPr lang="en-US" altLang="en-US" sz="1400" b="0" dirty="0" err="1">
                <a:latin typeface="Courier New" panose="02070309020205020404" pitchFamily="49" charset="0"/>
                <a:ea typeface="Calibri" panose="020F0502020204030204" pitchFamily="34" charset="0"/>
                <a:cs typeface="Times New Roman" panose="02020603050405020304" pitchFamily="18" charset="0"/>
              </a:rPr>
              <a:t>tkinter.Canvas</a:t>
            </a:r>
            <a:r>
              <a:rPr lang="en-US" altLang="en-US" sz="1400" b="0" dirty="0">
                <a:latin typeface="Courier New" panose="02070309020205020404" pitchFamily="49" charset="0"/>
                <a:ea typeface="Calibri" panose="020F0502020204030204" pitchFamily="34" charset="0"/>
                <a:cs typeface="Times New Roman" panose="02020603050405020304" pitchFamily="18" charset="0"/>
              </a:rPr>
              <a:t>(</a:t>
            </a:r>
            <a:r>
              <a:rPr lang="en-US" altLang="en-US" sz="1400" b="0" dirty="0" err="1">
                <a:latin typeface="Courier New" panose="02070309020205020404" pitchFamily="49" charset="0"/>
                <a:ea typeface="Calibri" panose="020F0502020204030204" pitchFamily="34" charset="0"/>
                <a:cs typeface="Times New Roman" panose="02020603050405020304" pitchFamily="18" charset="0"/>
              </a:rPr>
              <a:t>self.main_window</a:t>
            </a:r>
            <a:r>
              <a:rPr lang="en-US" altLang="en-US" sz="1400" b="0" dirty="0">
                <a:latin typeface="Courier New" panose="02070309020205020404" pitchFamily="49" charset="0"/>
                <a:ea typeface="Calibri" panose="020F0502020204030204" pitchFamily="34" charset="0"/>
                <a:cs typeface="Times New Roman" panose="02020603050405020304" pitchFamily="18" charset="0"/>
              </a:rPr>
              <a:t>, width=200, height=200)</a:t>
            </a:r>
            <a:r>
              <a:rPr lang="en-US" altLang="en-US" sz="1400" b="0" dirty="0">
                <a:latin typeface="Calibri" panose="020F0502020204030204" pitchFamily="34" charset="0"/>
                <a:ea typeface="Calibri" panose="020F0502020204030204" pitchFamily="34" charset="0"/>
                <a:cs typeface="Times New Roman" panose="02020603050405020304" pitchFamily="18" charset="0"/>
              </a:rPr>
              <a:t> </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1">
            <a:extLst>
              <a:ext uri="{FF2B5EF4-FFF2-40B4-BE49-F238E27FC236}">
                <a16:creationId xmlns:a16="http://schemas.microsoft.com/office/drawing/2014/main" id="{3D4202BE-D1BC-46B9-9991-3F0F981D17A7}"/>
              </a:ext>
            </a:extLst>
          </p:cNvPr>
          <p:cNvSpPr>
            <a:spLocks noGrp="1" noChangeArrowheads="1"/>
          </p:cNvSpPr>
          <p:nvPr>
            <p:ph type="title"/>
          </p:nvPr>
        </p:nvSpPr>
        <p:spPr/>
        <p:txBody>
          <a:bodyPr/>
          <a:lstStyle/>
          <a:p>
            <a:r>
              <a:rPr lang="en-US" altLang="en-US" dirty="0"/>
              <a:t>Drawing Shapes with the </a:t>
            </a:r>
            <a:r>
              <a:rPr lang="en-US" altLang="en-US" dirty="0">
                <a:latin typeface="Courier New" panose="02070309020205020404" pitchFamily="49" charset="0"/>
                <a:cs typeface="Courier New" panose="02070309020205020404" pitchFamily="49" charset="0"/>
              </a:rPr>
              <a:t>Canvas</a:t>
            </a:r>
            <a:r>
              <a:rPr lang="en-US" altLang="en-US" dirty="0"/>
              <a:t> Widget</a:t>
            </a:r>
            <a:r>
              <a:rPr lang="en-AU" sz="2000" b="0" dirty="0"/>
              <a:t> (4 of 4)</a:t>
            </a:r>
            <a:endParaRPr lang="en-US" altLang="en-US" sz="2000" dirty="0"/>
          </a:p>
        </p:txBody>
      </p:sp>
      <p:sp>
        <p:nvSpPr>
          <p:cNvPr id="64515" name="Content Placeholder 2">
            <a:extLst>
              <a:ext uri="{FF2B5EF4-FFF2-40B4-BE49-F238E27FC236}">
                <a16:creationId xmlns:a16="http://schemas.microsoft.com/office/drawing/2014/main" id="{6B85CECE-8655-403C-B7BA-A576ABF2DB26}"/>
              </a:ext>
            </a:extLst>
          </p:cNvPr>
          <p:cNvSpPr>
            <a:spLocks noGrp="1" noChangeArrowheads="1"/>
          </p:cNvSpPr>
          <p:nvPr>
            <p:ph idx="1"/>
          </p:nvPr>
        </p:nvSpPr>
        <p:spPr/>
        <p:txBody>
          <a:bodyPr/>
          <a:lstStyle/>
          <a:p>
            <a:pPr>
              <a:lnSpc>
                <a:spcPct val="107000"/>
              </a:lnSpc>
              <a:spcBef>
                <a:spcPct val="0"/>
              </a:spcBef>
              <a:spcAft>
                <a:spcPts val="800"/>
              </a:spcAft>
              <a:buFontTx/>
              <a:buChar char="•"/>
            </a:pPr>
            <a:r>
              <a:rPr lang="en-US" altLang="en-US" dirty="0">
                <a:latin typeface="+mj-lt"/>
                <a:ea typeface="Calibri" panose="020F0502020204030204" pitchFamily="34" charset="0"/>
                <a:cs typeface="Times New Roman" panose="02020603050405020304" pitchFamily="18" charset="0"/>
              </a:rPr>
              <a:t>The</a:t>
            </a:r>
            <a:r>
              <a:rPr lang="en-US" altLang="en-US" sz="2400" dirty="0">
                <a:latin typeface="Calibri" panose="020F0502020204030204" pitchFamily="34" charset="0"/>
                <a:ea typeface="Calibri" panose="020F0502020204030204" pitchFamily="34" charset="0"/>
                <a:cs typeface="Times New Roman" panose="02020603050405020304" pitchFamily="18" charset="0"/>
              </a:rPr>
              <a:t> </a:t>
            </a:r>
            <a:r>
              <a:rPr lang="en-US" altLang="en-US" sz="2400" dirty="0">
                <a:latin typeface="Courier New" panose="02070309020205020404" pitchFamily="49" charset="0"/>
                <a:ea typeface="Calibri" panose="020F0502020204030204" pitchFamily="34" charset="0"/>
                <a:cs typeface="Times New Roman" panose="02020603050405020304" pitchFamily="18" charset="0"/>
              </a:rPr>
              <a:t>Canvas</a:t>
            </a:r>
            <a:r>
              <a:rPr lang="en-US" altLang="en-US" sz="2400" dirty="0">
                <a:latin typeface="Calibri" panose="020F0502020204030204" pitchFamily="34" charset="0"/>
                <a:ea typeface="Calibri" panose="020F0502020204030204" pitchFamily="34" charset="0"/>
                <a:cs typeface="Times New Roman" panose="02020603050405020304" pitchFamily="18" charset="0"/>
              </a:rPr>
              <a:t> </a:t>
            </a:r>
            <a:r>
              <a:rPr lang="en-US" altLang="en-US" dirty="0">
                <a:latin typeface="+mj-lt"/>
                <a:ea typeface="Calibri" panose="020F0502020204030204" pitchFamily="34" charset="0"/>
                <a:cs typeface="Times New Roman" panose="02020603050405020304" pitchFamily="18" charset="0"/>
              </a:rPr>
              <a:t>widget has numerous methods for drawing graphical shapes on the surface of the widget. </a:t>
            </a:r>
          </a:p>
          <a:p>
            <a:pPr>
              <a:lnSpc>
                <a:spcPct val="107000"/>
              </a:lnSpc>
              <a:spcBef>
                <a:spcPct val="0"/>
              </a:spcBef>
              <a:spcAft>
                <a:spcPts val="800"/>
              </a:spcAft>
              <a:buFontTx/>
              <a:buChar char="•"/>
            </a:pPr>
            <a:r>
              <a:rPr lang="en-US" altLang="en-US" dirty="0">
                <a:latin typeface="+mj-lt"/>
                <a:ea typeface="Calibri" panose="020F0502020204030204" pitchFamily="34" charset="0"/>
                <a:cs typeface="Times New Roman" panose="02020603050405020304" pitchFamily="18" charset="0"/>
              </a:rPr>
              <a:t>The methods that we will discuss are:</a:t>
            </a:r>
          </a:p>
          <a:p>
            <a:pPr lvl="1">
              <a:lnSpc>
                <a:spcPct val="107000"/>
              </a:lnSpc>
              <a:spcBef>
                <a:spcPct val="0"/>
              </a:spcBef>
            </a:pPr>
            <a:r>
              <a:rPr lang="en-US" altLang="en-US" sz="2400" dirty="0" err="1">
                <a:latin typeface="Courier New" panose="02070309020205020404" pitchFamily="49" charset="0"/>
                <a:ea typeface="Calibri" panose="020F0502020204030204" pitchFamily="34" charset="0"/>
                <a:cs typeface="Times New Roman" panose="02020603050405020304" pitchFamily="18" charset="0"/>
              </a:rPr>
              <a:t>create_line</a:t>
            </a:r>
            <a:endParaRPr lang="en-US" altLang="en-US" sz="2400" dirty="0">
              <a:latin typeface="Calibri" panose="020F0502020204030204" pitchFamily="34" charset="0"/>
              <a:ea typeface="Calibri" panose="020F0502020204030204" pitchFamily="34" charset="0"/>
              <a:cs typeface="Times New Roman" panose="02020603050405020304" pitchFamily="18" charset="0"/>
            </a:endParaRPr>
          </a:p>
          <a:p>
            <a:pPr lvl="1">
              <a:lnSpc>
                <a:spcPct val="107000"/>
              </a:lnSpc>
              <a:spcBef>
                <a:spcPct val="0"/>
              </a:spcBef>
            </a:pPr>
            <a:r>
              <a:rPr lang="en-US" altLang="en-US" sz="2400" dirty="0" err="1">
                <a:latin typeface="Courier New" panose="02070309020205020404" pitchFamily="49" charset="0"/>
                <a:ea typeface="Calibri" panose="020F0502020204030204" pitchFamily="34" charset="0"/>
                <a:cs typeface="Times New Roman" panose="02020603050405020304" pitchFamily="18" charset="0"/>
              </a:rPr>
              <a:t>create_rectangle</a:t>
            </a:r>
            <a:endParaRPr lang="en-US" altLang="en-US" sz="2400" dirty="0">
              <a:latin typeface="Calibri" panose="020F0502020204030204" pitchFamily="34" charset="0"/>
              <a:ea typeface="Calibri" panose="020F0502020204030204" pitchFamily="34" charset="0"/>
              <a:cs typeface="Times New Roman" panose="02020603050405020304" pitchFamily="18" charset="0"/>
            </a:endParaRPr>
          </a:p>
          <a:p>
            <a:pPr lvl="1">
              <a:lnSpc>
                <a:spcPct val="107000"/>
              </a:lnSpc>
              <a:spcBef>
                <a:spcPct val="0"/>
              </a:spcBef>
            </a:pPr>
            <a:r>
              <a:rPr lang="en-US" altLang="en-US" sz="2400" dirty="0" err="1">
                <a:latin typeface="Courier New" panose="02070309020205020404" pitchFamily="49" charset="0"/>
                <a:ea typeface="Calibri" panose="020F0502020204030204" pitchFamily="34" charset="0"/>
                <a:cs typeface="Times New Roman" panose="02020603050405020304" pitchFamily="18" charset="0"/>
              </a:rPr>
              <a:t>create_oval</a:t>
            </a:r>
            <a:endParaRPr lang="en-US" altLang="en-US" sz="2400" dirty="0">
              <a:latin typeface="Calibri" panose="020F0502020204030204" pitchFamily="34" charset="0"/>
              <a:ea typeface="Calibri" panose="020F0502020204030204" pitchFamily="34" charset="0"/>
              <a:cs typeface="Times New Roman" panose="02020603050405020304" pitchFamily="18" charset="0"/>
            </a:endParaRPr>
          </a:p>
          <a:p>
            <a:pPr lvl="1">
              <a:lnSpc>
                <a:spcPct val="107000"/>
              </a:lnSpc>
              <a:spcBef>
                <a:spcPct val="0"/>
              </a:spcBef>
            </a:pPr>
            <a:r>
              <a:rPr lang="en-US" altLang="en-US" sz="2400" dirty="0" err="1">
                <a:latin typeface="Courier New" panose="02070309020205020404" pitchFamily="49" charset="0"/>
                <a:ea typeface="Calibri" panose="020F0502020204030204" pitchFamily="34" charset="0"/>
                <a:cs typeface="Times New Roman" panose="02020603050405020304" pitchFamily="18" charset="0"/>
              </a:rPr>
              <a:t>create_arc</a:t>
            </a:r>
            <a:endParaRPr lang="en-US" altLang="en-US" sz="2400" dirty="0">
              <a:latin typeface="Calibri" panose="020F0502020204030204" pitchFamily="34" charset="0"/>
              <a:ea typeface="Calibri" panose="020F0502020204030204" pitchFamily="34" charset="0"/>
              <a:cs typeface="Times New Roman" panose="02020603050405020304" pitchFamily="18" charset="0"/>
            </a:endParaRPr>
          </a:p>
          <a:p>
            <a:pPr lvl="1">
              <a:lnSpc>
                <a:spcPct val="107000"/>
              </a:lnSpc>
              <a:spcBef>
                <a:spcPct val="0"/>
              </a:spcBef>
            </a:pPr>
            <a:r>
              <a:rPr lang="en-US" altLang="en-US" sz="2400" dirty="0" err="1">
                <a:latin typeface="Courier New" panose="02070309020205020404" pitchFamily="49" charset="0"/>
                <a:ea typeface="Calibri" panose="020F0502020204030204" pitchFamily="34" charset="0"/>
                <a:cs typeface="Times New Roman" panose="02020603050405020304" pitchFamily="18" charset="0"/>
              </a:rPr>
              <a:t>create_polygon</a:t>
            </a:r>
            <a:endParaRPr lang="en-US" altLang="en-US" sz="2400" dirty="0">
              <a:latin typeface="Calibri" panose="020F0502020204030204" pitchFamily="34" charset="0"/>
              <a:ea typeface="Calibri" panose="020F0502020204030204" pitchFamily="34" charset="0"/>
              <a:cs typeface="Times New Roman" panose="02020603050405020304" pitchFamily="18" charset="0"/>
            </a:endParaRPr>
          </a:p>
          <a:p>
            <a:pPr lvl="1">
              <a:lnSpc>
                <a:spcPct val="107000"/>
              </a:lnSpc>
              <a:spcBef>
                <a:spcPct val="0"/>
              </a:spcBef>
              <a:spcAft>
                <a:spcPts val="800"/>
              </a:spcAft>
            </a:pPr>
            <a:r>
              <a:rPr lang="en-US" altLang="en-US" sz="2400" dirty="0" err="1">
                <a:latin typeface="Courier New" panose="02070309020205020404" pitchFamily="49" charset="0"/>
                <a:ea typeface="Calibri" panose="020F0502020204030204" pitchFamily="34" charset="0"/>
                <a:cs typeface="Times New Roman" panose="02020603050405020304" pitchFamily="18" charset="0"/>
              </a:rPr>
              <a:t>create_text</a:t>
            </a:r>
            <a:endParaRPr lang="en-US" altLang="en-US" sz="2400" dirty="0">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1">
            <a:extLst>
              <a:ext uri="{FF2B5EF4-FFF2-40B4-BE49-F238E27FC236}">
                <a16:creationId xmlns:a16="http://schemas.microsoft.com/office/drawing/2014/main" id="{FEFD56D0-DF58-4474-91E9-77177935588D}"/>
              </a:ext>
            </a:extLst>
          </p:cNvPr>
          <p:cNvSpPr>
            <a:spLocks noGrp="1" noChangeArrowheads="1"/>
          </p:cNvSpPr>
          <p:nvPr>
            <p:ph type="title"/>
          </p:nvPr>
        </p:nvSpPr>
        <p:spPr/>
        <p:txBody>
          <a:bodyPr/>
          <a:lstStyle/>
          <a:p>
            <a:r>
              <a:rPr lang="en-US" altLang="en-US" dirty="0"/>
              <a:t>Drawing a Line</a:t>
            </a:r>
            <a:r>
              <a:rPr lang="en-AU" sz="2000" b="0" dirty="0"/>
              <a:t> (1 of 2)</a:t>
            </a:r>
            <a:endParaRPr lang="en-US" altLang="en-US" sz="2000" dirty="0"/>
          </a:p>
        </p:txBody>
      </p:sp>
      <p:sp>
        <p:nvSpPr>
          <p:cNvPr id="65539" name="TextBox 3">
            <a:extLst>
              <a:ext uri="{FF2B5EF4-FFF2-40B4-BE49-F238E27FC236}">
                <a16:creationId xmlns:a16="http://schemas.microsoft.com/office/drawing/2014/main" id="{70106C70-AF5E-4A6E-8A32-5939B4F8256C}"/>
              </a:ext>
            </a:extLst>
          </p:cNvPr>
          <p:cNvSpPr txBox="1">
            <a:spLocks noChangeArrowheads="1"/>
          </p:cNvSpPr>
          <p:nvPr/>
        </p:nvSpPr>
        <p:spPr bwMode="auto">
          <a:xfrm>
            <a:off x="304800" y="3200400"/>
            <a:ext cx="8610600"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200" b="0" i="1" dirty="0" err="1">
                <a:latin typeface="Courier New" panose="02070309020205020404" pitchFamily="49" charset="0"/>
                <a:cs typeface="Calibri" panose="020F0502020204030204" pitchFamily="34" charset="0"/>
              </a:rPr>
              <a:t>canvas_name</a:t>
            </a:r>
            <a:r>
              <a:rPr lang="en-US" altLang="en-US" sz="2200" b="0" dirty="0" err="1">
                <a:latin typeface="Courier New" panose="02070309020205020404" pitchFamily="49" charset="0"/>
                <a:cs typeface="Calibri" panose="020F0502020204030204" pitchFamily="34" charset="0"/>
              </a:rPr>
              <a:t>.create_line</a:t>
            </a:r>
            <a:r>
              <a:rPr lang="en-US" altLang="en-US" sz="2200" b="0" dirty="0">
                <a:latin typeface="Courier New" panose="02070309020205020404" pitchFamily="49" charset="0"/>
                <a:cs typeface="Calibri" panose="020F0502020204030204" pitchFamily="34" charset="0"/>
              </a:rPr>
              <a:t>(x1, y1, x2, y2, </a:t>
            </a:r>
            <a:r>
              <a:rPr lang="en-US" altLang="en-US" sz="2200" b="0" i="1" dirty="0">
                <a:latin typeface="Courier New" panose="02070309020205020404" pitchFamily="49" charset="0"/>
                <a:cs typeface="Calibri" panose="020F0502020204030204" pitchFamily="34" charset="0"/>
              </a:rPr>
              <a:t>options</a:t>
            </a:r>
            <a:r>
              <a:rPr lang="en-US" altLang="en-US" sz="2200" b="0" dirty="0">
                <a:latin typeface="Courier New" panose="02070309020205020404" pitchFamily="49" charset="0"/>
                <a:cs typeface="Calibri" panose="020F0502020204030204" pitchFamily="34" charset="0"/>
              </a:rPr>
              <a:t>…)</a:t>
            </a:r>
            <a:endParaRPr lang="en-US" altLang="en-US" sz="2200" b="0" dirty="0"/>
          </a:p>
        </p:txBody>
      </p:sp>
      <p:sp>
        <p:nvSpPr>
          <p:cNvPr id="65540" name="Left Bracket 4">
            <a:extLst>
              <a:ext uri="{FF2B5EF4-FFF2-40B4-BE49-F238E27FC236}">
                <a16:creationId xmlns:a16="http://schemas.microsoft.com/office/drawing/2014/main" id="{3D4E850C-D991-4103-B015-7ECF37380E3F}"/>
              </a:ext>
            </a:extLst>
          </p:cNvPr>
          <p:cNvSpPr>
            <a:spLocks/>
          </p:cNvSpPr>
          <p:nvPr/>
        </p:nvSpPr>
        <p:spPr bwMode="auto">
          <a:xfrm rot="-5400000">
            <a:off x="4817269" y="3250406"/>
            <a:ext cx="304800" cy="1100138"/>
          </a:xfrm>
          <a:prstGeom prst="leftBracket">
            <a:avLst>
              <a:gd name="adj" fmla="val 8338"/>
            </a:avLst>
          </a:prstGeom>
          <a:noFill/>
          <a:ln w="9525" algn="ctr">
            <a:solidFill>
              <a:srgbClr val="007FA3"/>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1800" b="0"/>
          </a:p>
        </p:txBody>
      </p:sp>
      <p:sp>
        <p:nvSpPr>
          <p:cNvPr id="65541" name="TextBox 7">
            <a:extLst>
              <a:ext uri="{FF2B5EF4-FFF2-40B4-BE49-F238E27FC236}">
                <a16:creationId xmlns:a16="http://schemas.microsoft.com/office/drawing/2014/main" id="{02D9D865-7264-4B0F-A78A-047F569226F9}"/>
              </a:ext>
            </a:extLst>
          </p:cNvPr>
          <p:cNvSpPr txBox="1">
            <a:spLocks noChangeArrowheads="1"/>
          </p:cNvSpPr>
          <p:nvPr/>
        </p:nvSpPr>
        <p:spPr bwMode="auto">
          <a:xfrm>
            <a:off x="4114800" y="4090988"/>
            <a:ext cx="190817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1800" b="0" dirty="0">
                <a:solidFill>
                  <a:srgbClr val="007FA3"/>
                </a:solidFill>
              </a:rPr>
              <a:t>Coordinates of</a:t>
            </a:r>
          </a:p>
          <a:p>
            <a:pPr algn="ctr" eaLnBrk="1" hangingPunct="1">
              <a:spcBef>
                <a:spcPct val="0"/>
              </a:spcBef>
              <a:buFontTx/>
              <a:buNone/>
            </a:pPr>
            <a:r>
              <a:rPr lang="en-US" altLang="en-US" sz="1800" b="0" dirty="0">
                <a:solidFill>
                  <a:srgbClr val="007FA3"/>
                </a:solidFill>
              </a:rPr>
              <a:t>the line's starting</a:t>
            </a:r>
          </a:p>
          <a:p>
            <a:pPr algn="ctr" eaLnBrk="1" hangingPunct="1">
              <a:spcBef>
                <a:spcPct val="0"/>
              </a:spcBef>
              <a:buFontTx/>
              <a:buNone/>
            </a:pPr>
            <a:r>
              <a:rPr lang="en-US" altLang="en-US" sz="1800" b="0" dirty="0">
                <a:solidFill>
                  <a:srgbClr val="007FA3"/>
                </a:solidFill>
              </a:rPr>
              <a:t>point</a:t>
            </a:r>
          </a:p>
        </p:txBody>
      </p:sp>
      <p:sp>
        <p:nvSpPr>
          <p:cNvPr id="65542" name="TextBox 8">
            <a:extLst>
              <a:ext uri="{FF2B5EF4-FFF2-40B4-BE49-F238E27FC236}">
                <a16:creationId xmlns:a16="http://schemas.microsoft.com/office/drawing/2014/main" id="{44D804E0-3389-4388-95CE-96EBE0ED27F5}"/>
              </a:ext>
            </a:extLst>
          </p:cNvPr>
          <p:cNvSpPr txBox="1">
            <a:spLocks noChangeArrowheads="1"/>
          </p:cNvSpPr>
          <p:nvPr/>
        </p:nvSpPr>
        <p:spPr bwMode="auto">
          <a:xfrm>
            <a:off x="5334000" y="2025650"/>
            <a:ext cx="1843088"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1800" b="0" dirty="0">
                <a:solidFill>
                  <a:srgbClr val="007FA3"/>
                </a:solidFill>
              </a:rPr>
              <a:t>Coordinates of</a:t>
            </a:r>
          </a:p>
          <a:p>
            <a:pPr algn="ctr" eaLnBrk="1" hangingPunct="1">
              <a:spcBef>
                <a:spcPct val="0"/>
              </a:spcBef>
              <a:buFontTx/>
              <a:buNone/>
            </a:pPr>
            <a:r>
              <a:rPr lang="en-US" altLang="en-US" sz="1800" b="0" dirty="0">
                <a:solidFill>
                  <a:srgbClr val="007FA3"/>
                </a:solidFill>
              </a:rPr>
              <a:t>the line's ending</a:t>
            </a:r>
          </a:p>
          <a:p>
            <a:pPr algn="ctr" eaLnBrk="1" hangingPunct="1">
              <a:spcBef>
                <a:spcPct val="0"/>
              </a:spcBef>
              <a:buFontTx/>
              <a:buNone/>
            </a:pPr>
            <a:r>
              <a:rPr lang="en-US" altLang="en-US" sz="1800" b="0" dirty="0">
                <a:solidFill>
                  <a:srgbClr val="007FA3"/>
                </a:solidFill>
              </a:rPr>
              <a:t>point</a:t>
            </a:r>
          </a:p>
        </p:txBody>
      </p:sp>
      <p:sp>
        <p:nvSpPr>
          <p:cNvPr id="65543" name="Left Bracket 9">
            <a:extLst>
              <a:ext uri="{FF2B5EF4-FFF2-40B4-BE49-F238E27FC236}">
                <a16:creationId xmlns:a16="http://schemas.microsoft.com/office/drawing/2014/main" id="{D711DD0F-582C-4E4A-8F1B-77DD81E9E367}"/>
              </a:ext>
            </a:extLst>
          </p:cNvPr>
          <p:cNvSpPr>
            <a:spLocks/>
          </p:cNvSpPr>
          <p:nvPr/>
        </p:nvSpPr>
        <p:spPr bwMode="auto">
          <a:xfrm rot="5400000">
            <a:off x="6103144" y="2582069"/>
            <a:ext cx="304800" cy="1100138"/>
          </a:xfrm>
          <a:prstGeom prst="leftBracket">
            <a:avLst>
              <a:gd name="adj" fmla="val 8338"/>
            </a:avLst>
          </a:prstGeom>
          <a:noFill/>
          <a:ln w="9525" algn="ctr">
            <a:solidFill>
              <a:srgbClr val="007FA3"/>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1800" b="0">
              <a:solidFill>
                <a:srgbClr val="007FA3"/>
              </a:solidFill>
            </a:endParaRPr>
          </a:p>
        </p:txBody>
      </p:sp>
      <p:sp>
        <p:nvSpPr>
          <p:cNvPr id="65544" name="TextBox 10">
            <a:extLst>
              <a:ext uri="{FF2B5EF4-FFF2-40B4-BE49-F238E27FC236}">
                <a16:creationId xmlns:a16="http://schemas.microsoft.com/office/drawing/2014/main" id="{239A5FEC-5F0C-4C79-8683-CFA83421D712}"/>
              </a:ext>
            </a:extLst>
          </p:cNvPr>
          <p:cNvSpPr txBox="1">
            <a:spLocks noChangeArrowheads="1"/>
          </p:cNvSpPr>
          <p:nvPr/>
        </p:nvSpPr>
        <p:spPr bwMode="auto">
          <a:xfrm>
            <a:off x="6629400" y="4090988"/>
            <a:ext cx="219868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1800" b="0" dirty="0">
                <a:solidFill>
                  <a:srgbClr val="007FA3"/>
                </a:solidFill>
              </a:rPr>
              <a:t>Optional arguments</a:t>
            </a:r>
          </a:p>
          <a:p>
            <a:pPr algn="ctr" eaLnBrk="1" hangingPunct="1">
              <a:spcBef>
                <a:spcPct val="0"/>
              </a:spcBef>
              <a:buFontTx/>
              <a:buNone/>
            </a:pPr>
            <a:r>
              <a:rPr lang="en-US" altLang="en-US" sz="1800" b="0" dirty="0">
                <a:solidFill>
                  <a:srgbClr val="007FA3"/>
                </a:solidFill>
              </a:rPr>
              <a:t>(See Table 13-2)</a:t>
            </a:r>
          </a:p>
        </p:txBody>
      </p:sp>
      <p:cxnSp>
        <p:nvCxnSpPr>
          <p:cNvPr id="65545" name="Straight Connector 12">
            <a:extLst>
              <a:ext uri="{FF2B5EF4-FFF2-40B4-BE49-F238E27FC236}">
                <a16:creationId xmlns:a16="http://schemas.microsoft.com/office/drawing/2014/main" id="{7D416E10-C585-4841-B897-49F956E978BE}"/>
              </a:ext>
            </a:extLst>
          </p:cNvPr>
          <p:cNvCxnSpPr>
            <a:cxnSpLocks noChangeShapeType="1"/>
            <a:stCxn id="65544" idx="0"/>
          </p:cNvCxnSpPr>
          <p:nvPr/>
        </p:nvCxnSpPr>
        <p:spPr bwMode="auto">
          <a:xfrm flipV="1">
            <a:off x="7727950" y="3581400"/>
            <a:ext cx="44450" cy="509588"/>
          </a:xfrm>
          <a:prstGeom prst="line">
            <a:avLst/>
          </a:prstGeom>
          <a:noFill/>
          <a:ln w="9525" algn="ctr">
            <a:solidFill>
              <a:srgbClr val="007FA3"/>
            </a:solidFill>
            <a:round/>
            <a:headEnd/>
            <a:tailEnd/>
          </a:ln>
          <a:extLst>
            <a:ext uri="{909E8E84-426E-40DD-AFC4-6F175D3DCCD1}">
              <a14:hiddenFill xmlns:a14="http://schemas.microsoft.com/office/drawing/2010/main">
                <a:noFill/>
              </a14:hiddenFill>
            </a:ext>
          </a:extLst>
        </p:spPr>
      </p:cxn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37F51-143E-4749-AB42-5156C47DCAE0}"/>
              </a:ext>
            </a:extLst>
          </p:cNvPr>
          <p:cNvSpPr>
            <a:spLocks noGrp="1"/>
          </p:cNvSpPr>
          <p:nvPr>
            <p:ph type="title"/>
          </p:nvPr>
        </p:nvSpPr>
        <p:spPr>
          <a:xfrm>
            <a:off x="457200" y="215372"/>
            <a:ext cx="8229600" cy="516465"/>
          </a:xfrm>
        </p:spPr>
        <p:txBody>
          <a:bodyPr/>
          <a:lstStyle/>
          <a:p>
            <a:r>
              <a:rPr lang="en-US" altLang="en-US" dirty="0"/>
              <a:t>Drawing a Line</a:t>
            </a:r>
            <a:r>
              <a:rPr lang="en-AU" sz="2000" b="0" dirty="0"/>
              <a:t> (2 of 2)</a:t>
            </a:r>
            <a:endParaRPr lang="en-AU" sz="2000" dirty="0"/>
          </a:p>
        </p:txBody>
      </p:sp>
      <p:sp>
        <p:nvSpPr>
          <p:cNvPr id="6" name="Rectangle 5">
            <a:extLst>
              <a:ext uri="{FF2B5EF4-FFF2-40B4-BE49-F238E27FC236}">
                <a16:creationId xmlns:a16="http://schemas.microsoft.com/office/drawing/2014/main" id="{5BC4A468-C103-495A-9A0F-6B3D62551CAB}"/>
              </a:ext>
            </a:extLst>
          </p:cNvPr>
          <p:cNvSpPr/>
          <p:nvPr/>
        </p:nvSpPr>
        <p:spPr>
          <a:xfrm>
            <a:off x="422031" y="846177"/>
            <a:ext cx="8229600" cy="5478423"/>
          </a:xfrm>
          <a:prstGeom prst="rect">
            <a:avLst/>
          </a:prstGeom>
        </p:spPr>
        <p:txBody>
          <a:bodyPr wrap="square">
            <a:spAutoFit/>
          </a:bodyPr>
          <a:lstStyle/>
          <a:p>
            <a:r>
              <a:rPr lang="en-US" sz="1400" dirty="0">
                <a:solidFill>
                  <a:srgbClr val="007FA3"/>
                </a:solidFill>
                <a:latin typeface="Courier New" panose="02070309020205020404" pitchFamily="49" charset="0"/>
                <a:cs typeface="Courier New" panose="02070309020205020404" pitchFamily="49" charset="0"/>
              </a:rPr>
              <a:t>1</a:t>
            </a:r>
            <a:r>
              <a:rPr lang="en-US" sz="1400" dirty="0">
                <a:solidFill>
                  <a:srgbClr val="1473FF"/>
                </a:solidFill>
                <a:latin typeface="Courier New" panose="02070309020205020404" pitchFamily="49" charset="0"/>
                <a:cs typeface="Courier New" panose="02070309020205020404" pitchFamily="49" charset="0"/>
              </a:rPr>
              <a:t> </a:t>
            </a:r>
            <a:r>
              <a:rPr lang="en-US" sz="1400" dirty="0">
                <a:solidFill>
                  <a:srgbClr val="000000"/>
                </a:solidFill>
                <a:latin typeface="Courier New" panose="02070309020205020404" pitchFamily="49" charset="0"/>
                <a:cs typeface="Courier New" panose="02070309020205020404" pitchFamily="49" charset="0"/>
              </a:rPr>
              <a:t># This program demonstrates the Canvas widget.</a:t>
            </a:r>
          </a:p>
          <a:p>
            <a:r>
              <a:rPr lang="en-AU" sz="1400" dirty="0">
                <a:solidFill>
                  <a:srgbClr val="007FA3"/>
                </a:solidFill>
                <a:latin typeface="Courier New" panose="02070309020205020404" pitchFamily="49" charset="0"/>
                <a:cs typeface="Courier New" panose="02070309020205020404" pitchFamily="49" charset="0"/>
              </a:rPr>
              <a:t>2</a:t>
            </a:r>
            <a:r>
              <a:rPr lang="en-AU" sz="1400" dirty="0">
                <a:solidFill>
                  <a:srgbClr val="1473FF"/>
                </a:solidFill>
                <a:latin typeface="Courier New" panose="02070309020205020404" pitchFamily="49" charset="0"/>
                <a:cs typeface="Courier New" panose="02070309020205020404" pitchFamily="49" charset="0"/>
              </a:rPr>
              <a:t> </a:t>
            </a:r>
            <a:r>
              <a:rPr lang="en-AU" sz="1400" dirty="0">
                <a:solidFill>
                  <a:srgbClr val="000000"/>
                </a:solidFill>
                <a:latin typeface="Courier New" panose="02070309020205020404" pitchFamily="49" charset="0"/>
                <a:cs typeface="Courier New" panose="02070309020205020404" pitchFamily="49" charset="0"/>
              </a:rPr>
              <a:t>import </a:t>
            </a:r>
            <a:r>
              <a:rPr lang="en-AU" sz="1400" dirty="0" err="1">
                <a:solidFill>
                  <a:srgbClr val="000000"/>
                </a:solidFill>
                <a:latin typeface="Courier New" panose="02070309020205020404" pitchFamily="49" charset="0"/>
                <a:cs typeface="Courier New" panose="02070309020205020404" pitchFamily="49" charset="0"/>
              </a:rPr>
              <a:t>tkinter</a:t>
            </a:r>
            <a:endParaRPr lang="en-AU" sz="1400" dirty="0">
              <a:solidFill>
                <a:srgbClr val="000000"/>
              </a:solidFill>
              <a:latin typeface="Courier New" panose="02070309020205020404" pitchFamily="49" charset="0"/>
              <a:cs typeface="Courier New" panose="02070309020205020404" pitchFamily="49" charset="0"/>
            </a:endParaRPr>
          </a:p>
          <a:p>
            <a:r>
              <a:rPr lang="en-AU" sz="1400" dirty="0">
                <a:solidFill>
                  <a:srgbClr val="007FA3"/>
                </a:solidFill>
                <a:latin typeface="Courier New" panose="02070309020205020404" pitchFamily="49" charset="0"/>
                <a:cs typeface="Courier New" panose="02070309020205020404" pitchFamily="49" charset="0"/>
              </a:rPr>
              <a:t>3</a:t>
            </a:r>
          </a:p>
          <a:p>
            <a:r>
              <a:rPr lang="en-AU" sz="1400" dirty="0">
                <a:solidFill>
                  <a:srgbClr val="007FA3"/>
                </a:solidFill>
                <a:latin typeface="Courier New" panose="02070309020205020404" pitchFamily="49" charset="0"/>
                <a:cs typeface="Courier New" panose="02070309020205020404" pitchFamily="49" charset="0"/>
              </a:rPr>
              <a:t>4</a:t>
            </a:r>
            <a:r>
              <a:rPr lang="en-AU" sz="1400" dirty="0">
                <a:solidFill>
                  <a:srgbClr val="1473FF"/>
                </a:solidFill>
                <a:latin typeface="Courier New" panose="02070309020205020404" pitchFamily="49" charset="0"/>
                <a:cs typeface="Courier New" panose="02070309020205020404" pitchFamily="49" charset="0"/>
              </a:rPr>
              <a:t> </a:t>
            </a:r>
            <a:r>
              <a:rPr lang="en-AU" sz="1400" dirty="0">
                <a:solidFill>
                  <a:srgbClr val="000000"/>
                </a:solidFill>
                <a:latin typeface="Courier New" panose="02070309020205020404" pitchFamily="49" charset="0"/>
                <a:cs typeface="Courier New" panose="02070309020205020404" pitchFamily="49" charset="0"/>
              </a:rPr>
              <a:t>class </a:t>
            </a:r>
            <a:r>
              <a:rPr lang="en-AU" sz="1400" dirty="0" err="1">
                <a:solidFill>
                  <a:srgbClr val="000000"/>
                </a:solidFill>
                <a:latin typeface="Courier New" panose="02070309020205020404" pitchFamily="49" charset="0"/>
                <a:cs typeface="Courier New" panose="02070309020205020404" pitchFamily="49" charset="0"/>
              </a:rPr>
              <a:t>MyGUI</a:t>
            </a:r>
            <a:r>
              <a:rPr lang="en-AU" sz="1400" dirty="0">
                <a:solidFill>
                  <a:srgbClr val="000000"/>
                </a:solidFill>
                <a:latin typeface="Courier New" panose="02070309020205020404" pitchFamily="49" charset="0"/>
                <a:cs typeface="Courier New" panose="02070309020205020404" pitchFamily="49" charset="0"/>
              </a:rPr>
              <a:t>:</a:t>
            </a:r>
          </a:p>
          <a:p>
            <a:r>
              <a:rPr lang="en-AU" sz="1400" dirty="0">
                <a:solidFill>
                  <a:srgbClr val="007FA3"/>
                </a:solidFill>
                <a:latin typeface="Courier New" panose="02070309020205020404" pitchFamily="49" charset="0"/>
                <a:cs typeface="Courier New" panose="02070309020205020404" pitchFamily="49" charset="0"/>
              </a:rPr>
              <a:t>5</a:t>
            </a:r>
            <a:r>
              <a:rPr lang="en-AU" sz="1400" dirty="0">
                <a:solidFill>
                  <a:srgbClr val="1473FF"/>
                </a:solidFill>
                <a:latin typeface="Courier New" panose="02070309020205020404" pitchFamily="49" charset="0"/>
                <a:cs typeface="Courier New" panose="02070309020205020404" pitchFamily="49" charset="0"/>
              </a:rPr>
              <a:t> 	</a:t>
            </a:r>
            <a:r>
              <a:rPr lang="en-AU" sz="1400" dirty="0">
                <a:solidFill>
                  <a:srgbClr val="000000"/>
                </a:solidFill>
                <a:latin typeface="Courier New" panose="02070309020205020404" pitchFamily="49" charset="0"/>
                <a:cs typeface="Courier New" panose="02070309020205020404" pitchFamily="49" charset="0"/>
              </a:rPr>
              <a:t>def _ _</a:t>
            </a:r>
            <a:r>
              <a:rPr lang="en-AU" sz="1400" dirty="0" err="1">
                <a:solidFill>
                  <a:srgbClr val="000000"/>
                </a:solidFill>
                <a:latin typeface="Courier New" panose="02070309020205020404" pitchFamily="49" charset="0"/>
                <a:cs typeface="Courier New" panose="02070309020205020404" pitchFamily="49" charset="0"/>
              </a:rPr>
              <a:t>init</a:t>
            </a:r>
            <a:r>
              <a:rPr lang="en-AU" sz="1400" dirty="0">
                <a:solidFill>
                  <a:srgbClr val="000000"/>
                </a:solidFill>
                <a:latin typeface="Courier New" panose="02070309020205020404" pitchFamily="49" charset="0"/>
                <a:cs typeface="Courier New" panose="02070309020205020404" pitchFamily="49" charset="0"/>
              </a:rPr>
              <a:t>_ _(self):</a:t>
            </a:r>
          </a:p>
          <a:p>
            <a:pPr>
              <a:tabLst>
                <a:tab pos="1255713" algn="l"/>
              </a:tabLst>
            </a:pPr>
            <a:r>
              <a:rPr lang="en-US" sz="1400" dirty="0">
                <a:solidFill>
                  <a:srgbClr val="007FA3"/>
                </a:solidFill>
                <a:latin typeface="Courier New" panose="02070309020205020404" pitchFamily="49" charset="0"/>
                <a:cs typeface="Courier New" panose="02070309020205020404" pitchFamily="49" charset="0"/>
              </a:rPr>
              <a:t>6</a:t>
            </a:r>
            <a:r>
              <a:rPr lang="en-US" sz="1400" dirty="0">
                <a:solidFill>
                  <a:srgbClr val="1473FF"/>
                </a:solidFill>
                <a:latin typeface="Courier New" panose="02070309020205020404" pitchFamily="49" charset="0"/>
                <a:cs typeface="Courier New" panose="02070309020205020404" pitchFamily="49" charset="0"/>
              </a:rPr>
              <a:t> 	</a:t>
            </a:r>
            <a:r>
              <a:rPr lang="en-US" sz="1400" dirty="0">
                <a:solidFill>
                  <a:srgbClr val="000000"/>
                </a:solidFill>
                <a:latin typeface="Courier New" panose="02070309020205020404" pitchFamily="49" charset="0"/>
                <a:cs typeface="Courier New" panose="02070309020205020404" pitchFamily="49" charset="0"/>
              </a:rPr>
              <a:t># Create the main window.</a:t>
            </a:r>
          </a:p>
          <a:p>
            <a:pPr>
              <a:tabLst>
                <a:tab pos="1255713" algn="l"/>
              </a:tabLst>
            </a:pPr>
            <a:r>
              <a:rPr lang="en-US" sz="1400" dirty="0">
                <a:solidFill>
                  <a:srgbClr val="007FA3"/>
                </a:solidFill>
                <a:latin typeface="Courier New" panose="02070309020205020404" pitchFamily="49" charset="0"/>
                <a:cs typeface="Courier New" panose="02070309020205020404" pitchFamily="49" charset="0"/>
              </a:rPr>
              <a:t>7</a:t>
            </a:r>
            <a:r>
              <a:rPr lang="en-US" sz="1400" dirty="0">
                <a:solidFill>
                  <a:srgbClr val="1473FF"/>
                </a:solidFill>
                <a:latin typeface="Courier New" panose="02070309020205020404" pitchFamily="49" charset="0"/>
                <a:cs typeface="Courier New" panose="02070309020205020404" pitchFamily="49" charset="0"/>
              </a:rPr>
              <a:t> 	</a:t>
            </a:r>
            <a:r>
              <a:rPr lang="en-US" sz="1400" dirty="0" err="1">
                <a:solidFill>
                  <a:srgbClr val="000000"/>
                </a:solidFill>
                <a:latin typeface="Courier New" panose="02070309020205020404" pitchFamily="49" charset="0"/>
                <a:cs typeface="Courier New" panose="02070309020205020404" pitchFamily="49" charset="0"/>
              </a:rPr>
              <a:t>self.main_window</a:t>
            </a:r>
            <a:r>
              <a:rPr lang="en-US" sz="1400" dirty="0">
                <a:solidFill>
                  <a:srgbClr val="000000"/>
                </a:solidFill>
                <a:latin typeface="Courier New" panose="02070309020205020404" pitchFamily="49" charset="0"/>
                <a:cs typeface="Courier New" panose="02070309020205020404" pitchFamily="49" charset="0"/>
              </a:rPr>
              <a:t> = </a:t>
            </a:r>
            <a:r>
              <a:rPr lang="en-US" sz="1400" dirty="0" err="1">
                <a:solidFill>
                  <a:srgbClr val="000000"/>
                </a:solidFill>
                <a:latin typeface="Courier New" panose="02070309020205020404" pitchFamily="49" charset="0"/>
                <a:cs typeface="Courier New" panose="02070309020205020404" pitchFamily="49" charset="0"/>
              </a:rPr>
              <a:t>tkinter.Tk</a:t>
            </a:r>
            <a:r>
              <a:rPr lang="en-US" sz="1400" dirty="0">
                <a:solidFill>
                  <a:srgbClr val="000000"/>
                </a:solidFill>
                <a:latin typeface="Courier New" panose="02070309020205020404" pitchFamily="49" charset="0"/>
                <a:cs typeface="Courier New" panose="02070309020205020404" pitchFamily="49" charset="0"/>
              </a:rPr>
              <a:t>()</a:t>
            </a:r>
          </a:p>
          <a:p>
            <a:r>
              <a:rPr lang="en-AU" sz="1400" dirty="0">
                <a:solidFill>
                  <a:srgbClr val="007FA3"/>
                </a:solidFill>
                <a:latin typeface="Courier New" panose="02070309020205020404" pitchFamily="49" charset="0"/>
                <a:cs typeface="Courier New" panose="02070309020205020404" pitchFamily="49" charset="0"/>
              </a:rPr>
              <a:t>8</a:t>
            </a:r>
          </a:p>
          <a:p>
            <a:pPr>
              <a:tabLst>
                <a:tab pos="1255713" algn="l"/>
              </a:tabLst>
            </a:pPr>
            <a:r>
              <a:rPr lang="en-US" sz="1400" dirty="0">
                <a:solidFill>
                  <a:srgbClr val="007FA3"/>
                </a:solidFill>
                <a:latin typeface="Courier New" panose="02070309020205020404" pitchFamily="49" charset="0"/>
                <a:cs typeface="Courier New" panose="02070309020205020404" pitchFamily="49" charset="0"/>
              </a:rPr>
              <a:t>9</a:t>
            </a:r>
            <a:r>
              <a:rPr lang="en-US" sz="1400" dirty="0">
                <a:solidFill>
                  <a:srgbClr val="1473FF"/>
                </a:solidFill>
                <a:latin typeface="Courier New" panose="02070309020205020404" pitchFamily="49" charset="0"/>
                <a:cs typeface="Courier New" panose="02070309020205020404" pitchFamily="49" charset="0"/>
              </a:rPr>
              <a:t> 	</a:t>
            </a:r>
            <a:r>
              <a:rPr lang="en-US" sz="1400" dirty="0">
                <a:solidFill>
                  <a:srgbClr val="000000"/>
                </a:solidFill>
                <a:latin typeface="Courier New" panose="02070309020205020404" pitchFamily="49" charset="0"/>
                <a:cs typeface="Courier New" panose="02070309020205020404" pitchFamily="49" charset="0"/>
              </a:rPr>
              <a:t># Create the Canvas widget.</a:t>
            </a:r>
          </a:p>
          <a:p>
            <a:pPr>
              <a:tabLst>
                <a:tab pos="1255713" algn="l"/>
              </a:tabLst>
            </a:pPr>
            <a:r>
              <a:rPr lang="en-AU" sz="1400" dirty="0">
                <a:solidFill>
                  <a:srgbClr val="007FA3"/>
                </a:solidFill>
                <a:latin typeface="Courier New" panose="02070309020205020404" pitchFamily="49" charset="0"/>
                <a:cs typeface="Courier New" panose="02070309020205020404" pitchFamily="49" charset="0"/>
              </a:rPr>
              <a:t>10</a:t>
            </a:r>
            <a:r>
              <a:rPr lang="en-AU" sz="1400" dirty="0">
                <a:solidFill>
                  <a:srgbClr val="1473FF"/>
                </a:solidFill>
                <a:latin typeface="Courier New" panose="02070309020205020404" pitchFamily="49" charset="0"/>
                <a:cs typeface="Courier New" panose="02070309020205020404" pitchFamily="49" charset="0"/>
              </a:rPr>
              <a:t> 	</a:t>
            </a:r>
            <a:r>
              <a:rPr lang="en-AU" sz="1400" dirty="0" err="1">
                <a:solidFill>
                  <a:srgbClr val="000000"/>
                </a:solidFill>
                <a:latin typeface="Courier New" panose="02070309020205020404" pitchFamily="49" charset="0"/>
                <a:cs typeface="Courier New" panose="02070309020205020404" pitchFamily="49" charset="0"/>
              </a:rPr>
              <a:t>self.canvas</a:t>
            </a:r>
            <a:r>
              <a:rPr lang="en-AU" sz="1400" dirty="0">
                <a:solidFill>
                  <a:srgbClr val="000000"/>
                </a:solidFill>
                <a:latin typeface="Courier New" panose="02070309020205020404" pitchFamily="49" charset="0"/>
                <a:cs typeface="Courier New" panose="02070309020205020404" pitchFamily="49" charset="0"/>
              </a:rPr>
              <a:t> = </a:t>
            </a:r>
            <a:r>
              <a:rPr lang="en-AU" sz="1400" dirty="0" err="1">
                <a:solidFill>
                  <a:srgbClr val="000000"/>
                </a:solidFill>
                <a:latin typeface="Courier New" panose="02070309020205020404" pitchFamily="49" charset="0"/>
                <a:cs typeface="Courier New" panose="02070309020205020404" pitchFamily="49" charset="0"/>
              </a:rPr>
              <a:t>tkinter.Canvas</a:t>
            </a:r>
            <a:r>
              <a:rPr lang="en-AU" sz="1400" dirty="0">
                <a:solidFill>
                  <a:srgbClr val="000000"/>
                </a:solidFill>
                <a:latin typeface="Courier New" panose="02070309020205020404" pitchFamily="49" charset="0"/>
                <a:cs typeface="Courier New" panose="02070309020205020404" pitchFamily="49" charset="0"/>
              </a:rPr>
              <a:t>(</a:t>
            </a:r>
            <a:r>
              <a:rPr lang="en-AU" sz="1400" dirty="0" err="1">
                <a:solidFill>
                  <a:srgbClr val="000000"/>
                </a:solidFill>
                <a:latin typeface="Courier New" panose="02070309020205020404" pitchFamily="49" charset="0"/>
                <a:cs typeface="Courier New" panose="02070309020205020404" pitchFamily="49" charset="0"/>
              </a:rPr>
              <a:t>self.main_window</a:t>
            </a:r>
            <a:r>
              <a:rPr lang="en-AU" sz="1400" dirty="0">
                <a:solidFill>
                  <a:srgbClr val="000000"/>
                </a:solidFill>
                <a:latin typeface="Courier New" panose="02070309020205020404" pitchFamily="49" charset="0"/>
                <a:cs typeface="Courier New" panose="02070309020205020404" pitchFamily="49" charset="0"/>
              </a:rPr>
              <a:t>, 			width=200,height=200)</a:t>
            </a:r>
          </a:p>
          <a:p>
            <a:r>
              <a:rPr lang="en-AU" sz="1400" dirty="0">
                <a:solidFill>
                  <a:srgbClr val="007FA3"/>
                </a:solidFill>
                <a:latin typeface="Courier New" panose="02070309020205020404" pitchFamily="49" charset="0"/>
                <a:cs typeface="Courier New" panose="02070309020205020404" pitchFamily="49" charset="0"/>
              </a:rPr>
              <a:t>11</a:t>
            </a:r>
          </a:p>
          <a:p>
            <a:pPr>
              <a:tabLst>
                <a:tab pos="1255713" algn="l"/>
              </a:tabLst>
            </a:pPr>
            <a:r>
              <a:rPr lang="en-AU" sz="1400" dirty="0">
                <a:solidFill>
                  <a:srgbClr val="007FA3"/>
                </a:solidFill>
                <a:latin typeface="Courier New" panose="02070309020205020404" pitchFamily="49" charset="0"/>
                <a:cs typeface="Courier New" panose="02070309020205020404" pitchFamily="49" charset="0"/>
              </a:rPr>
              <a:t>12</a:t>
            </a:r>
            <a:r>
              <a:rPr lang="en-AU" sz="1400" dirty="0">
                <a:solidFill>
                  <a:srgbClr val="1473FF"/>
                </a:solidFill>
                <a:latin typeface="Courier New" panose="02070309020205020404" pitchFamily="49" charset="0"/>
                <a:cs typeface="Courier New" panose="02070309020205020404" pitchFamily="49" charset="0"/>
              </a:rPr>
              <a:t> 	</a:t>
            </a:r>
            <a:r>
              <a:rPr lang="en-AU" sz="1400" dirty="0">
                <a:solidFill>
                  <a:srgbClr val="000000"/>
                </a:solidFill>
                <a:latin typeface="Courier New" panose="02070309020205020404" pitchFamily="49" charset="0"/>
                <a:cs typeface="Courier New" panose="02070309020205020404" pitchFamily="49" charset="0"/>
              </a:rPr>
              <a:t># Draw two lines.</a:t>
            </a:r>
          </a:p>
          <a:p>
            <a:pPr>
              <a:tabLst>
                <a:tab pos="1255713" algn="l"/>
              </a:tabLst>
            </a:pPr>
            <a:r>
              <a:rPr lang="en-US" sz="1400" dirty="0">
                <a:solidFill>
                  <a:srgbClr val="007FA3"/>
                </a:solidFill>
                <a:latin typeface="Courier New" panose="02070309020205020404" pitchFamily="49" charset="0"/>
                <a:cs typeface="Courier New" panose="02070309020205020404" pitchFamily="49" charset="0"/>
              </a:rPr>
              <a:t>13</a:t>
            </a:r>
            <a:r>
              <a:rPr lang="en-US" sz="1400" dirty="0">
                <a:solidFill>
                  <a:srgbClr val="1473FF"/>
                </a:solidFill>
                <a:latin typeface="Courier New" panose="02070309020205020404" pitchFamily="49" charset="0"/>
                <a:cs typeface="Courier New" panose="02070309020205020404" pitchFamily="49" charset="0"/>
              </a:rPr>
              <a:t> 	</a:t>
            </a:r>
            <a:r>
              <a:rPr lang="en-US" sz="1400" dirty="0" err="1">
                <a:solidFill>
                  <a:srgbClr val="000000"/>
                </a:solidFill>
                <a:latin typeface="Courier New" panose="02070309020205020404" pitchFamily="49" charset="0"/>
                <a:cs typeface="Courier New" panose="02070309020205020404" pitchFamily="49" charset="0"/>
              </a:rPr>
              <a:t>self.canvas.create_line</a:t>
            </a:r>
            <a:r>
              <a:rPr lang="en-US" sz="1400" dirty="0">
                <a:solidFill>
                  <a:srgbClr val="000000"/>
                </a:solidFill>
                <a:latin typeface="Courier New" panose="02070309020205020404" pitchFamily="49" charset="0"/>
                <a:cs typeface="Courier New" panose="02070309020205020404" pitchFamily="49" charset="0"/>
              </a:rPr>
              <a:t>(0, 0, 199, 199)</a:t>
            </a:r>
          </a:p>
          <a:p>
            <a:pPr>
              <a:tabLst>
                <a:tab pos="1255713" algn="l"/>
              </a:tabLst>
            </a:pPr>
            <a:r>
              <a:rPr lang="en-US" sz="1400" dirty="0">
                <a:solidFill>
                  <a:srgbClr val="007FA3"/>
                </a:solidFill>
                <a:latin typeface="Courier New" panose="02070309020205020404" pitchFamily="49" charset="0"/>
                <a:cs typeface="Courier New" panose="02070309020205020404" pitchFamily="49" charset="0"/>
              </a:rPr>
              <a:t>14</a:t>
            </a:r>
            <a:r>
              <a:rPr lang="en-US" sz="1400" dirty="0">
                <a:solidFill>
                  <a:srgbClr val="1473FF"/>
                </a:solidFill>
                <a:latin typeface="Courier New" panose="02070309020205020404" pitchFamily="49" charset="0"/>
                <a:cs typeface="Courier New" panose="02070309020205020404" pitchFamily="49" charset="0"/>
              </a:rPr>
              <a:t> 	</a:t>
            </a:r>
            <a:r>
              <a:rPr lang="en-US" sz="1400" dirty="0" err="1">
                <a:solidFill>
                  <a:srgbClr val="000000"/>
                </a:solidFill>
                <a:latin typeface="Courier New" panose="02070309020205020404" pitchFamily="49" charset="0"/>
                <a:cs typeface="Courier New" panose="02070309020205020404" pitchFamily="49" charset="0"/>
              </a:rPr>
              <a:t>self.canvas.create_line</a:t>
            </a:r>
            <a:r>
              <a:rPr lang="en-US" sz="1400" dirty="0">
                <a:solidFill>
                  <a:srgbClr val="000000"/>
                </a:solidFill>
                <a:latin typeface="Courier New" panose="02070309020205020404" pitchFamily="49" charset="0"/>
                <a:cs typeface="Courier New" panose="02070309020205020404" pitchFamily="49" charset="0"/>
              </a:rPr>
              <a:t>(199, 0, 0, 199)</a:t>
            </a:r>
          </a:p>
          <a:p>
            <a:r>
              <a:rPr lang="en-AU" sz="1400" dirty="0">
                <a:solidFill>
                  <a:srgbClr val="007FA3"/>
                </a:solidFill>
                <a:latin typeface="Courier New" panose="02070309020205020404" pitchFamily="49" charset="0"/>
                <a:cs typeface="Courier New" panose="02070309020205020404" pitchFamily="49" charset="0"/>
              </a:rPr>
              <a:t>15</a:t>
            </a:r>
          </a:p>
          <a:p>
            <a:pPr>
              <a:tabLst>
                <a:tab pos="1255713" algn="l"/>
              </a:tabLst>
            </a:pPr>
            <a:r>
              <a:rPr lang="en-AU" sz="1400" dirty="0">
                <a:solidFill>
                  <a:srgbClr val="007FA3"/>
                </a:solidFill>
                <a:latin typeface="Courier New" panose="02070309020205020404" pitchFamily="49" charset="0"/>
                <a:cs typeface="Courier New" panose="02070309020205020404" pitchFamily="49" charset="0"/>
              </a:rPr>
              <a:t>16</a:t>
            </a:r>
            <a:r>
              <a:rPr lang="en-AU" sz="1400" dirty="0">
                <a:solidFill>
                  <a:srgbClr val="1473FF"/>
                </a:solidFill>
                <a:latin typeface="Courier New" panose="02070309020205020404" pitchFamily="49" charset="0"/>
                <a:cs typeface="Courier New" panose="02070309020205020404" pitchFamily="49" charset="0"/>
              </a:rPr>
              <a:t> 	</a:t>
            </a:r>
            <a:r>
              <a:rPr lang="en-AU" sz="1400" dirty="0">
                <a:solidFill>
                  <a:srgbClr val="000000"/>
                </a:solidFill>
                <a:latin typeface="Courier New" panose="02070309020205020404" pitchFamily="49" charset="0"/>
                <a:cs typeface="Courier New" panose="02070309020205020404" pitchFamily="49" charset="0"/>
              </a:rPr>
              <a:t># Pack the canvas.</a:t>
            </a:r>
          </a:p>
          <a:p>
            <a:pPr>
              <a:tabLst>
                <a:tab pos="1255713" algn="l"/>
              </a:tabLst>
            </a:pPr>
            <a:r>
              <a:rPr lang="en-AU" sz="1400" dirty="0">
                <a:solidFill>
                  <a:srgbClr val="007FA3"/>
                </a:solidFill>
                <a:latin typeface="Courier New" panose="02070309020205020404" pitchFamily="49" charset="0"/>
                <a:cs typeface="Courier New" panose="02070309020205020404" pitchFamily="49" charset="0"/>
              </a:rPr>
              <a:t>17</a:t>
            </a:r>
            <a:r>
              <a:rPr lang="en-AU" sz="1400" dirty="0">
                <a:solidFill>
                  <a:srgbClr val="1473FF"/>
                </a:solidFill>
                <a:latin typeface="Courier New" panose="02070309020205020404" pitchFamily="49" charset="0"/>
                <a:cs typeface="Courier New" panose="02070309020205020404" pitchFamily="49" charset="0"/>
              </a:rPr>
              <a:t> 	</a:t>
            </a:r>
            <a:r>
              <a:rPr lang="en-AU" sz="1400" dirty="0" err="1">
                <a:solidFill>
                  <a:srgbClr val="000000"/>
                </a:solidFill>
                <a:latin typeface="Courier New" panose="02070309020205020404" pitchFamily="49" charset="0"/>
                <a:cs typeface="Courier New" panose="02070309020205020404" pitchFamily="49" charset="0"/>
              </a:rPr>
              <a:t>self.canvas.pack</a:t>
            </a:r>
            <a:r>
              <a:rPr lang="en-AU" sz="1400" dirty="0">
                <a:solidFill>
                  <a:srgbClr val="000000"/>
                </a:solidFill>
                <a:latin typeface="Courier New" panose="02070309020205020404" pitchFamily="49" charset="0"/>
                <a:cs typeface="Courier New" panose="02070309020205020404" pitchFamily="49" charset="0"/>
              </a:rPr>
              <a:t>()</a:t>
            </a:r>
          </a:p>
          <a:p>
            <a:r>
              <a:rPr lang="en-AU" sz="1400" dirty="0">
                <a:solidFill>
                  <a:srgbClr val="007FA3"/>
                </a:solidFill>
                <a:latin typeface="Courier New" panose="02070309020205020404" pitchFamily="49" charset="0"/>
                <a:cs typeface="Courier New" panose="02070309020205020404" pitchFamily="49" charset="0"/>
              </a:rPr>
              <a:t>18</a:t>
            </a:r>
          </a:p>
          <a:p>
            <a:pPr>
              <a:tabLst>
                <a:tab pos="1255713" algn="l"/>
              </a:tabLst>
            </a:pPr>
            <a:r>
              <a:rPr lang="en-AU" sz="1400" dirty="0">
                <a:solidFill>
                  <a:srgbClr val="007FA3"/>
                </a:solidFill>
                <a:latin typeface="Courier New" panose="02070309020205020404" pitchFamily="49" charset="0"/>
                <a:cs typeface="Courier New" panose="02070309020205020404" pitchFamily="49" charset="0"/>
              </a:rPr>
              <a:t>19</a:t>
            </a:r>
            <a:r>
              <a:rPr lang="en-AU" sz="1400" dirty="0">
                <a:solidFill>
                  <a:srgbClr val="1473FF"/>
                </a:solidFill>
                <a:latin typeface="Courier New" panose="02070309020205020404" pitchFamily="49" charset="0"/>
                <a:cs typeface="Courier New" panose="02070309020205020404" pitchFamily="49" charset="0"/>
              </a:rPr>
              <a:t> 	</a:t>
            </a:r>
            <a:r>
              <a:rPr lang="en-AU" sz="1400" dirty="0">
                <a:solidFill>
                  <a:srgbClr val="000000"/>
                </a:solidFill>
                <a:latin typeface="Courier New" panose="02070309020205020404" pitchFamily="49" charset="0"/>
                <a:cs typeface="Courier New" panose="02070309020205020404" pitchFamily="49" charset="0"/>
              </a:rPr>
              <a:t># Start the </a:t>
            </a:r>
            <a:r>
              <a:rPr lang="en-AU" sz="1400" dirty="0" err="1">
                <a:solidFill>
                  <a:srgbClr val="000000"/>
                </a:solidFill>
                <a:latin typeface="Courier New" panose="02070309020205020404" pitchFamily="49" charset="0"/>
                <a:cs typeface="Courier New" panose="02070309020205020404" pitchFamily="49" charset="0"/>
              </a:rPr>
              <a:t>mainloop</a:t>
            </a:r>
            <a:r>
              <a:rPr lang="en-AU" sz="1400" dirty="0">
                <a:solidFill>
                  <a:srgbClr val="000000"/>
                </a:solidFill>
                <a:latin typeface="Courier New" panose="02070309020205020404" pitchFamily="49" charset="0"/>
                <a:cs typeface="Courier New" panose="02070309020205020404" pitchFamily="49" charset="0"/>
              </a:rPr>
              <a:t>.</a:t>
            </a:r>
          </a:p>
          <a:p>
            <a:pPr>
              <a:tabLst>
                <a:tab pos="1255713" algn="l"/>
              </a:tabLst>
            </a:pPr>
            <a:r>
              <a:rPr lang="en-AU" sz="1400" dirty="0">
                <a:solidFill>
                  <a:srgbClr val="007FA3"/>
                </a:solidFill>
                <a:latin typeface="Courier New" panose="02070309020205020404" pitchFamily="49" charset="0"/>
                <a:cs typeface="Courier New" panose="02070309020205020404" pitchFamily="49" charset="0"/>
              </a:rPr>
              <a:t>20</a:t>
            </a:r>
            <a:r>
              <a:rPr lang="en-AU" sz="1400" dirty="0">
                <a:solidFill>
                  <a:srgbClr val="1473FF"/>
                </a:solidFill>
                <a:latin typeface="Courier New" panose="02070309020205020404" pitchFamily="49" charset="0"/>
                <a:cs typeface="Courier New" panose="02070309020205020404" pitchFamily="49" charset="0"/>
              </a:rPr>
              <a:t> 	</a:t>
            </a:r>
            <a:r>
              <a:rPr lang="en-AU" sz="1400" dirty="0" err="1">
                <a:solidFill>
                  <a:srgbClr val="000000"/>
                </a:solidFill>
                <a:latin typeface="Courier New" panose="02070309020205020404" pitchFamily="49" charset="0"/>
                <a:cs typeface="Courier New" panose="02070309020205020404" pitchFamily="49" charset="0"/>
              </a:rPr>
              <a:t>tkinter.mainloop</a:t>
            </a:r>
            <a:r>
              <a:rPr lang="en-AU" sz="1400" dirty="0">
                <a:solidFill>
                  <a:srgbClr val="000000"/>
                </a:solidFill>
                <a:latin typeface="Courier New" panose="02070309020205020404" pitchFamily="49" charset="0"/>
                <a:cs typeface="Courier New" panose="02070309020205020404" pitchFamily="49" charset="0"/>
              </a:rPr>
              <a:t>()</a:t>
            </a:r>
          </a:p>
          <a:p>
            <a:r>
              <a:rPr lang="en-AU" sz="1400" dirty="0">
                <a:solidFill>
                  <a:srgbClr val="007FA3"/>
                </a:solidFill>
                <a:latin typeface="Courier New" panose="02070309020205020404" pitchFamily="49" charset="0"/>
                <a:cs typeface="Courier New" panose="02070309020205020404" pitchFamily="49" charset="0"/>
              </a:rPr>
              <a:t>21</a:t>
            </a:r>
          </a:p>
          <a:p>
            <a:r>
              <a:rPr lang="en-US" sz="1400" dirty="0">
                <a:solidFill>
                  <a:srgbClr val="007FA3"/>
                </a:solidFill>
                <a:latin typeface="Courier New" panose="02070309020205020404" pitchFamily="49" charset="0"/>
                <a:cs typeface="Courier New" panose="02070309020205020404" pitchFamily="49" charset="0"/>
              </a:rPr>
              <a:t>22</a:t>
            </a:r>
            <a:r>
              <a:rPr lang="en-US" sz="1400" dirty="0">
                <a:solidFill>
                  <a:srgbClr val="1473FF"/>
                </a:solidFill>
                <a:latin typeface="Courier New" panose="02070309020205020404" pitchFamily="49" charset="0"/>
                <a:cs typeface="Courier New" panose="02070309020205020404" pitchFamily="49" charset="0"/>
              </a:rPr>
              <a:t> </a:t>
            </a:r>
            <a:r>
              <a:rPr lang="en-US" sz="1400" dirty="0">
                <a:solidFill>
                  <a:srgbClr val="000000"/>
                </a:solidFill>
                <a:latin typeface="Courier New" panose="02070309020205020404" pitchFamily="49" charset="0"/>
                <a:cs typeface="Courier New" panose="02070309020205020404" pitchFamily="49" charset="0"/>
              </a:rPr>
              <a:t># Create an instance of the </a:t>
            </a:r>
            <a:r>
              <a:rPr lang="en-US" sz="1400" dirty="0" err="1">
                <a:solidFill>
                  <a:srgbClr val="000000"/>
                </a:solidFill>
                <a:latin typeface="Courier New" panose="02070309020205020404" pitchFamily="49" charset="0"/>
                <a:cs typeface="Courier New" panose="02070309020205020404" pitchFamily="49" charset="0"/>
              </a:rPr>
              <a:t>MyGUI</a:t>
            </a:r>
            <a:r>
              <a:rPr lang="en-US" sz="1400" dirty="0">
                <a:solidFill>
                  <a:srgbClr val="000000"/>
                </a:solidFill>
                <a:latin typeface="Courier New" panose="02070309020205020404" pitchFamily="49" charset="0"/>
                <a:cs typeface="Courier New" panose="02070309020205020404" pitchFamily="49" charset="0"/>
              </a:rPr>
              <a:t> class.</a:t>
            </a:r>
          </a:p>
          <a:p>
            <a:r>
              <a:rPr lang="en-AU" sz="1400" dirty="0">
                <a:solidFill>
                  <a:srgbClr val="007FA3"/>
                </a:solidFill>
                <a:latin typeface="Courier New" panose="02070309020205020404" pitchFamily="49" charset="0"/>
                <a:cs typeface="Courier New" panose="02070309020205020404" pitchFamily="49" charset="0"/>
              </a:rPr>
              <a:t>22</a:t>
            </a:r>
            <a:r>
              <a:rPr lang="en-AU" sz="1400" dirty="0">
                <a:solidFill>
                  <a:srgbClr val="1473FF"/>
                </a:solidFill>
                <a:latin typeface="Courier New" panose="02070309020205020404" pitchFamily="49" charset="0"/>
                <a:cs typeface="Courier New" panose="02070309020205020404" pitchFamily="49" charset="0"/>
              </a:rPr>
              <a:t> </a:t>
            </a:r>
            <a:r>
              <a:rPr lang="en-AU" sz="1400" dirty="0">
                <a:solidFill>
                  <a:srgbClr val="000000"/>
                </a:solidFill>
                <a:latin typeface="Courier New" panose="02070309020205020404" pitchFamily="49" charset="0"/>
                <a:cs typeface="Courier New" panose="02070309020205020404" pitchFamily="49" charset="0"/>
              </a:rPr>
              <a:t>if _ _name_ _ == '_ _main_ _':</a:t>
            </a:r>
          </a:p>
          <a:p>
            <a:r>
              <a:rPr lang="en-AU" sz="1400" dirty="0">
                <a:solidFill>
                  <a:srgbClr val="007FA3"/>
                </a:solidFill>
                <a:latin typeface="Courier New" panose="02070309020205020404" pitchFamily="49" charset="0"/>
                <a:cs typeface="Courier New" panose="02070309020205020404" pitchFamily="49" charset="0"/>
              </a:rPr>
              <a:t>23</a:t>
            </a:r>
            <a:r>
              <a:rPr lang="en-AU" sz="1400" dirty="0">
                <a:solidFill>
                  <a:srgbClr val="1473FF"/>
                </a:solidFill>
                <a:latin typeface="Courier New" panose="02070309020205020404" pitchFamily="49" charset="0"/>
                <a:cs typeface="Courier New" panose="02070309020205020404" pitchFamily="49" charset="0"/>
              </a:rPr>
              <a:t> 	</a:t>
            </a:r>
            <a:r>
              <a:rPr lang="en-AU" sz="1400" dirty="0" err="1">
                <a:solidFill>
                  <a:srgbClr val="000000"/>
                </a:solidFill>
                <a:latin typeface="Courier New" panose="02070309020205020404" pitchFamily="49" charset="0"/>
                <a:cs typeface="Courier New" panose="02070309020205020404" pitchFamily="49" charset="0"/>
              </a:rPr>
              <a:t>my_gui</a:t>
            </a:r>
            <a:r>
              <a:rPr lang="en-AU" sz="1400" dirty="0">
                <a:solidFill>
                  <a:srgbClr val="000000"/>
                </a:solidFill>
                <a:latin typeface="Courier New" panose="02070309020205020404" pitchFamily="49" charset="0"/>
                <a:cs typeface="Courier New" panose="02070309020205020404" pitchFamily="49" charset="0"/>
              </a:rPr>
              <a:t> = </a:t>
            </a:r>
            <a:r>
              <a:rPr lang="en-AU" sz="1400" dirty="0" err="1">
                <a:solidFill>
                  <a:srgbClr val="000000"/>
                </a:solidFill>
                <a:latin typeface="Courier New" panose="02070309020205020404" pitchFamily="49" charset="0"/>
                <a:cs typeface="Courier New" panose="02070309020205020404" pitchFamily="49" charset="0"/>
              </a:rPr>
              <a:t>MyGUI</a:t>
            </a:r>
            <a:r>
              <a:rPr lang="en-AU" sz="1400" dirty="0">
                <a:solidFill>
                  <a:srgbClr val="000000"/>
                </a:solidFill>
                <a:latin typeface="Courier New" panose="02070309020205020404" pitchFamily="49" charset="0"/>
                <a:cs typeface="Courier New" panose="02070309020205020404" pitchFamily="49" charset="0"/>
              </a:rPr>
              <a:t>()</a:t>
            </a:r>
            <a:endParaRPr lang="en-AU" sz="1400" dirty="0">
              <a:latin typeface="Courier New" panose="02070309020205020404" pitchFamily="49" charset="0"/>
              <a:cs typeface="Courier New" panose="02070309020205020404" pitchFamily="49" charset="0"/>
            </a:endParaRPr>
          </a:p>
        </p:txBody>
      </p:sp>
      <p:pic>
        <p:nvPicPr>
          <p:cNvPr id="7" name="Picture 4" descr="A window titled, t K displays two intersecting line. The first line starts from top left corner and ends at bottom right corner. The second line starts from bottom left corner and ends at top right corner. ">
            <a:extLst>
              <a:ext uri="{FF2B5EF4-FFF2-40B4-BE49-F238E27FC236}">
                <a16:creationId xmlns:a16="http://schemas.microsoft.com/office/drawing/2014/main" id="{CBF0C3A8-0B71-4ACD-99A7-5A408245794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auto">
          <a:xfrm>
            <a:off x="6324600" y="3962400"/>
            <a:ext cx="1962150" cy="224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1353084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itle 1">
            <a:extLst>
              <a:ext uri="{FF2B5EF4-FFF2-40B4-BE49-F238E27FC236}">
                <a16:creationId xmlns:a16="http://schemas.microsoft.com/office/drawing/2014/main" id="{9F128679-2A64-47D7-86F4-AADBCB563B63}"/>
              </a:ext>
            </a:extLst>
          </p:cNvPr>
          <p:cNvSpPr>
            <a:spLocks noGrp="1" noChangeArrowheads="1"/>
          </p:cNvSpPr>
          <p:nvPr>
            <p:ph type="title"/>
          </p:nvPr>
        </p:nvSpPr>
        <p:spPr/>
        <p:txBody>
          <a:bodyPr/>
          <a:lstStyle/>
          <a:p>
            <a:r>
              <a:rPr lang="en-US" altLang="en-US" dirty="0"/>
              <a:t>Drawing a Rectangle</a:t>
            </a:r>
            <a:r>
              <a:rPr lang="en-AU" sz="2000" b="0" dirty="0"/>
              <a:t> (1 of 2)</a:t>
            </a:r>
            <a:endParaRPr lang="en-US" altLang="en-US" sz="2000" dirty="0"/>
          </a:p>
        </p:txBody>
      </p:sp>
      <p:sp>
        <p:nvSpPr>
          <p:cNvPr id="67587" name="TextBox 3">
            <a:extLst>
              <a:ext uri="{FF2B5EF4-FFF2-40B4-BE49-F238E27FC236}">
                <a16:creationId xmlns:a16="http://schemas.microsoft.com/office/drawing/2014/main" id="{368CAF18-970B-481A-A365-EC0F946EF63A}"/>
              </a:ext>
            </a:extLst>
          </p:cNvPr>
          <p:cNvSpPr txBox="1">
            <a:spLocks noChangeArrowheads="1"/>
          </p:cNvSpPr>
          <p:nvPr/>
        </p:nvSpPr>
        <p:spPr bwMode="auto">
          <a:xfrm>
            <a:off x="304800" y="3200400"/>
            <a:ext cx="8610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000" b="0" i="1" dirty="0" err="1">
                <a:latin typeface="Courier New" panose="02070309020205020404" pitchFamily="49" charset="0"/>
                <a:cs typeface="Calibri" panose="020F0502020204030204" pitchFamily="34" charset="0"/>
              </a:rPr>
              <a:t>canvas_name</a:t>
            </a:r>
            <a:r>
              <a:rPr lang="en-US" altLang="en-US" sz="2000" b="0" dirty="0" err="1">
                <a:latin typeface="Courier New" panose="02070309020205020404" pitchFamily="49" charset="0"/>
                <a:cs typeface="Calibri" panose="020F0502020204030204" pitchFamily="34" charset="0"/>
              </a:rPr>
              <a:t>.create_rectangle</a:t>
            </a:r>
            <a:r>
              <a:rPr lang="en-US" altLang="en-US" sz="2000" b="0" dirty="0">
                <a:latin typeface="Courier New" panose="02070309020205020404" pitchFamily="49" charset="0"/>
                <a:cs typeface="Calibri" panose="020F0502020204030204" pitchFamily="34" charset="0"/>
              </a:rPr>
              <a:t>(x1, y1, x2, y2, </a:t>
            </a:r>
            <a:r>
              <a:rPr lang="en-US" altLang="en-US" sz="2000" b="0" i="1" dirty="0">
                <a:latin typeface="Courier New" panose="02070309020205020404" pitchFamily="49" charset="0"/>
                <a:cs typeface="Calibri" panose="020F0502020204030204" pitchFamily="34" charset="0"/>
              </a:rPr>
              <a:t>options</a:t>
            </a:r>
            <a:r>
              <a:rPr lang="en-US" altLang="en-US" sz="2000" b="0" dirty="0">
                <a:latin typeface="Courier New" panose="02070309020205020404" pitchFamily="49" charset="0"/>
                <a:cs typeface="Calibri" panose="020F0502020204030204" pitchFamily="34" charset="0"/>
              </a:rPr>
              <a:t>…)</a:t>
            </a:r>
            <a:endParaRPr lang="en-US" altLang="en-US" sz="2000" b="0" dirty="0"/>
          </a:p>
        </p:txBody>
      </p:sp>
      <p:sp>
        <p:nvSpPr>
          <p:cNvPr id="67588" name="Left Bracket 4">
            <a:extLst>
              <a:ext uri="{FF2B5EF4-FFF2-40B4-BE49-F238E27FC236}">
                <a16:creationId xmlns:a16="http://schemas.microsoft.com/office/drawing/2014/main" id="{330F10F2-5E81-4A79-8F54-7F982784ED09}"/>
              </a:ext>
            </a:extLst>
          </p:cNvPr>
          <p:cNvSpPr>
            <a:spLocks/>
          </p:cNvSpPr>
          <p:nvPr/>
        </p:nvSpPr>
        <p:spPr bwMode="auto">
          <a:xfrm rot="-5400000">
            <a:off x="5195094" y="3250406"/>
            <a:ext cx="304800" cy="1100138"/>
          </a:xfrm>
          <a:prstGeom prst="leftBracket">
            <a:avLst>
              <a:gd name="adj" fmla="val 8338"/>
            </a:avLst>
          </a:prstGeom>
          <a:noFill/>
          <a:ln w="9525" algn="ctr">
            <a:solidFill>
              <a:srgbClr val="007FA3"/>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1800" b="0">
              <a:solidFill>
                <a:srgbClr val="007FA3"/>
              </a:solidFill>
            </a:endParaRPr>
          </a:p>
        </p:txBody>
      </p:sp>
      <p:sp>
        <p:nvSpPr>
          <p:cNvPr id="67589" name="TextBox 7">
            <a:extLst>
              <a:ext uri="{FF2B5EF4-FFF2-40B4-BE49-F238E27FC236}">
                <a16:creationId xmlns:a16="http://schemas.microsoft.com/office/drawing/2014/main" id="{BBF4119F-A924-4534-9416-C008FA8A3E09}"/>
              </a:ext>
            </a:extLst>
          </p:cNvPr>
          <p:cNvSpPr txBox="1">
            <a:spLocks noChangeArrowheads="1"/>
          </p:cNvSpPr>
          <p:nvPr/>
        </p:nvSpPr>
        <p:spPr bwMode="auto">
          <a:xfrm>
            <a:off x="4603750" y="4090988"/>
            <a:ext cx="168592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1800" b="0" dirty="0">
                <a:solidFill>
                  <a:srgbClr val="007FA3"/>
                </a:solidFill>
              </a:rPr>
              <a:t>Coordinates of</a:t>
            </a:r>
          </a:p>
          <a:p>
            <a:pPr algn="ctr" eaLnBrk="1" hangingPunct="1">
              <a:spcBef>
                <a:spcPct val="0"/>
              </a:spcBef>
              <a:buFontTx/>
              <a:buNone/>
            </a:pPr>
            <a:r>
              <a:rPr lang="en-US" altLang="en-US" sz="1800" b="0" dirty="0">
                <a:solidFill>
                  <a:srgbClr val="007FA3"/>
                </a:solidFill>
              </a:rPr>
              <a:t>the upper-left</a:t>
            </a:r>
          </a:p>
          <a:p>
            <a:pPr algn="ctr" eaLnBrk="1" hangingPunct="1">
              <a:spcBef>
                <a:spcPct val="0"/>
              </a:spcBef>
              <a:buFontTx/>
              <a:buNone/>
            </a:pPr>
            <a:r>
              <a:rPr lang="en-US" altLang="en-US" sz="1800" b="0" dirty="0">
                <a:solidFill>
                  <a:srgbClr val="007FA3"/>
                </a:solidFill>
              </a:rPr>
              <a:t>corner</a:t>
            </a:r>
          </a:p>
        </p:txBody>
      </p:sp>
      <p:sp>
        <p:nvSpPr>
          <p:cNvPr id="67590" name="TextBox 8">
            <a:extLst>
              <a:ext uri="{FF2B5EF4-FFF2-40B4-BE49-F238E27FC236}">
                <a16:creationId xmlns:a16="http://schemas.microsoft.com/office/drawing/2014/main" id="{03F891F1-BF27-415D-B3B3-2E4E386EAFD6}"/>
              </a:ext>
            </a:extLst>
          </p:cNvPr>
          <p:cNvSpPr txBox="1">
            <a:spLocks noChangeArrowheads="1"/>
          </p:cNvSpPr>
          <p:nvPr/>
        </p:nvSpPr>
        <p:spPr bwMode="auto">
          <a:xfrm>
            <a:off x="5703888" y="2025650"/>
            <a:ext cx="1684337"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1800" b="0" dirty="0">
                <a:solidFill>
                  <a:srgbClr val="007FA3"/>
                </a:solidFill>
              </a:rPr>
              <a:t>Coordinates of</a:t>
            </a:r>
          </a:p>
          <a:p>
            <a:pPr algn="ctr" eaLnBrk="1" hangingPunct="1">
              <a:spcBef>
                <a:spcPct val="0"/>
              </a:spcBef>
              <a:buFontTx/>
              <a:buNone/>
            </a:pPr>
            <a:r>
              <a:rPr lang="en-US" altLang="en-US" sz="1800" b="0" dirty="0">
                <a:solidFill>
                  <a:srgbClr val="007FA3"/>
                </a:solidFill>
              </a:rPr>
              <a:t>the lower-right</a:t>
            </a:r>
          </a:p>
          <a:p>
            <a:pPr algn="ctr" eaLnBrk="1" hangingPunct="1">
              <a:spcBef>
                <a:spcPct val="0"/>
              </a:spcBef>
              <a:buFontTx/>
              <a:buNone/>
            </a:pPr>
            <a:r>
              <a:rPr lang="en-US" altLang="en-US" sz="1800" b="0" dirty="0">
                <a:solidFill>
                  <a:srgbClr val="007FA3"/>
                </a:solidFill>
              </a:rPr>
              <a:t>corner</a:t>
            </a:r>
          </a:p>
        </p:txBody>
      </p:sp>
      <p:sp>
        <p:nvSpPr>
          <p:cNvPr id="67591" name="Left Bracket 9">
            <a:extLst>
              <a:ext uri="{FF2B5EF4-FFF2-40B4-BE49-F238E27FC236}">
                <a16:creationId xmlns:a16="http://schemas.microsoft.com/office/drawing/2014/main" id="{6B4DF1BB-0DFF-458B-9103-A529B6E46490}"/>
              </a:ext>
            </a:extLst>
          </p:cNvPr>
          <p:cNvSpPr>
            <a:spLocks/>
          </p:cNvSpPr>
          <p:nvPr/>
        </p:nvSpPr>
        <p:spPr bwMode="auto">
          <a:xfrm rot="5400000">
            <a:off x="6393657" y="2582069"/>
            <a:ext cx="304800" cy="1100137"/>
          </a:xfrm>
          <a:prstGeom prst="leftBracket">
            <a:avLst>
              <a:gd name="adj" fmla="val 8338"/>
            </a:avLst>
          </a:prstGeom>
          <a:noFill/>
          <a:ln w="9525" algn="ctr">
            <a:solidFill>
              <a:srgbClr val="007FA3"/>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1800" b="0">
              <a:solidFill>
                <a:srgbClr val="007FA3"/>
              </a:solidFill>
            </a:endParaRPr>
          </a:p>
        </p:txBody>
      </p:sp>
      <p:sp>
        <p:nvSpPr>
          <p:cNvPr id="67592" name="TextBox 10">
            <a:extLst>
              <a:ext uri="{FF2B5EF4-FFF2-40B4-BE49-F238E27FC236}">
                <a16:creationId xmlns:a16="http://schemas.microsoft.com/office/drawing/2014/main" id="{E3A5AAC9-65BD-4BF8-842E-C9F8219CEDF9}"/>
              </a:ext>
            </a:extLst>
          </p:cNvPr>
          <p:cNvSpPr txBox="1">
            <a:spLocks noChangeArrowheads="1"/>
          </p:cNvSpPr>
          <p:nvPr/>
        </p:nvSpPr>
        <p:spPr bwMode="auto">
          <a:xfrm>
            <a:off x="6629400" y="4090988"/>
            <a:ext cx="219868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1800" b="0" dirty="0">
                <a:solidFill>
                  <a:srgbClr val="007FA3"/>
                </a:solidFill>
              </a:rPr>
              <a:t>Optional arguments</a:t>
            </a:r>
          </a:p>
          <a:p>
            <a:pPr algn="ctr" eaLnBrk="1" hangingPunct="1">
              <a:spcBef>
                <a:spcPct val="0"/>
              </a:spcBef>
              <a:buFontTx/>
              <a:buNone/>
            </a:pPr>
            <a:r>
              <a:rPr lang="en-US" altLang="en-US" sz="1800" b="0" dirty="0">
                <a:solidFill>
                  <a:srgbClr val="007FA3"/>
                </a:solidFill>
              </a:rPr>
              <a:t>(See Table 13-3)</a:t>
            </a:r>
          </a:p>
        </p:txBody>
      </p:sp>
      <p:cxnSp>
        <p:nvCxnSpPr>
          <p:cNvPr id="67593" name="Straight Connector 12">
            <a:extLst>
              <a:ext uri="{FF2B5EF4-FFF2-40B4-BE49-F238E27FC236}">
                <a16:creationId xmlns:a16="http://schemas.microsoft.com/office/drawing/2014/main" id="{4F238D5D-59B9-4CF1-98D1-F0A6CF111755}"/>
              </a:ext>
            </a:extLst>
          </p:cNvPr>
          <p:cNvCxnSpPr>
            <a:cxnSpLocks noChangeShapeType="1"/>
            <a:stCxn id="67592" idx="0"/>
          </p:cNvCxnSpPr>
          <p:nvPr/>
        </p:nvCxnSpPr>
        <p:spPr bwMode="auto">
          <a:xfrm flipV="1">
            <a:off x="7727950" y="3581400"/>
            <a:ext cx="44450" cy="509588"/>
          </a:xfrm>
          <a:prstGeom prst="line">
            <a:avLst/>
          </a:prstGeom>
          <a:noFill/>
          <a:ln w="9525" algn="ctr">
            <a:solidFill>
              <a:srgbClr val="007FA3"/>
            </a:solidFill>
            <a:round/>
            <a:headEnd/>
            <a:tailEnd/>
          </a:ln>
          <a:extLst>
            <a:ext uri="{909E8E84-426E-40DD-AFC4-6F175D3DCCD1}">
              <a14:hiddenFill xmlns:a14="http://schemas.microsoft.com/office/drawing/2010/main">
                <a:noFill/>
              </a14:hiddenFill>
            </a:ext>
          </a:extLst>
        </p:spPr>
      </p:cxn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B185A-2678-43E5-A98B-88B66ADB3B4A}"/>
              </a:ext>
            </a:extLst>
          </p:cNvPr>
          <p:cNvSpPr>
            <a:spLocks noGrp="1"/>
          </p:cNvSpPr>
          <p:nvPr>
            <p:ph type="title"/>
          </p:nvPr>
        </p:nvSpPr>
        <p:spPr>
          <a:xfrm>
            <a:off x="457200" y="215372"/>
            <a:ext cx="8229600" cy="655749"/>
          </a:xfrm>
        </p:spPr>
        <p:txBody>
          <a:bodyPr/>
          <a:lstStyle/>
          <a:p>
            <a:r>
              <a:rPr lang="en-US" altLang="en-US" dirty="0"/>
              <a:t>Drawing a Rectangle</a:t>
            </a:r>
            <a:r>
              <a:rPr lang="en-AU" sz="2000" b="0" dirty="0"/>
              <a:t> (2 of 2)</a:t>
            </a:r>
            <a:endParaRPr lang="en-AU" sz="2000" dirty="0"/>
          </a:p>
        </p:txBody>
      </p:sp>
      <p:sp>
        <p:nvSpPr>
          <p:cNvPr id="5" name="Rectangle 4">
            <a:extLst>
              <a:ext uri="{FF2B5EF4-FFF2-40B4-BE49-F238E27FC236}">
                <a16:creationId xmlns:a16="http://schemas.microsoft.com/office/drawing/2014/main" id="{FC2F1022-F3CC-4A18-98E9-5CCCE57794E5}"/>
              </a:ext>
            </a:extLst>
          </p:cNvPr>
          <p:cNvSpPr/>
          <p:nvPr/>
        </p:nvSpPr>
        <p:spPr>
          <a:xfrm>
            <a:off x="423705" y="1061621"/>
            <a:ext cx="8229600" cy="5262979"/>
          </a:xfrm>
          <a:prstGeom prst="rect">
            <a:avLst/>
          </a:prstGeom>
        </p:spPr>
        <p:txBody>
          <a:bodyPr wrap="square">
            <a:spAutoFit/>
          </a:bodyPr>
          <a:lstStyle/>
          <a:p>
            <a:r>
              <a:rPr lang="en-US" sz="1400" dirty="0">
                <a:solidFill>
                  <a:srgbClr val="007FA3"/>
                </a:solidFill>
                <a:latin typeface="Courier New" panose="02070309020205020404" pitchFamily="49" charset="0"/>
                <a:cs typeface="Courier New" panose="02070309020205020404" pitchFamily="49" charset="0"/>
              </a:rPr>
              <a:t>1</a:t>
            </a:r>
            <a:r>
              <a:rPr lang="en-US" sz="1400" dirty="0">
                <a:solidFill>
                  <a:srgbClr val="1473FF"/>
                </a:solidFill>
                <a:latin typeface="Courier New" panose="02070309020205020404" pitchFamily="49" charset="0"/>
                <a:cs typeface="Courier New" panose="02070309020205020404" pitchFamily="49" charset="0"/>
              </a:rPr>
              <a:t> </a:t>
            </a:r>
            <a:r>
              <a:rPr lang="en-US" sz="1400" dirty="0">
                <a:solidFill>
                  <a:srgbClr val="000000"/>
                </a:solidFill>
                <a:latin typeface="Courier New" panose="02070309020205020404" pitchFamily="49" charset="0"/>
                <a:cs typeface="Courier New" panose="02070309020205020404" pitchFamily="49" charset="0"/>
              </a:rPr>
              <a:t># This program draws a rectangle on a Canvas.</a:t>
            </a:r>
          </a:p>
          <a:p>
            <a:r>
              <a:rPr lang="en-AU" sz="1400" dirty="0">
                <a:solidFill>
                  <a:srgbClr val="007FA3"/>
                </a:solidFill>
                <a:latin typeface="Courier New" panose="02070309020205020404" pitchFamily="49" charset="0"/>
                <a:cs typeface="Courier New" panose="02070309020205020404" pitchFamily="49" charset="0"/>
              </a:rPr>
              <a:t>2</a:t>
            </a:r>
            <a:r>
              <a:rPr lang="en-AU" sz="1400" dirty="0">
                <a:solidFill>
                  <a:srgbClr val="1473FF"/>
                </a:solidFill>
                <a:latin typeface="Courier New" panose="02070309020205020404" pitchFamily="49" charset="0"/>
                <a:cs typeface="Courier New" panose="02070309020205020404" pitchFamily="49" charset="0"/>
              </a:rPr>
              <a:t> </a:t>
            </a:r>
            <a:r>
              <a:rPr lang="en-AU" sz="1400" dirty="0">
                <a:solidFill>
                  <a:srgbClr val="000000"/>
                </a:solidFill>
                <a:latin typeface="Courier New" panose="02070309020205020404" pitchFamily="49" charset="0"/>
                <a:cs typeface="Courier New" panose="02070309020205020404" pitchFamily="49" charset="0"/>
              </a:rPr>
              <a:t>import </a:t>
            </a:r>
            <a:r>
              <a:rPr lang="en-AU" sz="1400" dirty="0" err="1">
                <a:solidFill>
                  <a:srgbClr val="000000"/>
                </a:solidFill>
                <a:latin typeface="Courier New" panose="02070309020205020404" pitchFamily="49" charset="0"/>
                <a:cs typeface="Courier New" panose="02070309020205020404" pitchFamily="49" charset="0"/>
              </a:rPr>
              <a:t>tkinter</a:t>
            </a:r>
            <a:endParaRPr lang="en-AU" sz="1400" dirty="0">
              <a:solidFill>
                <a:srgbClr val="000000"/>
              </a:solidFill>
              <a:latin typeface="Courier New" panose="02070309020205020404" pitchFamily="49" charset="0"/>
              <a:cs typeface="Courier New" panose="02070309020205020404" pitchFamily="49" charset="0"/>
            </a:endParaRPr>
          </a:p>
          <a:p>
            <a:r>
              <a:rPr lang="en-AU" sz="1400" dirty="0">
                <a:solidFill>
                  <a:srgbClr val="007FA3"/>
                </a:solidFill>
                <a:latin typeface="Courier New" panose="02070309020205020404" pitchFamily="49" charset="0"/>
                <a:cs typeface="Courier New" panose="02070309020205020404" pitchFamily="49" charset="0"/>
              </a:rPr>
              <a:t>3</a:t>
            </a:r>
          </a:p>
          <a:p>
            <a:r>
              <a:rPr lang="en-AU" sz="1400" dirty="0">
                <a:solidFill>
                  <a:srgbClr val="007FA3"/>
                </a:solidFill>
                <a:latin typeface="Courier New" panose="02070309020205020404" pitchFamily="49" charset="0"/>
                <a:cs typeface="Courier New" panose="02070309020205020404" pitchFamily="49" charset="0"/>
              </a:rPr>
              <a:t>4</a:t>
            </a:r>
            <a:r>
              <a:rPr lang="en-AU" sz="1400" dirty="0">
                <a:solidFill>
                  <a:srgbClr val="1473FF"/>
                </a:solidFill>
                <a:latin typeface="Courier New" panose="02070309020205020404" pitchFamily="49" charset="0"/>
                <a:cs typeface="Courier New" panose="02070309020205020404" pitchFamily="49" charset="0"/>
              </a:rPr>
              <a:t> </a:t>
            </a:r>
            <a:r>
              <a:rPr lang="en-AU" sz="1400" dirty="0">
                <a:solidFill>
                  <a:srgbClr val="000000"/>
                </a:solidFill>
                <a:latin typeface="Courier New" panose="02070309020205020404" pitchFamily="49" charset="0"/>
                <a:cs typeface="Courier New" panose="02070309020205020404" pitchFamily="49" charset="0"/>
              </a:rPr>
              <a:t>class </a:t>
            </a:r>
            <a:r>
              <a:rPr lang="en-AU" sz="1400" dirty="0" err="1">
                <a:solidFill>
                  <a:srgbClr val="000000"/>
                </a:solidFill>
                <a:latin typeface="Courier New" panose="02070309020205020404" pitchFamily="49" charset="0"/>
                <a:cs typeface="Courier New" panose="02070309020205020404" pitchFamily="49" charset="0"/>
              </a:rPr>
              <a:t>MyGUI</a:t>
            </a:r>
            <a:r>
              <a:rPr lang="en-AU" sz="1400" dirty="0">
                <a:solidFill>
                  <a:srgbClr val="000000"/>
                </a:solidFill>
                <a:latin typeface="Courier New" panose="02070309020205020404" pitchFamily="49" charset="0"/>
                <a:cs typeface="Courier New" panose="02070309020205020404" pitchFamily="49" charset="0"/>
              </a:rPr>
              <a:t>:</a:t>
            </a:r>
          </a:p>
          <a:p>
            <a:r>
              <a:rPr lang="en-AU" sz="1400" dirty="0">
                <a:solidFill>
                  <a:srgbClr val="007FA3"/>
                </a:solidFill>
                <a:latin typeface="Courier New" panose="02070309020205020404" pitchFamily="49" charset="0"/>
                <a:cs typeface="Courier New" panose="02070309020205020404" pitchFamily="49" charset="0"/>
              </a:rPr>
              <a:t>5</a:t>
            </a:r>
            <a:r>
              <a:rPr lang="en-AU" sz="1400" dirty="0">
                <a:solidFill>
                  <a:srgbClr val="1473FF"/>
                </a:solidFill>
                <a:latin typeface="Courier New" panose="02070309020205020404" pitchFamily="49" charset="0"/>
                <a:cs typeface="Courier New" panose="02070309020205020404" pitchFamily="49" charset="0"/>
              </a:rPr>
              <a:t> 	</a:t>
            </a:r>
            <a:r>
              <a:rPr lang="en-AU" sz="1400" dirty="0">
                <a:solidFill>
                  <a:srgbClr val="000000"/>
                </a:solidFill>
                <a:latin typeface="Courier New" panose="02070309020205020404" pitchFamily="49" charset="0"/>
                <a:cs typeface="Courier New" panose="02070309020205020404" pitchFamily="49" charset="0"/>
              </a:rPr>
              <a:t>def _ _</a:t>
            </a:r>
            <a:r>
              <a:rPr lang="en-AU" sz="1400" dirty="0" err="1">
                <a:solidFill>
                  <a:srgbClr val="000000"/>
                </a:solidFill>
                <a:latin typeface="Courier New" panose="02070309020205020404" pitchFamily="49" charset="0"/>
                <a:cs typeface="Courier New" panose="02070309020205020404" pitchFamily="49" charset="0"/>
              </a:rPr>
              <a:t>init</a:t>
            </a:r>
            <a:r>
              <a:rPr lang="en-AU" sz="1400" dirty="0">
                <a:solidFill>
                  <a:srgbClr val="000000"/>
                </a:solidFill>
                <a:latin typeface="Courier New" panose="02070309020205020404" pitchFamily="49" charset="0"/>
                <a:cs typeface="Courier New" panose="02070309020205020404" pitchFamily="49" charset="0"/>
              </a:rPr>
              <a:t>_ _(self):</a:t>
            </a:r>
          </a:p>
          <a:p>
            <a:pPr>
              <a:tabLst>
                <a:tab pos="1255713" algn="l"/>
              </a:tabLst>
            </a:pPr>
            <a:r>
              <a:rPr lang="en-US" sz="1400" dirty="0">
                <a:solidFill>
                  <a:srgbClr val="007FA3"/>
                </a:solidFill>
                <a:latin typeface="Courier New" panose="02070309020205020404" pitchFamily="49" charset="0"/>
                <a:cs typeface="Courier New" panose="02070309020205020404" pitchFamily="49" charset="0"/>
              </a:rPr>
              <a:t>6</a:t>
            </a:r>
            <a:r>
              <a:rPr lang="en-US" sz="1400" dirty="0">
                <a:solidFill>
                  <a:srgbClr val="1473FF"/>
                </a:solidFill>
                <a:latin typeface="Courier New" panose="02070309020205020404" pitchFamily="49" charset="0"/>
                <a:cs typeface="Courier New" panose="02070309020205020404" pitchFamily="49" charset="0"/>
              </a:rPr>
              <a:t> 	</a:t>
            </a:r>
            <a:r>
              <a:rPr lang="en-US" sz="1400" dirty="0">
                <a:solidFill>
                  <a:srgbClr val="000000"/>
                </a:solidFill>
                <a:latin typeface="Courier New" panose="02070309020205020404" pitchFamily="49" charset="0"/>
                <a:cs typeface="Courier New" panose="02070309020205020404" pitchFamily="49" charset="0"/>
              </a:rPr>
              <a:t># Create the main window.</a:t>
            </a:r>
          </a:p>
          <a:p>
            <a:pPr>
              <a:tabLst>
                <a:tab pos="1255713" algn="l"/>
              </a:tabLst>
            </a:pPr>
            <a:r>
              <a:rPr lang="en-US" sz="1400" dirty="0">
                <a:solidFill>
                  <a:srgbClr val="007FA3"/>
                </a:solidFill>
                <a:latin typeface="Courier New" panose="02070309020205020404" pitchFamily="49" charset="0"/>
                <a:cs typeface="Courier New" panose="02070309020205020404" pitchFamily="49" charset="0"/>
              </a:rPr>
              <a:t>7</a:t>
            </a:r>
            <a:r>
              <a:rPr lang="en-US" sz="1400" dirty="0">
                <a:solidFill>
                  <a:srgbClr val="1473FF"/>
                </a:solidFill>
                <a:latin typeface="Courier New" panose="02070309020205020404" pitchFamily="49" charset="0"/>
                <a:cs typeface="Courier New" panose="02070309020205020404" pitchFamily="49" charset="0"/>
              </a:rPr>
              <a:t> 	</a:t>
            </a:r>
            <a:r>
              <a:rPr lang="en-US" sz="1400" dirty="0" err="1">
                <a:solidFill>
                  <a:srgbClr val="000000"/>
                </a:solidFill>
                <a:latin typeface="Courier New" panose="02070309020205020404" pitchFamily="49" charset="0"/>
                <a:cs typeface="Courier New" panose="02070309020205020404" pitchFamily="49" charset="0"/>
              </a:rPr>
              <a:t>self.main_window</a:t>
            </a:r>
            <a:r>
              <a:rPr lang="en-US" sz="1400" dirty="0">
                <a:solidFill>
                  <a:srgbClr val="000000"/>
                </a:solidFill>
                <a:latin typeface="Courier New" panose="02070309020205020404" pitchFamily="49" charset="0"/>
                <a:cs typeface="Courier New" panose="02070309020205020404" pitchFamily="49" charset="0"/>
              </a:rPr>
              <a:t> = </a:t>
            </a:r>
            <a:r>
              <a:rPr lang="en-US" sz="1400" dirty="0" err="1">
                <a:solidFill>
                  <a:srgbClr val="000000"/>
                </a:solidFill>
                <a:latin typeface="Courier New" panose="02070309020205020404" pitchFamily="49" charset="0"/>
                <a:cs typeface="Courier New" panose="02070309020205020404" pitchFamily="49" charset="0"/>
              </a:rPr>
              <a:t>tkinter.Tk</a:t>
            </a:r>
            <a:r>
              <a:rPr lang="en-US" sz="1400" dirty="0">
                <a:solidFill>
                  <a:srgbClr val="000000"/>
                </a:solidFill>
                <a:latin typeface="Courier New" panose="02070309020205020404" pitchFamily="49" charset="0"/>
                <a:cs typeface="Courier New" panose="02070309020205020404" pitchFamily="49" charset="0"/>
              </a:rPr>
              <a:t>()</a:t>
            </a:r>
          </a:p>
          <a:p>
            <a:r>
              <a:rPr lang="en-AU" sz="1400" dirty="0">
                <a:solidFill>
                  <a:srgbClr val="007FA3"/>
                </a:solidFill>
                <a:latin typeface="Courier New" panose="02070309020205020404" pitchFamily="49" charset="0"/>
                <a:cs typeface="Courier New" panose="02070309020205020404" pitchFamily="49" charset="0"/>
              </a:rPr>
              <a:t>8</a:t>
            </a:r>
          </a:p>
          <a:p>
            <a:pPr>
              <a:tabLst>
                <a:tab pos="1255713" algn="l"/>
              </a:tabLst>
            </a:pPr>
            <a:r>
              <a:rPr lang="en-US" sz="1400" dirty="0">
                <a:solidFill>
                  <a:srgbClr val="007FA3"/>
                </a:solidFill>
                <a:latin typeface="Courier New" panose="02070309020205020404" pitchFamily="49" charset="0"/>
                <a:cs typeface="Courier New" panose="02070309020205020404" pitchFamily="49" charset="0"/>
              </a:rPr>
              <a:t>9</a:t>
            </a:r>
            <a:r>
              <a:rPr lang="en-US" sz="1400" dirty="0">
                <a:solidFill>
                  <a:srgbClr val="1473FF"/>
                </a:solidFill>
                <a:latin typeface="Courier New" panose="02070309020205020404" pitchFamily="49" charset="0"/>
                <a:cs typeface="Courier New" panose="02070309020205020404" pitchFamily="49" charset="0"/>
              </a:rPr>
              <a:t> 	</a:t>
            </a:r>
            <a:r>
              <a:rPr lang="en-US" sz="1400" dirty="0">
                <a:solidFill>
                  <a:srgbClr val="000000"/>
                </a:solidFill>
                <a:latin typeface="Courier New" panose="02070309020205020404" pitchFamily="49" charset="0"/>
                <a:cs typeface="Courier New" panose="02070309020205020404" pitchFamily="49" charset="0"/>
              </a:rPr>
              <a:t># Create the Canvas widget.</a:t>
            </a:r>
          </a:p>
          <a:p>
            <a:pPr>
              <a:tabLst>
                <a:tab pos="1255713" algn="l"/>
              </a:tabLst>
            </a:pPr>
            <a:r>
              <a:rPr lang="en-AU" sz="1400" dirty="0">
                <a:solidFill>
                  <a:srgbClr val="007FA3"/>
                </a:solidFill>
                <a:latin typeface="Courier New" panose="02070309020205020404" pitchFamily="49" charset="0"/>
                <a:cs typeface="Courier New" panose="02070309020205020404" pitchFamily="49" charset="0"/>
              </a:rPr>
              <a:t>10</a:t>
            </a:r>
            <a:r>
              <a:rPr lang="en-AU" sz="1400" dirty="0">
                <a:solidFill>
                  <a:srgbClr val="1473FF"/>
                </a:solidFill>
                <a:latin typeface="Courier New" panose="02070309020205020404" pitchFamily="49" charset="0"/>
                <a:cs typeface="Courier New" panose="02070309020205020404" pitchFamily="49" charset="0"/>
              </a:rPr>
              <a:t> 	</a:t>
            </a:r>
            <a:r>
              <a:rPr lang="en-AU" sz="1400" dirty="0" err="1">
                <a:solidFill>
                  <a:srgbClr val="000000"/>
                </a:solidFill>
                <a:latin typeface="Courier New" panose="02070309020205020404" pitchFamily="49" charset="0"/>
                <a:cs typeface="Courier New" panose="02070309020205020404" pitchFamily="49" charset="0"/>
              </a:rPr>
              <a:t>self.canvas</a:t>
            </a:r>
            <a:r>
              <a:rPr lang="en-AU" sz="1400" dirty="0">
                <a:solidFill>
                  <a:srgbClr val="000000"/>
                </a:solidFill>
                <a:latin typeface="Courier New" panose="02070309020205020404" pitchFamily="49" charset="0"/>
                <a:cs typeface="Courier New" panose="02070309020205020404" pitchFamily="49" charset="0"/>
              </a:rPr>
              <a:t> = </a:t>
            </a:r>
            <a:r>
              <a:rPr lang="en-AU" sz="1400" dirty="0" err="1">
                <a:solidFill>
                  <a:srgbClr val="000000"/>
                </a:solidFill>
                <a:latin typeface="Courier New" panose="02070309020205020404" pitchFamily="49" charset="0"/>
                <a:cs typeface="Courier New" panose="02070309020205020404" pitchFamily="49" charset="0"/>
              </a:rPr>
              <a:t>tkinter.Canvas</a:t>
            </a:r>
            <a:r>
              <a:rPr lang="en-AU" sz="1400" dirty="0">
                <a:solidFill>
                  <a:srgbClr val="000000"/>
                </a:solidFill>
                <a:latin typeface="Courier New" panose="02070309020205020404" pitchFamily="49" charset="0"/>
                <a:cs typeface="Courier New" panose="02070309020205020404" pitchFamily="49" charset="0"/>
              </a:rPr>
              <a:t>(</a:t>
            </a:r>
            <a:r>
              <a:rPr lang="en-AU" sz="1400" dirty="0" err="1">
                <a:solidFill>
                  <a:srgbClr val="000000"/>
                </a:solidFill>
                <a:latin typeface="Courier New" panose="02070309020205020404" pitchFamily="49" charset="0"/>
                <a:cs typeface="Courier New" panose="02070309020205020404" pitchFamily="49" charset="0"/>
              </a:rPr>
              <a:t>self.main_window</a:t>
            </a:r>
            <a:r>
              <a:rPr lang="en-AU" sz="1400" dirty="0">
                <a:solidFill>
                  <a:srgbClr val="000000"/>
                </a:solidFill>
                <a:latin typeface="Courier New" panose="02070309020205020404" pitchFamily="49" charset="0"/>
                <a:cs typeface="Courier New" panose="02070309020205020404" pitchFamily="49" charset="0"/>
              </a:rPr>
              <a:t>, 			width=200,height=200)</a:t>
            </a:r>
          </a:p>
          <a:p>
            <a:r>
              <a:rPr lang="en-AU" sz="1400" dirty="0">
                <a:solidFill>
                  <a:srgbClr val="007FA3"/>
                </a:solidFill>
                <a:latin typeface="Courier New" panose="02070309020205020404" pitchFamily="49" charset="0"/>
                <a:cs typeface="Courier New" panose="02070309020205020404" pitchFamily="49" charset="0"/>
              </a:rPr>
              <a:t>11</a:t>
            </a:r>
          </a:p>
          <a:p>
            <a:pPr>
              <a:tabLst>
                <a:tab pos="1255713" algn="l"/>
              </a:tabLst>
            </a:pPr>
            <a:r>
              <a:rPr lang="en-AU" sz="1400" dirty="0">
                <a:solidFill>
                  <a:srgbClr val="007FA3"/>
                </a:solidFill>
                <a:latin typeface="Courier New" panose="02070309020205020404" pitchFamily="49" charset="0"/>
                <a:cs typeface="Courier New" panose="02070309020205020404" pitchFamily="49" charset="0"/>
              </a:rPr>
              <a:t>12</a:t>
            </a:r>
            <a:r>
              <a:rPr lang="en-AU" sz="1400" dirty="0">
                <a:solidFill>
                  <a:srgbClr val="1473FF"/>
                </a:solidFill>
                <a:latin typeface="Courier New" panose="02070309020205020404" pitchFamily="49" charset="0"/>
                <a:cs typeface="Courier New" panose="02070309020205020404" pitchFamily="49" charset="0"/>
              </a:rPr>
              <a:t> 	</a:t>
            </a:r>
            <a:r>
              <a:rPr lang="en-AU" sz="1400" dirty="0">
                <a:solidFill>
                  <a:srgbClr val="000000"/>
                </a:solidFill>
                <a:latin typeface="Courier New" panose="02070309020205020404" pitchFamily="49" charset="0"/>
                <a:cs typeface="Courier New" panose="02070309020205020404" pitchFamily="49" charset="0"/>
              </a:rPr>
              <a:t># Draw two lines.</a:t>
            </a:r>
          </a:p>
          <a:p>
            <a:pPr>
              <a:tabLst>
                <a:tab pos="1255713" algn="l"/>
              </a:tabLst>
            </a:pPr>
            <a:r>
              <a:rPr lang="en-US" sz="1400" dirty="0">
                <a:solidFill>
                  <a:srgbClr val="007FA3"/>
                </a:solidFill>
                <a:latin typeface="Courier New" panose="02070309020205020404" pitchFamily="49" charset="0"/>
                <a:cs typeface="Courier New" panose="02070309020205020404" pitchFamily="49" charset="0"/>
              </a:rPr>
              <a:t>13</a:t>
            </a:r>
            <a:r>
              <a:rPr lang="en-US" sz="1400" dirty="0">
                <a:solidFill>
                  <a:srgbClr val="1473FF"/>
                </a:solidFill>
                <a:latin typeface="Courier New" panose="02070309020205020404" pitchFamily="49" charset="0"/>
                <a:cs typeface="Courier New" panose="02070309020205020404" pitchFamily="49" charset="0"/>
              </a:rPr>
              <a:t> 	</a:t>
            </a:r>
            <a:r>
              <a:rPr lang="en-US" sz="1400" dirty="0" err="1">
                <a:solidFill>
                  <a:srgbClr val="000000"/>
                </a:solidFill>
                <a:latin typeface="Courier New" panose="02070309020205020404" pitchFamily="49" charset="0"/>
                <a:cs typeface="Courier New" panose="02070309020205020404" pitchFamily="49" charset="0"/>
              </a:rPr>
              <a:t>self.canvas.create_line</a:t>
            </a:r>
            <a:r>
              <a:rPr lang="en-US" sz="1400" dirty="0">
                <a:solidFill>
                  <a:srgbClr val="000000"/>
                </a:solidFill>
                <a:latin typeface="Courier New" panose="02070309020205020404" pitchFamily="49" charset="0"/>
                <a:cs typeface="Courier New" panose="02070309020205020404" pitchFamily="49" charset="0"/>
              </a:rPr>
              <a:t>(0, 0, 199, 199)</a:t>
            </a:r>
          </a:p>
          <a:p>
            <a:pPr>
              <a:tabLst>
                <a:tab pos="1255713" algn="l"/>
              </a:tabLst>
            </a:pPr>
            <a:r>
              <a:rPr lang="en-US" sz="1400" dirty="0">
                <a:solidFill>
                  <a:srgbClr val="007FA3"/>
                </a:solidFill>
                <a:latin typeface="Courier New" panose="02070309020205020404" pitchFamily="49" charset="0"/>
                <a:cs typeface="Courier New" panose="02070309020205020404" pitchFamily="49" charset="0"/>
              </a:rPr>
              <a:t>14</a:t>
            </a:r>
            <a:r>
              <a:rPr lang="en-US" sz="1400" dirty="0">
                <a:solidFill>
                  <a:srgbClr val="1473FF"/>
                </a:solidFill>
                <a:latin typeface="Courier New" panose="02070309020205020404" pitchFamily="49" charset="0"/>
                <a:cs typeface="Courier New" panose="02070309020205020404" pitchFamily="49" charset="0"/>
              </a:rPr>
              <a:t> 	</a:t>
            </a:r>
            <a:r>
              <a:rPr lang="en-US" sz="1400" dirty="0" err="1">
                <a:solidFill>
                  <a:srgbClr val="000000"/>
                </a:solidFill>
                <a:latin typeface="Courier New" panose="02070309020205020404" pitchFamily="49" charset="0"/>
                <a:cs typeface="Courier New" panose="02070309020205020404" pitchFamily="49" charset="0"/>
              </a:rPr>
              <a:t>self.canvas.create_line</a:t>
            </a:r>
            <a:r>
              <a:rPr lang="en-US" sz="1400" dirty="0">
                <a:solidFill>
                  <a:srgbClr val="000000"/>
                </a:solidFill>
                <a:latin typeface="Courier New" panose="02070309020205020404" pitchFamily="49" charset="0"/>
                <a:cs typeface="Courier New" panose="02070309020205020404" pitchFamily="49" charset="0"/>
              </a:rPr>
              <a:t>(199, 0, 0, 199)</a:t>
            </a:r>
          </a:p>
          <a:p>
            <a:r>
              <a:rPr lang="en-AU" sz="1400" dirty="0">
                <a:solidFill>
                  <a:srgbClr val="007FA3"/>
                </a:solidFill>
                <a:latin typeface="Courier New" panose="02070309020205020404" pitchFamily="49" charset="0"/>
                <a:cs typeface="Courier New" panose="02070309020205020404" pitchFamily="49" charset="0"/>
              </a:rPr>
              <a:t>15</a:t>
            </a:r>
          </a:p>
          <a:p>
            <a:pPr>
              <a:tabLst>
                <a:tab pos="1255713" algn="l"/>
              </a:tabLst>
            </a:pPr>
            <a:r>
              <a:rPr lang="en-AU" sz="1400" dirty="0">
                <a:solidFill>
                  <a:srgbClr val="007FA3"/>
                </a:solidFill>
                <a:latin typeface="Courier New" panose="02070309020205020404" pitchFamily="49" charset="0"/>
                <a:cs typeface="Courier New" panose="02070309020205020404" pitchFamily="49" charset="0"/>
              </a:rPr>
              <a:t>16</a:t>
            </a:r>
            <a:r>
              <a:rPr lang="en-AU" sz="1400" dirty="0">
                <a:solidFill>
                  <a:srgbClr val="1473FF"/>
                </a:solidFill>
                <a:latin typeface="Courier New" panose="02070309020205020404" pitchFamily="49" charset="0"/>
                <a:cs typeface="Courier New" panose="02070309020205020404" pitchFamily="49" charset="0"/>
              </a:rPr>
              <a:t> 	</a:t>
            </a:r>
            <a:r>
              <a:rPr lang="en-AU" sz="1400" dirty="0">
                <a:solidFill>
                  <a:srgbClr val="000000"/>
                </a:solidFill>
                <a:latin typeface="Courier New" panose="02070309020205020404" pitchFamily="49" charset="0"/>
                <a:cs typeface="Courier New" panose="02070309020205020404" pitchFamily="49" charset="0"/>
              </a:rPr>
              <a:t># Pack the canvas.</a:t>
            </a:r>
          </a:p>
          <a:p>
            <a:pPr>
              <a:tabLst>
                <a:tab pos="1255713" algn="l"/>
              </a:tabLst>
            </a:pPr>
            <a:r>
              <a:rPr lang="en-AU" sz="1400" dirty="0">
                <a:solidFill>
                  <a:srgbClr val="007FA3"/>
                </a:solidFill>
                <a:latin typeface="Courier New" panose="02070309020205020404" pitchFamily="49" charset="0"/>
                <a:cs typeface="Courier New" panose="02070309020205020404" pitchFamily="49" charset="0"/>
              </a:rPr>
              <a:t>17</a:t>
            </a:r>
            <a:r>
              <a:rPr lang="en-AU" sz="1400" dirty="0">
                <a:solidFill>
                  <a:srgbClr val="1473FF"/>
                </a:solidFill>
                <a:latin typeface="Courier New" panose="02070309020205020404" pitchFamily="49" charset="0"/>
                <a:cs typeface="Courier New" panose="02070309020205020404" pitchFamily="49" charset="0"/>
              </a:rPr>
              <a:t> 	</a:t>
            </a:r>
            <a:r>
              <a:rPr lang="en-AU" sz="1400" dirty="0" err="1">
                <a:solidFill>
                  <a:srgbClr val="000000"/>
                </a:solidFill>
                <a:latin typeface="Courier New" panose="02070309020205020404" pitchFamily="49" charset="0"/>
                <a:cs typeface="Courier New" panose="02070309020205020404" pitchFamily="49" charset="0"/>
              </a:rPr>
              <a:t>self.canvas.pack</a:t>
            </a:r>
            <a:r>
              <a:rPr lang="en-AU" sz="1400" dirty="0">
                <a:solidFill>
                  <a:srgbClr val="000000"/>
                </a:solidFill>
                <a:latin typeface="Courier New" panose="02070309020205020404" pitchFamily="49" charset="0"/>
                <a:cs typeface="Courier New" panose="02070309020205020404" pitchFamily="49" charset="0"/>
              </a:rPr>
              <a:t>()</a:t>
            </a:r>
          </a:p>
          <a:p>
            <a:r>
              <a:rPr lang="en-AU" sz="1400" dirty="0">
                <a:solidFill>
                  <a:srgbClr val="007FA3"/>
                </a:solidFill>
                <a:latin typeface="Courier New" panose="02070309020205020404" pitchFamily="49" charset="0"/>
                <a:cs typeface="Courier New" panose="02070309020205020404" pitchFamily="49" charset="0"/>
              </a:rPr>
              <a:t>18</a:t>
            </a:r>
          </a:p>
          <a:p>
            <a:pPr>
              <a:tabLst>
                <a:tab pos="1255713" algn="l"/>
              </a:tabLst>
            </a:pPr>
            <a:r>
              <a:rPr lang="en-AU" sz="1400" dirty="0">
                <a:solidFill>
                  <a:srgbClr val="007FA3"/>
                </a:solidFill>
                <a:latin typeface="Courier New" panose="02070309020205020404" pitchFamily="49" charset="0"/>
                <a:cs typeface="Courier New" panose="02070309020205020404" pitchFamily="49" charset="0"/>
              </a:rPr>
              <a:t>19</a:t>
            </a:r>
            <a:r>
              <a:rPr lang="en-AU" sz="1400" dirty="0">
                <a:solidFill>
                  <a:srgbClr val="1473FF"/>
                </a:solidFill>
                <a:latin typeface="Courier New" panose="02070309020205020404" pitchFamily="49" charset="0"/>
                <a:cs typeface="Courier New" panose="02070309020205020404" pitchFamily="49" charset="0"/>
              </a:rPr>
              <a:t> 	</a:t>
            </a:r>
            <a:r>
              <a:rPr lang="en-AU" sz="1400" dirty="0">
                <a:solidFill>
                  <a:srgbClr val="000000"/>
                </a:solidFill>
                <a:latin typeface="Courier New" panose="02070309020205020404" pitchFamily="49" charset="0"/>
                <a:cs typeface="Courier New" panose="02070309020205020404" pitchFamily="49" charset="0"/>
              </a:rPr>
              <a:t># Start the </a:t>
            </a:r>
            <a:r>
              <a:rPr lang="en-AU" sz="1400" dirty="0" err="1">
                <a:solidFill>
                  <a:srgbClr val="000000"/>
                </a:solidFill>
                <a:latin typeface="Courier New" panose="02070309020205020404" pitchFamily="49" charset="0"/>
                <a:cs typeface="Courier New" panose="02070309020205020404" pitchFamily="49" charset="0"/>
              </a:rPr>
              <a:t>mainloop</a:t>
            </a:r>
            <a:r>
              <a:rPr lang="en-AU" sz="1400" dirty="0">
                <a:solidFill>
                  <a:srgbClr val="000000"/>
                </a:solidFill>
                <a:latin typeface="Courier New" panose="02070309020205020404" pitchFamily="49" charset="0"/>
                <a:cs typeface="Courier New" panose="02070309020205020404" pitchFamily="49" charset="0"/>
              </a:rPr>
              <a:t>.</a:t>
            </a:r>
          </a:p>
          <a:p>
            <a:pPr>
              <a:tabLst>
                <a:tab pos="1255713" algn="l"/>
              </a:tabLst>
            </a:pPr>
            <a:r>
              <a:rPr lang="en-AU" sz="1400" dirty="0">
                <a:solidFill>
                  <a:srgbClr val="007FA3"/>
                </a:solidFill>
                <a:latin typeface="Courier New" panose="02070309020205020404" pitchFamily="49" charset="0"/>
                <a:cs typeface="Courier New" panose="02070309020205020404" pitchFamily="49" charset="0"/>
              </a:rPr>
              <a:t>20</a:t>
            </a:r>
            <a:r>
              <a:rPr lang="en-AU" sz="1400" dirty="0">
                <a:solidFill>
                  <a:srgbClr val="1473FF"/>
                </a:solidFill>
                <a:latin typeface="Courier New" panose="02070309020205020404" pitchFamily="49" charset="0"/>
                <a:cs typeface="Courier New" panose="02070309020205020404" pitchFamily="49" charset="0"/>
              </a:rPr>
              <a:t> 	</a:t>
            </a:r>
            <a:r>
              <a:rPr lang="en-AU" sz="1400" dirty="0" err="1">
                <a:solidFill>
                  <a:srgbClr val="000000"/>
                </a:solidFill>
                <a:latin typeface="Courier New" panose="02070309020205020404" pitchFamily="49" charset="0"/>
                <a:cs typeface="Courier New" panose="02070309020205020404" pitchFamily="49" charset="0"/>
              </a:rPr>
              <a:t>tkinter.mainloop</a:t>
            </a:r>
            <a:r>
              <a:rPr lang="en-AU" sz="1400" dirty="0">
                <a:solidFill>
                  <a:srgbClr val="000000"/>
                </a:solidFill>
                <a:latin typeface="Courier New" panose="02070309020205020404" pitchFamily="49" charset="0"/>
                <a:cs typeface="Courier New" panose="02070309020205020404" pitchFamily="49" charset="0"/>
              </a:rPr>
              <a:t>()</a:t>
            </a:r>
          </a:p>
          <a:p>
            <a:r>
              <a:rPr lang="en-AU" sz="1400" dirty="0">
                <a:solidFill>
                  <a:srgbClr val="007FA3"/>
                </a:solidFill>
                <a:latin typeface="Courier New" panose="02070309020205020404" pitchFamily="49" charset="0"/>
                <a:cs typeface="Courier New" panose="02070309020205020404" pitchFamily="49" charset="0"/>
              </a:rPr>
              <a:t>21</a:t>
            </a:r>
          </a:p>
          <a:p>
            <a:r>
              <a:rPr lang="en-US" sz="1400" dirty="0">
                <a:solidFill>
                  <a:srgbClr val="007FA3"/>
                </a:solidFill>
                <a:latin typeface="Courier New" panose="02070309020205020404" pitchFamily="49" charset="0"/>
                <a:cs typeface="Courier New" panose="02070309020205020404" pitchFamily="49" charset="0"/>
              </a:rPr>
              <a:t>22</a:t>
            </a:r>
            <a:r>
              <a:rPr lang="en-US" sz="1400" dirty="0">
                <a:solidFill>
                  <a:srgbClr val="1473FF"/>
                </a:solidFill>
                <a:latin typeface="Courier New" panose="02070309020205020404" pitchFamily="49" charset="0"/>
                <a:cs typeface="Courier New" panose="02070309020205020404" pitchFamily="49" charset="0"/>
              </a:rPr>
              <a:t> </a:t>
            </a:r>
            <a:r>
              <a:rPr lang="en-US" sz="1400" dirty="0">
                <a:solidFill>
                  <a:srgbClr val="000000"/>
                </a:solidFill>
                <a:latin typeface="Courier New" panose="02070309020205020404" pitchFamily="49" charset="0"/>
                <a:cs typeface="Courier New" panose="02070309020205020404" pitchFamily="49" charset="0"/>
              </a:rPr>
              <a:t># Create an instance of the </a:t>
            </a:r>
            <a:r>
              <a:rPr lang="en-US" sz="1400" dirty="0" err="1">
                <a:solidFill>
                  <a:srgbClr val="000000"/>
                </a:solidFill>
                <a:latin typeface="Courier New" panose="02070309020205020404" pitchFamily="49" charset="0"/>
                <a:cs typeface="Courier New" panose="02070309020205020404" pitchFamily="49" charset="0"/>
              </a:rPr>
              <a:t>MyGUI</a:t>
            </a:r>
            <a:r>
              <a:rPr lang="en-US" sz="1400" dirty="0">
                <a:solidFill>
                  <a:srgbClr val="000000"/>
                </a:solidFill>
                <a:latin typeface="Courier New" panose="02070309020205020404" pitchFamily="49" charset="0"/>
                <a:cs typeface="Courier New" panose="02070309020205020404" pitchFamily="49" charset="0"/>
              </a:rPr>
              <a:t> class.</a:t>
            </a:r>
          </a:p>
          <a:p>
            <a:pPr>
              <a:tabLst>
                <a:tab pos="231775" algn="l"/>
              </a:tabLst>
            </a:pPr>
            <a:r>
              <a:rPr lang="en-AU" sz="1400" dirty="0">
                <a:solidFill>
                  <a:srgbClr val="007FA3"/>
                </a:solidFill>
                <a:latin typeface="Courier New" panose="02070309020205020404" pitchFamily="49" charset="0"/>
                <a:cs typeface="Courier New" panose="02070309020205020404" pitchFamily="49" charset="0"/>
              </a:rPr>
              <a:t>23</a:t>
            </a:r>
            <a:r>
              <a:rPr lang="en-AU" sz="1400" dirty="0">
                <a:solidFill>
                  <a:srgbClr val="1473FF"/>
                </a:solidFill>
                <a:latin typeface="Courier New" panose="02070309020205020404" pitchFamily="49" charset="0"/>
                <a:cs typeface="Courier New" panose="02070309020205020404" pitchFamily="49" charset="0"/>
              </a:rPr>
              <a:t> </a:t>
            </a:r>
            <a:r>
              <a:rPr lang="en-AU" sz="1400" dirty="0" err="1">
                <a:solidFill>
                  <a:srgbClr val="000000"/>
                </a:solidFill>
                <a:latin typeface="Courier New" panose="02070309020205020404" pitchFamily="49" charset="0"/>
                <a:cs typeface="Courier New" panose="02070309020205020404" pitchFamily="49" charset="0"/>
              </a:rPr>
              <a:t>my_gui</a:t>
            </a:r>
            <a:r>
              <a:rPr lang="en-AU" sz="1400" dirty="0">
                <a:solidFill>
                  <a:srgbClr val="000000"/>
                </a:solidFill>
                <a:latin typeface="Courier New" panose="02070309020205020404" pitchFamily="49" charset="0"/>
                <a:cs typeface="Courier New" panose="02070309020205020404" pitchFamily="49" charset="0"/>
              </a:rPr>
              <a:t> = </a:t>
            </a:r>
            <a:r>
              <a:rPr lang="en-AU" sz="1400" dirty="0" err="1">
                <a:solidFill>
                  <a:srgbClr val="000000"/>
                </a:solidFill>
                <a:latin typeface="Courier New" panose="02070309020205020404" pitchFamily="49" charset="0"/>
                <a:cs typeface="Courier New" panose="02070309020205020404" pitchFamily="49" charset="0"/>
              </a:rPr>
              <a:t>MyGUI</a:t>
            </a:r>
            <a:r>
              <a:rPr lang="en-AU" sz="1400" dirty="0">
                <a:solidFill>
                  <a:srgbClr val="000000"/>
                </a:solidFill>
                <a:latin typeface="Courier New" panose="02070309020205020404" pitchFamily="49" charset="0"/>
                <a:cs typeface="Courier New" panose="02070309020205020404" pitchFamily="49" charset="0"/>
              </a:rPr>
              <a:t>()</a:t>
            </a:r>
            <a:endParaRPr lang="en-AU" sz="1400" dirty="0">
              <a:latin typeface="Courier New" panose="02070309020205020404" pitchFamily="49" charset="0"/>
              <a:cs typeface="Courier New" panose="02070309020205020404" pitchFamily="49" charset="0"/>
            </a:endParaRPr>
          </a:p>
        </p:txBody>
      </p:sp>
      <p:pic>
        <p:nvPicPr>
          <p:cNvPr id="6" name="Picture 4" descr="A window titled, t K displays a rectangle. ">
            <a:extLst>
              <a:ext uri="{FF2B5EF4-FFF2-40B4-BE49-F238E27FC236}">
                <a16:creationId xmlns:a16="http://schemas.microsoft.com/office/drawing/2014/main" id="{9C001B6B-3D55-4FBA-9F91-5A8E585CBE6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553200" y="3886200"/>
            <a:ext cx="1962150" cy="224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7610497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le 1">
            <a:extLst>
              <a:ext uri="{FF2B5EF4-FFF2-40B4-BE49-F238E27FC236}">
                <a16:creationId xmlns:a16="http://schemas.microsoft.com/office/drawing/2014/main" id="{17234963-6CF2-45A7-B2F8-78A5611E200B}"/>
              </a:ext>
            </a:extLst>
          </p:cNvPr>
          <p:cNvSpPr>
            <a:spLocks noGrp="1" noChangeArrowheads="1"/>
          </p:cNvSpPr>
          <p:nvPr>
            <p:ph type="title"/>
          </p:nvPr>
        </p:nvSpPr>
        <p:spPr/>
        <p:txBody>
          <a:bodyPr/>
          <a:lstStyle/>
          <a:p>
            <a:r>
              <a:rPr lang="en-US" altLang="en-US" dirty="0"/>
              <a:t>Drawing an Oval</a:t>
            </a:r>
            <a:r>
              <a:rPr lang="en-AU" sz="2000" b="0" dirty="0"/>
              <a:t> (1 of 2)</a:t>
            </a:r>
            <a:endParaRPr lang="en-US" altLang="en-US" sz="2000" dirty="0"/>
          </a:p>
        </p:txBody>
      </p:sp>
      <p:sp>
        <p:nvSpPr>
          <p:cNvPr id="69635" name="TextBox 3">
            <a:extLst>
              <a:ext uri="{FF2B5EF4-FFF2-40B4-BE49-F238E27FC236}">
                <a16:creationId xmlns:a16="http://schemas.microsoft.com/office/drawing/2014/main" id="{14559C64-CE6D-4AD5-A77C-94DDE4D37BA8}"/>
              </a:ext>
            </a:extLst>
          </p:cNvPr>
          <p:cNvSpPr txBox="1">
            <a:spLocks noChangeArrowheads="1"/>
          </p:cNvSpPr>
          <p:nvPr/>
        </p:nvSpPr>
        <p:spPr bwMode="auto">
          <a:xfrm>
            <a:off x="304800" y="2743200"/>
            <a:ext cx="8610600"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200" b="0" i="1" dirty="0" err="1">
                <a:latin typeface="Courier New" panose="02070309020205020404" pitchFamily="49" charset="0"/>
                <a:cs typeface="Calibri" panose="020F0502020204030204" pitchFamily="34" charset="0"/>
              </a:rPr>
              <a:t>canvas_name</a:t>
            </a:r>
            <a:r>
              <a:rPr lang="en-US" altLang="en-US" sz="2200" b="0" dirty="0" err="1">
                <a:latin typeface="Courier New" panose="02070309020205020404" pitchFamily="49" charset="0"/>
                <a:cs typeface="Calibri" panose="020F0502020204030204" pitchFamily="34" charset="0"/>
              </a:rPr>
              <a:t>.create_oval</a:t>
            </a:r>
            <a:r>
              <a:rPr lang="en-US" altLang="en-US" sz="2200" b="0" dirty="0">
                <a:latin typeface="Courier New" panose="02070309020205020404" pitchFamily="49" charset="0"/>
                <a:cs typeface="Calibri" panose="020F0502020204030204" pitchFamily="34" charset="0"/>
              </a:rPr>
              <a:t>(x1, y1, x2, y2, </a:t>
            </a:r>
            <a:r>
              <a:rPr lang="en-US" altLang="en-US" sz="2200" b="0" i="1" dirty="0">
                <a:latin typeface="Courier New" panose="02070309020205020404" pitchFamily="49" charset="0"/>
                <a:cs typeface="Calibri" panose="020F0502020204030204" pitchFamily="34" charset="0"/>
              </a:rPr>
              <a:t>options</a:t>
            </a:r>
            <a:r>
              <a:rPr lang="en-US" altLang="en-US" sz="2200" b="0" dirty="0">
                <a:latin typeface="Courier New" panose="02070309020205020404" pitchFamily="49" charset="0"/>
                <a:cs typeface="Calibri" panose="020F0502020204030204" pitchFamily="34" charset="0"/>
              </a:rPr>
              <a:t>…)</a:t>
            </a:r>
            <a:endParaRPr lang="en-US" altLang="en-US" sz="2200" b="0" dirty="0"/>
          </a:p>
        </p:txBody>
      </p:sp>
      <p:sp>
        <p:nvSpPr>
          <p:cNvPr id="69636" name="Left Bracket 4">
            <a:extLst>
              <a:ext uri="{FF2B5EF4-FFF2-40B4-BE49-F238E27FC236}">
                <a16:creationId xmlns:a16="http://schemas.microsoft.com/office/drawing/2014/main" id="{C13B55DF-5738-4AD3-935D-F83D36A6E012}"/>
              </a:ext>
            </a:extLst>
          </p:cNvPr>
          <p:cNvSpPr>
            <a:spLocks/>
          </p:cNvSpPr>
          <p:nvPr/>
        </p:nvSpPr>
        <p:spPr bwMode="auto">
          <a:xfrm rot="-5400000">
            <a:off x="4783932" y="2726531"/>
            <a:ext cx="304800" cy="1100137"/>
          </a:xfrm>
          <a:prstGeom prst="leftBracket">
            <a:avLst>
              <a:gd name="adj" fmla="val 8338"/>
            </a:avLst>
          </a:prstGeom>
          <a:noFill/>
          <a:ln w="9525" algn="ctr">
            <a:solidFill>
              <a:srgbClr val="007FA3"/>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1800" b="0"/>
          </a:p>
        </p:txBody>
      </p:sp>
      <p:sp>
        <p:nvSpPr>
          <p:cNvPr id="69637" name="TextBox 8">
            <a:extLst>
              <a:ext uri="{FF2B5EF4-FFF2-40B4-BE49-F238E27FC236}">
                <a16:creationId xmlns:a16="http://schemas.microsoft.com/office/drawing/2014/main" id="{DDB686CF-D00F-4D54-9A12-08E12CCF5F76}"/>
              </a:ext>
            </a:extLst>
          </p:cNvPr>
          <p:cNvSpPr txBox="1">
            <a:spLocks noChangeArrowheads="1"/>
          </p:cNvSpPr>
          <p:nvPr/>
        </p:nvSpPr>
        <p:spPr bwMode="auto">
          <a:xfrm>
            <a:off x="5257800" y="1295400"/>
            <a:ext cx="21463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1800" b="0" dirty="0">
                <a:solidFill>
                  <a:srgbClr val="007FA3"/>
                </a:solidFill>
              </a:rPr>
              <a:t>Coordinates of</a:t>
            </a:r>
          </a:p>
          <a:p>
            <a:pPr algn="ctr" eaLnBrk="1" hangingPunct="1">
              <a:spcBef>
                <a:spcPct val="0"/>
              </a:spcBef>
              <a:buFontTx/>
              <a:buNone/>
            </a:pPr>
            <a:r>
              <a:rPr lang="en-US" altLang="en-US" sz="1800" b="0" dirty="0">
                <a:solidFill>
                  <a:srgbClr val="007FA3"/>
                </a:solidFill>
              </a:rPr>
              <a:t>the lower-right</a:t>
            </a:r>
          </a:p>
          <a:p>
            <a:pPr algn="ctr" eaLnBrk="1" hangingPunct="1">
              <a:spcBef>
                <a:spcPct val="0"/>
              </a:spcBef>
              <a:buFontTx/>
              <a:buNone/>
            </a:pPr>
            <a:r>
              <a:rPr lang="en-US" altLang="en-US" sz="1800" b="0" dirty="0">
                <a:solidFill>
                  <a:srgbClr val="007FA3"/>
                </a:solidFill>
              </a:rPr>
              <a:t>corner of</a:t>
            </a:r>
          </a:p>
          <a:p>
            <a:pPr algn="ctr" eaLnBrk="1" hangingPunct="1">
              <a:spcBef>
                <a:spcPct val="0"/>
              </a:spcBef>
              <a:buFontTx/>
              <a:buNone/>
            </a:pPr>
            <a:r>
              <a:rPr lang="en-US" altLang="en-US" sz="1800" b="0" dirty="0">
                <a:solidFill>
                  <a:srgbClr val="007FA3"/>
                </a:solidFill>
              </a:rPr>
              <a:t>bounding rectangle</a:t>
            </a:r>
          </a:p>
        </p:txBody>
      </p:sp>
      <p:sp>
        <p:nvSpPr>
          <p:cNvPr id="69638" name="Left Bracket 9">
            <a:extLst>
              <a:ext uri="{FF2B5EF4-FFF2-40B4-BE49-F238E27FC236}">
                <a16:creationId xmlns:a16="http://schemas.microsoft.com/office/drawing/2014/main" id="{A0D9DC45-C5DF-4A1E-83D4-C2FD4EB7BC60}"/>
              </a:ext>
            </a:extLst>
          </p:cNvPr>
          <p:cNvSpPr>
            <a:spLocks/>
          </p:cNvSpPr>
          <p:nvPr/>
        </p:nvSpPr>
        <p:spPr bwMode="auto">
          <a:xfrm rot="5400000">
            <a:off x="6179344" y="2124869"/>
            <a:ext cx="304800" cy="1100138"/>
          </a:xfrm>
          <a:prstGeom prst="leftBracket">
            <a:avLst>
              <a:gd name="adj" fmla="val 8338"/>
            </a:avLst>
          </a:prstGeom>
          <a:noFill/>
          <a:ln w="9525" algn="ctr">
            <a:solidFill>
              <a:srgbClr val="007FA3"/>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1800" b="0"/>
          </a:p>
        </p:txBody>
      </p:sp>
      <p:sp>
        <p:nvSpPr>
          <p:cNvPr id="69639" name="TextBox 10">
            <a:extLst>
              <a:ext uri="{FF2B5EF4-FFF2-40B4-BE49-F238E27FC236}">
                <a16:creationId xmlns:a16="http://schemas.microsoft.com/office/drawing/2014/main" id="{00D09E36-03D4-480B-8755-69D5323212D9}"/>
              </a:ext>
            </a:extLst>
          </p:cNvPr>
          <p:cNvSpPr txBox="1">
            <a:spLocks noChangeArrowheads="1"/>
          </p:cNvSpPr>
          <p:nvPr/>
        </p:nvSpPr>
        <p:spPr bwMode="auto">
          <a:xfrm>
            <a:off x="6629400" y="3633788"/>
            <a:ext cx="219868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1800" b="0" dirty="0">
                <a:solidFill>
                  <a:srgbClr val="007FA3"/>
                </a:solidFill>
              </a:rPr>
              <a:t>Optional arguments</a:t>
            </a:r>
          </a:p>
          <a:p>
            <a:pPr algn="ctr" eaLnBrk="1" hangingPunct="1">
              <a:spcBef>
                <a:spcPct val="0"/>
              </a:spcBef>
              <a:buFontTx/>
              <a:buNone/>
            </a:pPr>
            <a:r>
              <a:rPr lang="en-US" altLang="en-US" sz="1800" b="0" dirty="0">
                <a:solidFill>
                  <a:srgbClr val="007FA3"/>
                </a:solidFill>
              </a:rPr>
              <a:t>(See Table 13-4)</a:t>
            </a:r>
          </a:p>
        </p:txBody>
      </p:sp>
      <p:cxnSp>
        <p:nvCxnSpPr>
          <p:cNvPr id="69640" name="Straight Connector 12">
            <a:extLst>
              <a:ext uri="{FF2B5EF4-FFF2-40B4-BE49-F238E27FC236}">
                <a16:creationId xmlns:a16="http://schemas.microsoft.com/office/drawing/2014/main" id="{4E760B26-245C-4D9D-9758-6AD18C939769}"/>
              </a:ext>
            </a:extLst>
          </p:cNvPr>
          <p:cNvCxnSpPr>
            <a:cxnSpLocks noChangeShapeType="1"/>
            <a:stCxn id="69639" idx="0"/>
          </p:cNvCxnSpPr>
          <p:nvPr/>
        </p:nvCxnSpPr>
        <p:spPr bwMode="auto">
          <a:xfrm flipV="1">
            <a:off x="7727950" y="3124200"/>
            <a:ext cx="44450" cy="509588"/>
          </a:xfrm>
          <a:prstGeom prst="line">
            <a:avLst/>
          </a:prstGeom>
          <a:noFill/>
          <a:ln w="9525" algn="ctr">
            <a:solidFill>
              <a:srgbClr val="007FA3"/>
            </a:solidFill>
            <a:round/>
            <a:headEnd/>
            <a:tailEnd/>
          </a:ln>
          <a:extLst>
            <a:ext uri="{909E8E84-426E-40DD-AFC4-6F175D3DCCD1}">
              <a14:hiddenFill xmlns:a14="http://schemas.microsoft.com/office/drawing/2010/main">
                <a:noFill/>
              </a14:hiddenFill>
            </a:ext>
          </a:extLst>
        </p:spPr>
      </p:cxnSp>
      <p:pic>
        <p:nvPicPr>
          <p:cNvPr id="69641" name="Picture 5" descr="An illustration of an oval inscribed in a rectangle. The coordinates of the upper left corner and lower right corner are defined by (x 1, y 1), and (x 2, y 2). ">
            <a:extLst>
              <a:ext uri="{FF2B5EF4-FFF2-40B4-BE49-F238E27FC236}">
                <a16:creationId xmlns:a16="http://schemas.microsoft.com/office/drawing/2014/main" id="{D9FD3D2C-C8D5-46D4-822E-F973218899B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auto">
          <a:xfrm>
            <a:off x="304800" y="3673373"/>
            <a:ext cx="3657600" cy="2673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42" name="TextBox 7">
            <a:extLst>
              <a:ext uri="{FF2B5EF4-FFF2-40B4-BE49-F238E27FC236}">
                <a16:creationId xmlns:a16="http://schemas.microsoft.com/office/drawing/2014/main" id="{2F3162B1-16A3-42FC-8FCA-790D2D0ED295}"/>
              </a:ext>
            </a:extLst>
          </p:cNvPr>
          <p:cNvSpPr txBox="1">
            <a:spLocks noChangeArrowheads="1"/>
          </p:cNvSpPr>
          <p:nvPr/>
        </p:nvSpPr>
        <p:spPr bwMode="auto">
          <a:xfrm>
            <a:off x="3962400" y="3567113"/>
            <a:ext cx="21463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1800" b="0" dirty="0">
                <a:solidFill>
                  <a:srgbClr val="007FA3"/>
                </a:solidFill>
              </a:rPr>
              <a:t>Coordinates of</a:t>
            </a:r>
          </a:p>
          <a:p>
            <a:pPr algn="ctr" eaLnBrk="1" hangingPunct="1">
              <a:spcBef>
                <a:spcPct val="0"/>
              </a:spcBef>
              <a:buFontTx/>
              <a:buNone/>
            </a:pPr>
            <a:r>
              <a:rPr lang="en-US" altLang="en-US" sz="1800" b="0" dirty="0">
                <a:solidFill>
                  <a:srgbClr val="007FA3"/>
                </a:solidFill>
              </a:rPr>
              <a:t>the upper-left</a:t>
            </a:r>
          </a:p>
          <a:p>
            <a:pPr algn="ctr" eaLnBrk="1" hangingPunct="1">
              <a:spcBef>
                <a:spcPct val="0"/>
              </a:spcBef>
              <a:buFontTx/>
              <a:buNone/>
            </a:pPr>
            <a:r>
              <a:rPr lang="en-US" altLang="en-US" sz="1800" b="0" dirty="0">
                <a:solidFill>
                  <a:srgbClr val="007FA3"/>
                </a:solidFill>
              </a:rPr>
              <a:t>corner of</a:t>
            </a:r>
          </a:p>
          <a:p>
            <a:pPr algn="ctr" eaLnBrk="1" hangingPunct="1">
              <a:spcBef>
                <a:spcPct val="0"/>
              </a:spcBef>
              <a:buFontTx/>
              <a:buNone/>
            </a:pPr>
            <a:r>
              <a:rPr lang="en-US" altLang="en-US" sz="1800" b="0" dirty="0">
                <a:solidFill>
                  <a:srgbClr val="007FA3"/>
                </a:solidFill>
              </a:rPr>
              <a:t>bounding rectangle</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93EB4-ECDB-470C-9B36-805B6FDE676F}"/>
              </a:ext>
            </a:extLst>
          </p:cNvPr>
          <p:cNvSpPr>
            <a:spLocks noGrp="1"/>
          </p:cNvSpPr>
          <p:nvPr>
            <p:ph type="title"/>
          </p:nvPr>
        </p:nvSpPr>
        <p:spPr>
          <a:xfrm>
            <a:off x="457200" y="215372"/>
            <a:ext cx="8229600" cy="516465"/>
          </a:xfrm>
        </p:spPr>
        <p:txBody>
          <a:bodyPr/>
          <a:lstStyle/>
          <a:p>
            <a:r>
              <a:rPr lang="en-US" altLang="en-US" dirty="0"/>
              <a:t>Drawing an Oval</a:t>
            </a:r>
            <a:r>
              <a:rPr lang="en-AU" sz="2000" b="0" dirty="0"/>
              <a:t> (2 of 2)</a:t>
            </a:r>
            <a:endParaRPr lang="en-AU" sz="2000" dirty="0"/>
          </a:p>
        </p:txBody>
      </p:sp>
      <p:sp>
        <p:nvSpPr>
          <p:cNvPr id="4" name="Rectangle 3">
            <a:extLst>
              <a:ext uri="{FF2B5EF4-FFF2-40B4-BE49-F238E27FC236}">
                <a16:creationId xmlns:a16="http://schemas.microsoft.com/office/drawing/2014/main" id="{5E9F8776-4D1C-4BA9-ACA4-EB1793DDD68C}"/>
              </a:ext>
            </a:extLst>
          </p:cNvPr>
          <p:cNvSpPr/>
          <p:nvPr/>
        </p:nvSpPr>
        <p:spPr>
          <a:xfrm>
            <a:off x="381000" y="846177"/>
            <a:ext cx="8382000" cy="5478423"/>
          </a:xfrm>
          <a:prstGeom prst="rect">
            <a:avLst/>
          </a:prstGeom>
        </p:spPr>
        <p:txBody>
          <a:bodyPr wrap="square">
            <a:spAutoFit/>
          </a:bodyPr>
          <a:lstStyle/>
          <a:p>
            <a:r>
              <a:rPr lang="en-US" sz="1400" dirty="0">
                <a:solidFill>
                  <a:srgbClr val="007FA3"/>
                </a:solidFill>
                <a:latin typeface="Courier New" panose="02070309020205020404" pitchFamily="49" charset="0"/>
                <a:cs typeface="Courier New" panose="02070309020205020404" pitchFamily="49" charset="0"/>
              </a:rPr>
              <a:t>1</a:t>
            </a:r>
            <a:r>
              <a:rPr lang="en-US" sz="1400" dirty="0">
                <a:solidFill>
                  <a:srgbClr val="1473FF"/>
                </a:solidFill>
                <a:latin typeface="Courier New" panose="02070309020205020404" pitchFamily="49" charset="0"/>
                <a:cs typeface="Courier New" panose="02070309020205020404" pitchFamily="49" charset="0"/>
              </a:rPr>
              <a:t> </a:t>
            </a:r>
            <a:r>
              <a:rPr lang="en-US" sz="1400" dirty="0">
                <a:solidFill>
                  <a:srgbClr val="000000"/>
                </a:solidFill>
                <a:latin typeface="Courier New" panose="02070309020205020404" pitchFamily="49" charset="0"/>
                <a:cs typeface="Courier New" panose="02070309020205020404" pitchFamily="49" charset="0"/>
              </a:rPr>
              <a:t># This program draws a rectangle on a Canvas.</a:t>
            </a:r>
          </a:p>
          <a:p>
            <a:r>
              <a:rPr lang="en-AU" sz="1400" dirty="0">
                <a:solidFill>
                  <a:srgbClr val="007FA3"/>
                </a:solidFill>
                <a:latin typeface="Courier New" panose="02070309020205020404" pitchFamily="49" charset="0"/>
                <a:cs typeface="Courier New" panose="02070309020205020404" pitchFamily="49" charset="0"/>
              </a:rPr>
              <a:t>2</a:t>
            </a:r>
            <a:r>
              <a:rPr lang="en-AU" sz="1400" dirty="0">
                <a:solidFill>
                  <a:srgbClr val="1473FF"/>
                </a:solidFill>
                <a:latin typeface="Courier New" panose="02070309020205020404" pitchFamily="49" charset="0"/>
                <a:cs typeface="Courier New" panose="02070309020205020404" pitchFamily="49" charset="0"/>
              </a:rPr>
              <a:t> </a:t>
            </a:r>
            <a:r>
              <a:rPr lang="en-AU" sz="1400" dirty="0">
                <a:solidFill>
                  <a:srgbClr val="000000"/>
                </a:solidFill>
                <a:latin typeface="Courier New" panose="02070309020205020404" pitchFamily="49" charset="0"/>
                <a:cs typeface="Courier New" panose="02070309020205020404" pitchFamily="49" charset="0"/>
              </a:rPr>
              <a:t>import </a:t>
            </a:r>
            <a:r>
              <a:rPr lang="en-AU" sz="1400" dirty="0" err="1">
                <a:solidFill>
                  <a:srgbClr val="000000"/>
                </a:solidFill>
                <a:latin typeface="Courier New" panose="02070309020205020404" pitchFamily="49" charset="0"/>
                <a:cs typeface="Courier New" panose="02070309020205020404" pitchFamily="49" charset="0"/>
              </a:rPr>
              <a:t>tkinter</a:t>
            </a:r>
            <a:endParaRPr lang="en-AU" sz="1400" dirty="0">
              <a:solidFill>
                <a:srgbClr val="000000"/>
              </a:solidFill>
              <a:latin typeface="Courier New" panose="02070309020205020404" pitchFamily="49" charset="0"/>
              <a:cs typeface="Courier New" panose="02070309020205020404" pitchFamily="49" charset="0"/>
            </a:endParaRPr>
          </a:p>
          <a:p>
            <a:r>
              <a:rPr lang="en-AU" sz="1400" dirty="0">
                <a:solidFill>
                  <a:srgbClr val="007FA3"/>
                </a:solidFill>
                <a:latin typeface="Courier New" panose="02070309020205020404" pitchFamily="49" charset="0"/>
                <a:cs typeface="Courier New" panose="02070309020205020404" pitchFamily="49" charset="0"/>
              </a:rPr>
              <a:t>3</a:t>
            </a:r>
          </a:p>
          <a:p>
            <a:r>
              <a:rPr lang="en-AU" sz="1400" dirty="0">
                <a:solidFill>
                  <a:srgbClr val="007FA3"/>
                </a:solidFill>
                <a:latin typeface="Courier New" panose="02070309020205020404" pitchFamily="49" charset="0"/>
                <a:cs typeface="Courier New" panose="02070309020205020404" pitchFamily="49" charset="0"/>
              </a:rPr>
              <a:t>4</a:t>
            </a:r>
            <a:r>
              <a:rPr lang="en-AU" sz="1400" dirty="0">
                <a:solidFill>
                  <a:srgbClr val="1473FF"/>
                </a:solidFill>
                <a:latin typeface="Courier New" panose="02070309020205020404" pitchFamily="49" charset="0"/>
                <a:cs typeface="Courier New" panose="02070309020205020404" pitchFamily="49" charset="0"/>
              </a:rPr>
              <a:t> </a:t>
            </a:r>
            <a:r>
              <a:rPr lang="en-AU" sz="1400" dirty="0">
                <a:solidFill>
                  <a:srgbClr val="000000"/>
                </a:solidFill>
                <a:latin typeface="Courier New" panose="02070309020205020404" pitchFamily="49" charset="0"/>
                <a:cs typeface="Courier New" panose="02070309020205020404" pitchFamily="49" charset="0"/>
              </a:rPr>
              <a:t>class </a:t>
            </a:r>
            <a:r>
              <a:rPr lang="en-AU" sz="1400" dirty="0" err="1">
                <a:solidFill>
                  <a:srgbClr val="000000"/>
                </a:solidFill>
                <a:latin typeface="Courier New" panose="02070309020205020404" pitchFamily="49" charset="0"/>
                <a:cs typeface="Courier New" panose="02070309020205020404" pitchFamily="49" charset="0"/>
              </a:rPr>
              <a:t>MyGUI</a:t>
            </a:r>
            <a:r>
              <a:rPr lang="en-AU" sz="1400" dirty="0">
                <a:solidFill>
                  <a:srgbClr val="000000"/>
                </a:solidFill>
                <a:latin typeface="Courier New" panose="02070309020205020404" pitchFamily="49" charset="0"/>
                <a:cs typeface="Courier New" panose="02070309020205020404" pitchFamily="49" charset="0"/>
              </a:rPr>
              <a:t>:</a:t>
            </a:r>
          </a:p>
          <a:p>
            <a:r>
              <a:rPr lang="en-AU" sz="1400" dirty="0">
                <a:solidFill>
                  <a:srgbClr val="007FA3"/>
                </a:solidFill>
                <a:latin typeface="Courier New" panose="02070309020205020404" pitchFamily="49" charset="0"/>
                <a:cs typeface="Courier New" panose="02070309020205020404" pitchFamily="49" charset="0"/>
              </a:rPr>
              <a:t>5</a:t>
            </a:r>
            <a:r>
              <a:rPr lang="en-AU" sz="1400" dirty="0">
                <a:solidFill>
                  <a:srgbClr val="1473FF"/>
                </a:solidFill>
                <a:latin typeface="Courier New" panose="02070309020205020404" pitchFamily="49" charset="0"/>
                <a:cs typeface="Courier New" panose="02070309020205020404" pitchFamily="49" charset="0"/>
              </a:rPr>
              <a:t> 	</a:t>
            </a:r>
            <a:r>
              <a:rPr lang="en-AU" sz="1400" dirty="0">
                <a:solidFill>
                  <a:srgbClr val="000000"/>
                </a:solidFill>
                <a:latin typeface="Courier New" panose="02070309020205020404" pitchFamily="49" charset="0"/>
                <a:cs typeface="Courier New" panose="02070309020205020404" pitchFamily="49" charset="0"/>
              </a:rPr>
              <a:t>def _ _</a:t>
            </a:r>
            <a:r>
              <a:rPr lang="en-AU" sz="1400" dirty="0" err="1">
                <a:solidFill>
                  <a:srgbClr val="000000"/>
                </a:solidFill>
                <a:latin typeface="Courier New" panose="02070309020205020404" pitchFamily="49" charset="0"/>
                <a:cs typeface="Courier New" panose="02070309020205020404" pitchFamily="49" charset="0"/>
              </a:rPr>
              <a:t>init</a:t>
            </a:r>
            <a:r>
              <a:rPr lang="en-AU" sz="1400" dirty="0">
                <a:solidFill>
                  <a:srgbClr val="000000"/>
                </a:solidFill>
                <a:latin typeface="Courier New" panose="02070309020205020404" pitchFamily="49" charset="0"/>
                <a:cs typeface="Courier New" panose="02070309020205020404" pitchFamily="49" charset="0"/>
              </a:rPr>
              <a:t>_ _(self):</a:t>
            </a:r>
          </a:p>
          <a:p>
            <a:pPr>
              <a:tabLst>
                <a:tab pos="1255713" algn="l"/>
              </a:tabLst>
            </a:pPr>
            <a:r>
              <a:rPr lang="en-US" sz="1400" dirty="0">
                <a:solidFill>
                  <a:srgbClr val="007FA3"/>
                </a:solidFill>
                <a:latin typeface="Courier New" panose="02070309020205020404" pitchFamily="49" charset="0"/>
                <a:cs typeface="Courier New" panose="02070309020205020404" pitchFamily="49" charset="0"/>
              </a:rPr>
              <a:t>6</a:t>
            </a:r>
            <a:r>
              <a:rPr lang="en-US" sz="1400" dirty="0">
                <a:solidFill>
                  <a:srgbClr val="1473FF"/>
                </a:solidFill>
                <a:latin typeface="Courier New" panose="02070309020205020404" pitchFamily="49" charset="0"/>
                <a:cs typeface="Courier New" panose="02070309020205020404" pitchFamily="49" charset="0"/>
              </a:rPr>
              <a:t> 	</a:t>
            </a:r>
            <a:r>
              <a:rPr lang="en-US" sz="1400" dirty="0">
                <a:solidFill>
                  <a:srgbClr val="000000"/>
                </a:solidFill>
                <a:latin typeface="Courier New" panose="02070309020205020404" pitchFamily="49" charset="0"/>
                <a:cs typeface="Courier New" panose="02070309020205020404" pitchFamily="49" charset="0"/>
              </a:rPr>
              <a:t># Create the main window.</a:t>
            </a:r>
          </a:p>
          <a:p>
            <a:pPr>
              <a:tabLst>
                <a:tab pos="1255713" algn="l"/>
              </a:tabLst>
            </a:pPr>
            <a:r>
              <a:rPr lang="en-US" sz="1400" dirty="0">
                <a:solidFill>
                  <a:srgbClr val="007FA3"/>
                </a:solidFill>
                <a:latin typeface="Courier New" panose="02070309020205020404" pitchFamily="49" charset="0"/>
                <a:cs typeface="Courier New" panose="02070309020205020404" pitchFamily="49" charset="0"/>
              </a:rPr>
              <a:t>7</a:t>
            </a:r>
            <a:r>
              <a:rPr lang="en-US" sz="1400" dirty="0">
                <a:solidFill>
                  <a:srgbClr val="1473FF"/>
                </a:solidFill>
                <a:latin typeface="Courier New" panose="02070309020205020404" pitchFamily="49" charset="0"/>
                <a:cs typeface="Courier New" panose="02070309020205020404" pitchFamily="49" charset="0"/>
              </a:rPr>
              <a:t> 	</a:t>
            </a:r>
            <a:r>
              <a:rPr lang="en-US" sz="1400" dirty="0" err="1">
                <a:solidFill>
                  <a:srgbClr val="000000"/>
                </a:solidFill>
                <a:latin typeface="Courier New" panose="02070309020205020404" pitchFamily="49" charset="0"/>
                <a:cs typeface="Courier New" panose="02070309020205020404" pitchFamily="49" charset="0"/>
              </a:rPr>
              <a:t>self.main_window</a:t>
            </a:r>
            <a:r>
              <a:rPr lang="en-US" sz="1400" dirty="0">
                <a:solidFill>
                  <a:srgbClr val="000000"/>
                </a:solidFill>
                <a:latin typeface="Courier New" panose="02070309020205020404" pitchFamily="49" charset="0"/>
                <a:cs typeface="Courier New" panose="02070309020205020404" pitchFamily="49" charset="0"/>
              </a:rPr>
              <a:t> = </a:t>
            </a:r>
            <a:r>
              <a:rPr lang="en-US" sz="1400" dirty="0" err="1">
                <a:solidFill>
                  <a:srgbClr val="000000"/>
                </a:solidFill>
                <a:latin typeface="Courier New" panose="02070309020205020404" pitchFamily="49" charset="0"/>
                <a:cs typeface="Courier New" panose="02070309020205020404" pitchFamily="49" charset="0"/>
              </a:rPr>
              <a:t>tkinter.Tk</a:t>
            </a:r>
            <a:r>
              <a:rPr lang="en-US" sz="1400" dirty="0">
                <a:solidFill>
                  <a:srgbClr val="000000"/>
                </a:solidFill>
                <a:latin typeface="Courier New" panose="02070309020205020404" pitchFamily="49" charset="0"/>
                <a:cs typeface="Courier New" panose="02070309020205020404" pitchFamily="49" charset="0"/>
              </a:rPr>
              <a:t>()</a:t>
            </a:r>
          </a:p>
          <a:p>
            <a:r>
              <a:rPr lang="en-AU" sz="1400" dirty="0">
                <a:solidFill>
                  <a:srgbClr val="007FA3"/>
                </a:solidFill>
                <a:latin typeface="Courier New" panose="02070309020205020404" pitchFamily="49" charset="0"/>
                <a:cs typeface="Courier New" panose="02070309020205020404" pitchFamily="49" charset="0"/>
              </a:rPr>
              <a:t>8</a:t>
            </a:r>
          </a:p>
          <a:p>
            <a:pPr>
              <a:tabLst>
                <a:tab pos="1255713" algn="l"/>
              </a:tabLst>
            </a:pPr>
            <a:r>
              <a:rPr lang="en-US" sz="1400" dirty="0">
                <a:solidFill>
                  <a:srgbClr val="007FA3"/>
                </a:solidFill>
                <a:latin typeface="Courier New" panose="02070309020205020404" pitchFamily="49" charset="0"/>
                <a:cs typeface="Courier New" panose="02070309020205020404" pitchFamily="49" charset="0"/>
              </a:rPr>
              <a:t>9</a:t>
            </a:r>
            <a:r>
              <a:rPr lang="en-US" sz="1400" dirty="0">
                <a:solidFill>
                  <a:srgbClr val="1473FF"/>
                </a:solidFill>
                <a:latin typeface="Courier New" panose="02070309020205020404" pitchFamily="49" charset="0"/>
                <a:cs typeface="Courier New" panose="02070309020205020404" pitchFamily="49" charset="0"/>
              </a:rPr>
              <a:t> 	</a:t>
            </a:r>
            <a:r>
              <a:rPr lang="en-US" sz="1400" dirty="0">
                <a:solidFill>
                  <a:srgbClr val="000000"/>
                </a:solidFill>
                <a:latin typeface="Courier New" panose="02070309020205020404" pitchFamily="49" charset="0"/>
                <a:cs typeface="Courier New" panose="02070309020205020404" pitchFamily="49" charset="0"/>
              </a:rPr>
              <a:t># Create the Canvas widget.</a:t>
            </a:r>
          </a:p>
          <a:p>
            <a:pPr>
              <a:tabLst>
                <a:tab pos="1255713" algn="l"/>
              </a:tabLst>
            </a:pPr>
            <a:r>
              <a:rPr lang="en-AU" sz="1400" dirty="0">
                <a:solidFill>
                  <a:srgbClr val="007FA3"/>
                </a:solidFill>
                <a:latin typeface="Courier New" panose="02070309020205020404" pitchFamily="49" charset="0"/>
                <a:cs typeface="Courier New" panose="02070309020205020404" pitchFamily="49" charset="0"/>
              </a:rPr>
              <a:t>10</a:t>
            </a:r>
            <a:r>
              <a:rPr lang="en-AU" sz="1400" dirty="0">
                <a:solidFill>
                  <a:srgbClr val="1473FF"/>
                </a:solidFill>
                <a:latin typeface="Courier New" panose="02070309020205020404" pitchFamily="49" charset="0"/>
                <a:cs typeface="Courier New" panose="02070309020205020404" pitchFamily="49" charset="0"/>
              </a:rPr>
              <a:t> 	</a:t>
            </a:r>
            <a:r>
              <a:rPr lang="en-AU" sz="1400" dirty="0" err="1">
                <a:solidFill>
                  <a:srgbClr val="000000"/>
                </a:solidFill>
                <a:latin typeface="Courier New" panose="02070309020205020404" pitchFamily="49" charset="0"/>
                <a:cs typeface="Courier New" panose="02070309020205020404" pitchFamily="49" charset="0"/>
              </a:rPr>
              <a:t>self.canvas</a:t>
            </a:r>
            <a:r>
              <a:rPr lang="en-AU" sz="1400" dirty="0">
                <a:solidFill>
                  <a:srgbClr val="000000"/>
                </a:solidFill>
                <a:latin typeface="Courier New" panose="02070309020205020404" pitchFamily="49" charset="0"/>
                <a:cs typeface="Courier New" panose="02070309020205020404" pitchFamily="49" charset="0"/>
              </a:rPr>
              <a:t> = </a:t>
            </a:r>
            <a:r>
              <a:rPr lang="en-AU" sz="1400" dirty="0" err="1">
                <a:solidFill>
                  <a:srgbClr val="000000"/>
                </a:solidFill>
                <a:latin typeface="Courier New" panose="02070309020205020404" pitchFamily="49" charset="0"/>
                <a:cs typeface="Courier New" panose="02070309020205020404" pitchFamily="49" charset="0"/>
              </a:rPr>
              <a:t>tkinter.Canvas</a:t>
            </a:r>
            <a:r>
              <a:rPr lang="en-AU" sz="1400" dirty="0">
                <a:solidFill>
                  <a:srgbClr val="000000"/>
                </a:solidFill>
                <a:latin typeface="Courier New" panose="02070309020205020404" pitchFamily="49" charset="0"/>
                <a:cs typeface="Courier New" panose="02070309020205020404" pitchFamily="49" charset="0"/>
              </a:rPr>
              <a:t>(</a:t>
            </a:r>
            <a:r>
              <a:rPr lang="en-AU" sz="1400" dirty="0" err="1">
                <a:solidFill>
                  <a:srgbClr val="000000"/>
                </a:solidFill>
                <a:latin typeface="Courier New" panose="02070309020205020404" pitchFamily="49" charset="0"/>
                <a:cs typeface="Courier New" panose="02070309020205020404" pitchFamily="49" charset="0"/>
              </a:rPr>
              <a:t>self.main_window</a:t>
            </a:r>
            <a:r>
              <a:rPr lang="en-AU" sz="1400" dirty="0">
                <a:solidFill>
                  <a:srgbClr val="000000"/>
                </a:solidFill>
                <a:latin typeface="Courier New" panose="02070309020205020404" pitchFamily="49" charset="0"/>
                <a:cs typeface="Courier New" panose="02070309020205020404" pitchFamily="49" charset="0"/>
              </a:rPr>
              <a:t>, 	width=200,height=200)</a:t>
            </a:r>
          </a:p>
          <a:p>
            <a:r>
              <a:rPr lang="en-AU" sz="1400" dirty="0">
                <a:solidFill>
                  <a:srgbClr val="007FA3"/>
                </a:solidFill>
                <a:latin typeface="Courier New" panose="02070309020205020404" pitchFamily="49" charset="0"/>
                <a:cs typeface="Courier New" panose="02070309020205020404" pitchFamily="49" charset="0"/>
              </a:rPr>
              <a:t>11</a:t>
            </a:r>
          </a:p>
          <a:p>
            <a:pPr>
              <a:tabLst>
                <a:tab pos="1255713" algn="l"/>
              </a:tabLst>
            </a:pPr>
            <a:r>
              <a:rPr lang="en-AU" sz="1400" dirty="0">
                <a:solidFill>
                  <a:srgbClr val="007FA3"/>
                </a:solidFill>
                <a:latin typeface="Courier New" panose="02070309020205020404" pitchFamily="49" charset="0"/>
                <a:cs typeface="Courier New" panose="02070309020205020404" pitchFamily="49" charset="0"/>
              </a:rPr>
              <a:t>12</a:t>
            </a:r>
            <a:r>
              <a:rPr lang="en-AU" sz="1400" dirty="0">
                <a:solidFill>
                  <a:srgbClr val="1473FF"/>
                </a:solidFill>
                <a:latin typeface="Courier New" panose="02070309020205020404" pitchFamily="49" charset="0"/>
                <a:cs typeface="Courier New" panose="02070309020205020404" pitchFamily="49" charset="0"/>
              </a:rPr>
              <a:t> 	</a:t>
            </a:r>
            <a:r>
              <a:rPr lang="en-AU" sz="1400" dirty="0">
                <a:solidFill>
                  <a:srgbClr val="000000"/>
                </a:solidFill>
                <a:latin typeface="Courier New" panose="02070309020205020404" pitchFamily="49" charset="0"/>
                <a:cs typeface="Courier New" panose="02070309020205020404" pitchFamily="49" charset="0"/>
              </a:rPr>
              <a:t># Draw two ovals.</a:t>
            </a:r>
          </a:p>
          <a:p>
            <a:pPr>
              <a:tabLst>
                <a:tab pos="1255713" algn="l"/>
              </a:tabLst>
            </a:pPr>
            <a:r>
              <a:rPr lang="en-US" sz="1400" dirty="0">
                <a:solidFill>
                  <a:srgbClr val="007FA3"/>
                </a:solidFill>
                <a:latin typeface="Courier New" panose="02070309020205020404" pitchFamily="49" charset="0"/>
                <a:cs typeface="Courier New" panose="02070309020205020404" pitchFamily="49" charset="0"/>
              </a:rPr>
              <a:t>13</a:t>
            </a:r>
            <a:r>
              <a:rPr lang="en-US" sz="1400" dirty="0">
                <a:solidFill>
                  <a:srgbClr val="1473FF"/>
                </a:solidFill>
                <a:latin typeface="Courier New" panose="02070309020205020404" pitchFamily="49" charset="0"/>
                <a:cs typeface="Courier New" panose="02070309020205020404" pitchFamily="49" charset="0"/>
              </a:rPr>
              <a:t> 	</a:t>
            </a:r>
            <a:r>
              <a:rPr lang="en-US" sz="1400" dirty="0" err="1">
                <a:solidFill>
                  <a:srgbClr val="000000"/>
                </a:solidFill>
                <a:latin typeface="Courier New" panose="02070309020205020404" pitchFamily="49" charset="0"/>
                <a:cs typeface="Courier New" panose="02070309020205020404" pitchFamily="49" charset="0"/>
              </a:rPr>
              <a:t>self.canvas.create_oval</a:t>
            </a:r>
            <a:r>
              <a:rPr lang="en-US" sz="1400" dirty="0">
                <a:solidFill>
                  <a:srgbClr val="000000"/>
                </a:solidFill>
                <a:latin typeface="Courier New" panose="02070309020205020404" pitchFamily="49" charset="0"/>
                <a:cs typeface="Courier New" panose="02070309020205020404" pitchFamily="49" charset="0"/>
              </a:rPr>
              <a:t>(20, 20, 70, 70)</a:t>
            </a:r>
          </a:p>
          <a:p>
            <a:pPr>
              <a:tabLst>
                <a:tab pos="1255713" algn="l"/>
              </a:tabLst>
            </a:pPr>
            <a:r>
              <a:rPr lang="en-US" sz="1400" dirty="0">
                <a:solidFill>
                  <a:srgbClr val="007FA3"/>
                </a:solidFill>
                <a:latin typeface="Courier New" panose="02070309020205020404" pitchFamily="49" charset="0"/>
                <a:cs typeface="Courier New" panose="02070309020205020404" pitchFamily="49" charset="0"/>
              </a:rPr>
              <a:t>14</a:t>
            </a:r>
            <a:r>
              <a:rPr lang="en-US" sz="1400" dirty="0">
                <a:solidFill>
                  <a:srgbClr val="1473FF"/>
                </a:solidFill>
                <a:latin typeface="Courier New" panose="02070309020205020404" pitchFamily="49" charset="0"/>
                <a:cs typeface="Courier New" panose="02070309020205020404" pitchFamily="49" charset="0"/>
              </a:rPr>
              <a:t> 	</a:t>
            </a:r>
            <a:r>
              <a:rPr lang="en-US" sz="1400" dirty="0" err="1">
                <a:solidFill>
                  <a:srgbClr val="000000"/>
                </a:solidFill>
                <a:latin typeface="Courier New" panose="02070309020205020404" pitchFamily="49" charset="0"/>
                <a:cs typeface="Courier New" panose="02070309020205020404" pitchFamily="49" charset="0"/>
              </a:rPr>
              <a:t>self.canvas.create_oval</a:t>
            </a:r>
            <a:r>
              <a:rPr lang="en-US" sz="1400" dirty="0">
                <a:solidFill>
                  <a:srgbClr val="000000"/>
                </a:solidFill>
                <a:latin typeface="Courier New" panose="02070309020205020404" pitchFamily="49" charset="0"/>
                <a:cs typeface="Courier New" panose="02070309020205020404" pitchFamily="49" charset="0"/>
              </a:rPr>
              <a:t>(100, 100, 180, 130)</a:t>
            </a:r>
          </a:p>
          <a:p>
            <a:r>
              <a:rPr lang="en-AU" sz="1400" dirty="0">
                <a:solidFill>
                  <a:srgbClr val="007FA3"/>
                </a:solidFill>
                <a:latin typeface="Courier New" panose="02070309020205020404" pitchFamily="49" charset="0"/>
                <a:cs typeface="Courier New" panose="02070309020205020404" pitchFamily="49" charset="0"/>
              </a:rPr>
              <a:t>15</a:t>
            </a:r>
          </a:p>
          <a:p>
            <a:pPr>
              <a:tabLst>
                <a:tab pos="1255713" algn="l"/>
              </a:tabLst>
            </a:pPr>
            <a:r>
              <a:rPr lang="en-AU" sz="1400" dirty="0">
                <a:solidFill>
                  <a:srgbClr val="007FA3"/>
                </a:solidFill>
                <a:latin typeface="Courier New" panose="02070309020205020404" pitchFamily="49" charset="0"/>
                <a:cs typeface="Courier New" panose="02070309020205020404" pitchFamily="49" charset="0"/>
              </a:rPr>
              <a:t>16</a:t>
            </a:r>
            <a:r>
              <a:rPr lang="en-AU" sz="1400" dirty="0">
                <a:solidFill>
                  <a:srgbClr val="1473FF"/>
                </a:solidFill>
                <a:latin typeface="Courier New" panose="02070309020205020404" pitchFamily="49" charset="0"/>
                <a:cs typeface="Courier New" panose="02070309020205020404" pitchFamily="49" charset="0"/>
              </a:rPr>
              <a:t> 	</a:t>
            </a:r>
            <a:r>
              <a:rPr lang="en-AU" sz="1400" dirty="0">
                <a:solidFill>
                  <a:srgbClr val="000000"/>
                </a:solidFill>
                <a:latin typeface="Courier New" panose="02070309020205020404" pitchFamily="49" charset="0"/>
                <a:cs typeface="Courier New" panose="02070309020205020404" pitchFamily="49" charset="0"/>
              </a:rPr>
              <a:t># Pack the canvas.</a:t>
            </a:r>
          </a:p>
          <a:p>
            <a:pPr>
              <a:tabLst>
                <a:tab pos="1255713" algn="l"/>
              </a:tabLst>
            </a:pPr>
            <a:r>
              <a:rPr lang="en-AU" sz="1400" dirty="0">
                <a:solidFill>
                  <a:srgbClr val="007FA3"/>
                </a:solidFill>
                <a:latin typeface="Courier New" panose="02070309020205020404" pitchFamily="49" charset="0"/>
                <a:cs typeface="Courier New" panose="02070309020205020404" pitchFamily="49" charset="0"/>
              </a:rPr>
              <a:t>17</a:t>
            </a:r>
            <a:r>
              <a:rPr lang="en-AU" sz="1400" dirty="0">
                <a:solidFill>
                  <a:srgbClr val="1473FF"/>
                </a:solidFill>
                <a:latin typeface="Courier New" panose="02070309020205020404" pitchFamily="49" charset="0"/>
                <a:cs typeface="Courier New" panose="02070309020205020404" pitchFamily="49" charset="0"/>
              </a:rPr>
              <a:t> 	</a:t>
            </a:r>
            <a:r>
              <a:rPr lang="en-AU" sz="1400" dirty="0" err="1">
                <a:solidFill>
                  <a:srgbClr val="000000"/>
                </a:solidFill>
                <a:latin typeface="Courier New" panose="02070309020205020404" pitchFamily="49" charset="0"/>
                <a:cs typeface="Courier New" panose="02070309020205020404" pitchFamily="49" charset="0"/>
              </a:rPr>
              <a:t>self.canvas.pack</a:t>
            </a:r>
            <a:r>
              <a:rPr lang="en-AU" sz="1400" dirty="0">
                <a:solidFill>
                  <a:srgbClr val="000000"/>
                </a:solidFill>
                <a:latin typeface="Courier New" panose="02070309020205020404" pitchFamily="49" charset="0"/>
                <a:cs typeface="Courier New" panose="02070309020205020404" pitchFamily="49" charset="0"/>
              </a:rPr>
              <a:t>()</a:t>
            </a:r>
          </a:p>
          <a:p>
            <a:r>
              <a:rPr lang="en-AU" sz="1400" dirty="0">
                <a:solidFill>
                  <a:srgbClr val="007FA3"/>
                </a:solidFill>
                <a:latin typeface="Courier New" panose="02070309020205020404" pitchFamily="49" charset="0"/>
                <a:cs typeface="Courier New" panose="02070309020205020404" pitchFamily="49" charset="0"/>
              </a:rPr>
              <a:t>18</a:t>
            </a:r>
          </a:p>
          <a:p>
            <a:pPr>
              <a:tabLst>
                <a:tab pos="1255713" algn="l"/>
              </a:tabLst>
            </a:pPr>
            <a:r>
              <a:rPr lang="en-AU" sz="1400" dirty="0">
                <a:solidFill>
                  <a:srgbClr val="007FA3"/>
                </a:solidFill>
                <a:latin typeface="Courier New" panose="02070309020205020404" pitchFamily="49" charset="0"/>
                <a:cs typeface="Courier New" panose="02070309020205020404" pitchFamily="49" charset="0"/>
              </a:rPr>
              <a:t>19</a:t>
            </a:r>
            <a:r>
              <a:rPr lang="en-AU" sz="1400" dirty="0">
                <a:solidFill>
                  <a:srgbClr val="1473FF"/>
                </a:solidFill>
                <a:latin typeface="Courier New" panose="02070309020205020404" pitchFamily="49" charset="0"/>
                <a:cs typeface="Courier New" panose="02070309020205020404" pitchFamily="49" charset="0"/>
              </a:rPr>
              <a:t> 	</a:t>
            </a:r>
            <a:r>
              <a:rPr lang="en-AU" sz="1400" dirty="0">
                <a:solidFill>
                  <a:srgbClr val="000000"/>
                </a:solidFill>
                <a:latin typeface="Courier New" panose="02070309020205020404" pitchFamily="49" charset="0"/>
                <a:cs typeface="Courier New" panose="02070309020205020404" pitchFamily="49" charset="0"/>
              </a:rPr>
              <a:t># Start the </a:t>
            </a:r>
            <a:r>
              <a:rPr lang="en-AU" sz="1400" dirty="0" err="1">
                <a:solidFill>
                  <a:srgbClr val="000000"/>
                </a:solidFill>
                <a:latin typeface="Courier New" panose="02070309020205020404" pitchFamily="49" charset="0"/>
                <a:cs typeface="Courier New" panose="02070309020205020404" pitchFamily="49" charset="0"/>
              </a:rPr>
              <a:t>mainloop</a:t>
            </a:r>
            <a:r>
              <a:rPr lang="en-AU" sz="1400" dirty="0">
                <a:solidFill>
                  <a:srgbClr val="000000"/>
                </a:solidFill>
                <a:latin typeface="Courier New" panose="02070309020205020404" pitchFamily="49" charset="0"/>
                <a:cs typeface="Courier New" panose="02070309020205020404" pitchFamily="49" charset="0"/>
              </a:rPr>
              <a:t>.</a:t>
            </a:r>
          </a:p>
          <a:p>
            <a:pPr>
              <a:tabLst>
                <a:tab pos="1255713" algn="l"/>
              </a:tabLst>
            </a:pPr>
            <a:r>
              <a:rPr lang="en-AU" sz="1400" dirty="0">
                <a:solidFill>
                  <a:srgbClr val="007FA3"/>
                </a:solidFill>
                <a:latin typeface="Courier New" panose="02070309020205020404" pitchFamily="49" charset="0"/>
                <a:cs typeface="Courier New" panose="02070309020205020404" pitchFamily="49" charset="0"/>
              </a:rPr>
              <a:t>20</a:t>
            </a:r>
            <a:r>
              <a:rPr lang="en-AU" sz="1400" dirty="0">
                <a:solidFill>
                  <a:srgbClr val="1473FF"/>
                </a:solidFill>
                <a:latin typeface="Courier New" panose="02070309020205020404" pitchFamily="49" charset="0"/>
                <a:cs typeface="Courier New" panose="02070309020205020404" pitchFamily="49" charset="0"/>
              </a:rPr>
              <a:t> 	</a:t>
            </a:r>
            <a:r>
              <a:rPr lang="en-AU" sz="1400" dirty="0" err="1">
                <a:solidFill>
                  <a:srgbClr val="000000"/>
                </a:solidFill>
                <a:latin typeface="Courier New" panose="02070309020205020404" pitchFamily="49" charset="0"/>
                <a:cs typeface="Courier New" panose="02070309020205020404" pitchFamily="49" charset="0"/>
              </a:rPr>
              <a:t>tkinter.mainloop</a:t>
            </a:r>
            <a:r>
              <a:rPr lang="en-AU" sz="1400" dirty="0">
                <a:solidFill>
                  <a:srgbClr val="000000"/>
                </a:solidFill>
                <a:latin typeface="Courier New" panose="02070309020205020404" pitchFamily="49" charset="0"/>
                <a:cs typeface="Courier New" panose="02070309020205020404" pitchFamily="49" charset="0"/>
              </a:rPr>
              <a:t>()</a:t>
            </a:r>
          </a:p>
          <a:p>
            <a:r>
              <a:rPr lang="en-AU" sz="1400" dirty="0">
                <a:solidFill>
                  <a:srgbClr val="007FA3"/>
                </a:solidFill>
                <a:latin typeface="Courier New" panose="02070309020205020404" pitchFamily="49" charset="0"/>
                <a:cs typeface="Courier New" panose="02070309020205020404" pitchFamily="49" charset="0"/>
              </a:rPr>
              <a:t>21</a:t>
            </a:r>
          </a:p>
          <a:p>
            <a:r>
              <a:rPr lang="en-US" sz="1400" dirty="0">
                <a:solidFill>
                  <a:srgbClr val="007FA3"/>
                </a:solidFill>
                <a:latin typeface="Courier New" panose="02070309020205020404" pitchFamily="49" charset="0"/>
                <a:cs typeface="Courier New" panose="02070309020205020404" pitchFamily="49" charset="0"/>
              </a:rPr>
              <a:t>22</a:t>
            </a:r>
            <a:r>
              <a:rPr lang="en-US" sz="1400" dirty="0">
                <a:solidFill>
                  <a:srgbClr val="1473FF"/>
                </a:solidFill>
                <a:latin typeface="Courier New" panose="02070309020205020404" pitchFamily="49" charset="0"/>
                <a:cs typeface="Courier New" panose="02070309020205020404" pitchFamily="49" charset="0"/>
              </a:rPr>
              <a:t> </a:t>
            </a:r>
            <a:r>
              <a:rPr lang="en-US" sz="1400" dirty="0">
                <a:solidFill>
                  <a:srgbClr val="000000"/>
                </a:solidFill>
                <a:latin typeface="Courier New" panose="02070309020205020404" pitchFamily="49" charset="0"/>
                <a:cs typeface="Courier New" panose="02070309020205020404" pitchFamily="49" charset="0"/>
              </a:rPr>
              <a:t># Create an instance of the </a:t>
            </a:r>
            <a:r>
              <a:rPr lang="en-US" sz="1400" dirty="0" err="1">
                <a:solidFill>
                  <a:srgbClr val="000000"/>
                </a:solidFill>
                <a:latin typeface="Courier New" panose="02070309020205020404" pitchFamily="49" charset="0"/>
                <a:cs typeface="Courier New" panose="02070309020205020404" pitchFamily="49" charset="0"/>
              </a:rPr>
              <a:t>MyGUI</a:t>
            </a:r>
            <a:r>
              <a:rPr lang="en-US" sz="1400" dirty="0">
                <a:solidFill>
                  <a:srgbClr val="000000"/>
                </a:solidFill>
                <a:latin typeface="Courier New" panose="02070309020205020404" pitchFamily="49" charset="0"/>
                <a:cs typeface="Courier New" panose="02070309020205020404" pitchFamily="49" charset="0"/>
              </a:rPr>
              <a:t> class.</a:t>
            </a:r>
          </a:p>
          <a:p>
            <a:r>
              <a:rPr lang="en-AU" sz="1400" dirty="0">
                <a:solidFill>
                  <a:srgbClr val="007FA3"/>
                </a:solidFill>
                <a:latin typeface="Courier New" panose="02070309020205020404" pitchFamily="49" charset="0"/>
                <a:cs typeface="Courier New" panose="02070309020205020404" pitchFamily="49" charset="0"/>
              </a:rPr>
              <a:t>23</a:t>
            </a:r>
            <a:r>
              <a:rPr lang="en-AU" sz="1400" dirty="0">
                <a:solidFill>
                  <a:srgbClr val="1473FF"/>
                </a:solidFill>
                <a:latin typeface="Courier New" panose="02070309020205020404" pitchFamily="49" charset="0"/>
                <a:cs typeface="Courier New" panose="02070309020205020404" pitchFamily="49" charset="0"/>
              </a:rPr>
              <a:t> </a:t>
            </a:r>
            <a:r>
              <a:rPr lang="en-AU" sz="1400" dirty="0">
                <a:solidFill>
                  <a:srgbClr val="000000"/>
                </a:solidFill>
                <a:latin typeface="Courier New" panose="02070309020205020404" pitchFamily="49" charset="0"/>
                <a:cs typeface="Courier New" panose="02070309020205020404" pitchFamily="49" charset="0"/>
              </a:rPr>
              <a:t>if _ _name_ _ == '_ _main_ _':</a:t>
            </a:r>
            <a:r>
              <a:rPr lang="en-AU" sz="1400" dirty="0">
                <a:solidFill>
                  <a:srgbClr val="1473FF"/>
                </a:solidFill>
                <a:latin typeface="Courier New" panose="02070309020205020404" pitchFamily="49" charset="0"/>
                <a:cs typeface="Courier New" panose="02070309020205020404" pitchFamily="49" charset="0"/>
              </a:rPr>
              <a:t>	</a:t>
            </a:r>
            <a:endParaRPr lang="en-AU" sz="1400" dirty="0">
              <a:solidFill>
                <a:srgbClr val="000000"/>
              </a:solidFill>
              <a:latin typeface="Courier New" panose="02070309020205020404" pitchFamily="49" charset="0"/>
              <a:cs typeface="Courier New" panose="02070309020205020404" pitchFamily="49" charset="0"/>
            </a:endParaRPr>
          </a:p>
          <a:p>
            <a:pPr>
              <a:tabLst>
                <a:tab pos="271463" algn="l"/>
              </a:tabLst>
            </a:pPr>
            <a:r>
              <a:rPr lang="en-AU" sz="1400">
                <a:solidFill>
                  <a:srgbClr val="007FA3"/>
                </a:solidFill>
                <a:latin typeface="Courier New" panose="02070309020205020404" pitchFamily="49" charset="0"/>
                <a:cs typeface="Courier New" panose="02070309020205020404" pitchFamily="49" charset="0"/>
              </a:rPr>
              <a:t>24 </a:t>
            </a:r>
            <a:r>
              <a:rPr lang="en-AU" sz="1400">
                <a:solidFill>
                  <a:srgbClr val="000000"/>
                </a:solidFill>
                <a:latin typeface="Courier New" panose="02070309020205020404" pitchFamily="49" charset="0"/>
                <a:cs typeface="Courier New" panose="02070309020205020404" pitchFamily="49" charset="0"/>
              </a:rPr>
              <a:t>my</a:t>
            </a:r>
            <a:r>
              <a:rPr lang="en-AU" sz="1400" dirty="0" err="1">
                <a:solidFill>
                  <a:srgbClr val="000000"/>
                </a:solidFill>
                <a:latin typeface="Courier New" panose="02070309020205020404" pitchFamily="49" charset="0"/>
                <a:cs typeface="Courier New" panose="02070309020205020404" pitchFamily="49" charset="0"/>
              </a:rPr>
              <a:t>_gui</a:t>
            </a:r>
            <a:r>
              <a:rPr lang="en-AU" sz="1400" dirty="0">
                <a:solidFill>
                  <a:srgbClr val="000000"/>
                </a:solidFill>
                <a:latin typeface="Courier New" panose="02070309020205020404" pitchFamily="49" charset="0"/>
                <a:cs typeface="Courier New" panose="02070309020205020404" pitchFamily="49" charset="0"/>
              </a:rPr>
              <a:t> = </a:t>
            </a:r>
            <a:r>
              <a:rPr lang="en-AU" sz="1400" dirty="0" err="1">
                <a:solidFill>
                  <a:srgbClr val="000000"/>
                </a:solidFill>
                <a:latin typeface="Courier New" panose="02070309020205020404" pitchFamily="49" charset="0"/>
                <a:cs typeface="Courier New" panose="02070309020205020404" pitchFamily="49" charset="0"/>
              </a:rPr>
              <a:t>MyGUI</a:t>
            </a:r>
            <a:r>
              <a:rPr lang="en-AU" sz="1400" dirty="0">
                <a:solidFill>
                  <a:srgbClr val="000000"/>
                </a:solidFill>
                <a:latin typeface="Courier New" panose="02070309020205020404" pitchFamily="49" charset="0"/>
                <a:cs typeface="Courier New" panose="02070309020205020404" pitchFamily="49" charset="0"/>
              </a:rPr>
              <a:t>()</a:t>
            </a:r>
          </a:p>
        </p:txBody>
      </p:sp>
      <p:pic>
        <p:nvPicPr>
          <p:cNvPr id="5" name="Picture 4" descr="A window titled, t K displays a circle in the upper left corner and an oval in the middle right corner. ">
            <a:extLst>
              <a:ext uri="{FF2B5EF4-FFF2-40B4-BE49-F238E27FC236}">
                <a16:creationId xmlns:a16="http://schemas.microsoft.com/office/drawing/2014/main" id="{38920BB8-2B58-40A6-97D0-D1EF669A906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auto">
          <a:xfrm>
            <a:off x="6648450" y="3810000"/>
            <a:ext cx="1962150" cy="224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154509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itle 1">
            <a:extLst>
              <a:ext uri="{FF2B5EF4-FFF2-40B4-BE49-F238E27FC236}">
                <a16:creationId xmlns:a16="http://schemas.microsoft.com/office/drawing/2014/main" id="{8ACF3A16-1EED-4A59-A95E-C31E9B295328}"/>
              </a:ext>
            </a:extLst>
          </p:cNvPr>
          <p:cNvSpPr>
            <a:spLocks noGrp="1" noChangeArrowheads="1"/>
          </p:cNvSpPr>
          <p:nvPr>
            <p:ph type="title"/>
          </p:nvPr>
        </p:nvSpPr>
        <p:spPr>
          <a:xfrm>
            <a:off x="457200" y="106045"/>
            <a:ext cx="8229600" cy="1097280"/>
          </a:xfrm>
        </p:spPr>
        <p:txBody>
          <a:bodyPr/>
          <a:lstStyle/>
          <a:p>
            <a:r>
              <a:rPr lang="en-US" altLang="en-US" dirty="0"/>
              <a:t>Drawing an Arc</a:t>
            </a:r>
            <a:r>
              <a:rPr lang="en-AU" sz="2000" b="0" dirty="0"/>
              <a:t> (1 of 2)</a:t>
            </a:r>
            <a:endParaRPr lang="en-US" altLang="en-US" sz="2000" dirty="0"/>
          </a:p>
        </p:txBody>
      </p:sp>
      <p:sp>
        <p:nvSpPr>
          <p:cNvPr id="71683" name="TextBox 3">
            <a:extLst>
              <a:ext uri="{FF2B5EF4-FFF2-40B4-BE49-F238E27FC236}">
                <a16:creationId xmlns:a16="http://schemas.microsoft.com/office/drawing/2014/main" id="{268FCDF8-350F-4ADE-876C-9BFE34CD7EF8}"/>
              </a:ext>
            </a:extLst>
          </p:cNvPr>
          <p:cNvSpPr txBox="1">
            <a:spLocks noChangeArrowheads="1"/>
          </p:cNvSpPr>
          <p:nvPr/>
        </p:nvSpPr>
        <p:spPr bwMode="auto">
          <a:xfrm>
            <a:off x="304800" y="2743200"/>
            <a:ext cx="8610600"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200" b="0" i="1">
                <a:latin typeface="Courier New" panose="02070309020205020404" pitchFamily="49" charset="0"/>
                <a:cs typeface="Calibri" panose="020F0502020204030204" pitchFamily="34" charset="0"/>
              </a:rPr>
              <a:t>canvas_name</a:t>
            </a:r>
            <a:r>
              <a:rPr lang="en-US" altLang="en-US" sz="2200" b="0">
                <a:latin typeface="Courier New" panose="02070309020205020404" pitchFamily="49" charset="0"/>
                <a:cs typeface="Calibri" panose="020F0502020204030204" pitchFamily="34" charset="0"/>
              </a:rPr>
              <a:t>.create_arc(x1, y1, x2, y2,</a:t>
            </a:r>
          </a:p>
          <a:p>
            <a:pPr eaLnBrk="1" hangingPunct="1">
              <a:spcBef>
                <a:spcPct val="0"/>
              </a:spcBef>
              <a:buFontTx/>
              <a:buNone/>
            </a:pPr>
            <a:r>
              <a:rPr lang="en-US" altLang="en-US" sz="2200" b="0" i="1">
                <a:latin typeface="Courier New" panose="02070309020205020404" pitchFamily="49" charset="0"/>
                <a:cs typeface="Calibri" panose="020F0502020204030204" pitchFamily="34" charset="0"/>
              </a:rPr>
              <a:t>                       </a:t>
            </a:r>
            <a:r>
              <a:rPr lang="en-US" altLang="en-US" sz="2200" b="0">
                <a:latin typeface="Courier New" panose="02070309020205020404" pitchFamily="49" charset="0"/>
                <a:cs typeface="Calibri" panose="020F0502020204030204" pitchFamily="34" charset="0"/>
              </a:rPr>
              <a:t>start=</a:t>
            </a:r>
            <a:r>
              <a:rPr lang="en-US" altLang="en-US" sz="2200" b="0" i="1">
                <a:latin typeface="Courier New" panose="02070309020205020404" pitchFamily="49" charset="0"/>
                <a:cs typeface="Calibri" panose="020F0502020204030204" pitchFamily="34" charset="0"/>
              </a:rPr>
              <a:t>angle</a:t>
            </a:r>
            <a:r>
              <a:rPr lang="en-US" altLang="en-US" sz="2200" b="0">
                <a:latin typeface="Courier New" panose="02070309020205020404" pitchFamily="49" charset="0"/>
                <a:cs typeface="Calibri" panose="020F0502020204030204" pitchFamily="34" charset="0"/>
              </a:rPr>
              <a:t>, extent=</a:t>
            </a:r>
            <a:r>
              <a:rPr lang="en-US" altLang="en-US" sz="2200" b="0" i="1">
                <a:latin typeface="Courier New" panose="02070309020205020404" pitchFamily="49" charset="0"/>
                <a:cs typeface="Calibri" panose="020F0502020204030204" pitchFamily="34" charset="0"/>
              </a:rPr>
              <a:t>width</a:t>
            </a:r>
            <a:r>
              <a:rPr lang="en-US" altLang="en-US" sz="2200" b="0">
                <a:latin typeface="Courier New" panose="02070309020205020404" pitchFamily="49" charset="0"/>
                <a:cs typeface="Calibri" panose="020F0502020204030204" pitchFamily="34" charset="0"/>
              </a:rPr>
              <a:t>,</a:t>
            </a:r>
          </a:p>
          <a:p>
            <a:pPr eaLnBrk="1" hangingPunct="1">
              <a:spcBef>
                <a:spcPct val="0"/>
              </a:spcBef>
              <a:buFontTx/>
              <a:buNone/>
            </a:pPr>
            <a:r>
              <a:rPr lang="en-US" altLang="en-US" sz="2200" b="0" i="1">
                <a:latin typeface="Courier New" panose="02070309020205020404" pitchFamily="49" charset="0"/>
                <a:cs typeface="Calibri" panose="020F0502020204030204" pitchFamily="34" charset="0"/>
              </a:rPr>
              <a:t>                       options</a:t>
            </a:r>
            <a:r>
              <a:rPr lang="en-US" altLang="en-US" sz="2200" b="0">
                <a:latin typeface="Courier New" panose="02070309020205020404" pitchFamily="49" charset="0"/>
                <a:cs typeface="Calibri" panose="020F0502020204030204" pitchFamily="34" charset="0"/>
              </a:rPr>
              <a:t>…)</a:t>
            </a:r>
            <a:endParaRPr lang="en-US" altLang="en-US" sz="2200" b="0"/>
          </a:p>
        </p:txBody>
      </p:sp>
      <p:sp>
        <p:nvSpPr>
          <p:cNvPr id="71684" name="TextBox 8">
            <a:extLst>
              <a:ext uri="{FF2B5EF4-FFF2-40B4-BE49-F238E27FC236}">
                <a16:creationId xmlns:a16="http://schemas.microsoft.com/office/drawing/2014/main" id="{3F5DB550-96A7-405A-9E24-916A059DF699}"/>
              </a:ext>
            </a:extLst>
          </p:cNvPr>
          <p:cNvSpPr txBox="1">
            <a:spLocks noChangeArrowheads="1"/>
          </p:cNvSpPr>
          <p:nvPr/>
        </p:nvSpPr>
        <p:spPr bwMode="auto">
          <a:xfrm>
            <a:off x="5656263" y="1295400"/>
            <a:ext cx="1927225"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1600" b="0" dirty="0">
                <a:solidFill>
                  <a:srgbClr val="007FA3"/>
                </a:solidFill>
              </a:rPr>
              <a:t>Coordinates of</a:t>
            </a:r>
          </a:p>
          <a:p>
            <a:pPr algn="ctr" eaLnBrk="1" hangingPunct="1">
              <a:spcBef>
                <a:spcPct val="0"/>
              </a:spcBef>
              <a:buFontTx/>
              <a:buNone/>
            </a:pPr>
            <a:r>
              <a:rPr lang="en-US" altLang="en-US" sz="1600" b="0" dirty="0">
                <a:solidFill>
                  <a:srgbClr val="007FA3"/>
                </a:solidFill>
              </a:rPr>
              <a:t>the lower-right</a:t>
            </a:r>
          </a:p>
          <a:p>
            <a:pPr algn="ctr" eaLnBrk="1" hangingPunct="1">
              <a:spcBef>
                <a:spcPct val="0"/>
              </a:spcBef>
              <a:buFontTx/>
              <a:buNone/>
            </a:pPr>
            <a:r>
              <a:rPr lang="en-US" altLang="en-US" sz="1600" b="0" dirty="0">
                <a:solidFill>
                  <a:srgbClr val="007FA3"/>
                </a:solidFill>
              </a:rPr>
              <a:t>corner of</a:t>
            </a:r>
          </a:p>
          <a:p>
            <a:pPr algn="ctr" eaLnBrk="1" hangingPunct="1">
              <a:spcBef>
                <a:spcPct val="0"/>
              </a:spcBef>
              <a:buFontTx/>
              <a:buNone/>
            </a:pPr>
            <a:r>
              <a:rPr lang="en-US" altLang="en-US" sz="1600" b="0" dirty="0">
                <a:solidFill>
                  <a:srgbClr val="007FA3"/>
                </a:solidFill>
              </a:rPr>
              <a:t>bounding rectangle</a:t>
            </a:r>
          </a:p>
        </p:txBody>
      </p:sp>
      <p:sp>
        <p:nvSpPr>
          <p:cNvPr id="71685" name="Left Bracket 9">
            <a:extLst>
              <a:ext uri="{FF2B5EF4-FFF2-40B4-BE49-F238E27FC236}">
                <a16:creationId xmlns:a16="http://schemas.microsoft.com/office/drawing/2014/main" id="{B61F3F3F-BA1F-4F0A-A08F-25AF4B473CB7}"/>
              </a:ext>
            </a:extLst>
          </p:cNvPr>
          <p:cNvSpPr>
            <a:spLocks/>
          </p:cNvSpPr>
          <p:nvPr/>
        </p:nvSpPr>
        <p:spPr bwMode="auto">
          <a:xfrm rot="5400000">
            <a:off x="5960269" y="2124869"/>
            <a:ext cx="304800" cy="1100138"/>
          </a:xfrm>
          <a:prstGeom prst="leftBracket">
            <a:avLst>
              <a:gd name="adj" fmla="val 8338"/>
            </a:avLst>
          </a:prstGeom>
          <a:noFill/>
          <a:ln w="9525" algn="ctr">
            <a:solidFill>
              <a:srgbClr val="007FA3"/>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1800" b="0"/>
          </a:p>
        </p:txBody>
      </p:sp>
      <p:cxnSp>
        <p:nvCxnSpPr>
          <p:cNvPr id="71686" name="Straight Connector 12">
            <a:extLst>
              <a:ext uri="{FF2B5EF4-FFF2-40B4-BE49-F238E27FC236}">
                <a16:creationId xmlns:a16="http://schemas.microsoft.com/office/drawing/2014/main" id="{CB1654AB-4578-4496-9D28-DA20E18184B8}"/>
              </a:ext>
            </a:extLst>
          </p:cNvPr>
          <p:cNvCxnSpPr>
            <a:cxnSpLocks/>
            <a:stCxn id="71690" idx="0"/>
          </p:cNvCxnSpPr>
          <p:nvPr/>
        </p:nvCxnSpPr>
        <p:spPr bwMode="auto">
          <a:xfrm flipV="1">
            <a:off x="4953000" y="3851275"/>
            <a:ext cx="119063" cy="554038"/>
          </a:xfrm>
          <a:prstGeom prst="line">
            <a:avLst/>
          </a:prstGeom>
          <a:noFill/>
          <a:ln w="9525" algn="ctr">
            <a:solidFill>
              <a:srgbClr val="007FA3"/>
            </a:solidFill>
            <a:round/>
            <a:headEnd/>
            <a:tailEnd/>
          </a:ln>
          <a:extLst>
            <a:ext uri="{909E8E84-426E-40DD-AFC4-6F175D3DCCD1}">
              <a14:hiddenFill xmlns:a14="http://schemas.microsoft.com/office/drawing/2010/main">
                <a:noFill/>
              </a14:hiddenFill>
            </a:ext>
          </a:extLst>
        </p:spPr>
      </p:cxnSp>
      <p:sp>
        <p:nvSpPr>
          <p:cNvPr id="71687" name="TextBox 7">
            <a:extLst>
              <a:ext uri="{FF2B5EF4-FFF2-40B4-BE49-F238E27FC236}">
                <a16:creationId xmlns:a16="http://schemas.microsoft.com/office/drawing/2014/main" id="{3DE8862E-B82E-426D-ACF5-B7B857BB05CC}"/>
              </a:ext>
            </a:extLst>
          </p:cNvPr>
          <p:cNvSpPr txBox="1">
            <a:spLocks noChangeArrowheads="1"/>
          </p:cNvSpPr>
          <p:nvPr/>
        </p:nvSpPr>
        <p:spPr bwMode="auto">
          <a:xfrm>
            <a:off x="3363913" y="1295400"/>
            <a:ext cx="1927225"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1600" b="0" dirty="0">
                <a:solidFill>
                  <a:srgbClr val="007FA3"/>
                </a:solidFill>
              </a:rPr>
              <a:t>Coordinates of</a:t>
            </a:r>
          </a:p>
          <a:p>
            <a:pPr algn="ctr" eaLnBrk="1" hangingPunct="1">
              <a:spcBef>
                <a:spcPct val="0"/>
              </a:spcBef>
              <a:buFontTx/>
              <a:buNone/>
            </a:pPr>
            <a:r>
              <a:rPr lang="en-US" altLang="en-US" sz="1600" b="0" dirty="0">
                <a:solidFill>
                  <a:srgbClr val="007FA3"/>
                </a:solidFill>
              </a:rPr>
              <a:t>the upper-left</a:t>
            </a:r>
          </a:p>
          <a:p>
            <a:pPr algn="ctr" eaLnBrk="1" hangingPunct="1">
              <a:spcBef>
                <a:spcPct val="0"/>
              </a:spcBef>
              <a:buFontTx/>
              <a:buNone/>
            </a:pPr>
            <a:r>
              <a:rPr lang="en-US" altLang="en-US" sz="1600" b="0" dirty="0">
                <a:solidFill>
                  <a:srgbClr val="007FA3"/>
                </a:solidFill>
              </a:rPr>
              <a:t>corner of</a:t>
            </a:r>
          </a:p>
          <a:p>
            <a:pPr algn="ctr" eaLnBrk="1" hangingPunct="1">
              <a:spcBef>
                <a:spcPct val="0"/>
              </a:spcBef>
              <a:buFontTx/>
              <a:buNone/>
            </a:pPr>
            <a:r>
              <a:rPr lang="en-US" altLang="en-US" sz="1600" b="0" dirty="0">
                <a:solidFill>
                  <a:srgbClr val="007FA3"/>
                </a:solidFill>
              </a:rPr>
              <a:t>bounding rectangle</a:t>
            </a:r>
          </a:p>
        </p:txBody>
      </p:sp>
      <p:sp>
        <p:nvSpPr>
          <p:cNvPr id="71688" name="Left Bracket 11">
            <a:extLst>
              <a:ext uri="{FF2B5EF4-FFF2-40B4-BE49-F238E27FC236}">
                <a16:creationId xmlns:a16="http://schemas.microsoft.com/office/drawing/2014/main" id="{80BB3570-7247-47A8-AFC5-9562641FF74C}"/>
              </a:ext>
            </a:extLst>
          </p:cNvPr>
          <p:cNvSpPr>
            <a:spLocks/>
          </p:cNvSpPr>
          <p:nvPr/>
        </p:nvSpPr>
        <p:spPr bwMode="auto">
          <a:xfrm rot="5400000">
            <a:off x="4588669" y="2135981"/>
            <a:ext cx="304800" cy="1100138"/>
          </a:xfrm>
          <a:prstGeom prst="leftBracket">
            <a:avLst>
              <a:gd name="adj" fmla="val 8338"/>
            </a:avLst>
          </a:prstGeom>
          <a:noFill/>
          <a:ln w="9525" algn="ctr">
            <a:solidFill>
              <a:srgbClr val="007FA3"/>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1800" b="0"/>
          </a:p>
        </p:txBody>
      </p:sp>
      <p:pic>
        <p:nvPicPr>
          <p:cNvPr id="71689" name="Picture 6" descr="An illustration of an oval inscribed in a rectangle displays arc properties. ">
            <a:extLst>
              <a:ext uri="{FF2B5EF4-FFF2-40B4-BE49-F238E27FC236}">
                <a16:creationId xmlns:a16="http://schemas.microsoft.com/office/drawing/2014/main" id="{3A0D40A7-99B4-4A10-9033-6DFF02DF2D2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auto">
          <a:xfrm>
            <a:off x="197699" y="4204415"/>
            <a:ext cx="3739681" cy="19677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690" name="TextBox 10">
            <a:extLst>
              <a:ext uri="{FF2B5EF4-FFF2-40B4-BE49-F238E27FC236}">
                <a16:creationId xmlns:a16="http://schemas.microsoft.com/office/drawing/2014/main" id="{A3C15179-12BB-4BD8-B554-D31E1D72AB23}"/>
              </a:ext>
            </a:extLst>
          </p:cNvPr>
          <p:cNvSpPr txBox="1">
            <a:spLocks noChangeArrowheads="1"/>
          </p:cNvSpPr>
          <p:nvPr/>
        </p:nvSpPr>
        <p:spPr bwMode="auto">
          <a:xfrm>
            <a:off x="3854450" y="4405313"/>
            <a:ext cx="219868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1800" b="0" dirty="0">
                <a:solidFill>
                  <a:srgbClr val="007FA3"/>
                </a:solidFill>
              </a:rPr>
              <a:t>Optional arguments</a:t>
            </a:r>
          </a:p>
          <a:p>
            <a:pPr algn="ctr" eaLnBrk="1" hangingPunct="1">
              <a:spcBef>
                <a:spcPct val="0"/>
              </a:spcBef>
              <a:buFontTx/>
              <a:buNone/>
            </a:pPr>
            <a:r>
              <a:rPr lang="en-US" altLang="en-US" sz="1800" b="0" dirty="0">
                <a:solidFill>
                  <a:srgbClr val="007FA3"/>
                </a:solidFill>
              </a:rPr>
              <a:t>(See Table 13-5)</a:t>
            </a:r>
          </a:p>
        </p:txBody>
      </p:sp>
      <p:sp>
        <p:nvSpPr>
          <p:cNvPr id="71691" name="TextBox 14">
            <a:extLst>
              <a:ext uri="{FF2B5EF4-FFF2-40B4-BE49-F238E27FC236}">
                <a16:creationId xmlns:a16="http://schemas.microsoft.com/office/drawing/2014/main" id="{14B15594-BF90-42AD-BB9F-C817C25961B0}"/>
              </a:ext>
            </a:extLst>
          </p:cNvPr>
          <p:cNvSpPr txBox="1">
            <a:spLocks noChangeArrowheads="1"/>
          </p:cNvSpPr>
          <p:nvPr/>
        </p:nvSpPr>
        <p:spPr bwMode="auto">
          <a:xfrm>
            <a:off x="2246313" y="3113088"/>
            <a:ext cx="16081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1800" b="0" dirty="0">
                <a:solidFill>
                  <a:srgbClr val="007FA3"/>
                </a:solidFill>
              </a:rPr>
              <a:t>Starting angle</a:t>
            </a:r>
          </a:p>
        </p:txBody>
      </p:sp>
      <p:cxnSp>
        <p:nvCxnSpPr>
          <p:cNvPr id="71692" name="Straight Connector 16">
            <a:extLst>
              <a:ext uri="{FF2B5EF4-FFF2-40B4-BE49-F238E27FC236}">
                <a16:creationId xmlns:a16="http://schemas.microsoft.com/office/drawing/2014/main" id="{D6AB87F5-45C0-44A9-9854-80F9B8915FB8}"/>
              </a:ext>
            </a:extLst>
          </p:cNvPr>
          <p:cNvCxnSpPr>
            <a:cxnSpLocks/>
            <a:stCxn id="71691" idx="3"/>
          </p:cNvCxnSpPr>
          <p:nvPr/>
        </p:nvCxnSpPr>
        <p:spPr bwMode="auto">
          <a:xfrm>
            <a:off x="3854450" y="3297238"/>
            <a:ext cx="336550" cy="0"/>
          </a:xfrm>
          <a:prstGeom prst="line">
            <a:avLst/>
          </a:prstGeom>
          <a:noFill/>
          <a:ln w="9525" algn="ctr">
            <a:solidFill>
              <a:srgbClr val="007FA3"/>
            </a:solidFill>
            <a:round/>
            <a:headEnd/>
            <a:tailEnd/>
          </a:ln>
          <a:extLst>
            <a:ext uri="{909E8E84-426E-40DD-AFC4-6F175D3DCCD1}">
              <a14:hiddenFill xmlns:a14="http://schemas.microsoft.com/office/drawing/2010/main">
                <a:noFill/>
              </a14:hiddenFill>
            </a:ext>
          </a:extLst>
        </p:spPr>
      </p:cxnSp>
      <p:sp>
        <p:nvSpPr>
          <p:cNvPr id="71693" name="TextBox 19">
            <a:extLst>
              <a:ext uri="{FF2B5EF4-FFF2-40B4-BE49-F238E27FC236}">
                <a16:creationId xmlns:a16="http://schemas.microsoft.com/office/drawing/2014/main" id="{5EBB35A2-5D46-4E66-9BA7-AB01D19D9749}"/>
              </a:ext>
            </a:extLst>
          </p:cNvPr>
          <p:cNvSpPr txBox="1">
            <a:spLocks noChangeArrowheads="1"/>
          </p:cNvSpPr>
          <p:nvPr/>
        </p:nvSpPr>
        <p:spPr bwMode="auto">
          <a:xfrm>
            <a:off x="6400800" y="3962400"/>
            <a:ext cx="20574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1800" b="0" dirty="0">
                <a:solidFill>
                  <a:srgbClr val="007FA3"/>
                </a:solidFill>
              </a:rPr>
              <a:t>Counter clockwise</a:t>
            </a:r>
          </a:p>
          <a:p>
            <a:pPr algn="ctr" eaLnBrk="1" hangingPunct="1">
              <a:spcBef>
                <a:spcPct val="0"/>
              </a:spcBef>
              <a:buFontTx/>
              <a:buNone/>
            </a:pPr>
            <a:r>
              <a:rPr lang="en-US" altLang="en-US" sz="1800" b="0" dirty="0">
                <a:solidFill>
                  <a:srgbClr val="007FA3"/>
                </a:solidFill>
              </a:rPr>
              <a:t>extent of the arc</a:t>
            </a:r>
          </a:p>
        </p:txBody>
      </p:sp>
      <p:cxnSp>
        <p:nvCxnSpPr>
          <p:cNvPr id="71694" name="Straight Connector 22">
            <a:extLst>
              <a:ext uri="{FF2B5EF4-FFF2-40B4-BE49-F238E27FC236}">
                <a16:creationId xmlns:a16="http://schemas.microsoft.com/office/drawing/2014/main" id="{8FA93E3E-1A6E-4FA6-9135-16468B4A396C}"/>
              </a:ext>
            </a:extLst>
          </p:cNvPr>
          <p:cNvCxnSpPr>
            <a:cxnSpLocks noChangeShapeType="1"/>
            <a:stCxn id="71693" idx="0"/>
          </p:cNvCxnSpPr>
          <p:nvPr/>
        </p:nvCxnSpPr>
        <p:spPr bwMode="auto">
          <a:xfrm flipV="1">
            <a:off x="7429500" y="3481388"/>
            <a:ext cx="114300" cy="481012"/>
          </a:xfrm>
          <a:prstGeom prst="line">
            <a:avLst/>
          </a:prstGeom>
          <a:noFill/>
          <a:ln w="9525" algn="ctr">
            <a:solidFill>
              <a:srgbClr val="007FA3"/>
            </a:solidFill>
            <a:round/>
            <a:headEnd/>
            <a:tailEnd/>
          </a:ln>
          <a:extLst>
            <a:ext uri="{909E8E84-426E-40DD-AFC4-6F175D3DCCD1}">
              <a14:hiddenFill xmlns:a14="http://schemas.microsoft.com/office/drawing/2010/main">
                <a:noFill/>
              </a14:hiddenFill>
            </a:ext>
          </a:extLst>
        </p:spPr>
      </p:cxn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BE98B-24BA-45DF-A980-8ED821677248}"/>
              </a:ext>
            </a:extLst>
          </p:cNvPr>
          <p:cNvSpPr>
            <a:spLocks noGrp="1"/>
          </p:cNvSpPr>
          <p:nvPr>
            <p:ph type="title"/>
          </p:nvPr>
        </p:nvSpPr>
        <p:spPr>
          <a:xfrm>
            <a:off x="457200" y="215372"/>
            <a:ext cx="8229600" cy="699028"/>
          </a:xfrm>
        </p:spPr>
        <p:txBody>
          <a:bodyPr/>
          <a:lstStyle/>
          <a:p>
            <a:r>
              <a:rPr lang="en-US" altLang="en-US" dirty="0"/>
              <a:t>Drawing an Arc</a:t>
            </a:r>
            <a:r>
              <a:rPr lang="en-AU" sz="2000" b="0" dirty="0"/>
              <a:t> (2 of 2)</a:t>
            </a:r>
            <a:endParaRPr lang="en-AU" sz="2000" dirty="0"/>
          </a:p>
        </p:txBody>
      </p:sp>
      <p:sp>
        <p:nvSpPr>
          <p:cNvPr id="4" name="Rectangle 3">
            <a:extLst>
              <a:ext uri="{FF2B5EF4-FFF2-40B4-BE49-F238E27FC236}">
                <a16:creationId xmlns:a16="http://schemas.microsoft.com/office/drawing/2014/main" id="{69733105-DD11-4537-B84F-E1CD02099C13}"/>
              </a:ext>
            </a:extLst>
          </p:cNvPr>
          <p:cNvSpPr/>
          <p:nvPr/>
        </p:nvSpPr>
        <p:spPr>
          <a:xfrm>
            <a:off x="285224" y="1066800"/>
            <a:ext cx="8229600" cy="5262979"/>
          </a:xfrm>
          <a:prstGeom prst="rect">
            <a:avLst/>
          </a:prstGeom>
        </p:spPr>
        <p:txBody>
          <a:bodyPr wrap="square">
            <a:spAutoFit/>
          </a:bodyPr>
          <a:lstStyle/>
          <a:p>
            <a:r>
              <a:rPr lang="en-US" sz="1400" dirty="0">
                <a:solidFill>
                  <a:srgbClr val="007FA3"/>
                </a:solidFill>
                <a:latin typeface="Courier New" panose="02070309020205020404" pitchFamily="49" charset="0"/>
                <a:cs typeface="Courier New" panose="02070309020205020404" pitchFamily="49" charset="0"/>
              </a:rPr>
              <a:t>1</a:t>
            </a:r>
            <a:r>
              <a:rPr lang="en-US" sz="1400" dirty="0">
                <a:solidFill>
                  <a:srgbClr val="1473FF"/>
                </a:solidFill>
                <a:latin typeface="Courier New" panose="02070309020205020404" pitchFamily="49" charset="0"/>
                <a:cs typeface="Courier New" panose="02070309020205020404" pitchFamily="49" charset="0"/>
              </a:rPr>
              <a:t> </a:t>
            </a:r>
            <a:r>
              <a:rPr lang="en-US" sz="1400" dirty="0">
                <a:solidFill>
                  <a:srgbClr val="000000"/>
                </a:solidFill>
                <a:latin typeface="Courier New" panose="02070309020205020404" pitchFamily="49" charset="0"/>
                <a:cs typeface="Courier New" panose="02070309020205020404" pitchFamily="49" charset="0"/>
              </a:rPr>
              <a:t># This program draws an arc on a Canvas.</a:t>
            </a:r>
          </a:p>
          <a:p>
            <a:r>
              <a:rPr lang="en-AU" sz="1400" dirty="0">
                <a:solidFill>
                  <a:srgbClr val="007FA3"/>
                </a:solidFill>
                <a:latin typeface="Courier New" panose="02070309020205020404" pitchFamily="49" charset="0"/>
                <a:cs typeface="Courier New" panose="02070309020205020404" pitchFamily="49" charset="0"/>
              </a:rPr>
              <a:t>2</a:t>
            </a:r>
            <a:r>
              <a:rPr lang="en-AU" sz="1400" dirty="0">
                <a:solidFill>
                  <a:srgbClr val="1473FF"/>
                </a:solidFill>
                <a:latin typeface="Courier New" panose="02070309020205020404" pitchFamily="49" charset="0"/>
                <a:cs typeface="Courier New" panose="02070309020205020404" pitchFamily="49" charset="0"/>
              </a:rPr>
              <a:t> </a:t>
            </a:r>
            <a:r>
              <a:rPr lang="en-AU" sz="1400" dirty="0">
                <a:solidFill>
                  <a:srgbClr val="000000"/>
                </a:solidFill>
                <a:latin typeface="Courier New" panose="02070309020205020404" pitchFamily="49" charset="0"/>
                <a:cs typeface="Courier New" panose="02070309020205020404" pitchFamily="49" charset="0"/>
              </a:rPr>
              <a:t>import </a:t>
            </a:r>
            <a:r>
              <a:rPr lang="en-AU" sz="1400" dirty="0" err="1">
                <a:solidFill>
                  <a:srgbClr val="000000"/>
                </a:solidFill>
                <a:latin typeface="Courier New" panose="02070309020205020404" pitchFamily="49" charset="0"/>
                <a:cs typeface="Courier New" panose="02070309020205020404" pitchFamily="49" charset="0"/>
              </a:rPr>
              <a:t>tkinter</a:t>
            </a:r>
            <a:endParaRPr lang="en-AU" sz="1400" dirty="0">
              <a:solidFill>
                <a:srgbClr val="000000"/>
              </a:solidFill>
              <a:latin typeface="Courier New" panose="02070309020205020404" pitchFamily="49" charset="0"/>
              <a:cs typeface="Courier New" panose="02070309020205020404" pitchFamily="49" charset="0"/>
            </a:endParaRPr>
          </a:p>
          <a:p>
            <a:r>
              <a:rPr lang="en-AU" sz="1400" dirty="0">
                <a:solidFill>
                  <a:srgbClr val="007FA3"/>
                </a:solidFill>
                <a:latin typeface="Courier New" panose="02070309020205020404" pitchFamily="49" charset="0"/>
                <a:cs typeface="Courier New" panose="02070309020205020404" pitchFamily="49" charset="0"/>
              </a:rPr>
              <a:t>3</a:t>
            </a:r>
          </a:p>
          <a:p>
            <a:r>
              <a:rPr lang="en-AU" sz="1400" dirty="0">
                <a:solidFill>
                  <a:srgbClr val="007FA3"/>
                </a:solidFill>
                <a:latin typeface="Courier New" panose="02070309020205020404" pitchFamily="49" charset="0"/>
                <a:cs typeface="Courier New" panose="02070309020205020404" pitchFamily="49" charset="0"/>
              </a:rPr>
              <a:t>4</a:t>
            </a:r>
            <a:r>
              <a:rPr lang="en-AU" sz="1400" dirty="0">
                <a:solidFill>
                  <a:srgbClr val="1473FF"/>
                </a:solidFill>
                <a:latin typeface="Courier New" panose="02070309020205020404" pitchFamily="49" charset="0"/>
                <a:cs typeface="Courier New" panose="02070309020205020404" pitchFamily="49" charset="0"/>
              </a:rPr>
              <a:t> </a:t>
            </a:r>
            <a:r>
              <a:rPr lang="en-AU" sz="1400" dirty="0">
                <a:solidFill>
                  <a:srgbClr val="000000"/>
                </a:solidFill>
                <a:latin typeface="Courier New" panose="02070309020205020404" pitchFamily="49" charset="0"/>
                <a:cs typeface="Courier New" panose="02070309020205020404" pitchFamily="49" charset="0"/>
              </a:rPr>
              <a:t>class </a:t>
            </a:r>
            <a:r>
              <a:rPr lang="en-AU" sz="1400" dirty="0" err="1">
                <a:solidFill>
                  <a:srgbClr val="000000"/>
                </a:solidFill>
                <a:latin typeface="Courier New" panose="02070309020205020404" pitchFamily="49" charset="0"/>
                <a:cs typeface="Courier New" panose="02070309020205020404" pitchFamily="49" charset="0"/>
              </a:rPr>
              <a:t>MyGUI</a:t>
            </a:r>
            <a:r>
              <a:rPr lang="en-AU" sz="1400" dirty="0">
                <a:solidFill>
                  <a:srgbClr val="000000"/>
                </a:solidFill>
                <a:latin typeface="Courier New" panose="02070309020205020404" pitchFamily="49" charset="0"/>
                <a:cs typeface="Courier New" panose="02070309020205020404" pitchFamily="49" charset="0"/>
              </a:rPr>
              <a:t>:</a:t>
            </a:r>
          </a:p>
          <a:p>
            <a:r>
              <a:rPr lang="en-AU" sz="1400" dirty="0">
                <a:solidFill>
                  <a:srgbClr val="007FA3"/>
                </a:solidFill>
                <a:latin typeface="Courier New" panose="02070309020205020404" pitchFamily="49" charset="0"/>
                <a:cs typeface="Courier New" panose="02070309020205020404" pitchFamily="49" charset="0"/>
              </a:rPr>
              <a:t>5</a:t>
            </a:r>
            <a:r>
              <a:rPr lang="en-AU" sz="1400" dirty="0">
                <a:solidFill>
                  <a:srgbClr val="1473FF"/>
                </a:solidFill>
                <a:latin typeface="Courier New" panose="02070309020205020404" pitchFamily="49" charset="0"/>
                <a:cs typeface="Courier New" panose="02070309020205020404" pitchFamily="49" charset="0"/>
              </a:rPr>
              <a:t> 	</a:t>
            </a:r>
            <a:r>
              <a:rPr lang="en-AU" sz="1400" dirty="0">
                <a:solidFill>
                  <a:srgbClr val="000000"/>
                </a:solidFill>
                <a:latin typeface="Courier New" panose="02070309020205020404" pitchFamily="49" charset="0"/>
                <a:cs typeface="Courier New" panose="02070309020205020404" pitchFamily="49" charset="0"/>
              </a:rPr>
              <a:t>def _ _</a:t>
            </a:r>
            <a:r>
              <a:rPr lang="en-AU" sz="1400" dirty="0" err="1">
                <a:solidFill>
                  <a:srgbClr val="000000"/>
                </a:solidFill>
                <a:latin typeface="Courier New" panose="02070309020205020404" pitchFamily="49" charset="0"/>
                <a:cs typeface="Courier New" panose="02070309020205020404" pitchFamily="49" charset="0"/>
              </a:rPr>
              <a:t>init</a:t>
            </a:r>
            <a:r>
              <a:rPr lang="en-AU" sz="1400" dirty="0">
                <a:solidFill>
                  <a:srgbClr val="000000"/>
                </a:solidFill>
                <a:latin typeface="Courier New" panose="02070309020205020404" pitchFamily="49" charset="0"/>
                <a:cs typeface="Courier New" panose="02070309020205020404" pitchFamily="49" charset="0"/>
              </a:rPr>
              <a:t>_ _(self):</a:t>
            </a:r>
          </a:p>
          <a:p>
            <a:pPr>
              <a:tabLst>
                <a:tab pos="1255713" algn="l"/>
              </a:tabLst>
            </a:pPr>
            <a:r>
              <a:rPr lang="en-US" sz="1400" dirty="0">
                <a:solidFill>
                  <a:srgbClr val="007FA3"/>
                </a:solidFill>
                <a:latin typeface="Courier New" panose="02070309020205020404" pitchFamily="49" charset="0"/>
                <a:cs typeface="Courier New" panose="02070309020205020404" pitchFamily="49" charset="0"/>
              </a:rPr>
              <a:t>6</a:t>
            </a:r>
            <a:r>
              <a:rPr lang="en-US" sz="1400" dirty="0">
                <a:solidFill>
                  <a:srgbClr val="1473FF"/>
                </a:solidFill>
                <a:latin typeface="Courier New" panose="02070309020205020404" pitchFamily="49" charset="0"/>
                <a:cs typeface="Courier New" panose="02070309020205020404" pitchFamily="49" charset="0"/>
              </a:rPr>
              <a:t> 	</a:t>
            </a:r>
            <a:r>
              <a:rPr lang="en-US" sz="1400" dirty="0">
                <a:solidFill>
                  <a:srgbClr val="000000"/>
                </a:solidFill>
                <a:latin typeface="Courier New" panose="02070309020205020404" pitchFamily="49" charset="0"/>
                <a:cs typeface="Courier New" panose="02070309020205020404" pitchFamily="49" charset="0"/>
              </a:rPr>
              <a:t># Create the main window.</a:t>
            </a:r>
          </a:p>
          <a:p>
            <a:pPr>
              <a:tabLst>
                <a:tab pos="1255713" algn="l"/>
              </a:tabLst>
            </a:pPr>
            <a:r>
              <a:rPr lang="en-US" sz="1400" dirty="0">
                <a:solidFill>
                  <a:srgbClr val="007FA3"/>
                </a:solidFill>
                <a:latin typeface="Courier New" panose="02070309020205020404" pitchFamily="49" charset="0"/>
                <a:cs typeface="Courier New" panose="02070309020205020404" pitchFamily="49" charset="0"/>
              </a:rPr>
              <a:t>7</a:t>
            </a:r>
            <a:r>
              <a:rPr lang="en-US" sz="1400" dirty="0">
                <a:solidFill>
                  <a:srgbClr val="1473FF"/>
                </a:solidFill>
                <a:latin typeface="Courier New" panose="02070309020205020404" pitchFamily="49" charset="0"/>
                <a:cs typeface="Courier New" panose="02070309020205020404" pitchFamily="49" charset="0"/>
              </a:rPr>
              <a:t> 	</a:t>
            </a:r>
            <a:r>
              <a:rPr lang="en-US" sz="1400" dirty="0" err="1">
                <a:solidFill>
                  <a:srgbClr val="000000"/>
                </a:solidFill>
                <a:latin typeface="Courier New" panose="02070309020205020404" pitchFamily="49" charset="0"/>
                <a:cs typeface="Courier New" panose="02070309020205020404" pitchFamily="49" charset="0"/>
              </a:rPr>
              <a:t>self.main_window</a:t>
            </a:r>
            <a:r>
              <a:rPr lang="en-US" sz="1400" dirty="0">
                <a:solidFill>
                  <a:srgbClr val="000000"/>
                </a:solidFill>
                <a:latin typeface="Courier New" panose="02070309020205020404" pitchFamily="49" charset="0"/>
                <a:cs typeface="Courier New" panose="02070309020205020404" pitchFamily="49" charset="0"/>
              </a:rPr>
              <a:t> = </a:t>
            </a:r>
            <a:r>
              <a:rPr lang="en-US" sz="1400" dirty="0" err="1">
                <a:solidFill>
                  <a:srgbClr val="000000"/>
                </a:solidFill>
                <a:latin typeface="Courier New" panose="02070309020205020404" pitchFamily="49" charset="0"/>
                <a:cs typeface="Courier New" panose="02070309020205020404" pitchFamily="49" charset="0"/>
              </a:rPr>
              <a:t>tkinter.Tk</a:t>
            </a:r>
            <a:r>
              <a:rPr lang="en-US" sz="1400" dirty="0">
                <a:solidFill>
                  <a:srgbClr val="000000"/>
                </a:solidFill>
                <a:latin typeface="Courier New" panose="02070309020205020404" pitchFamily="49" charset="0"/>
                <a:cs typeface="Courier New" panose="02070309020205020404" pitchFamily="49" charset="0"/>
              </a:rPr>
              <a:t>()</a:t>
            </a:r>
          </a:p>
          <a:p>
            <a:r>
              <a:rPr lang="en-AU" sz="1400" dirty="0">
                <a:solidFill>
                  <a:srgbClr val="007FA3"/>
                </a:solidFill>
                <a:latin typeface="Courier New" panose="02070309020205020404" pitchFamily="49" charset="0"/>
                <a:cs typeface="Courier New" panose="02070309020205020404" pitchFamily="49" charset="0"/>
              </a:rPr>
              <a:t>8</a:t>
            </a:r>
          </a:p>
          <a:p>
            <a:pPr>
              <a:tabLst>
                <a:tab pos="1255713" algn="l"/>
              </a:tabLst>
            </a:pPr>
            <a:r>
              <a:rPr lang="en-US" sz="1400" dirty="0">
                <a:solidFill>
                  <a:srgbClr val="007FA3"/>
                </a:solidFill>
                <a:latin typeface="Courier New" panose="02070309020205020404" pitchFamily="49" charset="0"/>
                <a:cs typeface="Courier New" panose="02070309020205020404" pitchFamily="49" charset="0"/>
              </a:rPr>
              <a:t>9</a:t>
            </a:r>
            <a:r>
              <a:rPr lang="en-US" sz="1400" dirty="0">
                <a:solidFill>
                  <a:srgbClr val="1473FF"/>
                </a:solidFill>
                <a:latin typeface="Courier New" panose="02070309020205020404" pitchFamily="49" charset="0"/>
                <a:cs typeface="Courier New" panose="02070309020205020404" pitchFamily="49" charset="0"/>
              </a:rPr>
              <a:t> 	</a:t>
            </a:r>
            <a:r>
              <a:rPr lang="en-US" sz="1400" dirty="0">
                <a:solidFill>
                  <a:srgbClr val="000000"/>
                </a:solidFill>
                <a:latin typeface="Courier New" panose="02070309020205020404" pitchFamily="49" charset="0"/>
                <a:cs typeface="Courier New" panose="02070309020205020404" pitchFamily="49" charset="0"/>
              </a:rPr>
              <a:t># Create the Canvas widget.</a:t>
            </a:r>
          </a:p>
          <a:p>
            <a:pPr>
              <a:tabLst>
                <a:tab pos="1255713" algn="l"/>
              </a:tabLst>
            </a:pPr>
            <a:r>
              <a:rPr lang="en-AU" sz="1400" dirty="0">
                <a:solidFill>
                  <a:srgbClr val="007FA3"/>
                </a:solidFill>
                <a:latin typeface="Courier New" panose="02070309020205020404" pitchFamily="49" charset="0"/>
                <a:cs typeface="Courier New" panose="02070309020205020404" pitchFamily="49" charset="0"/>
              </a:rPr>
              <a:t>10</a:t>
            </a:r>
            <a:r>
              <a:rPr lang="en-AU" sz="1400" dirty="0">
                <a:solidFill>
                  <a:srgbClr val="1473FF"/>
                </a:solidFill>
                <a:latin typeface="Courier New" panose="02070309020205020404" pitchFamily="49" charset="0"/>
                <a:cs typeface="Courier New" panose="02070309020205020404" pitchFamily="49" charset="0"/>
              </a:rPr>
              <a:t> 	</a:t>
            </a:r>
            <a:r>
              <a:rPr lang="en-AU" sz="1400" dirty="0" err="1">
                <a:solidFill>
                  <a:srgbClr val="000000"/>
                </a:solidFill>
                <a:latin typeface="Courier New" panose="02070309020205020404" pitchFamily="49" charset="0"/>
                <a:cs typeface="Courier New" panose="02070309020205020404" pitchFamily="49" charset="0"/>
              </a:rPr>
              <a:t>self.canvas</a:t>
            </a:r>
            <a:r>
              <a:rPr lang="en-AU" sz="1400" dirty="0">
                <a:solidFill>
                  <a:srgbClr val="000000"/>
                </a:solidFill>
                <a:latin typeface="Courier New" panose="02070309020205020404" pitchFamily="49" charset="0"/>
                <a:cs typeface="Courier New" panose="02070309020205020404" pitchFamily="49" charset="0"/>
              </a:rPr>
              <a:t> = </a:t>
            </a:r>
            <a:r>
              <a:rPr lang="en-AU" sz="1400" dirty="0" err="1">
                <a:solidFill>
                  <a:srgbClr val="000000"/>
                </a:solidFill>
                <a:latin typeface="Courier New" panose="02070309020205020404" pitchFamily="49" charset="0"/>
                <a:cs typeface="Courier New" panose="02070309020205020404" pitchFamily="49" charset="0"/>
              </a:rPr>
              <a:t>tkinter.Canvas</a:t>
            </a:r>
            <a:r>
              <a:rPr lang="en-AU" sz="1400" dirty="0">
                <a:solidFill>
                  <a:srgbClr val="000000"/>
                </a:solidFill>
                <a:latin typeface="Courier New" panose="02070309020205020404" pitchFamily="49" charset="0"/>
                <a:cs typeface="Courier New" panose="02070309020205020404" pitchFamily="49" charset="0"/>
              </a:rPr>
              <a:t>(</a:t>
            </a:r>
            <a:r>
              <a:rPr lang="en-AU" sz="1400" dirty="0" err="1">
                <a:solidFill>
                  <a:srgbClr val="000000"/>
                </a:solidFill>
                <a:latin typeface="Courier New" panose="02070309020205020404" pitchFamily="49" charset="0"/>
                <a:cs typeface="Courier New" panose="02070309020205020404" pitchFamily="49" charset="0"/>
              </a:rPr>
              <a:t>self.main_window</a:t>
            </a:r>
            <a:r>
              <a:rPr lang="en-AU" sz="1400" dirty="0">
                <a:solidFill>
                  <a:srgbClr val="000000"/>
                </a:solidFill>
                <a:latin typeface="Courier New" panose="02070309020205020404" pitchFamily="49" charset="0"/>
                <a:cs typeface="Courier New" panose="02070309020205020404" pitchFamily="49" charset="0"/>
              </a:rPr>
              <a:t>, 	width=200,height=200)</a:t>
            </a:r>
          </a:p>
          <a:p>
            <a:r>
              <a:rPr lang="en-AU" sz="1400" dirty="0">
                <a:solidFill>
                  <a:srgbClr val="007FA3"/>
                </a:solidFill>
                <a:latin typeface="Courier New" panose="02070309020205020404" pitchFamily="49" charset="0"/>
                <a:cs typeface="Courier New" panose="02070309020205020404" pitchFamily="49" charset="0"/>
              </a:rPr>
              <a:t>11</a:t>
            </a:r>
          </a:p>
          <a:p>
            <a:pPr>
              <a:tabLst>
                <a:tab pos="1255713" algn="l"/>
              </a:tabLst>
            </a:pPr>
            <a:r>
              <a:rPr lang="en-AU" sz="1400" dirty="0">
                <a:solidFill>
                  <a:srgbClr val="007FA3"/>
                </a:solidFill>
                <a:latin typeface="Courier New" panose="02070309020205020404" pitchFamily="49" charset="0"/>
                <a:cs typeface="Courier New" panose="02070309020205020404" pitchFamily="49" charset="0"/>
              </a:rPr>
              <a:t>12</a:t>
            </a:r>
            <a:r>
              <a:rPr lang="en-AU" sz="1400" dirty="0">
                <a:solidFill>
                  <a:srgbClr val="1473FF"/>
                </a:solidFill>
                <a:latin typeface="Courier New" panose="02070309020205020404" pitchFamily="49" charset="0"/>
                <a:cs typeface="Courier New" panose="02070309020205020404" pitchFamily="49" charset="0"/>
              </a:rPr>
              <a:t> 	</a:t>
            </a:r>
            <a:r>
              <a:rPr lang="en-AU" sz="1400" dirty="0">
                <a:solidFill>
                  <a:srgbClr val="000000"/>
                </a:solidFill>
                <a:latin typeface="Courier New" panose="02070309020205020404" pitchFamily="49" charset="0"/>
                <a:cs typeface="Courier New" panose="02070309020205020404" pitchFamily="49" charset="0"/>
              </a:rPr>
              <a:t># Draw an arc.</a:t>
            </a:r>
          </a:p>
          <a:p>
            <a:pPr>
              <a:tabLst>
                <a:tab pos="1255713" algn="l"/>
              </a:tabLst>
            </a:pPr>
            <a:r>
              <a:rPr lang="en-US" sz="1400" dirty="0">
                <a:solidFill>
                  <a:srgbClr val="007FA3"/>
                </a:solidFill>
                <a:latin typeface="Courier New" panose="02070309020205020404" pitchFamily="49" charset="0"/>
                <a:cs typeface="Courier New" panose="02070309020205020404" pitchFamily="49" charset="0"/>
              </a:rPr>
              <a:t>13</a:t>
            </a:r>
            <a:r>
              <a:rPr lang="en-US" sz="1400" dirty="0">
                <a:solidFill>
                  <a:srgbClr val="1473FF"/>
                </a:solidFill>
                <a:latin typeface="Courier New" panose="02070309020205020404" pitchFamily="49" charset="0"/>
                <a:cs typeface="Courier New" panose="02070309020205020404" pitchFamily="49" charset="0"/>
              </a:rPr>
              <a:t> 	</a:t>
            </a:r>
            <a:r>
              <a:rPr lang="en-US" sz="1400" dirty="0" err="1">
                <a:solidFill>
                  <a:srgbClr val="000000"/>
                </a:solidFill>
                <a:latin typeface="Courier New" panose="02070309020205020404" pitchFamily="49" charset="0"/>
                <a:cs typeface="Courier New" panose="02070309020205020404" pitchFamily="49" charset="0"/>
              </a:rPr>
              <a:t>self.canvas.create_arc</a:t>
            </a:r>
            <a:r>
              <a:rPr lang="en-US" sz="1400" dirty="0">
                <a:solidFill>
                  <a:srgbClr val="000000"/>
                </a:solidFill>
                <a:latin typeface="Courier New" panose="02070309020205020404" pitchFamily="49" charset="0"/>
                <a:cs typeface="Courier New" panose="02070309020205020404" pitchFamily="49" charset="0"/>
              </a:rPr>
              <a:t>(10, 10, 190, 190, start=45, extent=30)</a:t>
            </a:r>
          </a:p>
          <a:p>
            <a:pPr>
              <a:tabLst>
                <a:tab pos="1255713" algn="l"/>
              </a:tabLst>
            </a:pPr>
            <a:r>
              <a:rPr lang="en-US" sz="1400" dirty="0">
                <a:solidFill>
                  <a:srgbClr val="007FA3"/>
                </a:solidFill>
                <a:latin typeface="Courier New" panose="02070309020205020404" pitchFamily="49" charset="0"/>
                <a:cs typeface="Courier New" panose="02070309020205020404" pitchFamily="49" charset="0"/>
              </a:rPr>
              <a:t>14</a:t>
            </a:r>
            <a:r>
              <a:rPr lang="en-US" sz="1400" dirty="0">
                <a:solidFill>
                  <a:srgbClr val="1473FF"/>
                </a:solidFill>
                <a:latin typeface="Courier New" panose="02070309020205020404" pitchFamily="49" charset="0"/>
                <a:cs typeface="Courier New" panose="02070309020205020404" pitchFamily="49" charset="0"/>
              </a:rPr>
              <a:t> 	</a:t>
            </a:r>
            <a:endParaRPr lang="en-US" sz="1400" dirty="0">
              <a:solidFill>
                <a:srgbClr val="000000"/>
              </a:solidFill>
              <a:latin typeface="Courier New" panose="02070309020205020404" pitchFamily="49" charset="0"/>
              <a:cs typeface="Courier New" panose="02070309020205020404" pitchFamily="49" charset="0"/>
            </a:endParaRPr>
          </a:p>
          <a:p>
            <a:pPr>
              <a:tabLst>
                <a:tab pos="1255713" algn="l"/>
              </a:tabLst>
            </a:pPr>
            <a:r>
              <a:rPr lang="en-AU" sz="1400" dirty="0">
                <a:solidFill>
                  <a:srgbClr val="007FA3"/>
                </a:solidFill>
                <a:latin typeface="Courier New" panose="02070309020205020404" pitchFamily="49" charset="0"/>
                <a:cs typeface="Courier New" panose="02070309020205020404" pitchFamily="49" charset="0"/>
              </a:rPr>
              <a:t>15	# Pack the canvas.</a:t>
            </a:r>
          </a:p>
          <a:p>
            <a:pPr>
              <a:tabLst>
                <a:tab pos="1255713" algn="l"/>
              </a:tabLst>
            </a:pPr>
            <a:r>
              <a:rPr lang="en-AU" sz="1400" dirty="0">
                <a:solidFill>
                  <a:srgbClr val="007FA3"/>
                </a:solidFill>
                <a:latin typeface="Courier New" panose="02070309020205020404" pitchFamily="49" charset="0"/>
                <a:cs typeface="Courier New" panose="02070309020205020404" pitchFamily="49" charset="0"/>
              </a:rPr>
              <a:t>16</a:t>
            </a:r>
            <a:r>
              <a:rPr lang="en-AU" sz="1400" dirty="0">
                <a:solidFill>
                  <a:srgbClr val="1473FF"/>
                </a:solidFill>
                <a:latin typeface="Courier New" panose="02070309020205020404" pitchFamily="49" charset="0"/>
                <a:cs typeface="Courier New" panose="02070309020205020404" pitchFamily="49" charset="0"/>
              </a:rPr>
              <a:t> 	</a:t>
            </a:r>
            <a:r>
              <a:rPr lang="en-AU" sz="1400" dirty="0" err="1">
                <a:solidFill>
                  <a:srgbClr val="000000"/>
                </a:solidFill>
                <a:latin typeface="Courier New" panose="02070309020205020404" pitchFamily="49" charset="0"/>
                <a:cs typeface="Courier New" panose="02070309020205020404" pitchFamily="49" charset="0"/>
              </a:rPr>
              <a:t>self.canvas.pack</a:t>
            </a:r>
            <a:r>
              <a:rPr lang="en-AU" sz="1400" dirty="0">
                <a:solidFill>
                  <a:srgbClr val="000000"/>
                </a:solidFill>
                <a:latin typeface="Courier New" panose="02070309020205020404" pitchFamily="49" charset="0"/>
                <a:cs typeface="Courier New" panose="02070309020205020404" pitchFamily="49" charset="0"/>
              </a:rPr>
              <a:t>()</a:t>
            </a:r>
          </a:p>
          <a:p>
            <a:pPr>
              <a:tabLst>
                <a:tab pos="1255713" algn="l"/>
              </a:tabLst>
            </a:pPr>
            <a:r>
              <a:rPr lang="en-AU" sz="1400" dirty="0">
                <a:solidFill>
                  <a:srgbClr val="007FA3"/>
                </a:solidFill>
                <a:latin typeface="Courier New" panose="02070309020205020404" pitchFamily="49" charset="0"/>
                <a:cs typeface="Courier New" panose="02070309020205020404" pitchFamily="49" charset="0"/>
              </a:rPr>
              <a:t>17</a:t>
            </a:r>
            <a:r>
              <a:rPr lang="en-AU" sz="1400" dirty="0">
                <a:solidFill>
                  <a:srgbClr val="1473FF"/>
                </a:solidFill>
                <a:latin typeface="Courier New" panose="02070309020205020404" pitchFamily="49" charset="0"/>
                <a:cs typeface="Courier New" panose="02070309020205020404" pitchFamily="49" charset="0"/>
              </a:rPr>
              <a:t> 	</a:t>
            </a:r>
            <a:endParaRPr lang="en-AU" sz="1400" dirty="0">
              <a:solidFill>
                <a:srgbClr val="000000"/>
              </a:solidFill>
              <a:latin typeface="Courier New" panose="02070309020205020404" pitchFamily="49" charset="0"/>
              <a:cs typeface="Courier New" panose="02070309020205020404" pitchFamily="49" charset="0"/>
            </a:endParaRPr>
          </a:p>
          <a:p>
            <a:pPr>
              <a:tabLst>
                <a:tab pos="1255713" algn="l"/>
              </a:tabLst>
            </a:pPr>
            <a:r>
              <a:rPr lang="en-AU" sz="1400" dirty="0">
                <a:solidFill>
                  <a:srgbClr val="007FA3"/>
                </a:solidFill>
                <a:latin typeface="Courier New" panose="02070309020205020404" pitchFamily="49" charset="0"/>
                <a:cs typeface="Courier New" panose="02070309020205020404" pitchFamily="49" charset="0"/>
              </a:rPr>
              <a:t>18	# Start the </a:t>
            </a:r>
            <a:r>
              <a:rPr lang="en-AU" sz="1400" dirty="0" err="1">
                <a:solidFill>
                  <a:srgbClr val="007FA3"/>
                </a:solidFill>
                <a:latin typeface="Courier New" panose="02070309020205020404" pitchFamily="49" charset="0"/>
                <a:cs typeface="Courier New" panose="02070309020205020404" pitchFamily="49" charset="0"/>
              </a:rPr>
              <a:t>mainloop</a:t>
            </a:r>
            <a:r>
              <a:rPr lang="en-AU" sz="1400" dirty="0">
                <a:solidFill>
                  <a:srgbClr val="007FA3"/>
                </a:solidFill>
                <a:latin typeface="Courier New" panose="02070309020205020404" pitchFamily="49" charset="0"/>
                <a:cs typeface="Courier New" panose="02070309020205020404" pitchFamily="49" charset="0"/>
              </a:rPr>
              <a:t>.</a:t>
            </a:r>
          </a:p>
          <a:p>
            <a:pPr>
              <a:tabLst>
                <a:tab pos="1255713" algn="l"/>
              </a:tabLst>
            </a:pPr>
            <a:r>
              <a:rPr lang="en-AU" sz="1400" dirty="0">
                <a:solidFill>
                  <a:srgbClr val="007FA3"/>
                </a:solidFill>
                <a:latin typeface="Courier New" panose="02070309020205020404" pitchFamily="49" charset="0"/>
                <a:cs typeface="Courier New" panose="02070309020205020404" pitchFamily="49" charset="0"/>
              </a:rPr>
              <a:t>19</a:t>
            </a:r>
            <a:r>
              <a:rPr lang="en-AU" sz="1400" dirty="0">
                <a:solidFill>
                  <a:srgbClr val="1473FF"/>
                </a:solidFill>
                <a:latin typeface="Courier New" panose="02070309020205020404" pitchFamily="49" charset="0"/>
                <a:cs typeface="Courier New" panose="02070309020205020404" pitchFamily="49" charset="0"/>
              </a:rPr>
              <a:t> 	</a:t>
            </a:r>
            <a:r>
              <a:rPr lang="en-AU" sz="1400" dirty="0" err="1">
                <a:solidFill>
                  <a:srgbClr val="000000"/>
                </a:solidFill>
                <a:latin typeface="Courier New" panose="02070309020205020404" pitchFamily="49" charset="0"/>
                <a:cs typeface="Courier New" panose="02070309020205020404" pitchFamily="49" charset="0"/>
              </a:rPr>
              <a:t>tkinter.mainloop</a:t>
            </a:r>
            <a:r>
              <a:rPr lang="en-AU" sz="1400" dirty="0">
                <a:solidFill>
                  <a:srgbClr val="000000"/>
                </a:solidFill>
                <a:latin typeface="Courier New" panose="02070309020205020404" pitchFamily="49" charset="0"/>
                <a:cs typeface="Courier New" panose="02070309020205020404" pitchFamily="49" charset="0"/>
              </a:rPr>
              <a:t>()</a:t>
            </a:r>
          </a:p>
          <a:p>
            <a:pPr>
              <a:tabLst>
                <a:tab pos="1255713" algn="l"/>
              </a:tabLst>
            </a:pPr>
            <a:r>
              <a:rPr lang="en-AU" sz="1400" dirty="0">
                <a:solidFill>
                  <a:srgbClr val="007FA3"/>
                </a:solidFill>
                <a:latin typeface="Courier New" panose="02070309020205020404" pitchFamily="49" charset="0"/>
                <a:cs typeface="Courier New" panose="02070309020205020404" pitchFamily="49" charset="0"/>
              </a:rPr>
              <a:t>20</a:t>
            </a:r>
            <a:r>
              <a:rPr lang="en-AU" sz="1400" dirty="0">
                <a:solidFill>
                  <a:srgbClr val="1473FF"/>
                </a:solidFill>
                <a:latin typeface="Courier New" panose="02070309020205020404" pitchFamily="49" charset="0"/>
                <a:cs typeface="Courier New" panose="02070309020205020404" pitchFamily="49" charset="0"/>
              </a:rPr>
              <a:t> 	</a:t>
            </a:r>
            <a:endParaRPr lang="en-AU" sz="1400" dirty="0">
              <a:solidFill>
                <a:srgbClr val="000000"/>
              </a:solidFill>
              <a:latin typeface="Courier New" panose="02070309020205020404" pitchFamily="49" charset="0"/>
              <a:cs typeface="Courier New" panose="02070309020205020404" pitchFamily="49" charset="0"/>
            </a:endParaRPr>
          </a:p>
          <a:p>
            <a:r>
              <a:rPr lang="en-AU" sz="1400" dirty="0">
                <a:solidFill>
                  <a:srgbClr val="007FA3"/>
                </a:solidFill>
                <a:latin typeface="Courier New" panose="02070309020205020404" pitchFamily="49" charset="0"/>
                <a:cs typeface="Courier New" panose="02070309020205020404" pitchFamily="49" charset="0"/>
              </a:rPr>
              <a:t>21 </a:t>
            </a:r>
            <a:r>
              <a:rPr lang="en-US" sz="1400" dirty="0">
                <a:solidFill>
                  <a:srgbClr val="000000"/>
                </a:solidFill>
                <a:latin typeface="Courier New" panose="02070309020205020404" pitchFamily="49" charset="0"/>
                <a:cs typeface="Courier New" panose="02070309020205020404" pitchFamily="49" charset="0"/>
              </a:rPr>
              <a:t># Create an instance of the </a:t>
            </a:r>
            <a:r>
              <a:rPr lang="en-US" sz="1400" dirty="0" err="1">
                <a:solidFill>
                  <a:srgbClr val="000000"/>
                </a:solidFill>
                <a:latin typeface="Courier New" panose="02070309020205020404" pitchFamily="49" charset="0"/>
                <a:cs typeface="Courier New" panose="02070309020205020404" pitchFamily="49" charset="0"/>
              </a:rPr>
              <a:t>MyGUI</a:t>
            </a:r>
            <a:r>
              <a:rPr lang="en-US" sz="1400" dirty="0">
                <a:solidFill>
                  <a:srgbClr val="000000"/>
                </a:solidFill>
                <a:latin typeface="Courier New" panose="02070309020205020404" pitchFamily="49" charset="0"/>
                <a:cs typeface="Courier New" panose="02070309020205020404" pitchFamily="49" charset="0"/>
              </a:rPr>
              <a:t> class.</a:t>
            </a:r>
            <a:endParaRPr lang="en-AU" sz="1400" dirty="0">
              <a:solidFill>
                <a:srgbClr val="007FA3"/>
              </a:solidFill>
              <a:latin typeface="Courier New" panose="02070309020205020404" pitchFamily="49" charset="0"/>
              <a:cs typeface="Courier New" panose="02070309020205020404" pitchFamily="49" charset="0"/>
            </a:endParaRPr>
          </a:p>
          <a:p>
            <a:r>
              <a:rPr lang="en-US" sz="1400" dirty="0">
                <a:solidFill>
                  <a:srgbClr val="007FA3"/>
                </a:solidFill>
                <a:latin typeface="Courier New" panose="02070309020205020404" pitchFamily="49" charset="0"/>
                <a:cs typeface="Courier New" panose="02070309020205020404" pitchFamily="49" charset="0"/>
              </a:rPr>
              <a:t>22 </a:t>
            </a:r>
            <a:r>
              <a:rPr lang="en-AU" sz="1400" dirty="0">
                <a:solidFill>
                  <a:srgbClr val="000000"/>
                </a:solidFill>
                <a:latin typeface="Courier New" panose="02070309020205020404" pitchFamily="49" charset="0"/>
                <a:cs typeface="Courier New" panose="02070309020205020404" pitchFamily="49" charset="0"/>
              </a:rPr>
              <a:t>if _ _name_ _ == '_ _main_ _':</a:t>
            </a:r>
            <a:endParaRPr lang="en-US" sz="1400" dirty="0">
              <a:solidFill>
                <a:srgbClr val="000000"/>
              </a:solidFill>
              <a:latin typeface="Courier New" panose="02070309020205020404" pitchFamily="49" charset="0"/>
              <a:cs typeface="Courier New" panose="02070309020205020404" pitchFamily="49" charset="0"/>
            </a:endParaRPr>
          </a:p>
          <a:p>
            <a:r>
              <a:rPr lang="en-AU" sz="1400" dirty="0">
                <a:solidFill>
                  <a:srgbClr val="007FA3"/>
                </a:solidFill>
                <a:latin typeface="Courier New" panose="02070309020205020404" pitchFamily="49" charset="0"/>
                <a:cs typeface="Courier New" panose="02070309020205020404" pitchFamily="49" charset="0"/>
              </a:rPr>
              <a:t>23</a:t>
            </a:r>
            <a:r>
              <a:rPr lang="en-AU" sz="1400" dirty="0">
                <a:solidFill>
                  <a:srgbClr val="1473FF"/>
                </a:solidFill>
                <a:latin typeface="Courier New" panose="02070309020205020404" pitchFamily="49" charset="0"/>
                <a:cs typeface="Courier New" panose="02070309020205020404" pitchFamily="49" charset="0"/>
              </a:rPr>
              <a:t> 	</a:t>
            </a:r>
            <a:r>
              <a:rPr lang="en-AU" sz="1400" dirty="0" err="1">
                <a:solidFill>
                  <a:srgbClr val="000000"/>
                </a:solidFill>
                <a:latin typeface="Courier New" panose="02070309020205020404" pitchFamily="49" charset="0"/>
                <a:cs typeface="Courier New" panose="02070309020205020404" pitchFamily="49" charset="0"/>
              </a:rPr>
              <a:t>my_gui</a:t>
            </a:r>
            <a:r>
              <a:rPr lang="en-AU" sz="1400" dirty="0">
                <a:solidFill>
                  <a:srgbClr val="000000"/>
                </a:solidFill>
                <a:latin typeface="Courier New" panose="02070309020205020404" pitchFamily="49" charset="0"/>
                <a:cs typeface="Courier New" panose="02070309020205020404" pitchFamily="49" charset="0"/>
              </a:rPr>
              <a:t> = </a:t>
            </a:r>
            <a:r>
              <a:rPr lang="en-AU" sz="1400" dirty="0" err="1">
                <a:solidFill>
                  <a:srgbClr val="000000"/>
                </a:solidFill>
                <a:latin typeface="Courier New" panose="02070309020205020404" pitchFamily="49" charset="0"/>
                <a:cs typeface="Courier New" panose="02070309020205020404" pitchFamily="49" charset="0"/>
              </a:rPr>
              <a:t>MyGUI</a:t>
            </a:r>
            <a:r>
              <a:rPr lang="en-AU" sz="1400" dirty="0">
                <a:solidFill>
                  <a:srgbClr val="000000"/>
                </a:solidFill>
                <a:latin typeface="Courier New" panose="02070309020205020404" pitchFamily="49" charset="0"/>
                <a:cs typeface="Courier New" panose="02070309020205020404" pitchFamily="49" charset="0"/>
              </a:rPr>
              <a:t>() </a:t>
            </a:r>
          </a:p>
        </p:txBody>
      </p:sp>
      <p:pic>
        <p:nvPicPr>
          <p:cNvPr id="5" name="Picture 4" descr="A window titled t K, displays the arc shaped like a pie slice. ">
            <a:extLst>
              <a:ext uri="{FF2B5EF4-FFF2-40B4-BE49-F238E27FC236}">
                <a16:creationId xmlns:a16="http://schemas.microsoft.com/office/drawing/2014/main" id="{C30234A7-D1DF-4F31-82BE-E02D768C2EBA}"/>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auto">
          <a:xfrm>
            <a:off x="6477000" y="4159883"/>
            <a:ext cx="1885424" cy="21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1215393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itle 1">
            <a:extLst>
              <a:ext uri="{FF2B5EF4-FFF2-40B4-BE49-F238E27FC236}">
                <a16:creationId xmlns:a16="http://schemas.microsoft.com/office/drawing/2014/main" id="{BF326793-32CC-4F64-BD47-53BDAB1E82FE}"/>
              </a:ext>
            </a:extLst>
          </p:cNvPr>
          <p:cNvSpPr>
            <a:spLocks noGrp="1" noChangeArrowheads="1"/>
          </p:cNvSpPr>
          <p:nvPr>
            <p:ph type="title"/>
          </p:nvPr>
        </p:nvSpPr>
        <p:spPr/>
        <p:txBody>
          <a:bodyPr/>
          <a:lstStyle/>
          <a:p>
            <a:r>
              <a:rPr lang="en-US" altLang="en-US" dirty="0"/>
              <a:t>Drawing a Polygon</a:t>
            </a:r>
            <a:r>
              <a:rPr lang="en-AU" sz="2000" b="0" dirty="0"/>
              <a:t> (1 of 3)</a:t>
            </a:r>
            <a:endParaRPr lang="en-US" altLang="en-US" sz="2000" dirty="0"/>
          </a:p>
        </p:txBody>
      </p:sp>
      <p:sp>
        <p:nvSpPr>
          <p:cNvPr id="73731" name="TextBox 3">
            <a:extLst>
              <a:ext uri="{FF2B5EF4-FFF2-40B4-BE49-F238E27FC236}">
                <a16:creationId xmlns:a16="http://schemas.microsoft.com/office/drawing/2014/main" id="{B87D8617-9632-4D84-9DEC-5B7C249FA56E}"/>
              </a:ext>
            </a:extLst>
          </p:cNvPr>
          <p:cNvSpPr txBox="1">
            <a:spLocks noChangeArrowheads="1"/>
          </p:cNvSpPr>
          <p:nvPr/>
        </p:nvSpPr>
        <p:spPr bwMode="auto">
          <a:xfrm>
            <a:off x="304800" y="3200400"/>
            <a:ext cx="8610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000" b="0" i="1">
                <a:latin typeface="Courier New" panose="02070309020205020404" pitchFamily="49" charset="0"/>
                <a:cs typeface="Calibri" panose="020F0502020204030204" pitchFamily="34" charset="0"/>
              </a:rPr>
              <a:t>canvas_name</a:t>
            </a:r>
            <a:r>
              <a:rPr lang="en-US" altLang="en-US" sz="2000" b="0">
                <a:latin typeface="Courier New" panose="02070309020205020404" pitchFamily="49" charset="0"/>
                <a:cs typeface="Calibri" panose="020F0502020204030204" pitchFamily="34" charset="0"/>
              </a:rPr>
              <a:t>.create_polygon(x1, y1, x2, y2, …,</a:t>
            </a:r>
            <a:r>
              <a:rPr lang="en-US" altLang="en-US" sz="2000" b="0" i="1">
                <a:latin typeface="Courier New" panose="02070309020205020404" pitchFamily="49" charset="0"/>
                <a:cs typeface="Calibri" panose="020F0502020204030204" pitchFamily="34" charset="0"/>
              </a:rPr>
              <a:t>options</a:t>
            </a:r>
            <a:r>
              <a:rPr lang="en-US" altLang="en-US" sz="2000" b="0">
                <a:latin typeface="Courier New" panose="02070309020205020404" pitchFamily="49" charset="0"/>
                <a:cs typeface="Calibri" panose="020F0502020204030204" pitchFamily="34" charset="0"/>
              </a:rPr>
              <a:t>…)</a:t>
            </a:r>
            <a:endParaRPr lang="en-US" altLang="en-US" sz="2000" b="0"/>
          </a:p>
        </p:txBody>
      </p:sp>
      <p:sp>
        <p:nvSpPr>
          <p:cNvPr id="73732" name="Left Bracket 4">
            <a:extLst>
              <a:ext uri="{FF2B5EF4-FFF2-40B4-BE49-F238E27FC236}">
                <a16:creationId xmlns:a16="http://schemas.microsoft.com/office/drawing/2014/main" id="{DB9351AF-B57B-4C6E-97EE-2DBEA38E8877}"/>
              </a:ext>
            </a:extLst>
          </p:cNvPr>
          <p:cNvSpPr>
            <a:spLocks/>
          </p:cNvSpPr>
          <p:nvPr/>
        </p:nvSpPr>
        <p:spPr bwMode="auto">
          <a:xfrm rot="-5400000">
            <a:off x="4744244" y="3204369"/>
            <a:ext cx="304800" cy="1100138"/>
          </a:xfrm>
          <a:prstGeom prst="leftBracket">
            <a:avLst>
              <a:gd name="adj" fmla="val 8338"/>
            </a:avLst>
          </a:prstGeom>
          <a:noFill/>
          <a:ln w="9525" algn="ctr">
            <a:solidFill>
              <a:srgbClr val="007FA3"/>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1800" b="0"/>
          </a:p>
        </p:txBody>
      </p:sp>
      <p:sp>
        <p:nvSpPr>
          <p:cNvPr id="73733" name="TextBox 7">
            <a:extLst>
              <a:ext uri="{FF2B5EF4-FFF2-40B4-BE49-F238E27FC236}">
                <a16:creationId xmlns:a16="http://schemas.microsoft.com/office/drawing/2014/main" id="{86B9289C-16AF-485E-9B82-F7BBEAD7AB2E}"/>
              </a:ext>
            </a:extLst>
          </p:cNvPr>
          <p:cNvSpPr txBox="1">
            <a:spLocks noChangeArrowheads="1"/>
          </p:cNvSpPr>
          <p:nvPr/>
        </p:nvSpPr>
        <p:spPr bwMode="auto">
          <a:xfrm>
            <a:off x="4083050" y="3906838"/>
            <a:ext cx="168592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1800" b="0" dirty="0">
                <a:solidFill>
                  <a:srgbClr val="007FA3"/>
                </a:solidFill>
              </a:rPr>
              <a:t>Coordinates of</a:t>
            </a:r>
          </a:p>
          <a:p>
            <a:pPr algn="ctr" eaLnBrk="1" hangingPunct="1">
              <a:spcBef>
                <a:spcPct val="0"/>
              </a:spcBef>
              <a:buFontTx/>
              <a:buNone/>
            </a:pPr>
            <a:r>
              <a:rPr lang="en-US" altLang="en-US" sz="1800" b="0" dirty="0">
                <a:solidFill>
                  <a:srgbClr val="007FA3"/>
                </a:solidFill>
              </a:rPr>
              <a:t>the first vertex</a:t>
            </a:r>
          </a:p>
        </p:txBody>
      </p:sp>
      <p:sp>
        <p:nvSpPr>
          <p:cNvPr id="73734" name="TextBox 8">
            <a:extLst>
              <a:ext uri="{FF2B5EF4-FFF2-40B4-BE49-F238E27FC236}">
                <a16:creationId xmlns:a16="http://schemas.microsoft.com/office/drawing/2014/main" id="{12B17706-455C-427F-A5AE-44154AEDF509}"/>
              </a:ext>
            </a:extLst>
          </p:cNvPr>
          <p:cNvSpPr txBox="1">
            <a:spLocks noChangeArrowheads="1"/>
          </p:cNvSpPr>
          <p:nvPr/>
        </p:nvSpPr>
        <p:spPr bwMode="auto">
          <a:xfrm>
            <a:off x="5186363" y="2271713"/>
            <a:ext cx="2005012"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1800" b="0" dirty="0">
                <a:solidFill>
                  <a:srgbClr val="007FA3"/>
                </a:solidFill>
              </a:rPr>
              <a:t>Coordinates of</a:t>
            </a:r>
          </a:p>
          <a:p>
            <a:pPr algn="ctr" eaLnBrk="1" hangingPunct="1">
              <a:spcBef>
                <a:spcPct val="0"/>
              </a:spcBef>
              <a:buFontTx/>
              <a:buNone/>
            </a:pPr>
            <a:r>
              <a:rPr lang="en-US" altLang="en-US" sz="1800" b="0" dirty="0">
                <a:solidFill>
                  <a:srgbClr val="007FA3"/>
                </a:solidFill>
              </a:rPr>
              <a:t>the second vertex</a:t>
            </a:r>
          </a:p>
        </p:txBody>
      </p:sp>
      <p:sp>
        <p:nvSpPr>
          <p:cNvPr id="73735" name="Left Bracket 9">
            <a:extLst>
              <a:ext uri="{FF2B5EF4-FFF2-40B4-BE49-F238E27FC236}">
                <a16:creationId xmlns:a16="http://schemas.microsoft.com/office/drawing/2014/main" id="{05953CF1-8E69-4F21-8DF9-6F8AE22D70DC}"/>
              </a:ext>
            </a:extLst>
          </p:cNvPr>
          <p:cNvSpPr>
            <a:spLocks/>
          </p:cNvSpPr>
          <p:nvPr/>
        </p:nvSpPr>
        <p:spPr bwMode="auto">
          <a:xfrm rot="5400000">
            <a:off x="6036469" y="2613819"/>
            <a:ext cx="304800" cy="1100138"/>
          </a:xfrm>
          <a:prstGeom prst="leftBracket">
            <a:avLst>
              <a:gd name="adj" fmla="val 8338"/>
            </a:avLst>
          </a:prstGeom>
          <a:noFill/>
          <a:ln w="9525" algn="ctr">
            <a:solidFill>
              <a:srgbClr val="007FA3"/>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1800" b="0"/>
          </a:p>
        </p:txBody>
      </p:sp>
      <p:sp>
        <p:nvSpPr>
          <p:cNvPr id="73736" name="TextBox 10">
            <a:extLst>
              <a:ext uri="{FF2B5EF4-FFF2-40B4-BE49-F238E27FC236}">
                <a16:creationId xmlns:a16="http://schemas.microsoft.com/office/drawing/2014/main" id="{96DCD3CB-2701-48A1-8482-1C6EC501D9BE}"/>
              </a:ext>
            </a:extLst>
          </p:cNvPr>
          <p:cNvSpPr txBox="1">
            <a:spLocks noChangeArrowheads="1"/>
          </p:cNvSpPr>
          <p:nvPr/>
        </p:nvSpPr>
        <p:spPr bwMode="auto">
          <a:xfrm>
            <a:off x="6629400" y="4090988"/>
            <a:ext cx="219868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1800" b="0" dirty="0">
                <a:solidFill>
                  <a:srgbClr val="007FA3"/>
                </a:solidFill>
              </a:rPr>
              <a:t>Optional arguments</a:t>
            </a:r>
          </a:p>
          <a:p>
            <a:pPr algn="ctr" eaLnBrk="1" hangingPunct="1">
              <a:spcBef>
                <a:spcPct val="0"/>
              </a:spcBef>
              <a:buFontTx/>
              <a:buNone/>
            </a:pPr>
            <a:r>
              <a:rPr lang="en-US" altLang="en-US" sz="1800" b="0" dirty="0">
                <a:solidFill>
                  <a:srgbClr val="007FA3"/>
                </a:solidFill>
              </a:rPr>
              <a:t>(See Table 13-7)</a:t>
            </a:r>
          </a:p>
        </p:txBody>
      </p:sp>
      <p:cxnSp>
        <p:nvCxnSpPr>
          <p:cNvPr id="73737" name="Straight Connector 12">
            <a:extLst>
              <a:ext uri="{FF2B5EF4-FFF2-40B4-BE49-F238E27FC236}">
                <a16:creationId xmlns:a16="http://schemas.microsoft.com/office/drawing/2014/main" id="{21644FE7-A73F-4640-9ECA-FA6DAAB7E13F}"/>
              </a:ext>
            </a:extLst>
          </p:cNvPr>
          <p:cNvCxnSpPr>
            <a:cxnSpLocks noChangeShapeType="1"/>
            <a:stCxn id="73736" idx="0"/>
          </p:cNvCxnSpPr>
          <p:nvPr/>
        </p:nvCxnSpPr>
        <p:spPr bwMode="auto">
          <a:xfrm flipV="1">
            <a:off x="7727950" y="3581400"/>
            <a:ext cx="44450" cy="509588"/>
          </a:xfrm>
          <a:prstGeom prst="line">
            <a:avLst/>
          </a:prstGeom>
          <a:noFill/>
          <a:ln w="9525" algn="ctr">
            <a:solidFill>
              <a:srgbClr val="007FA3"/>
            </a:solidFill>
            <a:round/>
            <a:headEnd/>
            <a:tailEnd/>
          </a:ln>
          <a:extLst>
            <a:ext uri="{909E8E84-426E-40DD-AFC4-6F175D3DCCD1}">
              <a14:hiddenFill xmlns:a14="http://schemas.microsoft.com/office/drawing/2010/main">
                <a:noFill/>
              </a14:hiddenFill>
            </a:ext>
          </a:extLst>
        </p:spPr>
      </p:cxn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itle 1">
            <a:extLst>
              <a:ext uri="{FF2B5EF4-FFF2-40B4-BE49-F238E27FC236}">
                <a16:creationId xmlns:a16="http://schemas.microsoft.com/office/drawing/2014/main" id="{2DCC36FB-C10E-442F-82C9-3F8017E79045}"/>
              </a:ext>
            </a:extLst>
          </p:cNvPr>
          <p:cNvSpPr>
            <a:spLocks noGrp="1" noChangeArrowheads="1"/>
          </p:cNvSpPr>
          <p:nvPr>
            <p:ph type="title"/>
          </p:nvPr>
        </p:nvSpPr>
        <p:spPr/>
        <p:txBody>
          <a:bodyPr/>
          <a:lstStyle/>
          <a:p>
            <a:r>
              <a:rPr lang="en-US" altLang="en-US" dirty="0"/>
              <a:t>Drawing a Polygon</a:t>
            </a:r>
            <a:r>
              <a:rPr lang="en-AU" sz="2000" b="0" dirty="0"/>
              <a:t> (2 of 3)</a:t>
            </a:r>
            <a:endParaRPr lang="en-US" altLang="en-US" sz="2000" dirty="0"/>
          </a:p>
        </p:txBody>
      </p:sp>
      <p:sp>
        <p:nvSpPr>
          <p:cNvPr id="74755" name="TextBox 2">
            <a:extLst>
              <a:ext uri="{FF2B5EF4-FFF2-40B4-BE49-F238E27FC236}">
                <a16:creationId xmlns:a16="http://schemas.microsoft.com/office/drawing/2014/main" id="{494D1F30-9C8F-4CF9-BC6F-1F905BE1C166}"/>
              </a:ext>
            </a:extLst>
          </p:cNvPr>
          <p:cNvSpPr txBox="1">
            <a:spLocks noChangeArrowheads="1"/>
          </p:cNvSpPr>
          <p:nvPr/>
        </p:nvSpPr>
        <p:spPr bwMode="auto">
          <a:xfrm>
            <a:off x="647700" y="1905000"/>
            <a:ext cx="79248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600" b="0">
                <a:latin typeface="Courier New" panose="02070309020205020404" pitchFamily="49" charset="0"/>
                <a:cs typeface="Courier New" panose="02070309020205020404" pitchFamily="49" charset="0"/>
              </a:rPr>
              <a:t>self.canvas.create_polygon(60, 20, 100, 20, 140, 60, 140, 100,</a:t>
            </a:r>
          </a:p>
          <a:p>
            <a:pPr eaLnBrk="1" hangingPunct="1">
              <a:spcBef>
                <a:spcPct val="0"/>
              </a:spcBef>
              <a:buFontTx/>
              <a:buNone/>
            </a:pPr>
            <a:r>
              <a:rPr lang="en-US" altLang="en-US" sz="1600" b="0">
                <a:latin typeface="Courier New" panose="02070309020205020404" pitchFamily="49" charset="0"/>
                <a:cs typeface="Courier New" panose="02070309020205020404" pitchFamily="49" charset="0"/>
              </a:rPr>
              <a:t>                           100, 140, 60, 140, 20, 100, 20, 60)</a:t>
            </a:r>
          </a:p>
        </p:txBody>
      </p:sp>
      <p:pic>
        <p:nvPicPr>
          <p:cNvPr id="74756" name="Picture 4" descr="A polygon with eight vertices. ">
            <a:extLst>
              <a:ext uri="{FF2B5EF4-FFF2-40B4-BE49-F238E27FC236}">
                <a16:creationId xmlns:a16="http://schemas.microsoft.com/office/drawing/2014/main" id="{5FEAEA01-E3C2-40ED-8502-4F38C017D0D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auto">
          <a:xfrm>
            <a:off x="1600200" y="3013681"/>
            <a:ext cx="6019800" cy="284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A9866-BFB5-441D-9C00-E850BFE91BEA}"/>
              </a:ext>
            </a:extLst>
          </p:cNvPr>
          <p:cNvSpPr>
            <a:spLocks noGrp="1"/>
          </p:cNvSpPr>
          <p:nvPr>
            <p:ph type="title"/>
          </p:nvPr>
        </p:nvSpPr>
        <p:spPr>
          <a:xfrm>
            <a:off x="457200" y="215372"/>
            <a:ext cx="8229600" cy="516465"/>
          </a:xfrm>
        </p:spPr>
        <p:txBody>
          <a:bodyPr/>
          <a:lstStyle/>
          <a:p>
            <a:r>
              <a:rPr lang="en-US" altLang="en-US" dirty="0"/>
              <a:t>Drawing a Polygon</a:t>
            </a:r>
            <a:r>
              <a:rPr lang="en-AU" sz="2000" b="0" dirty="0"/>
              <a:t> (3 of 3)</a:t>
            </a:r>
            <a:endParaRPr lang="en-AU" sz="2000" dirty="0"/>
          </a:p>
        </p:txBody>
      </p:sp>
      <p:sp>
        <p:nvSpPr>
          <p:cNvPr id="4" name="Rectangle 3">
            <a:extLst>
              <a:ext uri="{FF2B5EF4-FFF2-40B4-BE49-F238E27FC236}">
                <a16:creationId xmlns:a16="http://schemas.microsoft.com/office/drawing/2014/main" id="{F82DB1D9-C75B-4F97-ADB9-51B10F695A82}"/>
              </a:ext>
            </a:extLst>
          </p:cNvPr>
          <p:cNvSpPr/>
          <p:nvPr/>
        </p:nvSpPr>
        <p:spPr>
          <a:xfrm>
            <a:off x="457200" y="838200"/>
            <a:ext cx="8153400" cy="5493812"/>
          </a:xfrm>
          <a:prstGeom prst="rect">
            <a:avLst/>
          </a:prstGeom>
        </p:spPr>
        <p:txBody>
          <a:bodyPr wrap="square">
            <a:spAutoFit/>
          </a:bodyPr>
          <a:lstStyle/>
          <a:p>
            <a:r>
              <a:rPr lang="en-US" sz="1350" dirty="0">
                <a:solidFill>
                  <a:srgbClr val="007FA3"/>
                </a:solidFill>
                <a:latin typeface="Courier New" panose="02070309020205020404" pitchFamily="49" charset="0"/>
                <a:cs typeface="Courier New" panose="02070309020205020404" pitchFamily="49" charset="0"/>
              </a:rPr>
              <a:t>1</a:t>
            </a:r>
            <a:r>
              <a:rPr lang="en-US" sz="1350" dirty="0">
                <a:solidFill>
                  <a:srgbClr val="1473FF"/>
                </a:solidFill>
                <a:latin typeface="Courier New" panose="02070309020205020404" pitchFamily="49" charset="0"/>
                <a:cs typeface="Courier New" panose="02070309020205020404" pitchFamily="49" charset="0"/>
              </a:rPr>
              <a:t> </a:t>
            </a:r>
            <a:r>
              <a:rPr lang="en-US" sz="1350" dirty="0">
                <a:solidFill>
                  <a:srgbClr val="000000"/>
                </a:solidFill>
                <a:latin typeface="Courier New" panose="02070309020205020404" pitchFamily="49" charset="0"/>
                <a:cs typeface="Courier New" panose="02070309020205020404" pitchFamily="49" charset="0"/>
              </a:rPr>
              <a:t># This program draws a polygon on a Canvas.</a:t>
            </a:r>
          </a:p>
          <a:p>
            <a:r>
              <a:rPr lang="en-AU" sz="1350" dirty="0">
                <a:solidFill>
                  <a:srgbClr val="007FA3"/>
                </a:solidFill>
                <a:latin typeface="Courier New" panose="02070309020205020404" pitchFamily="49" charset="0"/>
                <a:cs typeface="Courier New" panose="02070309020205020404" pitchFamily="49" charset="0"/>
              </a:rPr>
              <a:t>2</a:t>
            </a:r>
            <a:r>
              <a:rPr lang="en-AU" sz="1350" dirty="0">
                <a:solidFill>
                  <a:srgbClr val="1473FF"/>
                </a:solidFill>
                <a:latin typeface="Courier New" panose="02070309020205020404" pitchFamily="49" charset="0"/>
                <a:cs typeface="Courier New" panose="02070309020205020404" pitchFamily="49" charset="0"/>
              </a:rPr>
              <a:t> </a:t>
            </a:r>
            <a:r>
              <a:rPr lang="en-AU" sz="1350" dirty="0">
                <a:solidFill>
                  <a:srgbClr val="000000"/>
                </a:solidFill>
                <a:latin typeface="Courier New" panose="02070309020205020404" pitchFamily="49" charset="0"/>
                <a:cs typeface="Courier New" panose="02070309020205020404" pitchFamily="49" charset="0"/>
              </a:rPr>
              <a:t>import </a:t>
            </a:r>
            <a:r>
              <a:rPr lang="en-AU" sz="1350" dirty="0" err="1">
                <a:solidFill>
                  <a:srgbClr val="000000"/>
                </a:solidFill>
                <a:latin typeface="Courier New" panose="02070309020205020404" pitchFamily="49" charset="0"/>
                <a:cs typeface="Courier New" panose="02070309020205020404" pitchFamily="49" charset="0"/>
              </a:rPr>
              <a:t>tkinter</a:t>
            </a:r>
            <a:endParaRPr lang="en-AU" sz="1350" dirty="0">
              <a:solidFill>
                <a:srgbClr val="000000"/>
              </a:solidFill>
              <a:latin typeface="Courier New" panose="02070309020205020404" pitchFamily="49" charset="0"/>
              <a:cs typeface="Courier New" panose="02070309020205020404" pitchFamily="49" charset="0"/>
            </a:endParaRPr>
          </a:p>
          <a:p>
            <a:r>
              <a:rPr lang="en-AU" sz="1350" dirty="0">
                <a:solidFill>
                  <a:srgbClr val="007FA3"/>
                </a:solidFill>
                <a:latin typeface="Courier New" panose="02070309020205020404" pitchFamily="49" charset="0"/>
                <a:cs typeface="Courier New" panose="02070309020205020404" pitchFamily="49" charset="0"/>
              </a:rPr>
              <a:t>3</a:t>
            </a:r>
          </a:p>
          <a:p>
            <a:r>
              <a:rPr lang="en-AU" sz="1350" dirty="0">
                <a:solidFill>
                  <a:srgbClr val="007FA3"/>
                </a:solidFill>
                <a:latin typeface="Courier New" panose="02070309020205020404" pitchFamily="49" charset="0"/>
                <a:cs typeface="Courier New" panose="02070309020205020404" pitchFamily="49" charset="0"/>
              </a:rPr>
              <a:t>4</a:t>
            </a:r>
            <a:r>
              <a:rPr lang="en-AU" sz="1350" dirty="0">
                <a:solidFill>
                  <a:srgbClr val="1473FF"/>
                </a:solidFill>
                <a:latin typeface="Courier New" panose="02070309020205020404" pitchFamily="49" charset="0"/>
                <a:cs typeface="Courier New" panose="02070309020205020404" pitchFamily="49" charset="0"/>
              </a:rPr>
              <a:t> </a:t>
            </a:r>
            <a:r>
              <a:rPr lang="en-AU" sz="1350" dirty="0">
                <a:solidFill>
                  <a:srgbClr val="000000"/>
                </a:solidFill>
                <a:latin typeface="Courier New" panose="02070309020205020404" pitchFamily="49" charset="0"/>
                <a:cs typeface="Courier New" panose="02070309020205020404" pitchFamily="49" charset="0"/>
              </a:rPr>
              <a:t>class </a:t>
            </a:r>
            <a:r>
              <a:rPr lang="en-AU" sz="1350" dirty="0" err="1">
                <a:solidFill>
                  <a:srgbClr val="000000"/>
                </a:solidFill>
                <a:latin typeface="Courier New" panose="02070309020205020404" pitchFamily="49" charset="0"/>
                <a:cs typeface="Courier New" panose="02070309020205020404" pitchFamily="49" charset="0"/>
              </a:rPr>
              <a:t>MyGUI</a:t>
            </a:r>
            <a:r>
              <a:rPr lang="en-AU" sz="1350" dirty="0">
                <a:solidFill>
                  <a:srgbClr val="000000"/>
                </a:solidFill>
                <a:latin typeface="Courier New" panose="02070309020205020404" pitchFamily="49" charset="0"/>
                <a:cs typeface="Courier New" panose="02070309020205020404" pitchFamily="49" charset="0"/>
              </a:rPr>
              <a:t>:</a:t>
            </a:r>
          </a:p>
          <a:p>
            <a:r>
              <a:rPr lang="en-AU" sz="1350" dirty="0">
                <a:solidFill>
                  <a:srgbClr val="007FA3"/>
                </a:solidFill>
                <a:latin typeface="Courier New" panose="02070309020205020404" pitchFamily="49" charset="0"/>
                <a:cs typeface="Courier New" panose="02070309020205020404" pitchFamily="49" charset="0"/>
              </a:rPr>
              <a:t>5</a:t>
            </a:r>
            <a:r>
              <a:rPr lang="en-AU" sz="1350" dirty="0">
                <a:solidFill>
                  <a:srgbClr val="1473FF"/>
                </a:solidFill>
                <a:latin typeface="Courier New" panose="02070309020205020404" pitchFamily="49" charset="0"/>
                <a:cs typeface="Courier New" panose="02070309020205020404" pitchFamily="49" charset="0"/>
              </a:rPr>
              <a:t> 	</a:t>
            </a:r>
            <a:r>
              <a:rPr lang="en-AU" sz="1350" dirty="0">
                <a:solidFill>
                  <a:srgbClr val="000000"/>
                </a:solidFill>
                <a:latin typeface="Courier New" panose="02070309020205020404" pitchFamily="49" charset="0"/>
                <a:cs typeface="Courier New" panose="02070309020205020404" pitchFamily="49" charset="0"/>
              </a:rPr>
              <a:t>def _ _</a:t>
            </a:r>
            <a:r>
              <a:rPr lang="en-AU" sz="1350" dirty="0" err="1">
                <a:solidFill>
                  <a:srgbClr val="000000"/>
                </a:solidFill>
                <a:latin typeface="Courier New" panose="02070309020205020404" pitchFamily="49" charset="0"/>
                <a:cs typeface="Courier New" panose="02070309020205020404" pitchFamily="49" charset="0"/>
              </a:rPr>
              <a:t>init</a:t>
            </a:r>
            <a:r>
              <a:rPr lang="en-AU" sz="1350" dirty="0">
                <a:solidFill>
                  <a:srgbClr val="000000"/>
                </a:solidFill>
                <a:latin typeface="Courier New" panose="02070309020205020404" pitchFamily="49" charset="0"/>
                <a:cs typeface="Courier New" panose="02070309020205020404" pitchFamily="49" charset="0"/>
              </a:rPr>
              <a:t>_ _(self):</a:t>
            </a:r>
          </a:p>
          <a:p>
            <a:pPr>
              <a:tabLst>
                <a:tab pos="1255713" algn="l"/>
              </a:tabLst>
            </a:pPr>
            <a:r>
              <a:rPr lang="en-US" sz="1350" dirty="0">
                <a:solidFill>
                  <a:srgbClr val="007FA3"/>
                </a:solidFill>
                <a:latin typeface="Courier New" panose="02070309020205020404" pitchFamily="49" charset="0"/>
                <a:cs typeface="Courier New" panose="02070309020205020404" pitchFamily="49" charset="0"/>
              </a:rPr>
              <a:t>6</a:t>
            </a:r>
            <a:r>
              <a:rPr lang="en-US" sz="1350" dirty="0">
                <a:solidFill>
                  <a:srgbClr val="1473FF"/>
                </a:solidFill>
                <a:latin typeface="Courier New" panose="02070309020205020404" pitchFamily="49" charset="0"/>
                <a:cs typeface="Courier New" panose="02070309020205020404" pitchFamily="49" charset="0"/>
              </a:rPr>
              <a:t> 	</a:t>
            </a:r>
            <a:r>
              <a:rPr lang="en-US" sz="1350" dirty="0">
                <a:solidFill>
                  <a:srgbClr val="000000"/>
                </a:solidFill>
                <a:latin typeface="Courier New" panose="02070309020205020404" pitchFamily="49" charset="0"/>
                <a:cs typeface="Courier New" panose="02070309020205020404" pitchFamily="49" charset="0"/>
              </a:rPr>
              <a:t># Create the main window.</a:t>
            </a:r>
          </a:p>
          <a:p>
            <a:pPr>
              <a:tabLst>
                <a:tab pos="1255713" algn="l"/>
              </a:tabLst>
            </a:pPr>
            <a:r>
              <a:rPr lang="en-US" sz="1350" dirty="0">
                <a:solidFill>
                  <a:srgbClr val="007FA3"/>
                </a:solidFill>
                <a:latin typeface="Courier New" panose="02070309020205020404" pitchFamily="49" charset="0"/>
                <a:cs typeface="Courier New" panose="02070309020205020404" pitchFamily="49" charset="0"/>
              </a:rPr>
              <a:t>7</a:t>
            </a:r>
            <a:r>
              <a:rPr lang="en-US" sz="1350" dirty="0">
                <a:solidFill>
                  <a:srgbClr val="1473FF"/>
                </a:solidFill>
                <a:latin typeface="Courier New" panose="02070309020205020404" pitchFamily="49" charset="0"/>
                <a:cs typeface="Courier New" panose="02070309020205020404" pitchFamily="49" charset="0"/>
              </a:rPr>
              <a:t> 	</a:t>
            </a:r>
            <a:r>
              <a:rPr lang="en-US" sz="1350" dirty="0" err="1">
                <a:solidFill>
                  <a:srgbClr val="000000"/>
                </a:solidFill>
                <a:latin typeface="Courier New" panose="02070309020205020404" pitchFamily="49" charset="0"/>
                <a:cs typeface="Courier New" panose="02070309020205020404" pitchFamily="49" charset="0"/>
              </a:rPr>
              <a:t>self.main_window</a:t>
            </a:r>
            <a:r>
              <a:rPr lang="en-US" sz="1350" dirty="0">
                <a:solidFill>
                  <a:srgbClr val="000000"/>
                </a:solidFill>
                <a:latin typeface="Courier New" panose="02070309020205020404" pitchFamily="49" charset="0"/>
                <a:cs typeface="Courier New" panose="02070309020205020404" pitchFamily="49" charset="0"/>
              </a:rPr>
              <a:t> = </a:t>
            </a:r>
            <a:r>
              <a:rPr lang="en-US" sz="1350" dirty="0" err="1">
                <a:solidFill>
                  <a:srgbClr val="000000"/>
                </a:solidFill>
                <a:latin typeface="Courier New" panose="02070309020205020404" pitchFamily="49" charset="0"/>
                <a:cs typeface="Courier New" panose="02070309020205020404" pitchFamily="49" charset="0"/>
              </a:rPr>
              <a:t>tkinter.Tk</a:t>
            </a:r>
            <a:r>
              <a:rPr lang="en-US" sz="1350" dirty="0">
                <a:solidFill>
                  <a:srgbClr val="000000"/>
                </a:solidFill>
                <a:latin typeface="Courier New" panose="02070309020205020404" pitchFamily="49" charset="0"/>
                <a:cs typeface="Courier New" panose="02070309020205020404" pitchFamily="49" charset="0"/>
              </a:rPr>
              <a:t>()</a:t>
            </a:r>
          </a:p>
          <a:p>
            <a:r>
              <a:rPr lang="en-AU" sz="1350" dirty="0">
                <a:solidFill>
                  <a:srgbClr val="007FA3"/>
                </a:solidFill>
                <a:latin typeface="Courier New" panose="02070309020205020404" pitchFamily="49" charset="0"/>
                <a:cs typeface="Courier New" panose="02070309020205020404" pitchFamily="49" charset="0"/>
              </a:rPr>
              <a:t>8</a:t>
            </a:r>
          </a:p>
          <a:p>
            <a:pPr>
              <a:tabLst>
                <a:tab pos="1255713" algn="l"/>
              </a:tabLst>
            </a:pPr>
            <a:r>
              <a:rPr lang="en-US" sz="1350" dirty="0">
                <a:solidFill>
                  <a:srgbClr val="007FA3"/>
                </a:solidFill>
                <a:latin typeface="Courier New" panose="02070309020205020404" pitchFamily="49" charset="0"/>
                <a:cs typeface="Courier New" panose="02070309020205020404" pitchFamily="49" charset="0"/>
              </a:rPr>
              <a:t>9</a:t>
            </a:r>
            <a:r>
              <a:rPr lang="en-US" sz="1350" dirty="0">
                <a:solidFill>
                  <a:srgbClr val="1473FF"/>
                </a:solidFill>
                <a:latin typeface="Courier New" panose="02070309020205020404" pitchFamily="49" charset="0"/>
                <a:cs typeface="Courier New" panose="02070309020205020404" pitchFamily="49" charset="0"/>
              </a:rPr>
              <a:t> 	</a:t>
            </a:r>
            <a:r>
              <a:rPr lang="en-US" sz="1350" dirty="0">
                <a:solidFill>
                  <a:srgbClr val="000000"/>
                </a:solidFill>
                <a:latin typeface="Courier New" panose="02070309020205020404" pitchFamily="49" charset="0"/>
                <a:cs typeface="Courier New" panose="02070309020205020404" pitchFamily="49" charset="0"/>
              </a:rPr>
              <a:t># Create the Canvas widget.</a:t>
            </a:r>
          </a:p>
          <a:p>
            <a:pPr>
              <a:tabLst>
                <a:tab pos="1255713" algn="l"/>
              </a:tabLst>
            </a:pPr>
            <a:r>
              <a:rPr lang="en-AU" sz="1350" dirty="0">
                <a:solidFill>
                  <a:srgbClr val="007FA3"/>
                </a:solidFill>
                <a:latin typeface="Courier New" panose="02070309020205020404" pitchFamily="49" charset="0"/>
                <a:cs typeface="Courier New" panose="02070309020205020404" pitchFamily="49" charset="0"/>
              </a:rPr>
              <a:t>10</a:t>
            </a:r>
            <a:r>
              <a:rPr lang="en-AU" sz="1350" dirty="0">
                <a:solidFill>
                  <a:srgbClr val="1473FF"/>
                </a:solidFill>
                <a:latin typeface="Courier New" panose="02070309020205020404" pitchFamily="49" charset="0"/>
                <a:cs typeface="Courier New" panose="02070309020205020404" pitchFamily="49" charset="0"/>
              </a:rPr>
              <a:t> 	</a:t>
            </a:r>
            <a:r>
              <a:rPr lang="en-AU" sz="1350" dirty="0" err="1">
                <a:solidFill>
                  <a:srgbClr val="000000"/>
                </a:solidFill>
                <a:latin typeface="Courier New" panose="02070309020205020404" pitchFamily="49" charset="0"/>
                <a:cs typeface="Courier New" panose="02070309020205020404" pitchFamily="49" charset="0"/>
              </a:rPr>
              <a:t>self.canvas</a:t>
            </a:r>
            <a:r>
              <a:rPr lang="en-AU" sz="1350" dirty="0">
                <a:solidFill>
                  <a:srgbClr val="000000"/>
                </a:solidFill>
                <a:latin typeface="Courier New" panose="02070309020205020404" pitchFamily="49" charset="0"/>
                <a:cs typeface="Courier New" panose="02070309020205020404" pitchFamily="49" charset="0"/>
              </a:rPr>
              <a:t> = </a:t>
            </a:r>
            <a:r>
              <a:rPr lang="en-AU" sz="1350" dirty="0" err="1">
                <a:solidFill>
                  <a:srgbClr val="000000"/>
                </a:solidFill>
                <a:latin typeface="Courier New" panose="02070309020205020404" pitchFamily="49" charset="0"/>
                <a:cs typeface="Courier New" panose="02070309020205020404" pitchFamily="49" charset="0"/>
              </a:rPr>
              <a:t>tkinter.Canvas</a:t>
            </a:r>
            <a:r>
              <a:rPr lang="en-AU" sz="1350" dirty="0">
                <a:solidFill>
                  <a:srgbClr val="000000"/>
                </a:solidFill>
                <a:latin typeface="Courier New" panose="02070309020205020404" pitchFamily="49" charset="0"/>
                <a:cs typeface="Courier New" panose="02070309020205020404" pitchFamily="49" charset="0"/>
              </a:rPr>
              <a:t>(</a:t>
            </a:r>
            <a:r>
              <a:rPr lang="en-AU" sz="1350" dirty="0" err="1">
                <a:solidFill>
                  <a:srgbClr val="000000"/>
                </a:solidFill>
                <a:latin typeface="Courier New" panose="02070309020205020404" pitchFamily="49" charset="0"/>
                <a:cs typeface="Courier New" panose="02070309020205020404" pitchFamily="49" charset="0"/>
              </a:rPr>
              <a:t>self.main_window</a:t>
            </a:r>
            <a:r>
              <a:rPr lang="en-AU" sz="1350" dirty="0">
                <a:solidFill>
                  <a:srgbClr val="000000"/>
                </a:solidFill>
                <a:latin typeface="Courier New" panose="02070309020205020404" pitchFamily="49" charset="0"/>
                <a:cs typeface="Courier New" panose="02070309020205020404" pitchFamily="49" charset="0"/>
              </a:rPr>
              <a:t>, width=160, 	height=160)</a:t>
            </a:r>
          </a:p>
          <a:p>
            <a:r>
              <a:rPr lang="en-AU" sz="1350" dirty="0">
                <a:solidFill>
                  <a:srgbClr val="007FA3"/>
                </a:solidFill>
                <a:latin typeface="Courier New" panose="02070309020205020404" pitchFamily="49" charset="0"/>
                <a:cs typeface="Courier New" panose="02070309020205020404" pitchFamily="49" charset="0"/>
              </a:rPr>
              <a:t>11</a:t>
            </a:r>
          </a:p>
          <a:p>
            <a:pPr>
              <a:tabLst>
                <a:tab pos="1255713" algn="l"/>
              </a:tabLst>
            </a:pPr>
            <a:r>
              <a:rPr lang="en-AU" sz="1350" dirty="0">
                <a:solidFill>
                  <a:srgbClr val="007FA3"/>
                </a:solidFill>
                <a:latin typeface="Courier New" panose="02070309020205020404" pitchFamily="49" charset="0"/>
                <a:cs typeface="Courier New" panose="02070309020205020404" pitchFamily="49" charset="0"/>
              </a:rPr>
              <a:t>12</a:t>
            </a:r>
            <a:r>
              <a:rPr lang="en-AU" sz="1350" dirty="0">
                <a:solidFill>
                  <a:srgbClr val="1473FF"/>
                </a:solidFill>
                <a:latin typeface="Courier New" panose="02070309020205020404" pitchFamily="49" charset="0"/>
                <a:cs typeface="Courier New" panose="02070309020205020404" pitchFamily="49" charset="0"/>
              </a:rPr>
              <a:t> 	</a:t>
            </a:r>
            <a:r>
              <a:rPr lang="en-AU" sz="1350" dirty="0">
                <a:solidFill>
                  <a:srgbClr val="000000"/>
                </a:solidFill>
                <a:latin typeface="Courier New" panose="02070309020205020404" pitchFamily="49" charset="0"/>
                <a:cs typeface="Courier New" panose="02070309020205020404" pitchFamily="49" charset="0"/>
              </a:rPr>
              <a:t># Draw a polygon.</a:t>
            </a:r>
          </a:p>
          <a:p>
            <a:pPr>
              <a:tabLst>
                <a:tab pos="1255713" algn="l"/>
                <a:tab pos="4040188" algn="l"/>
              </a:tabLst>
            </a:pPr>
            <a:r>
              <a:rPr lang="en-US" sz="1350" dirty="0">
                <a:solidFill>
                  <a:srgbClr val="007FA3"/>
                </a:solidFill>
                <a:latin typeface="Courier New" panose="02070309020205020404" pitchFamily="49" charset="0"/>
                <a:cs typeface="Courier New" panose="02070309020205020404" pitchFamily="49" charset="0"/>
              </a:rPr>
              <a:t>13</a:t>
            </a:r>
            <a:r>
              <a:rPr lang="en-US" sz="1350" dirty="0">
                <a:solidFill>
                  <a:srgbClr val="1473FF"/>
                </a:solidFill>
                <a:latin typeface="Courier New" panose="02070309020205020404" pitchFamily="49" charset="0"/>
                <a:cs typeface="Courier New" panose="02070309020205020404" pitchFamily="49" charset="0"/>
              </a:rPr>
              <a:t> 	</a:t>
            </a:r>
            <a:r>
              <a:rPr lang="en-US" sz="1350" dirty="0" err="1">
                <a:solidFill>
                  <a:srgbClr val="000000"/>
                </a:solidFill>
                <a:latin typeface="Courier New" panose="02070309020205020404" pitchFamily="49" charset="0"/>
                <a:cs typeface="Courier New" panose="02070309020205020404" pitchFamily="49" charset="0"/>
              </a:rPr>
              <a:t>self.canvas.create_polygon</a:t>
            </a:r>
            <a:r>
              <a:rPr lang="en-US" sz="1350" dirty="0">
                <a:solidFill>
                  <a:srgbClr val="000000"/>
                </a:solidFill>
                <a:latin typeface="Courier New" panose="02070309020205020404" pitchFamily="49" charset="0"/>
                <a:cs typeface="Courier New" panose="02070309020205020404" pitchFamily="49" charset="0"/>
              </a:rPr>
              <a:t>(60, 20, 100</a:t>
            </a:r>
            <a:r>
              <a:rPr lang="en-AU" sz="1350" dirty="0">
                <a:latin typeface="Courier New" panose="02070309020205020404" pitchFamily="49" charset="0"/>
                <a:cs typeface="Courier New" panose="02070309020205020404" pitchFamily="49" charset="0"/>
              </a:rPr>
              <a:t>100, 140, 60, 140, 20, 		100, 20, 60</a:t>
            </a:r>
            <a:r>
              <a:rPr lang="en-US" sz="1350" dirty="0">
                <a:solidFill>
                  <a:srgbClr val="000000"/>
                </a:solidFill>
                <a:latin typeface="Courier New" panose="02070309020205020404" pitchFamily="49" charset="0"/>
                <a:cs typeface="Courier New" panose="02070309020205020404" pitchFamily="49" charset="0"/>
              </a:rPr>
              <a:t>, 20, 140, 60, 140, 100,)</a:t>
            </a:r>
          </a:p>
          <a:p>
            <a:pPr>
              <a:tabLst>
                <a:tab pos="1255713" algn="l"/>
                <a:tab pos="4040188" algn="l"/>
              </a:tabLst>
            </a:pPr>
            <a:r>
              <a:rPr lang="en-US" sz="1350" dirty="0">
                <a:solidFill>
                  <a:srgbClr val="007FA3"/>
                </a:solidFill>
                <a:latin typeface="Courier New" panose="02070309020205020404" pitchFamily="49" charset="0"/>
                <a:cs typeface="Courier New" panose="02070309020205020404" pitchFamily="49" charset="0"/>
              </a:rPr>
              <a:t>14</a:t>
            </a:r>
            <a:r>
              <a:rPr lang="en-US" sz="1350" dirty="0">
                <a:solidFill>
                  <a:srgbClr val="1473FF"/>
                </a:solidFill>
                <a:latin typeface="Courier New" panose="02070309020205020404" pitchFamily="49" charset="0"/>
                <a:cs typeface="Courier New" panose="02070309020205020404" pitchFamily="49" charset="0"/>
              </a:rPr>
              <a:t> 	</a:t>
            </a:r>
            <a:endParaRPr lang="en-US" sz="1350" dirty="0">
              <a:solidFill>
                <a:srgbClr val="000000"/>
              </a:solidFill>
              <a:latin typeface="Courier New" panose="02070309020205020404" pitchFamily="49" charset="0"/>
              <a:cs typeface="Courier New" panose="02070309020205020404" pitchFamily="49" charset="0"/>
            </a:endParaRPr>
          </a:p>
          <a:p>
            <a:pPr>
              <a:tabLst>
                <a:tab pos="1255713" algn="l"/>
              </a:tabLst>
            </a:pPr>
            <a:r>
              <a:rPr lang="en-AU" sz="1350" dirty="0">
                <a:solidFill>
                  <a:srgbClr val="007FA3"/>
                </a:solidFill>
                <a:latin typeface="Courier New" panose="02070309020205020404" pitchFamily="49" charset="0"/>
                <a:cs typeface="Courier New" panose="02070309020205020404" pitchFamily="49" charset="0"/>
              </a:rPr>
              <a:t>15	</a:t>
            </a:r>
          </a:p>
          <a:p>
            <a:pPr>
              <a:tabLst>
                <a:tab pos="1255713" algn="l"/>
              </a:tabLst>
            </a:pPr>
            <a:r>
              <a:rPr lang="en-AU" sz="1350" dirty="0">
                <a:solidFill>
                  <a:srgbClr val="007FA3"/>
                </a:solidFill>
                <a:latin typeface="Courier New" panose="02070309020205020404" pitchFamily="49" charset="0"/>
                <a:cs typeface="Courier New" panose="02070309020205020404" pitchFamily="49" charset="0"/>
              </a:rPr>
              <a:t>16</a:t>
            </a:r>
            <a:r>
              <a:rPr lang="en-AU" sz="1350" dirty="0">
                <a:solidFill>
                  <a:srgbClr val="1473FF"/>
                </a:solidFill>
                <a:latin typeface="Courier New" panose="02070309020205020404" pitchFamily="49" charset="0"/>
                <a:cs typeface="Courier New" panose="02070309020205020404" pitchFamily="49" charset="0"/>
              </a:rPr>
              <a:t> 	</a:t>
            </a:r>
            <a:r>
              <a:rPr lang="en-AU" sz="1350" dirty="0">
                <a:solidFill>
                  <a:srgbClr val="000000"/>
                </a:solidFill>
                <a:latin typeface="Courier New" panose="02070309020205020404" pitchFamily="49" charset="0"/>
                <a:cs typeface="Courier New" panose="02070309020205020404" pitchFamily="49" charset="0"/>
              </a:rPr>
              <a:t># Pack the canvas.</a:t>
            </a:r>
          </a:p>
          <a:p>
            <a:pPr>
              <a:tabLst>
                <a:tab pos="1255713" algn="l"/>
              </a:tabLst>
            </a:pPr>
            <a:r>
              <a:rPr lang="en-AU" sz="1350" dirty="0">
                <a:solidFill>
                  <a:srgbClr val="007FA3"/>
                </a:solidFill>
                <a:latin typeface="Courier New" panose="02070309020205020404" pitchFamily="49" charset="0"/>
                <a:cs typeface="Courier New" panose="02070309020205020404" pitchFamily="49" charset="0"/>
              </a:rPr>
              <a:t>17</a:t>
            </a:r>
            <a:r>
              <a:rPr lang="en-AU" sz="1350" dirty="0">
                <a:solidFill>
                  <a:srgbClr val="1473FF"/>
                </a:solidFill>
                <a:latin typeface="Courier New" panose="02070309020205020404" pitchFamily="49" charset="0"/>
                <a:cs typeface="Courier New" panose="02070309020205020404" pitchFamily="49" charset="0"/>
              </a:rPr>
              <a:t> 	</a:t>
            </a:r>
            <a:r>
              <a:rPr lang="en-AU" sz="1350" dirty="0" err="1">
                <a:solidFill>
                  <a:srgbClr val="000000"/>
                </a:solidFill>
                <a:latin typeface="Courier New" panose="02070309020205020404" pitchFamily="49" charset="0"/>
                <a:cs typeface="Courier New" panose="02070309020205020404" pitchFamily="49" charset="0"/>
              </a:rPr>
              <a:t>self.canvas.pack</a:t>
            </a:r>
            <a:r>
              <a:rPr lang="en-AU" sz="1350" dirty="0">
                <a:solidFill>
                  <a:srgbClr val="000000"/>
                </a:solidFill>
                <a:latin typeface="Courier New" panose="02070309020205020404" pitchFamily="49" charset="0"/>
                <a:cs typeface="Courier New" panose="02070309020205020404" pitchFamily="49" charset="0"/>
              </a:rPr>
              <a:t>()</a:t>
            </a:r>
          </a:p>
          <a:p>
            <a:pPr>
              <a:tabLst>
                <a:tab pos="1255713" algn="l"/>
              </a:tabLst>
            </a:pPr>
            <a:r>
              <a:rPr lang="en-AU" sz="1350" dirty="0">
                <a:solidFill>
                  <a:srgbClr val="007FA3"/>
                </a:solidFill>
                <a:latin typeface="Courier New" panose="02070309020205020404" pitchFamily="49" charset="0"/>
                <a:cs typeface="Courier New" panose="02070309020205020404" pitchFamily="49" charset="0"/>
              </a:rPr>
              <a:t>18	</a:t>
            </a:r>
          </a:p>
          <a:p>
            <a:pPr>
              <a:tabLst>
                <a:tab pos="1255713" algn="l"/>
              </a:tabLst>
            </a:pPr>
            <a:r>
              <a:rPr lang="en-AU" sz="1350" dirty="0">
                <a:solidFill>
                  <a:srgbClr val="007FA3"/>
                </a:solidFill>
                <a:latin typeface="Courier New" panose="02070309020205020404" pitchFamily="49" charset="0"/>
                <a:cs typeface="Courier New" panose="02070309020205020404" pitchFamily="49" charset="0"/>
              </a:rPr>
              <a:t>19</a:t>
            </a:r>
            <a:r>
              <a:rPr lang="en-AU" sz="1350" dirty="0">
                <a:solidFill>
                  <a:srgbClr val="1473FF"/>
                </a:solidFill>
                <a:latin typeface="Courier New" panose="02070309020205020404" pitchFamily="49" charset="0"/>
                <a:cs typeface="Courier New" panose="02070309020205020404" pitchFamily="49" charset="0"/>
              </a:rPr>
              <a:t> 	</a:t>
            </a:r>
            <a:r>
              <a:rPr lang="en-AU" sz="1350" dirty="0">
                <a:solidFill>
                  <a:srgbClr val="000000"/>
                </a:solidFill>
                <a:latin typeface="Courier New" panose="02070309020205020404" pitchFamily="49" charset="0"/>
                <a:cs typeface="Courier New" panose="02070309020205020404" pitchFamily="49" charset="0"/>
              </a:rPr>
              <a:t># Start the </a:t>
            </a:r>
            <a:r>
              <a:rPr lang="en-AU" sz="1350" dirty="0" err="1">
                <a:solidFill>
                  <a:srgbClr val="000000"/>
                </a:solidFill>
                <a:latin typeface="Courier New" panose="02070309020205020404" pitchFamily="49" charset="0"/>
                <a:cs typeface="Courier New" panose="02070309020205020404" pitchFamily="49" charset="0"/>
              </a:rPr>
              <a:t>mainloop</a:t>
            </a:r>
            <a:r>
              <a:rPr lang="en-AU" sz="1350" dirty="0">
                <a:solidFill>
                  <a:srgbClr val="000000"/>
                </a:solidFill>
                <a:latin typeface="Courier New" panose="02070309020205020404" pitchFamily="49" charset="0"/>
                <a:cs typeface="Courier New" panose="02070309020205020404" pitchFamily="49" charset="0"/>
              </a:rPr>
              <a:t>.</a:t>
            </a:r>
          </a:p>
          <a:p>
            <a:pPr>
              <a:tabLst>
                <a:tab pos="1255713" algn="l"/>
              </a:tabLst>
            </a:pPr>
            <a:r>
              <a:rPr lang="en-AU" sz="1350" dirty="0">
                <a:solidFill>
                  <a:srgbClr val="007FA3"/>
                </a:solidFill>
                <a:latin typeface="Courier New" panose="02070309020205020404" pitchFamily="49" charset="0"/>
                <a:cs typeface="Courier New" panose="02070309020205020404" pitchFamily="49" charset="0"/>
              </a:rPr>
              <a:t>20</a:t>
            </a:r>
            <a:r>
              <a:rPr lang="en-AU" sz="1350" dirty="0">
                <a:solidFill>
                  <a:srgbClr val="1473FF"/>
                </a:solidFill>
                <a:latin typeface="Courier New" panose="02070309020205020404" pitchFamily="49" charset="0"/>
                <a:cs typeface="Courier New" panose="02070309020205020404" pitchFamily="49" charset="0"/>
              </a:rPr>
              <a:t> 	</a:t>
            </a:r>
            <a:r>
              <a:rPr lang="en-AU" sz="1350" dirty="0" err="1">
                <a:solidFill>
                  <a:srgbClr val="000000"/>
                </a:solidFill>
                <a:latin typeface="Courier New" panose="02070309020205020404" pitchFamily="49" charset="0"/>
                <a:cs typeface="Courier New" panose="02070309020205020404" pitchFamily="49" charset="0"/>
              </a:rPr>
              <a:t>tkinter.mainloop</a:t>
            </a:r>
            <a:r>
              <a:rPr lang="en-AU" sz="1350" dirty="0">
                <a:solidFill>
                  <a:srgbClr val="000000"/>
                </a:solidFill>
                <a:latin typeface="Courier New" panose="02070309020205020404" pitchFamily="49" charset="0"/>
                <a:cs typeface="Courier New" panose="02070309020205020404" pitchFamily="49" charset="0"/>
              </a:rPr>
              <a:t>()</a:t>
            </a:r>
            <a:r>
              <a:rPr lang="en-AU" sz="1350" dirty="0">
                <a:solidFill>
                  <a:srgbClr val="1473FF"/>
                </a:solidFill>
                <a:latin typeface="Courier New" panose="02070309020205020404" pitchFamily="49" charset="0"/>
                <a:cs typeface="Courier New" panose="02070309020205020404" pitchFamily="49" charset="0"/>
              </a:rPr>
              <a:t>	</a:t>
            </a:r>
            <a:endParaRPr lang="en-AU" sz="1350" dirty="0">
              <a:solidFill>
                <a:srgbClr val="000000"/>
              </a:solidFill>
              <a:latin typeface="Courier New" panose="02070309020205020404" pitchFamily="49" charset="0"/>
              <a:cs typeface="Courier New" panose="02070309020205020404" pitchFamily="49" charset="0"/>
            </a:endParaRPr>
          </a:p>
          <a:p>
            <a:r>
              <a:rPr lang="en-AU" sz="1350" dirty="0">
                <a:solidFill>
                  <a:srgbClr val="007FA3"/>
                </a:solidFill>
                <a:latin typeface="Courier New" panose="02070309020205020404" pitchFamily="49" charset="0"/>
                <a:cs typeface="Courier New" panose="02070309020205020404" pitchFamily="49" charset="0"/>
              </a:rPr>
              <a:t>21</a:t>
            </a:r>
          </a:p>
          <a:p>
            <a:r>
              <a:rPr lang="en-US" sz="1350" dirty="0">
                <a:solidFill>
                  <a:srgbClr val="007FA3"/>
                </a:solidFill>
                <a:latin typeface="Courier New" panose="02070309020205020404" pitchFamily="49" charset="0"/>
                <a:cs typeface="Courier New" panose="02070309020205020404" pitchFamily="49" charset="0"/>
              </a:rPr>
              <a:t>22 </a:t>
            </a:r>
            <a:r>
              <a:rPr lang="en-US" sz="1350" dirty="0">
                <a:solidFill>
                  <a:srgbClr val="000000"/>
                </a:solidFill>
                <a:latin typeface="Courier New" panose="02070309020205020404" pitchFamily="49" charset="0"/>
                <a:cs typeface="Courier New" panose="02070309020205020404" pitchFamily="49" charset="0"/>
              </a:rPr>
              <a:t># Create an instance of the </a:t>
            </a:r>
            <a:r>
              <a:rPr lang="en-US" sz="1350" dirty="0" err="1">
                <a:solidFill>
                  <a:srgbClr val="000000"/>
                </a:solidFill>
                <a:latin typeface="Courier New" panose="02070309020205020404" pitchFamily="49" charset="0"/>
                <a:cs typeface="Courier New" panose="02070309020205020404" pitchFamily="49" charset="0"/>
              </a:rPr>
              <a:t>MyGUI</a:t>
            </a:r>
            <a:r>
              <a:rPr lang="en-US" sz="1350" dirty="0">
                <a:solidFill>
                  <a:srgbClr val="000000"/>
                </a:solidFill>
                <a:latin typeface="Courier New" panose="02070309020205020404" pitchFamily="49" charset="0"/>
                <a:cs typeface="Courier New" panose="02070309020205020404" pitchFamily="49" charset="0"/>
              </a:rPr>
              <a:t> class.</a:t>
            </a:r>
          </a:p>
          <a:p>
            <a:r>
              <a:rPr lang="en-AU" sz="1350" dirty="0">
                <a:solidFill>
                  <a:srgbClr val="007FA3"/>
                </a:solidFill>
                <a:latin typeface="Courier New" panose="02070309020205020404" pitchFamily="49" charset="0"/>
                <a:cs typeface="Courier New" panose="02070309020205020404" pitchFamily="49" charset="0"/>
              </a:rPr>
              <a:t>23</a:t>
            </a:r>
            <a:r>
              <a:rPr lang="en-AU" sz="1350" dirty="0">
                <a:solidFill>
                  <a:srgbClr val="000000"/>
                </a:solidFill>
                <a:latin typeface="Courier New" panose="02070309020205020404" pitchFamily="49" charset="0"/>
                <a:cs typeface="Courier New" panose="02070309020205020404" pitchFamily="49" charset="0"/>
              </a:rPr>
              <a:t> if _ _name_ _ == '_ _main_ _’:</a:t>
            </a:r>
          </a:p>
          <a:p>
            <a:r>
              <a:rPr lang="en-AU" sz="1350" dirty="0">
                <a:solidFill>
                  <a:srgbClr val="007FA3"/>
                </a:solidFill>
                <a:latin typeface="Courier New" panose="02070309020205020404" pitchFamily="49" charset="0"/>
                <a:cs typeface="Courier New" panose="02070309020205020404" pitchFamily="49" charset="0"/>
              </a:rPr>
              <a:t>24</a:t>
            </a:r>
            <a:r>
              <a:rPr lang="en-AU" sz="1350" dirty="0">
                <a:solidFill>
                  <a:srgbClr val="000000"/>
                </a:solidFill>
                <a:latin typeface="Courier New" panose="02070309020205020404" pitchFamily="49" charset="0"/>
                <a:cs typeface="Courier New" panose="02070309020205020404" pitchFamily="49" charset="0"/>
              </a:rPr>
              <a:t>	</a:t>
            </a:r>
            <a:r>
              <a:rPr lang="en-AU" sz="1350" dirty="0" err="1">
                <a:solidFill>
                  <a:srgbClr val="000000"/>
                </a:solidFill>
                <a:latin typeface="Courier New" panose="02070309020205020404" pitchFamily="49" charset="0"/>
                <a:cs typeface="Courier New" panose="02070309020205020404" pitchFamily="49" charset="0"/>
              </a:rPr>
              <a:t>my_gui</a:t>
            </a:r>
            <a:r>
              <a:rPr lang="en-AU" sz="1350" dirty="0">
                <a:solidFill>
                  <a:srgbClr val="000000"/>
                </a:solidFill>
                <a:latin typeface="Courier New" panose="02070309020205020404" pitchFamily="49" charset="0"/>
                <a:cs typeface="Courier New" panose="02070309020205020404" pitchFamily="49" charset="0"/>
              </a:rPr>
              <a:t> = </a:t>
            </a:r>
            <a:r>
              <a:rPr lang="en-AU" sz="1350" dirty="0" err="1">
                <a:solidFill>
                  <a:srgbClr val="000000"/>
                </a:solidFill>
                <a:latin typeface="Courier New" panose="02070309020205020404" pitchFamily="49" charset="0"/>
                <a:cs typeface="Courier New" panose="02070309020205020404" pitchFamily="49" charset="0"/>
              </a:rPr>
              <a:t>MyGUI</a:t>
            </a:r>
            <a:r>
              <a:rPr lang="en-AU" sz="1350" dirty="0">
                <a:solidFill>
                  <a:srgbClr val="000000"/>
                </a:solidFill>
                <a:latin typeface="Courier New" panose="02070309020205020404" pitchFamily="49" charset="0"/>
                <a:cs typeface="Courier New" panose="02070309020205020404" pitchFamily="49" charset="0"/>
              </a:rPr>
              <a:t>()</a:t>
            </a:r>
          </a:p>
        </p:txBody>
      </p:sp>
      <p:pic>
        <p:nvPicPr>
          <p:cNvPr id="5" name="Picture 4" descr="A window displays the shaded polygon. ">
            <a:extLst>
              <a:ext uri="{FF2B5EF4-FFF2-40B4-BE49-F238E27FC236}">
                <a16:creationId xmlns:a16="http://schemas.microsoft.com/office/drawing/2014/main" id="{40EFF01F-17FD-4633-B175-72F8059F011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auto">
          <a:xfrm>
            <a:off x="6858000" y="4114800"/>
            <a:ext cx="1581150" cy="186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5763278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itle 1">
            <a:extLst>
              <a:ext uri="{FF2B5EF4-FFF2-40B4-BE49-F238E27FC236}">
                <a16:creationId xmlns:a16="http://schemas.microsoft.com/office/drawing/2014/main" id="{4000CB76-834B-4988-BD38-461609406AB5}"/>
              </a:ext>
            </a:extLst>
          </p:cNvPr>
          <p:cNvSpPr>
            <a:spLocks noGrp="1" noChangeArrowheads="1"/>
          </p:cNvSpPr>
          <p:nvPr>
            <p:ph type="title"/>
          </p:nvPr>
        </p:nvSpPr>
        <p:spPr/>
        <p:txBody>
          <a:bodyPr/>
          <a:lstStyle/>
          <a:p>
            <a:r>
              <a:rPr lang="en-US" altLang="en-US" dirty="0"/>
              <a:t>Displaying Text on the Canvas</a:t>
            </a:r>
            <a:r>
              <a:rPr lang="en-AU" sz="2000" b="0" dirty="0"/>
              <a:t> (1 of 2)</a:t>
            </a:r>
            <a:endParaRPr lang="en-US" altLang="en-US" sz="2000" dirty="0"/>
          </a:p>
        </p:txBody>
      </p:sp>
      <p:sp>
        <p:nvSpPr>
          <p:cNvPr id="76803" name="TextBox 3">
            <a:extLst>
              <a:ext uri="{FF2B5EF4-FFF2-40B4-BE49-F238E27FC236}">
                <a16:creationId xmlns:a16="http://schemas.microsoft.com/office/drawing/2014/main" id="{02E05F6E-D75C-4329-8CA2-0161493C93AB}"/>
              </a:ext>
            </a:extLst>
          </p:cNvPr>
          <p:cNvSpPr txBox="1">
            <a:spLocks noChangeArrowheads="1"/>
          </p:cNvSpPr>
          <p:nvPr/>
        </p:nvSpPr>
        <p:spPr bwMode="auto">
          <a:xfrm>
            <a:off x="304800" y="3200400"/>
            <a:ext cx="8610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000" b="0" i="1">
                <a:latin typeface="Courier New" panose="02070309020205020404" pitchFamily="49" charset="0"/>
                <a:cs typeface="Calibri" panose="020F0502020204030204" pitchFamily="34" charset="0"/>
              </a:rPr>
              <a:t>   canvas_name</a:t>
            </a:r>
            <a:r>
              <a:rPr lang="en-US" altLang="en-US" sz="2000" b="0">
                <a:latin typeface="Courier New" panose="02070309020205020404" pitchFamily="49" charset="0"/>
                <a:cs typeface="Calibri" panose="020F0502020204030204" pitchFamily="34" charset="0"/>
              </a:rPr>
              <a:t>.create_text(x, y, text=</a:t>
            </a:r>
            <a:r>
              <a:rPr lang="en-US" altLang="en-US" sz="2000" b="0" i="1">
                <a:latin typeface="Courier New" panose="02070309020205020404" pitchFamily="49" charset="0"/>
                <a:cs typeface="Calibri" panose="020F0502020204030204" pitchFamily="34" charset="0"/>
              </a:rPr>
              <a:t>text</a:t>
            </a:r>
            <a:r>
              <a:rPr lang="en-US" altLang="en-US" sz="2000" b="0">
                <a:latin typeface="Courier New" panose="02070309020205020404" pitchFamily="49" charset="0"/>
                <a:cs typeface="Calibri" panose="020F0502020204030204" pitchFamily="34" charset="0"/>
              </a:rPr>
              <a:t>, </a:t>
            </a:r>
            <a:r>
              <a:rPr lang="en-US" altLang="en-US" sz="2000" b="0" i="1">
                <a:latin typeface="Courier New" panose="02070309020205020404" pitchFamily="49" charset="0"/>
                <a:cs typeface="Calibri" panose="020F0502020204030204" pitchFamily="34" charset="0"/>
              </a:rPr>
              <a:t>options</a:t>
            </a:r>
            <a:r>
              <a:rPr lang="en-US" altLang="en-US" sz="2000" b="0">
                <a:latin typeface="Courier New" panose="02070309020205020404" pitchFamily="49" charset="0"/>
                <a:cs typeface="Calibri" panose="020F0502020204030204" pitchFamily="34" charset="0"/>
              </a:rPr>
              <a:t>…)</a:t>
            </a:r>
            <a:endParaRPr lang="en-US" altLang="en-US" sz="2000" b="0"/>
          </a:p>
        </p:txBody>
      </p:sp>
      <p:sp>
        <p:nvSpPr>
          <p:cNvPr id="76804" name="Left Bracket 4">
            <a:extLst>
              <a:ext uri="{FF2B5EF4-FFF2-40B4-BE49-F238E27FC236}">
                <a16:creationId xmlns:a16="http://schemas.microsoft.com/office/drawing/2014/main" id="{6FB8E077-22E1-4D25-B759-404B58FF4507}"/>
              </a:ext>
            </a:extLst>
          </p:cNvPr>
          <p:cNvSpPr>
            <a:spLocks/>
          </p:cNvSpPr>
          <p:nvPr/>
        </p:nvSpPr>
        <p:spPr bwMode="auto">
          <a:xfrm rot="-5400000">
            <a:off x="4688682" y="3378993"/>
            <a:ext cx="304800" cy="690563"/>
          </a:xfrm>
          <a:prstGeom prst="leftBracket">
            <a:avLst>
              <a:gd name="adj" fmla="val 8339"/>
            </a:avLst>
          </a:prstGeom>
          <a:noFill/>
          <a:ln w="9525" algn="ctr">
            <a:solidFill>
              <a:srgbClr val="007FA3"/>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1800" b="0"/>
          </a:p>
        </p:txBody>
      </p:sp>
      <p:sp>
        <p:nvSpPr>
          <p:cNvPr id="76805" name="TextBox 7">
            <a:extLst>
              <a:ext uri="{FF2B5EF4-FFF2-40B4-BE49-F238E27FC236}">
                <a16:creationId xmlns:a16="http://schemas.microsoft.com/office/drawing/2014/main" id="{AA2FF966-3AFE-4E7A-B564-563228740EB7}"/>
              </a:ext>
            </a:extLst>
          </p:cNvPr>
          <p:cNvSpPr txBox="1">
            <a:spLocks noChangeArrowheads="1"/>
          </p:cNvSpPr>
          <p:nvPr/>
        </p:nvSpPr>
        <p:spPr bwMode="auto">
          <a:xfrm>
            <a:off x="3886200" y="3915960"/>
            <a:ext cx="203517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1800" b="0" dirty="0">
                <a:solidFill>
                  <a:srgbClr val="007FA3"/>
                </a:solidFill>
              </a:rPr>
              <a:t>Coordinates of</a:t>
            </a:r>
          </a:p>
          <a:p>
            <a:pPr algn="ctr" eaLnBrk="1" hangingPunct="1">
              <a:spcBef>
                <a:spcPct val="0"/>
              </a:spcBef>
              <a:buFontTx/>
              <a:buNone/>
            </a:pPr>
            <a:r>
              <a:rPr lang="en-US" altLang="en-US" sz="1800" b="0" dirty="0">
                <a:solidFill>
                  <a:srgbClr val="007FA3"/>
                </a:solidFill>
              </a:rPr>
              <a:t>the text's insertion</a:t>
            </a:r>
          </a:p>
          <a:p>
            <a:pPr algn="ctr" eaLnBrk="1" hangingPunct="1">
              <a:spcBef>
                <a:spcPct val="0"/>
              </a:spcBef>
              <a:buFontTx/>
              <a:buNone/>
            </a:pPr>
            <a:r>
              <a:rPr lang="en-US" altLang="en-US" sz="1800" b="0" dirty="0">
                <a:solidFill>
                  <a:srgbClr val="007FA3"/>
                </a:solidFill>
              </a:rPr>
              <a:t>point</a:t>
            </a:r>
          </a:p>
        </p:txBody>
      </p:sp>
      <p:sp>
        <p:nvSpPr>
          <p:cNvPr id="76806" name="TextBox 8">
            <a:extLst>
              <a:ext uri="{FF2B5EF4-FFF2-40B4-BE49-F238E27FC236}">
                <a16:creationId xmlns:a16="http://schemas.microsoft.com/office/drawing/2014/main" id="{89CBF0B9-8803-41E0-8CB9-C0BB786198CB}"/>
              </a:ext>
            </a:extLst>
          </p:cNvPr>
          <p:cNvSpPr txBox="1">
            <a:spLocks noChangeArrowheads="1"/>
          </p:cNvSpPr>
          <p:nvPr/>
        </p:nvSpPr>
        <p:spPr bwMode="auto">
          <a:xfrm>
            <a:off x="5365750" y="2271713"/>
            <a:ext cx="16462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1800" b="0" dirty="0">
                <a:solidFill>
                  <a:srgbClr val="007FA3"/>
                </a:solidFill>
              </a:rPr>
              <a:t>Text to display</a:t>
            </a:r>
          </a:p>
        </p:txBody>
      </p:sp>
      <p:sp>
        <p:nvSpPr>
          <p:cNvPr id="76807" name="TextBox 10">
            <a:extLst>
              <a:ext uri="{FF2B5EF4-FFF2-40B4-BE49-F238E27FC236}">
                <a16:creationId xmlns:a16="http://schemas.microsoft.com/office/drawing/2014/main" id="{DA25F137-C12B-43DD-BCF4-1CC45310E970}"/>
              </a:ext>
            </a:extLst>
          </p:cNvPr>
          <p:cNvSpPr txBox="1">
            <a:spLocks noChangeArrowheads="1"/>
          </p:cNvSpPr>
          <p:nvPr/>
        </p:nvSpPr>
        <p:spPr bwMode="auto">
          <a:xfrm>
            <a:off x="6629400" y="4090988"/>
            <a:ext cx="219868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1800" b="0" dirty="0">
                <a:solidFill>
                  <a:srgbClr val="007FA3"/>
                </a:solidFill>
              </a:rPr>
              <a:t>Optional arguments</a:t>
            </a:r>
          </a:p>
          <a:p>
            <a:pPr algn="ctr" eaLnBrk="1" hangingPunct="1">
              <a:spcBef>
                <a:spcPct val="0"/>
              </a:spcBef>
              <a:buFontTx/>
              <a:buNone/>
            </a:pPr>
            <a:r>
              <a:rPr lang="en-US" altLang="en-US" sz="1800" b="0" dirty="0">
                <a:solidFill>
                  <a:srgbClr val="007FA3"/>
                </a:solidFill>
              </a:rPr>
              <a:t>(See Table 13-8)</a:t>
            </a:r>
          </a:p>
        </p:txBody>
      </p:sp>
      <p:cxnSp>
        <p:nvCxnSpPr>
          <p:cNvPr id="76808" name="Straight Connector 12">
            <a:extLst>
              <a:ext uri="{FF2B5EF4-FFF2-40B4-BE49-F238E27FC236}">
                <a16:creationId xmlns:a16="http://schemas.microsoft.com/office/drawing/2014/main" id="{3943251E-8C1D-4441-BF67-D0970BEEA332}"/>
              </a:ext>
            </a:extLst>
          </p:cNvPr>
          <p:cNvCxnSpPr>
            <a:cxnSpLocks noChangeShapeType="1"/>
            <a:stCxn id="76807" idx="0"/>
          </p:cNvCxnSpPr>
          <p:nvPr/>
        </p:nvCxnSpPr>
        <p:spPr bwMode="auto">
          <a:xfrm flipV="1">
            <a:off x="7727950" y="3581400"/>
            <a:ext cx="44450" cy="509588"/>
          </a:xfrm>
          <a:prstGeom prst="line">
            <a:avLst/>
          </a:prstGeom>
          <a:noFill/>
          <a:ln w="9525" algn="ctr">
            <a:solidFill>
              <a:srgbClr val="007FA3"/>
            </a:solidFill>
            <a:round/>
            <a:headEnd/>
            <a:tailEnd/>
          </a:ln>
          <a:extLst>
            <a:ext uri="{909E8E84-426E-40DD-AFC4-6F175D3DCCD1}">
              <a14:hiddenFill xmlns:a14="http://schemas.microsoft.com/office/drawing/2010/main">
                <a:noFill/>
              </a14:hiddenFill>
            </a:ext>
          </a:extLst>
        </p:spPr>
      </p:cxnSp>
      <p:cxnSp>
        <p:nvCxnSpPr>
          <p:cNvPr id="76809" name="Straight Connector 5">
            <a:extLst>
              <a:ext uri="{FF2B5EF4-FFF2-40B4-BE49-F238E27FC236}">
                <a16:creationId xmlns:a16="http://schemas.microsoft.com/office/drawing/2014/main" id="{B1374316-2848-415B-8CBC-3799EA789FE9}"/>
              </a:ext>
            </a:extLst>
          </p:cNvPr>
          <p:cNvCxnSpPr>
            <a:cxnSpLocks/>
            <a:stCxn id="76806" idx="2"/>
          </p:cNvCxnSpPr>
          <p:nvPr/>
        </p:nvCxnSpPr>
        <p:spPr bwMode="auto">
          <a:xfrm flipH="1">
            <a:off x="6172200" y="2640013"/>
            <a:ext cx="15875" cy="560387"/>
          </a:xfrm>
          <a:prstGeom prst="line">
            <a:avLst/>
          </a:prstGeom>
          <a:noFill/>
          <a:ln w="9525" algn="ctr">
            <a:solidFill>
              <a:srgbClr val="007FA3"/>
            </a:solidFill>
            <a:round/>
            <a:headEnd/>
            <a:tailEnd/>
          </a:ln>
          <a:extLst>
            <a:ext uri="{909E8E84-426E-40DD-AFC4-6F175D3DCCD1}">
              <a14:hiddenFill xmlns:a14="http://schemas.microsoft.com/office/drawing/2010/main">
                <a:noFill/>
              </a14:hiddenFill>
            </a:ext>
          </a:extLst>
        </p:spPr>
      </p:cxn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387E7-3CD3-4556-89B6-909374F74776}"/>
              </a:ext>
            </a:extLst>
          </p:cNvPr>
          <p:cNvSpPr>
            <a:spLocks noGrp="1"/>
          </p:cNvSpPr>
          <p:nvPr>
            <p:ph type="title"/>
          </p:nvPr>
        </p:nvSpPr>
        <p:spPr>
          <a:xfrm>
            <a:off x="457200" y="215372"/>
            <a:ext cx="8229600" cy="849714"/>
          </a:xfrm>
        </p:spPr>
        <p:txBody>
          <a:bodyPr/>
          <a:lstStyle/>
          <a:p>
            <a:r>
              <a:rPr lang="en-US" altLang="en-US" dirty="0"/>
              <a:t>Displaying Text on the Canvas</a:t>
            </a:r>
            <a:r>
              <a:rPr lang="en-AU" sz="2000" b="0" dirty="0"/>
              <a:t> (2 of 2)</a:t>
            </a:r>
            <a:endParaRPr lang="en-AU" sz="2000" dirty="0"/>
          </a:p>
        </p:txBody>
      </p:sp>
      <p:sp>
        <p:nvSpPr>
          <p:cNvPr id="4" name="Rectangle 3">
            <a:extLst>
              <a:ext uri="{FF2B5EF4-FFF2-40B4-BE49-F238E27FC236}">
                <a16:creationId xmlns:a16="http://schemas.microsoft.com/office/drawing/2014/main" id="{14A5A6D7-FD86-4693-9053-9167655A2CB2}"/>
              </a:ext>
            </a:extLst>
          </p:cNvPr>
          <p:cNvSpPr/>
          <p:nvPr/>
        </p:nvSpPr>
        <p:spPr>
          <a:xfrm>
            <a:off x="457200" y="1219200"/>
            <a:ext cx="8153400" cy="5078313"/>
          </a:xfrm>
          <a:prstGeom prst="rect">
            <a:avLst/>
          </a:prstGeom>
        </p:spPr>
        <p:txBody>
          <a:bodyPr wrap="square">
            <a:spAutoFit/>
          </a:bodyPr>
          <a:lstStyle/>
          <a:p>
            <a:r>
              <a:rPr lang="en-US" sz="1350" dirty="0">
                <a:solidFill>
                  <a:srgbClr val="007FA3"/>
                </a:solidFill>
                <a:latin typeface="Courier New" panose="02070309020205020404" pitchFamily="49" charset="0"/>
                <a:cs typeface="Courier New" panose="02070309020205020404" pitchFamily="49" charset="0"/>
              </a:rPr>
              <a:t>1</a:t>
            </a:r>
            <a:r>
              <a:rPr lang="en-US" sz="1350" dirty="0">
                <a:solidFill>
                  <a:srgbClr val="1473FF"/>
                </a:solidFill>
                <a:latin typeface="Courier New" panose="02070309020205020404" pitchFamily="49" charset="0"/>
                <a:cs typeface="Courier New" panose="02070309020205020404" pitchFamily="49" charset="0"/>
              </a:rPr>
              <a:t> </a:t>
            </a:r>
            <a:r>
              <a:rPr lang="en-US" sz="1350" dirty="0">
                <a:solidFill>
                  <a:srgbClr val="000000"/>
                </a:solidFill>
                <a:latin typeface="Courier New" panose="02070309020205020404" pitchFamily="49" charset="0"/>
                <a:cs typeface="Courier New" panose="02070309020205020404" pitchFamily="49" charset="0"/>
              </a:rPr>
              <a:t># This program draws a polygon on a Canvas.</a:t>
            </a:r>
          </a:p>
          <a:p>
            <a:r>
              <a:rPr lang="en-AU" sz="1350" dirty="0">
                <a:solidFill>
                  <a:srgbClr val="007FA3"/>
                </a:solidFill>
                <a:latin typeface="Courier New" panose="02070309020205020404" pitchFamily="49" charset="0"/>
                <a:cs typeface="Courier New" panose="02070309020205020404" pitchFamily="49" charset="0"/>
              </a:rPr>
              <a:t>2</a:t>
            </a:r>
            <a:r>
              <a:rPr lang="en-AU" sz="1350" dirty="0">
                <a:solidFill>
                  <a:srgbClr val="1473FF"/>
                </a:solidFill>
                <a:latin typeface="Courier New" panose="02070309020205020404" pitchFamily="49" charset="0"/>
                <a:cs typeface="Courier New" panose="02070309020205020404" pitchFamily="49" charset="0"/>
              </a:rPr>
              <a:t> </a:t>
            </a:r>
            <a:r>
              <a:rPr lang="en-AU" sz="1350" dirty="0">
                <a:solidFill>
                  <a:srgbClr val="000000"/>
                </a:solidFill>
                <a:latin typeface="Courier New" panose="02070309020205020404" pitchFamily="49" charset="0"/>
                <a:cs typeface="Courier New" panose="02070309020205020404" pitchFamily="49" charset="0"/>
              </a:rPr>
              <a:t>import </a:t>
            </a:r>
            <a:r>
              <a:rPr lang="en-AU" sz="1350" dirty="0" err="1">
                <a:solidFill>
                  <a:srgbClr val="000000"/>
                </a:solidFill>
                <a:latin typeface="Courier New" panose="02070309020205020404" pitchFamily="49" charset="0"/>
                <a:cs typeface="Courier New" panose="02070309020205020404" pitchFamily="49" charset="0"/>
              </a:rPr>
              <a:t>tkinter</a:t>
            </a:r>
            <a:endParaRPr lang="en-AU" sz="1350" dirty="0">
              <a:solidFill>
                <a:srgbClr val="000000"/>
              </a:solidFill>
              <a:latin typeface="Courier New" panose="02070309020205020404" pitchFamily="49" charset="0"/>
              <a:cs typeface="Courier New" panose="02070309020205020404" pitchFamily="49" charset="0"/>
            </a:endParaRPr>
          </a:p>
          <a:p>
            <a:r>
              <a:rPr lang="en-AU" sz="1350" dirty="0">
                <a:solidFill>
                  <a:srgbClr val="007FA3"/>
                </a:solidFill>
                <a:latin typeface="Courier New" panose="02070309020205020404" pitchFamily="49" charset="0"/>
                <a:cs typeface="Courier New" panose="02070309020205020404" pitchFamily="49" charset="0"/>
              </a:rPr>
              <a:t>3</a:t>
            </a:r>
          </a:p>
          <a:p>
            <a:r>
              <a:rPr lang="en-AU" sz="1350" dirty="0">
                <a:solidFill>
                  <a:srgbClr val="007FA3"/>
                </a:solidFill>
                <a:latin typeface="Courier New" panose="02070309020205020404" pitchFamily="49" charset="0"/>
                <a:cs typeface="Courier New" panose="02070309020205020404" pitchFamily="49" charset="0"/>
              </a:rPr>
              <a:t>4</a:t>
            </a:r>
            <a:r>
              <a:rPr lang="en-AU" sz="1350" dirty="0">
                <a:solidFill>
                  <a:srgbClr val="1473FF"/>
                </a:solidFill>
                <a:latin typeface="Courier New" panose="02070309020205020404" pitchFamily="49" charset="0"/>
                <a:cs typeface="Courier New" panose="02070309020205020404" pitchFamily="49" charset="0"/>
              </a:rPr>
              <a:t> </a:t>
            </a:r>
            <a:r>
              <a:rPr lang="en-AU" sz="1350" dirty="0">
                <a:solidFill>
                  <a:srgbClr val="000000"/>
                </a:solidFill>
                <a:latin typeface="Courier New" panose="02070309020205020404" pitchFamily="49" charset="0"/>
                <a:cs typeface="Courier New" panose="02070309020205020404" pitchFamily="49" charset="0"/>
              </a:rPr>
              <a:t>class </a:t>
            </a:r>
            <a:r>
              <a:rPr lang="en-AU" sz="1350" dirty="0" err="1">
                <a:solidFill>
                  <a:srgbClr val="000000"/>
                </a:solidFill>
                <a:latin typeface="Courier New" panose="02070309020205020404" pitchFamily="49" charset="0"/>
                <a:cs typeface="Courier New" panose="02070309020205020404" pitchFamily="49" charset="0"/>
              </a:rPr>
              <a:t>MyGUI</a:t>
            </a:r>
            <a:r>
              <a:rPr lang="en-AU" sz="1350" dirty="0">
                <a:solidFill>
                  <a:srgbClr val="000000"/>
                </a:solidFill>
                <a:latin typeface="Courier New" panose="02070309020205020404" pitchFamily="49" charset="0"/>
                <a:cs typeface="Courier New" panose="02070309020205020404" pitchFamily="49" charset="0"/>
              </a:rPr>
              <a:t>:</a:t>
            </a:r>
          </a:p>
          <a:p>
            <a:r>
              <a:rPr lang="en-AU" sz="1350" dirty="0">
                <a:solidFill>
                  <a:srgbClr val="007FA3"/>
                </a:solidFill>
                <a:latin typeface="Courier New" panose="02070309020205020404" pitchFamily="49" charset="0"/>
                <a:cs typeface="Courier New" panose="02070309020205020404" pitchFamily="49" charset="0"/>
              </a:rPr>
              <a:t>5</a:t>
            </a:r>
            <a:r>
              <a:rPr lang="en-AU" sz="1350" dirty="0">
                <a:solidFill>
                  <a:srgbClr val="1473FF"/>
                </a:solidFill>
                <a:latin typeface="Courier New" panose="02070309020205020404" pitchFamily="49" charset="0"/>
                <a:cs typeface="Courier New" panose="02070309020205020404" pitchFamily="49" charset="0"/>
              </a:rPr>
              <a:t> 	</a:t>
            </a:r>
            <a:r>
              <a:rPr lang="en-AU" sz="1350" dirty="0">
                <a:solidFill>
                  <a:srgbClr val="000000"/>
                </a:solidFill>
                <a:latin typeface="Courier New" panose="02070309020205020404" pitchFamily="49" charset="0"/>
                <a:cs typeface="Courier New" panose="02070309020205020404" pitchFamily="49" charset="0"/>
              </a:rPr>
              <a:t>def _ _</a:t>
            </a:r>
            <a:r>
              <a:rPr lang="en-AU" sz="1350" dirty="0" err="1">
                <a:solidFill>
                  <a:srgbClr val="000000"/>
                </a:solidFill>
                <a:latin typeface="Courier New" panose="02070309020205020404" pitchFamily="49" charset="0"/>
                <a:cs typeface="Courier New" panose="02070309020205020404" pitchFamily="49" charset="0"/>
              </a:rPr>
              <a:t>init</a:t>
            </a:r>
            <a:r>
              <a:rPr lang="en-AU" sz="1350" dirty="0">
                <a:solidFill>
                  <a:srgbClr val="000000"/>
                </a:solidFill>
                <a:latin typeface="Courier New" panose="02070309020205020404" pitchFamily="49" charset="0"/>
                <a:cs typeface="Courier New" panose="02070309020205020404" pitchFamily="49" charset="0"/>
              </a:rPr>
              <a:t>_ _(self):</a:t>
            </a:r>
          </a:p>
          <a:p>
            <a:pPr>
              <a:tabLst>
                <a:tab pos="1255713" algn="l"/>
              </a:tabLst>
            </a:pPr>
            <a:r>
              <a:rPr lang="en-US" sz="1350" dirty="0">
                <a:solidFill>
                  <a:srgbClr val="007FA3"/>
                </a:solidFill>
                <a:latin typeface="Courier New" panose="02070309020205020404" pitchFamily="49" charset="0"/>
                <a:cs typeface="Courier New" panose="02070309020205020404" pitchFamily="49" charset="0"/>
              </a:rPr>
              <a:t>6</a:t>
            </a:r>
            <a:r>
              <a:rPr lang="en-US" sz="1350" dirty="0">
                <a:solidFill>
                  <a:srgbClr val="1473FF"/>
                </a:solidFill>
                <a:latin typeface="Courier New" panose="02070309020205020404" pitchFamily="49" charset="0"/>
                <a:cs typeface="Courier New" panose="02070309020205020404" pitchFamily="49" charset="0"/>
              </a:rPr>
              <a:t> 	</a:t>
            </a:r>
            <a:r>
              <a:rPr lang="en-US" sz="1350" dirty="0">
                <a:solidFill>
                  <a:srgbClr val="000000"/>
                </a:solidFill>
                <a:latin typeface="Courier New" panose="02070309020205020404" pitchFamily="49" charset="0"/>
                <a:cs typeface="Courier New" panose="02070309020205020404" pitchFamily="49" charset="0"/>
              </a:rPr>
              <a:t># Create the main window.</a:t>
            </a:r>
          </a:p>
          <a:p>
            <a:pPr>
              <a:tabLst>
                <a:tab pos="1255713" algn="l"/>
              </a:tabLst>
            </a:pPr>
            <a:r>
              <a:rPr lang="en-US" sz="1350" dirty="0">
                <a:solidFill>
                  <a:srgbClr val="007FA3"/>
                </a:solidFill>
                <a:latin typeface="Courier New" panose="02070309020205020404" pitchFamily="49" charset="0"/>
                <a:cs typeface="Courier New" panose="02070309020205020404" pitchFamily="49" charset="0"/>
              </a:rPr>
              <a:t>7</a:t>
            </a:r>
            <a:r>
              <a:rPr lang="en-US" sz="1350" dirty="0">
                <a:solidFill>
                  <a:srgbClr val="1473FF"/>
                </a:solidFill>
                <a:latin typeface="Courier New" panose="02070309020205020404" pitchFamily="49" charset="0"/>
                <a:cs typeface="Courier New" panose="02070309020205020404" pitchFamily="49" charset="0"/>
              </a:rPr>
              <a:t> 	</a:t>
            </a:r>
            <a:r>
              <a:rPr lang="en-US" sz="1350" dirty="0" err="1">
                <a:solidFill>
                  <a:srgbClr val="000000"/>
                </a:solidFill>
                <a:latin typeface="Courier New" panose="02070309020205020404" pitchFamily="49" charset="0"/>
                <a:cs typeface="Courier New" panose="02070309020205020404" pitchFamily="49" charset="0"/>
              </a:rPr>
              <a:t>self.main_window</a:t>
            </a:r>
            <a:r>
              <a:rPr lang="en-US" sz="1350" dirty="0">
                <a:solidFill>
                  <a:srgbClr val="000000"/>
                </a:solidFill>
                <a:latin typeface="Courier New" panose="02070309020205020404" pitchFamily="49" charset="0"/>
                <a:cs typeface="Courier New" panose="02070309020205020404" pitchFamily="49" charset="0"/>
              </a:rPr>
              <a:t> = </a:t>
            </a:r>
            <a:r>
              <a:rPr lang="en-US" sz="1350" dirty="0" err="1">
                <a:solidFill>
                  <a:srgbClr val="000000"/>
                </a:solidFill>
                <a:latin typeface="Courier New" panose="02070309020205020404" pitchFamily="49" charset="0"/>
                <a:cs typeface="Courier New" panose="02070309020205020404" pitchFamily="49" charset="0"/>
              </a:rPr>
              <a:t>tkinter.Tk</a:t>
            </a:r>
            <a:r>
              <a:rPr lang="en-US" sz="1350" dirty="0">
                <a:solidFill>
                  <a:srgbClr val="000000"/>
                </a:solidFill>
                <a:latin typeface="Courier New" panose="02070309020205020404" pitchFamily="49" charset="0"/>
                <a:cs typeface="Courier New" panose="02070309020205020404" pitchFamily="49" charset="0"/>
              </a:rPr>
              <a:t>()</a:t>
            </a:r>
          </a:p>
          <a:p>
            <a:r>
              <a:rPr lang="en-AU" sz="1350" dirty="0">
                <a:solidFill>
                  <a:srgbClr val="007FA3"/>
                </a:solidFill>
                <a:latin typeface="Courier New" panose="02070309020205020404" pitchFamily="49" charset="0"/>
                <a:cs typeface="Courier New" panose="02070309020205020404" pitchFamily="49" charset="0"/>
              </a:rPr>
              <a:t>8</a:t>
            </a:r>
          </a:p>
          <a:p>
            <a:pPr>
              <a:tabLst>
                <a:tab pos="1255713" algn="l"/>
              </a:tabLst>
            </a:pPr>
            <a:r>
              <a:rPr lang="en-US" sz="1350" dirty="0">
                <a:solidFill>
                  <a:srgbClr val="007FA3"/>
                </a:solidFill>
                <a:latin typeface="Courier New" panose="02070309020205020404" pitchFamily="49" charset="0"/>
                <a:cs typeface="Courier New" panose="02070309020205020404" pitchFamily="49" charset="0"/>
              </a:rPr>
              <a:t>9</a:t>
            </a:r>
            <a:r>
              <a:rPr lang="en-US" sz="1350" dirty="0">
                <a:solidFill>
                  <a:srgbClr val="1473FF"/>
                </a:solidFill>
                <a:latin typeface="Courier New" panose="02070309020205020404" pitchFamily="49" charset="0"/>
                <a:cs typeface="Courier New" panose="02070309020205020404" pitchFamily="49" charset="0"/>
              </a:rPr>
              <a:t> 	</a:t>
            </a:r>
            <a:r>
              <a:rPr lang="en-US" sz="1350" dirty="0">
                <a:solidFill>
                  <a:srgbClr val="000000"/>
                </a:solidFill>
                <a:latin typeface="Courier New" panose="02070309020205020404" pitchFamily="49" charset="0"/>
                <a:cs typeface="Courier New" panose="02070309020205020404" pitchFamily="49" charset="0"/>
              </a:rPr>
              <a:t># Create the Canvas widget.</a:t>
            </a:r>
          </a:p>
          <a:p>
            <a:pPr>
              <a:tabLst>
                <a:tab pos="1255713" algn="l"/>
              </a:tabLst>
            </a:pPr>
            <a:r>
              <a:rPr lang="en-AU" sz="1350" dirty="0">
                <a:solidFill>
                  <a:srgbClr val="007FA3"/>
                </a:solidFill>
                <a:latin typeface="Courier New" panose="02070309020205020404" pitchFamily="49" charset="0"/>
                <a:cs typeface="Courier New" panose="02070309020205020404" pitchFamily="49" charset="0"/>
              </a:rPr>
              <a:t>10</a:t>
            </a:r>
            <a:r>
              <a:rPr lang="en-AU" sz="1350" dirty="0">
                <a:solidFill>
                  <a:srgbClr val="1473FF"/>
                </a:solidFill>
                <a:latin typeface="Courier New" panose="02070309020205020404" pitchFamily="49" charset="0"/>
                <a:cs typeface="Courier New" panose="02070309020205020404" pitchFamily="49" charset="0"/>
              </a:rPr>
              <a:t> 	</a:t>
            </a:r>
            <a:r>
              <a:rPr lang="en-AU" sz="1350" dirty="0" err="1">
                <a:solidFill>
                  <a:srgbClr val="000000"/>
                </a:solidFill>
                <a:latin typeface="Courier New" panose="02070309020205020404" pitchFamily="49" charset="0"/>
                <a:cs typeface="Courier New" panose="02070309020205020404" pitchFamily="49" charset="0"/>
              </a:rPr>
              <a:t>self.canvas</a:t>
            </a:r>
            <a:r>
              <a:rPr lang="en-AU" sz="1350" dirty="0">
                <a:solidFill>
                  <a:srgbClr val="000000"/>
                </a:solidFill>
                <a:latin typeface="Courier New" panose="02070309020205020404" pitchFamily="49" charset="0"/>
                <a:cs typeface="Courier New" panose="02070309020205020404" pitchFamily="49" charset="0"/>
              </a:rPr>
              <a:t> = </a:t>
            </a:r>
            <a:r>
              <a:rPr lang="en-AU" sz="1350" dirty="0" err="1">
                <a:solidFill>
                  <a:srgbClr val="000000"/>
                </a:solidFill>
                <a:latin typeface="Courier New" panose="02070309020205020404" pitchFamily="49" charset="0"/>
                <a:cs typeface="Courier New" panose="02070309020205020404" pitchFamily="49" charset="0"/>
              </a:rPr>
              <a:t>tkinter.Canvas</a:t>
            </a:r>
            <a:r>
              <a:rPr lang="en-AU" sz="1350" dirty="0">
                <a:solidFill>
                  <a:srgbClr val="000000"/>
                </a:solidFill>
                <a:latin typeface="Courier New" panose="02070309020205020404" pitchFamily="49" charset="0"/>
                <a:cs typeface="Courier New" panose="02070309020205020404" pitchFamily="49" charset="0"/>
              </a:rPr>
              <a:t>(</a:t>
            </a:r>
            <a:r>
              <a:rPr lang="en-AU" sz="1350" dirty="0" err="1">
                <a:solidFill>
                  <a:srgbClr val="000000"/>
                </a:solidFill>
                <a:latin typeface="Courier New" panose="02070309020205020404" pitchFamily="49" charset="0"/>
                <a:cs typeface="Courier New" panose="02070309020205020404" pitchFamily="49" charset="0"/>
              </a:rPr>
              <a:t>self.main_window</a:t>
            </a:r>
            <a:r>
              <a:rPr lang="en-AU" sz="1350" dirty="0">
                <a:solidFill>
                  <a:srgbClr val="000000"/>
                </a:solidFill>
                <a:latin typeface="Courier New" panose="02070309020205020404" pitchFamily="49" charset="0"/>
                <a:cs typeface="Courier New" panose="02070309020205020404" pitchFamily="49" charset="0"/>
              </a:rPr>
              <a:t>, width=160, 	height=160)</a:t>
            </a:r>
          </a:p>
          <a:p>
            <a:r>
              <a:rPr lang="en-AU" sz="1350" dirty="0">
                <a:solidFill>
                  <a:srgbClr val="007FA3"/>
                </a:solidFill>
                <a:latin typeface="Courier New" panose="02070309020205020404" pitchFamily="49" charset="0"/>
                <a:cs typeface="Courier New" panose="02070309020205020404" pitchFamily="49" charset="0"/>
              </a:rPr>
              <a:t>11</a:t>
            </a:r>
          </a:p>
          <a:p>
            <a:pPr>
              <a:tabLst>
                <a:tab pos="1255713" algn="l"/>
              </a:tabLst>
            </a:pPr>
            <a:r>
              <a:rPr lang="en-AU" sz="1350" dirty="0">
                <a:solidFill>
                  <a:srgbClr val="007FA3"/>
                </a:solidFill>
                <a:latin typeface="Courier New" panose="02070309020205020404" pitchFamily="49" charset="0"/>
                <a:cs typeface="Courier New" panose="02070309020205020404" pitchFamily="49" charset="0"/>
              </a:rPr>
              <a:t>12</a:t>
            </a:r>
            <a:r>
              <a:rPr lang="en-AU" sz="1350" dirty="0">
                <a:solidFill>
                  <a:srgbClr val="1473FF"/>
                </a:solidFill>
                <a:latin typeface="Courier New" panose="02070309020205020404" pitchFamily="49" charset="0"/>
                <a:cs typeface="Courier New" panose="02070309020205020404" pitchFamily="49" charset="0"/>
              </a:rPr>
              <a:t> 	</a:t>
            </a:r>
            <a:r>
              <a:rPr lang="en-US" sz="1350" dirty="0">
                <a:solidFill>
                  <a:srgbClr val="000000"/>
                </a:solidFill>
                <a:latin typeface="Courier New" panose="02070309020205020404" pitchFamily="49" charset="0"/>
                <a:cs typeface="Courier New" panose="02070309020205020404" pitchFamily="49" charset="0"/>
              </a:rPr>
              <a:t># Display text in the center of the window.</a:t>
            </a:r>
            <a:endParaRPr lang="en-AU" sz="1350" dirty="0">
              <a:solidFill>
                <a:srgbClr val="000000"/>
              </a:solidFill>
              <a:latin typeface="Courier New" panose="02070309020205020404" pitchFamily="49" charset="0"/>
              <a:cs typeface="Courier New" panose="02070309020205020404" pitchFamily="49" charset="0"/>
            </a:endParaRPr>
          </a:p>
          <a:p>
            <a:pPr>
              <a:tabLst>
                <a:tab pos="1255713" algn="l"/>
                <a:tab pos="4040188" algn="l"/>
              </a:tabLst>
            </a:pPr>
            <a:r>
              <a:rPr lang="en-US" sz="1350" dirty="0">
                <a:solidFill>
                  <a:srgbClr val="007FA3"/>
                </a:solidFill>
                <a:latin typeface="Courier New" panose="02070309020205020404" pitchFamily="49" charset="0"/>
                <a:cs typeface="Courier New" panose="02070309020205020404" pitchFamily="49" charset="0"/>
              </a:rPr>
              <a:t>13</a:t>
            </a:r>
            <a:r>
              <a:rPr lang="en-US" sz="1350" dirty="0">
                <a:solidFill>
                  <a:srgbClr val="1473FF"/>
                </a:solidFill>
                <a:latin typeface="Courier New" panose="02070309020205020404" pitchFamily="49" charset="0"/>
                <a:cs typeface="Courier New" panose="02070309020205020404" pitchFamily="49" charset="0"/>
              </a:rPr>
              <a:t> 	</a:t>
            </a:r>
            <a:r>
              <a:rPr lang="en-US" sz="1350" dirty="0" err="1">
                <a:solidFill>
                  <a:srgbClr val="000000"/>
                </a:solidFill>
                <a:latin typeface="Courier New" panose="02070309020205020404" pitchFamily="49" charset="0"/>
                <a:cs typeface="Courier New" panose="02070309020205020404" pitchFamily="49" charset="0"/>
              </a:rPr>
              <a:t>self.canvas.create_text</a:t>
            </a:r>
            <a:r>
              <a:rPr lang="en-US" sz="1350" dirty="0">
                <a:solidFill>
                  <a:srgbClr val="000000"/>
                </a:solidFill>
                <a:latin typeface="Courier New" panose="02070309020205020404" pitchFamily="49" charset="0"/>
                <a:cs typeface="Courier New" panose="02070309020205020404" pitchFamily="49" charset="0"/>
              </a:rPr>
              <a:t>(100, 100, text='Hello World')</a:t>
            </a:r>
            <a:r>
              <a:rPr lang="en-AU" sz="1350" dirty="0">
                <a:latin typeface="Courier New" panose="02070309020205020404" pitchFamily="49" charset="0"/>
                <a:cs typeface="Courier New" panose="02070309020205020404" pitchFamily="49" charset="0"/>
              </a:rPr>
              <a:t> 	</a:t>
            </a:r>
            <a:endParaRPr lang="en-US" sz="1350" dirty="0">
              <a:solidFill>
                <a:srgbClr val="000000"/>
              </a:solidFill>
              <a:latin typeface="Courier New" panose="02070309020205020404" pitchFamily="49" charset="0"/>
              <a:cs typeface="Courier New" panose="02070309020205020404" pitchFamily="49" charset="0"/>
            </a:endParaRPr>
          </a:p>
          <a:p>
            <a:pPr>
              <a:tabLst>
                <a:tab pos="1255713" algn="l"/>
                <a:tab pos="4040188" algn="l"/>
              </a:tabLst>
            </a:pPr>
            <a:r>
              <a:rPr lang="en-US" sz="1350" dirty="0">
                <a:solidFill>
                  <a:srgbClr val="007FA3"/>
                </a:solidFill>
                <a:latin typeface="Courier New" panose="02070309020205020404" pitchFamily="49" charset="0"/>
                <a:cs typeface="Courier New" panose="02070309020205020404" pitchFamily="49" charset="0"/>
              </a:rPr>
              <a:t>14</a:t>
            </a:r>
            <a:r>
              <a:rPr lang="en-US" sz="1350" dirty="0">
                <a:solidFill>
                  <a:srgbClr val="1473FF"/>
                </a:solidFill>
                <a:latin typeface="Courier New" panose="02070309020205020404" pitchFamily="49" charset="0"/>
                <a:cs typeface="Courier New" panose="02070309020205020404" pitchFamily="49" charset="0"/>
              </a:rPr>
              <a:t> 	</a:t>
            </a:r>
            <a:endParaRPr lang="en-US" sz="1350" dirty="0">
              <a:solidFill>
                <a:srgbClr val="000000"/>
              </a:solidFill>
              <a:latin typeface="Courier New" panose="02070309020205020404" pitchFamily="49" charset="0"/>
              <a:cs typeface="Courier New" panose="02070309020205020404" pitchFamily="49" charset="0"/>
            </a:endParaRPr>
          </a:p>
          <a:p>
            <a:pPr>
              <a:tabLst>
                <a:tab pos="1255713" algn="l"/>
              </a:tabLst>
            </a:pPr>
            <a:r>
              <a:rPr lang="en-AU" sz="1350" dirty="0">
                <a:solidFill>
                  <a:srgbClr val="007FA3"/>
                </a:solidFill>
                <a:latin typeface="Courier New" panose="02070309020205020404" pitchFamily="49" charset="0"/>
                <a:cs typeface="Courier New" panose="02070309020205020404" pitchFamily="49" charset="0"/>
              </a:rPr>
              <a:t>15	</a:t>
            </a:r>
            <a:r>
              <a:rPr lang="en-AU" sz="1350" dirty="0">
                <a:solidFill>
                  <a:srgbClr val="000000"/>
                </a:solidFill>
                <a:latin typeface="Courier New" panose="02070309020205020404" pitchFamily="49" charset="0"/>
                <a:cs typeface="Courier New" panose="02070309020205020404" pitchFamily="49" charset="0"/>
              </a:rPr>
              <a:t># Pack the canvas.</a:t>
            </a:r>
          </a:p>
          <a:p>
            <a:pPr>
              <a:tabLst>
                <a:tab pos="1255713" algn="l"/>
              </a:tabLst>
            </a:pPr>
            <a:r>
              <a:rPr lang="en-AU" sz="1350" dirty="0">
                <a:solidFill>
                  <a:srgbClr val="007FA3"/>
                </a:solidFill>
                <a:latin typeface="Courier New" panose="02070309020205020404" pitchFamily="49" charset="0"/>
                <a:cs typeface="Courier New" panose="02070309020205020404" pitchFamily="49" charset="0"/>
              </a:rPr>
              <a:t>16</a:t>
            </a:r>
            <a:r>
              <a:rPr lang="en-AU" sz="1350" dirty="0">
                <a:solidFill>
                  <a:srgbClr val="1473FF"/>
                </a:solidFill>
                <a:latin typeface="Courier New" panose="02070309020205020404" pitchFamily="49" charset="0"/>
                <a:cs typeface="Courier New" panose="02070309020205020404" pitchFamily="49" charset="0"/>
              </a:rPr>
              <a:t> 	</a:t>
            </a:r>
            <a:r>
              <a:rPr lang="en-AU" sz="1350" dirty="0" err="1">
                <a:solidFill>
                  <a:srgbClr val="000000"/>
                </a:solidFill>
                <a:latin typeface="Courier New" panose="02070309020205020404" pitchFamily="49" charset="0"/>
                <a:cs typeface="Courier New" panose="02070309020205020404" pitchFamily="49" charset="0"/>
              </a:rPr>
              <a:t>self.canvas.pack</a:t>
            </a:r>
            <a:r>
              <a:rPr lang="en-AU" sz="1350" dirty="0">
                <a:solidFill>
                  <a:srgbClr val="000000"/>
                </a:solidFill>
                <a:latin typeface="Courier New" panose="02070309020205020404" pitchFamily="49" charset="0"/>
                <a:cs typeface="Courier New" panose="02070309020205020404" pitchFamily="49" charset="0"/>
              </a:rPr>
              <a:t>()</a:t>
            </a:r>
          </a:p>
          <a:p>
            <a:pPr>
              <a:tabLst>
                <a:tab pos="1255713" algn="l"/>
              </a:tabLst>
            </a:pPr>
            <a:r>
              <a:rPr lang="en-AU" sz="1350" dirty="0">
                <a:solidFill>
                  <a:srgbClr val="007FA3"/>
                </a:solidFill>
                <a:latin typeface="Courier New" panose="02070309020205020404" pitchFamily="49" charset="0"/>
                <a:cs typeface="Courier New" panose="02070309020205020404" pitchFamily="49" charset="0"/>
              </a:rPr>
              <a:t>17</a:t>
            </a:r>
            <a:r>
              <a:rPr lang="en-AU" sz="1350" dirty="0">
                <a:solidFill>
                  <a:srgbClr val="1473FF"/>
                </a:solidFill>
                <a:latin typeface="Courier New" panose="02070309020205020404" pitchFamily="49" charset="0"/>
                <a:cs typeface="Courier New" panose="02070309020205020404" pitchFamily="49" charset="0"/>
              </a:rPr>
              <a:t> 	</a:t>
            </a:r>
            <a:endParaRPr lang="en-AU" sz="1350" dirty="0">
              <a:solidFill>
                <a:srgbClr val="000000"/>
              </a:solidFill>
              <a:latin typeface="Courier New" panose="02070309020205020404" pitchFamily="49" charset="0"/>
              <a:cs typeface="Courier New" panose="02070309020205020404" pitchFamily="49" charset="0"/>
            </a:endParaRPr>
          </a:p>
          <a:p>
            <a:pPr>
              <a:tabLst>
                <a:tab pos="1255713" algn="l"/>
              </a:tabLst>
            </a:pPr>
            <a:r>
              <a:rPr lang="en-AU" sz="1350" dirty="0">
                <a:solidFill>
                  <a:srgbClr val="007FA3"/>
                </a:solidFill>
                <a:latin typeface="Courier New" panose="02070309020205020404" pitchFamily="49" charset="0"/>
                <a:cs typeface="Courier New" panose="02070309020205020404" pitchFamily="49" charset="0"/>
              </a:rPr>
              <a:t>18	</a:t>
            </a:r>
            <a:r>
              <a:rPr lang="en-AU" sz="1350" dirty="0">
                <a:solidFill>
                  <a:srgbClr val="000000"/>
                </a:solidFill>
                <a:latin typeface="Courier New" panose="02070309020205020404" pitchFamily="49" charset="0"/>
                <a:cs typeface="Courier New" panose="02070309020205020404" pitchFamily="49" charset="0"/>
              </a:rPr>
              <a:t># Start the </a:t>
            </a:r>
            <a:r>
              <a:rPr lang="en-AU" sz="1350" dirty="0" err="1">
                <a:solidFill>
                  <a:srgbClr val="000000"/>
                </a:solidFill>
                <a:latin typeface="Courier New" panose="02070309020205020404" pitchFamily="49" charset="0"/>
                <a:cs typeface="Courier New" panose="02070309020205020404" pitchFamily="49" charset="0"/>
              </a:rPr>
              <a:t>mainloop</a:t>
            </a:r>
            <a:r>
              <a:rPr lang="en-AU" sz="1350" dirty="0">
                <a:solidFill>
                  <a:srgbClr val="000000"/>
                </a:solidFill>
                <a:latin typeface="Courier New" panose="02070309020205020404" pitchFamily="49" charset="0"/>
                <a:cs typeface="Courier New" panose="02070309020205020404" pitchFamily="49" charset="0"/>
              </a:rPr>
              <a:t>.</a:t>
            </a:r>
            <a:endParaRPr lang="en-AU" sz="1350" dirty="0">
              <a:solidFill>
                <a:srgbClr val="007FA3"/>
              </a:solidFill>
              <a:latin typeface="Courier New" panose="02070309020205020404" pitchFamily="49" charset="0"/>
              <a:cs typeface="Courier New" panose="02070309020205020404" pitchFamily="49" charset="0"/>
            </a:endParaRPr>
          </a:p>
          <a:p>
            <a:pPr>
              <a:tabLst>
                <a:tab pos="1255713" algn="l"/>
              </a:tabLst>
            </a:pPr>
            <a:r>
              <a:rPr lang="en-AU" sz="1350" dirty="0">
                <a:solidFill>
                  <a:srgbClr val="007FA3"/>
                </a:solidFill>
                <a:latin typeface="Courier New" panose="02070309020205020404" pitchFamily="49" charset="0"/>
                <a:cs typeface="Courier New" panose="02070309020205020404" pitchFamily="49" charset="0"/>
              </a:rPr>
              <a:t>19</a:t>
            </a:r>
            <a:r>
              <a:rPr lang="en-AU" sz="1350" dirty="0">
                <a:solidFill>
                  <a:srgbClr val="1473FF"/>
                </a:solidFill>
                <a:latin typeface="Courier New" panose="02070309020205020404" pitchFamily="49" charset="0"/>
                <a:cs typeface="Courier New" panose="02070309020205020404" pitchFamily="49" charset="0"/>
              </a:rPr>
              <a:t> 	</a:t>
            </a:r>
            <a:r>
              <a:rPr lang="en-AU" sz="1350" dirty="0" err="1">
                <a:solidFill>
                  <a:srgbClr val="000000"/>
                </a:solidFill>
                <a:latin typeface="Courier New" panose="02070309020205020404" pitchFamily="49" charset="0"/>
                <a:cs typeface="Courier New" panose="02070309020205020404" pitchFamily="49" charset="0"/>
              </a:rPr>
              <a:t>tkinter.mainloop</a:t>
            </a:r>
            <a:r>
              <a:rPr lang="en-AU" sz="1350" dirty="0">
                <a:solidFill>
                  <a:srgbClr val="000000"/>
                </a:solidFill>
                <a:latin typeface="Courier New" panose="02070309020205020404" pitchFamily="49" charset="0"/>
                <a:cs typeface="Courier New" panose="02070309020205020404" pitchFamily="49" charset="0"/>
              </a:rPr>
              <a:t>()</a:t>
            </a:r>
          </a:p>
          <a:p>
            <a:pPr>
              <a:tabLst>
                <a:tab pos="1255713" algn="l"/>
              </a:tabLst>
            </a:pPr>
            <a:r>
              <a:rPr lang="en-AU" sz="1350" dirty="0">
                <a:solidFill>
                  <a:srgbClr val="007FA3"/>
                </a:solidFill>
                <a:latin typeface="Courier New" panose="02070309020205020404" pitchFamily="49" charset="0"/>
                <a:cs typeface="Courier New" panose="02070309020205020404" pitchFamily="49" charset="0"/>
              </a:rPr>
              <a:t>20</a:t>
            </a:r>
            <a:r>
              <a:rPr lang="en-AU" sz="1350" dirty="0">
                <a:solidFill>
                  <a:srgbClr val="1473FF"/>
                </a:solidFill>
                <a:latin typeface="Courier New" panose="02070309020205020404" pitchFamily="49" charset="0"/>
                <a:cs typeface="Courier New" panose="02070309020205020404" pitchFamily="49" charset="0"/>
              </a:rPr>
              <a:t> 		</a:t>
            </a:r>
            <a:endParaRPr lang="en-AU" sz="1350" dirty="0">
              <a:solidFill>
                <a:srgbClr val="000000"/>
              </a:solidFill>
              <a:latin typeface="Courier New" panose="02070309020205020404" pitchFamily="49" charset="0"/>
              <a:cs typeface="Courier New" panose="02070309020205020404" pitchFamily="49" charset="0"/>
            </a:endParaRPr>
          </a:p>
          <a:p>
            <a:r>
              <a:rPr lang="en-AU" sz="1350" dirty="0">
                <a:solidFill>
                  <a:srgbClr val="007FA3"/>
                </a:solidFill>
                <a:latin typeface="Courier New" panose="02070309020205020404" pitchFamily="49" charset="0"/>
                <a:cs typeface="Courier New" panose="02070309020205020404" pitchFamily="49" charset="0"/>
              </a:rPr>
              <a:t>21 </a:t>
            </a:r>
            <a:r>
              <a:rPr lang="en-US" sz="1350" dirty="0">
                <a:solidFill>
                  <a:srgbClr val="000000"/>
                </a:solidFill>
                <a:latin typeface="Courier New" panose="02070309020205020404" pitchFamily="49" charset="0"/>
                <a:cs typeface="Courier New" panose="02070309020205020404" pitchFamily="49" charset="0"/>
              </a:rPr>
              <a:t># Create an instance of the </a:t>
            </a:r>
            <a:r>
              <a:rPr lang="en-US" sz="1350" dirty="0" err="1">
                <a:solidFill>
                  <a:srgbClr val="000000"/>
                </a:solidFill>
                <a:latin typeface="Courier New" panose="02070309020205020404" pitchFamily="49" charset="0"/>
                <a:cs typeface="Courier New" panose="02070309020205020404" pitchFamily="49" charset="0"/>
              </a:rPr>
              <a:t>MyGUI</a:t>
            </a:r>
            <a:r>
              <a:rPr lang="en-US" sz="1350" dirty="0">
                <a:solidFill>
                  <a:srgbClr val="000000"/>
                </a:solidFill>
                <a:latin typeface="Courier New" panose="02070309020205020404" pitchFamily="49" charset="0"/>
                <a:cs typeface="Courier New" panose="02070309020205020404" pitchFamily="49" charset="0"/>
              </a:rPr>
              <a:t> class.</a:t>
            </a:r>
            <a:endParaRPr lang="en-AU" sz="1350" dirty="0">
              <a:solidFill>
                <a:srgbClr val="007FA3"/>
              </a:solidFill>
              <a:latin typeface="Courier New" panose="02070309020205020404" pitchFamily="49" charset="0"/>
              <a:cs typeface="Courier New" panose="02070309020205020404" pitchFamily="49" charset="0"/>
            </a:endParaRPr>
          </a:p>
          <a:p>
            <a:r>
              <a:rPr lang="en-US" sz="1350" dirty="0">
                <a:solidFill>
                  <a:srgbClr val="007FA3"/>
                </a:solidFill>
                <a:latin typeface="Courier New" panose="02070309020205020404" pitchFamily="49" charset="0"/>
                <a:cs typeface="Courier New" panose="02070309020205020404" pitchFamily="49" charset="0"/>
              </a:rPr>
              <a:t>22 </a:t>
            </a:r>
            <a:r>
              <a:rPr lang="en-AU" sz="1350" dirty="0">
                <a:solidFill>
                  <a:srgbClr val="000000"/>
                </a:solidFill>
                <a:latin typeface="Courier New" panose="02070309020205020404" pitchFamily="49" charset="0"/>
                <a:cs typeface="Courier New" panose="02070309020205020404" pitchFamily="49" charset="0"/>
              </a:rPr>
              <a:t>if _ _name_ _ == '_ _main_ _’:</a:t>
            </a:r>
            <a:endParaRPr lang="en-US" sz="1350" dirty="0">
              <a:solidFill>
                <a:srgbClr val="000000"/>
              </a:solidFill>
              <a:latin typeface="Courier New" panose="02070309020205020404" pitchFamily="49" charset="0"/>
              <a:cs typeface="Courier New" panose="02070309020205020404" pitchFamily="49" charset="0"/>
            </a:endParaRPr>
          </a:p>
          <a:p>
            <a:r>
              <a:rPr lang="en-AU" sz="1350" dirty="0">
                <a:solidFill>
                  <a:srgbClr val="007FA3"/>
                </a:solidFill>
                <a:latin typeface="Courier New" panose="02070309020205020404" pitchFamily="49" charset="0"/>
                <a:cs typeface="Courier New" panose="02070309020205020404" pitchFamily="49" charset="0"/>
              </a:rPr>
              <a:t>23	</a:t>
            </a:r>
            <a:r>
              <a:rPr lang="en-AU" sz="1350" dirty="0">
                <a:solidFill>
                  <a:srgbClr val="000000"/>
                </a:solidFill>
                <a:latin typeface="Courier New" panose="02070309020205020404" pitchFamily="49" charset="0"/>
                <a:cs typeface="Courier New" panose="02070309020205020404" pitchFamily="49" charset="0"/>
              </a:rPr>
              <a:t> </a:t>
            </a:r>
            <a:r>
              <a:rPr lang="en-AU" sz="1350" dirty="0" err="1">
                <a:solidFill>
                  <a:srgbClr val="000000"/>
                </a:solidFill>
                <a:latin typeface="Courier New" panose="02070309020205020404" pitchFamily="49" charset="0"/>
                <a:cs typeface="Courier New" panose="02070309020205020404" pitchFamily="49" charset="0"/>
              </a:rPr>
              <a:t>my_gui</a:t>
            </a:r>
            <a:r>
              <a:rPr lang="en-AU" sz="1350" dirty="0">
                <a:solidFill>
                  <a:srgbClr val="000000"/>
                </a:solidFill>
                <a:latin typeface="Courier New" panose="02070309020205020404" pitchFamily="49" charset="0"/>
                <a:cs typeface="Courier New" panose="02070309020205020404" pitchFamily="49" charset="0"/>
              </a:rPr>
              <a:t> = </a:t>
            </a:r>
            <a:r>
              <a:rPr lang="en-AU" sz="1350" dirty="0" err="1">
                <a:solidFill>
                  <a:srgbClr val="000000"/>
                </a:solidFill>
                <a:latin typeface="Courier New" panose="02070309020205020404" pitchFamily="49" charset="0"/>
                <a:cs typeface="Courier New" panose="02070309020205020404" pitchFamily="49" charset="0"/>
              </a:rPr>
              <a:t>MyGUI</a:t>
            </a:r>
            <a:r>
              <a:rPr lang="en-AU" sz="1350" dirty="0">
                <a:solidFill>
                  <a:srgbClr val="000000"/>
                </a:solidFill>
                <a:latin typeface="Courier New" panose="02070309020205020404" pitchFamily="49" charset="0"/>
                <a:cs typeface="Courier New" panose="02070309020205020404" pitchFamily="49" charset="0"/>
              </a:rPr>
              <a:t>()</a:t>
            </a:r>
          </a:p>
        </p:txBody>
      </p:sp>
      <p:pic>
        <p:nvPicPr>
          <p:cNvPr id="5" name="Picture 4" descr="A window displays the text, hello world. ">
            <a:extLst>
              <a:ext uri="{FF2B5EF4-FFF2-40B4-BE49-F238E27FC236}">
                <a16:creationId xmlns:a16="http://schemas.microsoft.com/office/drawing/2014/main" id="{141D0BED-9908-4DFA-9CAE-B28716F9A45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auto">
          <a:xfrm>
            <a:off x="6858000" y="4343400"/>
            <a:ext cx="1571186" cy="1799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6737631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itle 1">
            <a:extLst>
              <a:ext uri="{FF2B5EF4-FFF2-40B4-BE49-F238E27FC236}">
                <a16:creationId xmlns:a16="http://schemas.microsoft.com/office/drawing/2014/main" id="{B6C29929-446B-4E02-927E-270C32878903}"/>
              </a:ext>
            </a:extLst>
          </p:cNvPr>
          <p:cNvSpPr>
            <a:spLocks noGrp="1" noChangeArrowheads="1"/>
          </p:cNvSpPr>
          <p:nvPr>
            <p:ph type="title"/>
          </p:nvPr>
        </p:nvSpPr>
        <p:spPr/>
        <p:txBody>
          <a:bodyPr/>
          <a:lstStyle/>
          <a:p>
            <a:pPr eaLnBrk="1" hangingPunct="1"/>
            <a:r>
              <a:rPr lang="en-US" altLang="en-US" dirty="0"/>
              <a:t>Summary</a:t>
            </a:r>
            <a:endParaRPr lang="he-IL" altLang="en-US" dirty="0"/>
          </a:p>
        </p:txBody>
      </p:sp>
      <p:sp>
        <p:nvSpPr>
          <p:cNvPr id="78851" name="Content Placeholder 2">
            <a:extLst>
              <a:ext uri="{FF2B5EF4-FFF2-40B4-BE49-F238E27FC236}">
                <a16:creationId xmlns:a16="http://schemas.microsoft.com/office/drawing/2014/main" id="{15C88865-7415-427E-8607-4F1CF2B69A7B}"/>
              </a:ext>
            </a:extLst>
          </p:cNvPr>
          <p:cNvSpPr>
            <a:spLocks noGrp="1" noChangeArrowheads="1"/>
          </p:cNvSpPr>
          <p:nvPr>
            <p:ph idx="1"/>
          </p:nvPr>
        </p:nvSpPr>
        <p:spPr/>
        <p:txBody>
          <a:bodyPr/>
          <a:lstStyle/>
          <a:p>
            <a:pPr eaLnBrk="1" hangingPunct="1">
              <a:buFontTx/>
              <a:buChar char="•"/>
            </a:pPr>
            <a:r>
              <a:rPr lang="en-US" altLang="en-US" dirty="0"/>
              <a:t>This chapter covered:</a:t>
            </a:r>
          </a:p>
          <a:p>
            <a:pPr lvl="1" eaLnBrk="1" hangingPunct="1"/>
            <a:r>
              <a:rPr lang="en-US" altLang="en-US" sz="2400" dirty="0"/>
              <a:t>Graphical user interfaces and their role as event-driven programs</a:t>
            </a:r>
          </a:p>
          <a:p>
            <a:pPr lvl="1" eaLnBrk="1" hangingPunct="1"/>
            <a:r>
              <a:rPr lang="en-US" altLang="en-US" sz="2400" dirty="0"/>
              <a:t>The </a:t>
            </a:r>
            <a:r>
              <a:rPr lang="en-US" altLang="en-US" sz="2400" dirty="0" err="1">
                <a:latin typeface="Courier New" panose="02070309020205020404" pitchFamily="49" charset="0"/>
                <a:cs typeface="Courier New" panose="02070309020205020404" pitchFamily="49" charset="0"/>
              </a:rPr>
              <a:t>tkinter</a:t>
            </a:r>
            <a:r>
              <a:rPr lang="en-US" altLang="en-US" sz="2400" dirty="0"/>
              <a:t> module, including:</a:t>
            </a:r>
          </a:p>
          <a:p>
            <a:pPr lvl="2"/>
            <a:r>
              <a:rPr lang="en-US" altLang="en-US" sz="2000" dirty="0"/>
              <a:t>Creating a GUI window</a:t>
            </a:r>
          </a:p>
          <a:p>
            <a:pPr lvl="2"/>
            <a:r>
              <a:rPr lang="en-US" altLang="en-US" sz="2000" dirty="0"/>
              <a:t>Adding widgets to a GUI window</a:t>
            </a:r>
          </a:p>
          <a:p>
            <a:pPr lvl="2"/>
            <a:r>
              <a:rPr lang="en-US" altLang="en-US" sz="2000" dirty="0"/>
              <a:t>Organizing widgets in frames</a:t>
            </a:r>
          </a:p>
          <a:p>
            <a:pPr lvl="2"/>
            <a:r>
              <a:rPr lang="en-US" altLang="en-US" sz="2000" dirty="0"/>
              <a:t>Receiving input and providing output using widgets</a:t>
            </a:r>
          </a:p>
          <a:p>
            <a:pPr lvl="2"/>
            <a:r>
              <a:rPr lang="en-US" altLang="en-US" sz="2000" dirty="0"/>
              <a:t>Creating buttons, check buttons, and radio buttons</a:t>
            </a:r>
          </a:p>
          <a:p>
            <a:pPr lvl="2"/>
            <a:r>
              <a:rPr lang="en-US" altLang="en-US" sz="2000" dirty="0"/>
              <a:t>Drawing simple shapes with the </a:t>
            </a:r>
            <a:r>
              <a:rPr lang="en-US" altLang="en-US" sz="2000" dirty="0">
                <a:latin typeface="Courier New" panose="02070309020205020404" pitchFamily="49" charset="0"/>
                <a:cs typeface="Courier New" panose="02070309020205020404" pitchFamily="49" charset="0"/>
              </a:rPr>
              <a:t>Canvas</a:t>
            </a:r>
            <a:r>
              <a:rPr lang="en-US" altLang="en-US" sz="2000" dirty="0"/>
              <a:t> widget</a:t>
            </a:r>
          </a:p>
          <a:p>
            <a:pPr lvl="1" eaLnBrk="1" hangingPunct="1"/>
            <a:endParaRPr lang="he-IL" altLang="en-US" sz="2400" dirty="0"/>
          </a:p>
        </p:txBody>
      </p:sp>
    </p:spTree>
  </p:cSld>
  <p:clrMapOvr>
    <a:masterClrMapping/>
  </p:clrMapOvr>
</p:sld>
</file>

<file path=ppt/theme/theme1.xml><?xml version="1.0" encoding="utf-8"?>
<a:theme xmlns:a="http://schemas.openxmlformats.org/drawingml/2006/main" name="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2.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Horizon</Template>
  <TotalTime>8827</TotalTime>
  <Words>6844</Words>
  <Application>Microsoft Office PowerPoint</Application>
  <PresentationFormat>On-screen Show (4:3)</PresentationFormat>
  <Paragraphs>647</Paragraphs>
  <Slides>80</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80</vt:i4>
      </vt:variant>
    </vt:vector>
  </HeadingPairs>
  <TitlesOfParts>
    <vt:vector size="87" baseType="lpstr">
      <vt:lpstr>Arial</vt:lpstr>
      <vt:lpstr>Calibri</vt:lpstr>
      <vt:lpstr>Courier New</vt:lpstr>
      <vt:lpstr>Times New Roman</vt:lpstr>
      <vt:lpstr>Verdana</vt:lpstr>
      <vt:lpstr>Wingdings</vt:lpstr>
      <vt:lpstr>508 Lecture</vt:lpstr>
      <vt:lpstr>Starting out with Python</vt:lpstr>
      <vt:lpstr>Topics (1 of 2)</vt:lpstr>
      <vt:lpstr>Topics (2 of 2)</vt:lpstr>
      <vt:lpstr>Graphical User Interfaces (1 of 3)</vt:lpstr>
      <vt:lpstr>Graphical User Interfaces (2 of 3)</vt:lpstr>
      <vt:lpstr>Graphical User Interfaces (3 of 3)</vt:lpstr>
      <vt:lpstr>GUI Programs Are Event-Driven</vt:lpstr>
      <vt:lpstr>Using the tkinter Module (1 of 3)</vt:lpstr>
      <vt:lpstr>Using the tkinter Module (2 of 3)</vt:lpstr>
      <vt:lpstr>Using the tkinter Module</vt:lpstr>
      <vt:lpstr>Example (1 of 6)</vt:lpstr>
      <vt:lpstr>Display Text with Label Widgets (1 of 2)</vt:lpstr>
      <vt:lpstr>Display Text with Label Widgets (2 of 2)</vt:lpstr>
      <vt:lpstr>Example (2 of 6)</vt:lpstr>
      <vt:lpstr>Example (3 of 6)</vt:lpstr>
      <vt:lpstr>Example (4 of 6)</vt:lpstr>
      <vt:lpstr>Adding Borders to Labels</vt:lpstr>
      <vt:lpstr>Example (5 of 6)</vt:lpstr>
      <vt:lpstr>Example (6 of 6)</vt:lpstr>
      <vt:lpstr>Values for relief Argument (1 of 2)</vt:lpstr>
      <vt:lpstr>Values for relief Argument (2 of 2)</vt:lpstr>
      <vt:lpstr>Padding</vt:lpstr>
      <vt:lpstr>Internal Padding (1 of 3)</vt:lpstr>
      <vt:lpstr>Internal Padding (2 of 3)</vt:lpstr>
      <vt:lpstr>Internal Padding (3 of 3)</vt:lpstr>
      <vt:lpstr>External Padding (1 of 3)</vt:lpstr>
      <vt:lpstr>External Padding (2 of 3)</vt:lpstr>
      <vt:lpstr>External Padding (3 of 3)</vt:lpstr>
      <vt:lpstr>Organizing Widgets with Frames (1 of 2)</vt:lpstr>
      <vt:lpstr>Organizing Widgets with Frames (2 of 2)</vt:lpstr>
      <vt:lpstr>Button Widgets and Info Dialog Boxes (1 of 4)</vt:lpstr>
      <vt:lpstr>Button Widgets and Info Dialog Boxes (2 of 4)</vt:lpstr>
      <vt:lpstr>Button Widgets and Info Dialog Boxes (3 of 4)</vt:lpstr>
      <vt:lpstr>Button Widgets and Info Dialog Boxes (4 of 4)</vt:lpstr>
      <vt:lpstr>Creating a Quit Button</vt:lpstr>
      <vt:lpstr>Getting Input with the Entry Widget (1 of 2)</vt:lpstr>
      <vt:lpstr>Getting Input with the Entry Widget (2 of 2)</vt:lpstr>
      <vt:lpstr>Using Labels as Output Fields (1 of 3)</vt:lpstr>
      <vt:lpstr>Using Labels as Output Fields (2 of 3)</vt:lpstr>
      <vt:lpstr>Using Labels as Output Fields (3 of 3)</vt:lpstr>
      <vt:lpstr>Radio Buttons and Check Buttons (1 of 2)</vt:lpstr>
      <vt:lpstr>Radio Buttons and Check Buttons (2 of 2)</vt:lpstr>
      <vt:lpstr>Using Callback Functions with Radiobuttons</vt:lpstr>
      <vt:lpstr>Check Buttons</vt:lpstr>
      <vt:lpstr>Listbox Widgets</vt:lpstr>
      <vt:lpstr>Example</vt:lpstr>
      <vt:lpstr>Specifying the Size of a Listbox</vt:lpstr>
      <vt:lpstr>Selection Modes</vt:lpstr>
      <vt:lpstr>Retrieving the Selected Item(s) (1 of 2)</vt:lpstr>
      <vt:lpstr>Retrieving the Selected Item(s) (2 of 2)</vt:lpstr>
      <vt:lpstr>Examples</vt:lpstr>
      <vt:lpstr>Listboxes and Callback Functions (1 of 3)</vt:lpstr>
      <vt:lpstr>Listboxes and Callback Functions (2 of 3)</vt:lpstr>
      <vt:lpstr>Listboxes and Callback Functions (3 of 3)</vt:lpstr>
      <vt:lpstr>Adding a Vertical Scrollbar to a Listbox</vt:lpstr>
      <vt:lpstr>Example (1 of 4)</vt:lpstr>
      <vt:lpstr>Adding a Horizontal Scrollbar to a Listbox</vt:lpstr>
      <vt:lpstr>Example (2 of 4)</vt:lpstr>
      <vt:lpstr>Adding Vertical and Horizontal Scrollbars to a Listbox (1 of 2)</vt:lpstr>
      <vt:lpstr>Adding Vertical and Horizontal Scrollbars to a Listbox (2 of 2)</vt:lpstr>
      <vt:lpstr>Example (3 of 4)</vt:lpstr>
      <vt:lpstr>Example (4 of 4)</vt:lpstr>
      <vt:lpstr>Drawing Shapes with the Canvas Widget (1 of 4)</vt:lpstr>
      <vt:lpstr>Drawing Shapes with the Canvas Widget (2 of 4)</vt:lpstr>
      <vt:lpstr>Drawing Shapes with the Canvas Widget (3 of 4)</vt:lpstr>
      <vt:lpstr>Drawing Shapes with the Canvas Widget (4 of 4)</vt:lpstr>
      <vt:lpstr>Drawing a Line (1 of 2)</vt:lpstr>
      <vt:lpstr>Drawing a Line (2 of 2)</vt:lpstr>
      <vt:lpstr>Drawing a Rectangle (1 of 2)</vt:lpstr>
      <vt:lpstr>Drawing a Rectangle (2 of 2)</vt:lpstr>
      <vt:lpstr>Drawing an Oval (1 of 2)</vt:lpstr>
      <vt:lpstr>Drawing an Oval (2 of 2)</vt:lpstr>
      <vt:lpstr>Drawing an Arc (1 of 2)</vt:lpstr>
      <vt:lpstr>Drawing an Arc (2 of 2)</vt:lpstr>
      <vt:lpstr>Drawing a Polygon (1 of 3)</vt:lpstr>
      <vt:lpstr>Drawing a Polygon (2 of 3)</vt:lpstr>
      <vt:lpstr>Drawing a Polygon (3 of 3)</vt:lpstr>
      <vt:lpstr>Displaying Text on the Canvas (1 of 2)</vt:lpstr>
      <vt:lpstr>Displaying Text on the Canvas (2 of 2)</vt:lpstr>
      <vt:lpstr>Summary</vt:lpstr>
    </vt:vector>
  </TitlesOfParts>
  <Company>SPi-Global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Starting out with Python, Fifth Edition</dc:title>
  <dc:subject>Computer Science</dc:subject>
  <dc:creator>Tony Gaddis</dc:creator>
  <cp:keywords>Computer program language</cp:keywords>
  <cp:lastModifiedBy>Kathiravan Natarajan</cp:lastModifiedBy>
  <cp:revision>693</cp:revision>
  <dcterms:created xsi:type="dcterms:W3CDTF">2014-07-14T20:04:21Z</dcterms:created>
  <dcterms:modified xsi:type="dcterms:W3CDTF">2024-04-01T02:53:09Z</dcterms:modified>
  <cp:category>IT</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UniqueId">
    <vt:lpwstr>682740</vt:lpwstr>
  </property>
  <property fmtid="{D5CDD505-2E9C-101B-9397-08002B2CF9AE}" pid="3" name="Offisync_UpdateToken">
    <vt:lpwstr>1</vt:lpwstr>
  </property>
  <property fmtid="{D5CDD505-2E9C-101B-9397-08002B2CF9AE}" pid="4" name="Jive_VersionGuid">
    <vt:lpwstr>7b502893-ac4a-4309-967d-6eb652f6b574</vt:lpwstr>
  </property>
  <property fmtid="{D5CDD505-2E9C-101B-9397-08002B2CF9AE}" pid="5" name="Offisync_ProviderInitializationData">
    <vt:lpwstr>https://neo.pearson.com</vt:lpwstr>
  </property>
  <property fmtid="{D5CDD505-2E9C-101B-9397-08002B2CF9AE}" pid="6" name="Offisync_ServerID">
    <vt:lpwstr>7e960520-0e88-4f05-9fa0-24079b61e486</vt:lpwstr>
  </property>
  <property fmtid="{D5CDD505-2E9C-101B-9397-08002B2CF9AE}" pid="7" name="Jive_LatestUserAccountName">
    <vt:lpwstr>sumit.gupta</vt:lpwstr>
  </property>
</Properties>
</file>