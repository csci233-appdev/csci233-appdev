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90" r:id="rId2"/>
    <p:sldId id="257" r:id="rId3"/>
    <p:sldId id="287" r:id="rId4"/>
    <p:sldId id="288" r:id="rId5"/>
    <p:sldId id="289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344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40" r:id="rId32"/>
    <p:sldId id="341" r:id="rId33"/>
    <p:sldId id="342" r:id="rId34"/>
    <p:sldId id="343" r:id="rId35"/>
    <p:sldId id="309" r:id="rId36"/>
    <p:sldId id="310" r:id="rId37"/>
    <p:sldId id="311" r:id="rId38"/>
    <p:sldId id="285" r:id="rId39"/>
    <p:sldId id="286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pos="54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kesh Kumar" initials="RK" lastIdx="8" clrIdx="0">
    <p:extLst>
      <p:ext uri="{19B8F6BF-5375-455C-9EA6-DF929625EA0E}">
        <p15:presenceInfo xmlns:p15="http://schemas.microsoft.com/office/powerpoint/2012/main" userId="S-1-5-21-2752970185-40930380-1894245210-52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  <a:srgbClr val="D4EAE4"/>
    <a:srgbClr val="0015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65" autoAdjust="0"/>
    <p:restoredTop sz="86891" autoAdjust="0"/>
  </p:normalViewPr>
  <p:slideViewPr>
    <p:cSldViewPr>
      <p:cViewPr varScale="1">
        <p:scale>
          <a:sx n="74" d="100"/>
          <a:sy n="74" d="100"/>
        </p:scale>
        <p:origin x="1690" y="67"/>
      </p:cViewPr>
      <p:guideLst>
        <p:guide orient="horz" pos="100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408"/>
    </p:cViewPr>
  </p:sorterViewPr>
  <p:notesViewPr>
    <p:cSldViewPr>
      <p:cViewPr varScale="1">
        <p:scale>
          <a:sx n="54" d="100"/>
          <a:sy n="54" d="100"/>
        </p:scale>
        <p:origin x="179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687" y="3962400"/>
            <a:ext cx="7794626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9 -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5D1914-9979-4928-BEEB-4586CCB160A9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98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03514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447800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9 -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6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2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18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9913" indent="-285750">
              <a:buClr>
                <a:srgbClr val="007FA3"/>
              </a:buClr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marL="256032" lvl="0" indent="-256032" algn="l" defTabSz="914400" rtl="0" eaLnBrk="1" latinLnBrk="0" hangingPunct="1">
              <a:spcBef>
                <a:spcPts val="15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Click to edit Master text styles</a:t>
            </a:r>
          </a:p>
          <a:p>
            <a:pPr marL="742950" lvl="1" indent="-28575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–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9 -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B0CCA-42FE-4F49-B329-D58EC7D36F62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47800"/>
            <a:ext cx="77724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4687" y="3962400"/>
            <a:ext cx="7794627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8 -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F0ED46-ED41-4598-BC5D-77A94B216872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229600" cy="10972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457200" y="1457450"/>
            <a:ext cx="82296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91114" y="160194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2648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57200" y="317565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3300984" y="317565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6128658" y="3171876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457200" y="4761264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3299388" y="4761264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17" hasCustomPrompt="1"/>
          </p:nvPr>
        </p:nvSpPr>
        <p:spPr>
          <a:xfrm>
            <a:off x="6128658" y="4764312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itchFamily="34" charset="0"/>
              <a:buNone/>
              <a:defRPr/>
            </a:lvl1pPr>
          </a:lstStyle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C1D4-5704-45BB-BA8B-9B7E98161C8B}" type="datetimeFigureOut">
              <a:rPr lang="en-US" smtClean="0"/>
              <a:pPr/>
              <a:t>3/31/2024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4A2B-EE51-41D7-B879-F8E5E9C51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16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12648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9184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612648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9184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612648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60020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algn="ctr">
              <a:buNone/>
              <a:defRPr sz="22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91840" y="1599180"/>
            <a:ext cx="2560320" cy="1463040"/>
          </a:xfrm>
          <a:solidFill>
            <a:srgbClr val="C5F3FF"/>
          </a:solidFill>
          <a:ln>
            <a:solidFill>
              <a:srgbClr val="007FA3"/>
            </a:solidFill>
          </a:ln>
        </p:spPr>
        <p:txBody>
          <a:bodyPr lIns="91440" tIns="91440" rIns="91440" bIns="91440" anchor="ctr" anchorCtr="0"/>
          <a:lstStyle>
            <a:lvl1pPr marL="0" indent="0" algn="ctr">
              <a:buFont typeface="Arial" pitchFamily="34" charset="0"/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15" name="Shape 15" descr="Pearson Logo"/>
          <p:cNvPicPr preferRelativeResize="0"/>
          <p:nvPr userDrawn="1"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929C19-A940-4FDA-BB74-83E573C05348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35256"/>
            <a:ext cx="8229600" cy="10972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69149"/>
            <a:ext cx="8229600" cy="424845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83944"/>
            <a:ext cx="8229600" cy="457200"/>
          </a:xfr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007FA3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28600" y="1641144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229600" cy="10972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288" y="1447800"/>
            <a:ext cx="3966312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288" y="2271712"/>
            <a:ext cx="3966312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401" y="1447800"/>
            <a:ext cx="3962400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401" y="2271712"/>
            <a:ext cx="3962400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C1D4-5704-45BB-BA8B-9B7E98161C8B}" type="datetimeFigureOut">
              <a:rPr lang="en-US" smtClean="0"/>
              <a:pPr/>
              <a:t>3/31/2024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4A2B-EE51-41D7-B879-F8E5E9C51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98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229600" cy="10972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3962400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71712"/>
            <a:ext cx="3962400" cy="160972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401" y="1447800"/>
            <a:ext cx="3965124" cy="823912"/>
          </a:xfrm>
        </p:spPr>
        <p:txBody>
          <a:bodyPr anchor="ctr" anchorCtr="0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4401" y="2271712"/>
            <a:ext cx="3965124" cy="160972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BC1D4-5704-45BB-BA8B-9B7E98161C8B}" type="datetimeFigureOut">
              <a:rPr lang="en-US" smtClean="0"/>
              <a:pPr/>
              <a:t>3/31/2024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4A2B-EE51-41D7-B879-F8E5E9C510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458730" y="4044721"/>
            <a:ext cx="3962400" cy="18557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4"/>
          </p:nvPr>
        </p:nvSpPr>
        <p:spPr>
          <a:xfrm>
            <a:off x="4732563" y="4055609"/>
            <a:ext cx="3965124" cy="18557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510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457200" y="2756648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457200" y="3886201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5"/>
          </p:nvPr>
        </p:nvSpPr>
        <p:spPr>
          <a:xfrm>
            <a:off x="457200" y="5029201"/>
            <a:ext cx="8229600" cy="9905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0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2000"/>
            </a:lvl5pPr>
            <a:lvl6pPr>
              <a:buClr>
                <a:srgbClr val="007FA3"/>
              </a:buClr>
              <a:defRPr sz="2000"/>
            </a:lvl6pPr>
            <a:lvl7pPr>
              <a:buClr>
                <a:srgbClr val="007FA3"/>
              </a:buClr>
              <a:defRPr sz="2000"/>
            </a:lvl7pPr>
            <a:lvl8pPr>
              <a:buClr>
                <a:srgbClr val="007FA3"/>
              </a:buClr>
              <a:defRPr sz="2000"/>
            </a:lvl8pPr>
            <a:lvl9pPr>
              <a:buClr>
                <a:srgbClr val="007FA3"/>
              </a:buCl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38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969" y="6172200"/>
            <a:ext cx="859536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3/31/2024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hape 15" descr="Pearson Logo"/>
          <p:cNvPicPr preferRelativeResize="0"/>
          <p:nvPr userDrawn="1"/>
        </p:nvPicPr>
        <p:blipFill rotWithShape="1">
          <a:blip r:embed="rId20" cstate="print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7881256" y="6428232"/>
            <a:ext cx="914400" cy="201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en-US" sz="1200" b="0" kern="1200" noProof="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9 - </a:t>
            </a:r>
            <a:fld id="{876BFF75-7A20-4B22-803D-E5D1449082FD}" type="slidenum">
              <a:rPr lang="en-US" altLang="en-US" sz="1200" b="0" kern="1200" noProof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en-US" sz="1200" b="0" kern="1200" noProof="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B42598-E17E-4AFA-A2E8-BF865C3E5BD4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7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0" r:id="rId4"/>
    <p:sldLayoutId id="2147483659" r:id="rId5"/>
    <p:sldLayoutId id="2147483658" r:id="rId6"/>
    <p:sldLayoutId id="2147483660" r:id="rId7"/>
    <p:sldLayoutId id="2147483651" r:id="rId8"/>
    <p:sldLayoutId id="2147483654" r:id="rId9"/>
    <p:sldLayoutId id="2147483655" r:id="rId10"/>
    <p:sldLayoutId id="2147483662" r:id="rId11"/>
    <p:sldLayoutId id="2147483663" r:id="rId12"/>
    <p:sldLayoutId id="2147483664" r:id="rId13"/>
    <p:sldLayoutId id="2147483665" r:id="rId14"/>
    <p:sldLayoutId id="2147483668" r:id="rId15"/>
    <p:sldLayoutId id="2147483669" r:id="rId16"/>
    <p:sldLayoutId id="2147483670" r:id="rId17"/>
    <p:sldLayoutId id="2147483671" r:id="rId1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descr="Assembly Language for x86 Processors, "/>
          <p:cNvSpPr>
            <a:spLocks noGrp="1"/>
          </p:cNvSpPr>
          <p:nvPr>
            <p:ph type="title"/>
          </p:nvPr>
        </p:nvSpPr>
        <p:spPr>
          <a:xfrm>
            <a:off x="457200" y="215372"/>
            <a:ext cx="8458200" cy="623817"/>
          </a:xfrm>
        </p:spPr>
        <p:txBody>
          <a:bodyPr/>
          <a:lstStyle/>
          <a:p>
            <a:r>
              <a:rPr lang="en-US" dirty="0"/>
              <a:t>Starting out with Python</a:t>
            </a:r>
            <a:endParaRPr lang="en-AU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7200" y="966930"/>
            <a:ext cx="8229600" cy="381000"/>
          </a:xfrm>
        </p:spPr>
        <p:txBody>
          <a:bodyPr/>
          <a:lstStyle/>
          <a:p>
            <a:r>
              <a:rPr lang="en-US" dirty="0"/>
              <a:t>Fifth Edition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Chapter 9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en-US" dirty="0"/>
              <a:t>Dictionaries and 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2021, 2018, 2015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Pearson Education, Inc. All Rights Reserved</a:t>
            </a:r>
            <a:endParaRPr lang="en-US" altLang="en-US" sz="1200" b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Picture 11" descr="Starting out with Python, Fifth edition by Tony Gaddis">
            <a:extLst>
              <a:ext uri="{FF2B5EF4-FFF2-40B4-BE49-F238E27FC236}">
                <a16:creationId xmlns:a16="http://schemas.microsoft.com/office/drawing/2014/main" id="{19AE27C4-80A6-459C-AA51-2752EA991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83" y="1347930"/>
            <a:ext cx="3813120" cy="4954303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222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C5C79B-0B22-4CB3-860F-C41012C6F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1C04B9-82AB-4CF4-B28C-841D1DD31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Dictionaries</a:t>
            </a:r>
          </a:p>
          <a:p>
            <a:pPr>
              <a:buFontTx/>
              <a:buChar char="•"/>
            </a:pPr>
            <a:r>
              <a:rPr lang="en-US" altLang="en-US" dirty="0"/>
              <a:t>Sets</a:t>
            </a:r>
          </a:p>
          <a:p>
            <a:pPr>
              <a:buFontTx/>
              <a:buChar char="•"/>
            </a:pPr>
            <a:r>
              <a:rPr lang="en-US" altLang="en-US" dirty="0"/>
              <a:t>Serializing Objects</a:t>
            </a:r>
            <a:endParaRPr lang="en-A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585AE4EB-4F16-4114-AD95-06AAADA16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Dictionaries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238DBBAD-B313-4A75-882D-3399A2F207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u="sng" dirty="0"/>
              <a:t>Dictionary</a:t>
            </a:r>
            <a:r>
              <a:rPr lang="en-US" altLang="en-US" dirty="0"/>
              <a:t>: object that stores a collection of data</a:t>
            </a:r>
          </a:p>
          <a:p>
            <a:pPr lvl="1"/>
            <a:r>
              <a:rPr lang="en-US" altLang="en-US" dirty="0"/>
              <a:t>Each element consists of a </a:t>
            </a:r>
            <a:r>
              <a:rPr lang="en-US" altLang="en-US" i="1" dirty="0"/>
              <a:t>key</a:t>
            </a:r>
            <a:r>
              <a:rPr lang="en-US" altLang="en-US" dirty="0"/>
              <a:t> and a </a:t>
            </a:r>
            <a:r>
              <a:rPr lang="en-US" altLang="en-US" i="1" dirty="0"/>
              <a:t>value</a:t>
            </a:r>
          </a:p>
          <a:p>
            <a:pPr lvl="2"/>
            <a:r>
              <a:rPr lang="en-US" altLang="en-US" dirty="0"/>
              <a:t>Often referred to as </a:t>
            </a:r>
            <a:r>
              <a:rPr lang="en-US" altLang="en-US" i="1" dirty="0"/>
              <a:t>mapping</a:t>
            </a:r>
            <a:r>
              <a:rPr lang="en-US" altLang="en-US" dirty="0"/>
              <a:t> of key to value</a:t>
            </a:r>
          </a:p>
          <a:p>
            <a:pPr lvl="2"/>
            <a:r>
              <a:rPr lang="en-US" altLang="en-US" dirty="0"/>
              <a:t>Key must be an immutable object</a:t>
            </a:r>
          </a:p>
          <a:p>
            <a:pPr lvl="1"/>
            <a:r>
              <a:rPr lang="en-US" altLang="en-US" dirty="0"/>
              <a:t>To retrieve a specific value, use the key associated with it</a:t>
            </a:r>
          </a:p>
          <a:p>
            <a:pPr lvl="1"/>
            <a:r>
              <a:rPr lang="en-US" altLang="en-US" dirty="0"/>
              <a:t>Format for creating a dictionary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dirty="0"/>
              <a:t>	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{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key1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val1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key2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val2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006CAE79-D056-4B0F-A298-0C0DFDB2F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Retrieving a Value from a Dictionary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3014330C-02FF-491C-A940-8D34B8D9DF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Elements in dictionary are unsorted</a:t>
            </a:r>
          </a:p>
          <a:p>
            <a:pPr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General format for retrieving value from dictionary: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If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altLang="en-US" dirty="0">
                <a:cs typeface="Courier New" panose="02070309020205020404" pitchFamily="49" charset="0"/>
              </a:rPr>
              <a:t> in the dictionary, associated value is returned, otherwise,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KeyError</a:t>
            </a:r>
            <a:r>
              <a:rPr lang="en-US" altLang="en-US" dirty="0">
                <a:cs typeface="Courier New" panose="02070309020205020404" pitchFamily="49" charset="0"/>
              </a:rPr>
              <a:t> exception is raised</a:t>
            </a:r>
          </a:p>
          <a:p>
            <a:pPr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Test whether a key is in a dictionary using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dirty="0">
                <a:cs typeface="Courier New" panose="02070309020205020404" pitchFamily="49" charset="0"/>
              </a:rPr>
              <a:t> and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not in </a:t>
            </a:r>
            <a:r>
              <a:rPr lang="en-US" altLang="en-US" dirty="0">
                <a:cs typeface="Courier New" panose="02070309020205020404" pitchFamily="49" charset="0"/>
              </a:rPr>
              <a:t>operators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Helps prevent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KeyError</a:t>
            </a:r>
            <a:r>
              <a:rPr lang="en-US" altLang="en-US" dirty="0">
                <a:cs typeface="Courier New" panose="02070309020205020404" pitchFamily="49" charset="0"/>
              </a:rPr>
              <a:t> exceptions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70F92178-EFFD-4A95-84D3-554D18D1D8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Adding Elements to an Existing Dictionary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706396EA-CF41-4022-B67E-CC419B5A60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Dictionaries are mutable objects</a:t>
            </a:r>
          </a:p>
          <a:p>
            <a:pPr>
              <a:buFontTx/>
              <a:buChar char="•"/>
            </a:pPr>
            <a:r>
              <a:rPr lang="en-US" altLang="en-US" dirty="0"/>
              <a:t>To add a new key-value pair:</a:t>
            </a:r>
          </a:p>
          <a:p>
            <a:pPr>
              <a:buFontTx/>
              <a:buNone/>
            </a:pPr>
            <a:r>
              <a:rPr lang="en-US" altLang="en-US" dirty="0"/>
              <a:t>		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</a:p>
          <a:p>
            <a:pPr lvl="1"/>
            <a:r>
              <a:rPr lang="en-US" altLang="en-US" dirty="0"/>
              <a:t>If key exists in the dictionary, the value associated with it will be changed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FB677A45-2EC8-473B-864C-59E2D0DA2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Deleting Elements From an Existing Dictionary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E4D9ECA1-761A-4F15-9B76-A977F65BA4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To delete a key-value pair:</a:t>
            </a:r>
          </a:p>
          <a:p>
            <a:pPr marL="2601913" indent="-255588">
              <a:buFontTx/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/>
            <a:r>
              <a:rPr lang="en-US" altLang="en-US" dirty="0"/>
              <a:t>If key is not in the dictionary,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KeyError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/>
              <a:t>exception is raised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E6BF5CF8-9382-4C9A-BF71-EEEFA0ACF7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Getting the Number of Elements and Mixing Data Types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F4C3C1F3-D13D-40C2-970F-9640718ED2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u="sng" dirty="0">
                <a:cs typeface="Courier New" panose="02070309020205020404" pitchFamily="49" charset="0"/>
              </a:rPr>
              <a:t> function</a:t>
            </a:r>
            <a:r>
              <a:rPr lang="en-US" altLang="en-US" dirty="0">
                <a:cs typeface="Courier New" panose="02070309020205020404" pitchFamily="49" charset="0"/>
              </a:rPr>
              <a:t>: used to obtain number of elements in a dictionary</a:t>
            </a:r>
          </a:p>
          <a:p>
            <a:pPr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Keys must be immutable objects, but associated values can be any type of object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One dictionary can include keys of several different immutable types</a:t>
            </a:r>
          </a:p>
          <a:p>
            <a:pPr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Values stored in a single dictionary can be of different types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9E1C072E-61B6-4FD4-989C-FBB4D972A7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Creating an Empty Dictionary and Using </a:t>
            </a:r>
            <a:r>
              <a:rPr lang="en-US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sz="3200" dirty="0"/>
              <a:t> Loop to Iterate Over a Dictionary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E7B7C4B9-590C-4E77-8B34-24818A54EF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To create an empty dictionary: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Use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Use built-in function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Elements can be added to the dictionary as program executes</a:t>
            </a:r>
          </a:p>
          <a:p>
            <a:pPr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Use a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dirty="0">
                <a:cs typeface="Courier New" panose="02070309020205020404" pitchFamily="49" charset="0"/>
              </a:rPr>
              <a:t> loop to iterate over a dictionary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General format: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6E977330-D151-4EC6-AAD3-43AF4BE7A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Some Dictionary Methods</a:t>
            </a:r>
            <a:r>
              <a:rPr lang="en-US" altLang="en-US" sz="2000" b="0" dirty="0"/>
              <a:t> (1 of 5)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5BFA7F9E-8FEF-4104-8878-8269CCF6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clear</a:t>
            </a:r>
            <a:r>
              <a:rPr lang="en-US" altLang="en-US" u="sng" dirty="0"/>
              <a:t> method</a:t>
            </a:r>
            <a:r>
              <a:rPr lang="en-US" altLang="en-US" dirty="0"/>
              <a:t>: deletes all the elements in a dictionary, leaving it empty</a:t>
            </a:r>
          </a:p>
          <a:p>
            <a:pPr lvl="1"/>
            <a:r>
              <a:rPr lang="en-US" altLang="en-US" dirty="0"/>
              <a:t>Format: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.clear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FontTx/>
              <a:buChar char="•"/>
            </a:pP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altLang="en-US" u="sng" dirty="0"/>
              <a:t> method</a:t>
            </a:r>
            <a:r>
              <a:rPr lang="en-US" altLang="en-US" dirty="0"/>
              <a:t>: gets a value associated with specified key from the dictionary</a:t>
            </a:r>
          </a:p>
          <a:p>
            <a:pPr lvl="1"/>
            <a:r>
              <a:rPr lang="en-US" altLang="en-US" dirty="0"/>
              <a:t>Format: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.get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altLang="en-US" dirty="0"/>
              <a:t> is returned if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altLang="en-US" dirty="0"/>
              <a:t> is not found</a:t>
            </a:r>
          </a:p>
          <a:p>
            <a:pPr lvl="1"/>
            <a:r>
              <a:rPr lang="en-US" altLang="en-US" dirty="0"/>
              <a:t>Alternative to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US" altLang="en-US" dirty="0"/>
              <a:t> operator</a:t>
            </a:r>
          </a:p>
          <a:p>
            <a:pPr lvl="2"/>
            <a:r>
              <a:rPr lang="en-US" altLang="en-US" dirty="0"/>
              <a:t>Cannot raise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KeyError</a:t>
            </a:r>
            <a:r>
              <a:rPr lang="en-US" altLang="en-US" dirty="0"/>
              <a:t> exception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DDFFA606-88E9-446B-B550-7BF5BD246A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Some Dictionary Methods</a:t>
            </a:r>
            <a:r>
              <a:rPr lang="en-US" altLang="en-US" sz="2000" b="0" dirty="0"/>
              <a:t> (2 of 5)</a:t>
            </a:r>
            <a:endParaRPr lang="en-US" altLang="en-US" sz="2000" dirty="0"/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2CB29717-9F79-424B-9073-C5EE9CB426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items</a:t>
            </a:r>
            <a:r>
              <a:rPr lang="en-US" altLang="en-US" u="sng" dirty="0"/>
              <a:t> method</a:t>
            </a:r>
            <a:r>
              <a:rPr lang="en-US" altLang="en-US" dirty="0"/>
              <a:t>: returns all the dictionaries keys and associated values</a:t>
            </a:r>
          </a:p>
          <a:p>
            <a:pPr lvl="1"/>
            <a:r>
              <a:rPr lang="en-US" altLang="en-US" dirty="0"/>
              <a:t>Format: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.items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altLang="en-US" dirty="0"/>
              <a:t>Returned as a </a:t>
            </a:r>
            <a:r>
              <a:rPr lang="en-US" altLang="en-US" i="1" dirty="0"/>
              <a:t>dictionary view</a:t>
            </a:r>
          </a:p>
          <a:p>
            <a:pPr lvl="2"/>
            <a:r>
              <a:rPr lang="en-US" altLang="en-US" dirty="0"/>
              <a:t>Each element in dictionary view is a tuple which contains a key and its associated value</a:t>
            </a:r>
          </a:p>
          <a:p>
            <a:pPr lvl="2"/>
            <a:r>
              <a:rPr lang="en-US" altLang="en-US" dirty="0"/>
              <a:t>Use a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dirty="0"/>
              <a:t> loop to iterate over the tuples in the sequence</a:t>
            </a:r>
          </a:p>
          <a:p>
            <a:pPr lvl="3"/>
            <a:r>
              <a:rPr lang="en-US" altLang="en-US" dirty="0"/>
              <a:t>Can use a variable which receives a tuple, or can use two variables which receive key and value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F4F9A055-2D7A-4B72-A84F-6C494961E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Some Dictionary Methods</a:t>
            </a:r>
            <a:r>
              <a:rPr lang="en-US" altLang="en-US" sz="2000" b="0" dirty="0"/>
              <a:t> (3 of 5)</a:t>
            </a:r>
            <a:endParaRPr lang="en-US" altLang="en-US" sz="2000" dirty="0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E6AE5552-39E6-44BB-BD4B-84870FF902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keys</a:t>
            </a:r>
            <a:r>
              <a:rPr lang="en-US" altLang="en-US" u="sng" dirty="0"/>
              <a:t> method</a:t>
            </a:r>
            <a:r>
              <a:rPr lang="en-US" altLang="en-US" dirty="0"/>
              <a:t>: returns all the dictionaries keys as a sequence</a:t>
            </a:r>
          </a:p>
          <a:p>
            <a:pPr lvl="1"/>
            <a:r>
              <a:rPr lang="en-US" altLang="en-US" dirty="0"/>
              <a:t>Format: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.keys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FontTx/>
              <a:buChar char="•"/>
            </a:pP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US" altLang="en-US" u="sng" dirty="0"/>
              <a:t> method</a:t>
            </a:r>
            <a:r>
              <a:rPr lang="en-US" altLang="en-US" dirty="0"/>
              <a:t>: returns value associated with specified key and removes that key-value pair from the dictionary</a:t>
            </a:r>
          </a:p>
          <a:p>
            <a:pPr lvl="1"/>
            <a:r>
              <a:rPr lang="en-US" altLang="en-US" dirty="0"/>
              <a:t>Format: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.pop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altLang="en-US" dirty="0">
                <a:cs typeface="Courier New" panose="02070309020205020404" pitchFamily="49" charset="0"/>
              </a:rPr>
              <a:t> is returned if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altLang="en-US" dirty="0">
                <a:cs typeface="Courier New" panose="02070309020205020404" pitchFamily="49" charset="0"/>
              </a:rPr>
              <a:t> is not found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CB0ECE14-7C72-47D5-98B8-2681D79A4F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Some Dictionary Methods</a:t>
            </a:r>
            <a:r>
              <a:rPr lang="en-US" altLang="en-US" sz="2000" b="0" dirty="0"/>
              <a:t> (4 of 5)</a:t>
            </a:r>
            <a:endParaRPr lang="en-US" altLang="en-US" sz="2000" dirty="0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3FF94AB7-8A4B-4AAD-93D1-CE8A806A21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popitem</a:t>
            </a:r>
            <a:r>
              <a:rPr lang="en-US" altLang="en-US" u="sng" dirty="0"/>
              <a:t> method</a:t>
            </a:r>
            <a:r>
              <a:rPr lang="en-US" altLang="en-US" dirty="0"/>
              <a:t>: Returns, as a tuple, the key-value pair that was last added to the dictionary. The method also removes the key-value pair from the dictionary.</a:t>
            </a:r>
          </a:p>
          <a:p>
            <a:pPr lvl="1"/>
            <a:r>
              <a:rPr lang="en-US" altLang="en-US" sz="2400" dirty="0"/>
              <a:t>Format: </a:t>
            </a:r>
            <a:r>
              <a:rPr lang="en-US" altLang="en-US" sz="2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.popitem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altLang="en-US" sz="2400" dirty="0">
                <a:cs typeface="Courier New" panose="02070309020205020404" pitchFamily="49" charset="0"/>
              </a:rPr>
              <a:t>Key-value pair returned as a tuple</a:t>
            </a:r>
          </a:p>
          <a:p>
            <a:pPr>
              <a:buFontTx/>
              <a:buChar char="•"/>
            </a:pP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altLang="en-US" u="sng" dirty="0">
                <a:cs typeface="Courier New" panose="02070309020205020404" pitchFamily="49" charset="0"/>
              </a:rPr>
              <a:t> </a:t>
            </a:r>
            <a:r>
              <a:rPr lang="en-US" altLang="en-US" u="sng" dirty="0"/>
              <a:t>method</a:t>
            </a:r>
            <a:r>
              <a:rPr lang="en-US" altLang="en-US" dirty="0"/>
              <a:t>: returns all the dictionaries values as a sequence</a:t>
            </a:r>
          </a:p>
          <a:p>
            <a:pPr lvl="1"/>
            <a:r>
              <a:rPr lang="en-US" altLang="en-US" sz="2400" dirty="0"/>
              <a:t>Format: </a:t>
            </a:r>
            <a:r>
              <a:rPr lang="en-US" altLang="en-US" sz="2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dictionary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.values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altLang="en-US" sz="2400" dirty="0"/>
              <a:t>Use a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sz="2400" dirty="0"/>
              <a:t> loop to iterate over the values</a:t>
            </a:r>
            <a:endParaRPr lang="en-US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•"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D275-A353-4472-A568-339CA68B7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Some Dictionary Methods</a:t>
            </a:r>
            <a:r>
              <a:rPr lang="en-US" altLang="en-US" sz="2000" b="0" dirty="0"/>
              <a:t> (5 of 5)</a:t>
            </a:r>
            <a:endParaRPr lang="en-AU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01D68E-4545-4FC3-A482-ACBC9986BEF9}"/>
              </a:ext>
            </a:extLst>
          </p:cNvPr>
          <p:cNvSpPr/>
          <p:nvPr/>
        </p:nvSpPr>
        <p:spPr>
          <a:xfrm>
            <a:off x="381000" y="1828800"/>
            <a:ext cx="35119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+mj-lt"/>
              </a:rPr>
              <a:t>Table 9-1 </a:t>
            </a:r>
            <a:r>
              <a:rPr lang="en-US" sz="1400" dirty="0">
                <a:latin typeface="+mj-lt"/>
              </a:rPr>
              <a:t>Some of the dictionary methods</a:t>
            </a:r>
            <a:endParaRPr lang="en-AU" sz="1400" dirty="0">
              <a:latin typeface="+mj-lt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489D6AE-2BC9-47E2-AE40-E4C015CF0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681481"/>
              </p:ext>
            </p:extLst>
          </p:nvPr>
        </p:nvGraphicFramePr>
        <p:xfrm>
          <a:off x="463062" y="2362200"/>
          <a:ext cx="8229600" cy="32359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52110008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3303188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Method</a:t>
                      </a:r>
                      <a:endParaRPr lang="en-AU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AU" sz="16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7100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4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Clear</a:t>
                      </a:r>
                      <a:endParaRPr lang="en-AU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Clears the contents of a dictionary.</a:t>
                      </a:r>
                      <a:endParaRPr lang="en-AU" sz="13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941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4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</a:t>
                      </a:r>
                      <a:endParaRPr lang="en-AU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Gets the value associated with a specified key. If the key is not found, the method does not raise an exception. Instead, it returns a default value.</a:t>
                      </a:r>
                      <a:endParaRPr lang="en-AU" sz="13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134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4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items</a:t>
                      </a:r>
                      <a:endParaRPr lang="en-AU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all the keys in a dictionary and their associated values as a sequence of 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tuples.</a:t>
                      </a:r>
                      <a:endParaRPr lang="en-AU" sz="13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900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4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keys</a:t>
                      </a:r>
                      <a:endParaRPr lang="en-AU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all the keys in a dictionary as a sequence of tuples.</a:t>
                      </a:r>
                      <a:endParaRPr lang="en-AU" sz="13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790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4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pop</a:t>
                      </a:r>
                      <a:endParaRPr lang="en-AU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the value associated with a specified key and removes that key-value pair from the dictionary. If the key is not found, the method returns a default </a:t>
                      </a:r>
                      <a:r>
                        <a:rPr lang="en-AU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value.</a:t>
                      </a:r>
                      <a:endParaRPr lang="en-AU" sz="13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773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400" b="0" i="0" u="none" strike="noStrike" kern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popitem</a:t>
                      </a:r>
                      <a:endParaRPr lang="en-AU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Returns, as a tuple, the key-value pair that was last added to the dictionary. The method also removes the key-value pair from the dictionary.</a:t>
                      </a:r>
                      <a:endParaRPr lang="en-AU" sz="13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914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sz="14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values</a:t>
                      </a:r>
                      <a:endParaRPr lang="en-AU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Returns all the values in the dictionary as a sequence of tuples.</a:t>
                      </a:r>
                      <a:endParaRPr lang="en-AU" sz="13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161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937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C02F7627-182F-4E49-BA66-0825D4057F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Dictionary Comprehensions</a:t>
            </a:r>
            <a:r>
              <a:rPr lang="en-US" altLang="en-US" sz="2000" b="0" dirty="0"/>
              <a:t> (1 of 6)</a:t>
            </a:r>
            <a:endParaRPr lang="en-US" alt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1B7DC-737F-4E02-8241-11D6D7DEF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Dictionary comprehension: an expression that reads a sequence of input elements and uses those input elements to produce a dictionary</a:t>
            </a:r>
            <a:endParaRPr lang="en-A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B2667DCC-E00A-4CD6-A35D-FA426B4CE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Dictionary Comprehensions</a:t>
            </a:r>
            <a:r>
              <a:rPr lang="en-US" altLang="en-US" sz="2000" b="0" dirty="0"/>
              <a:t> (2 of 6)</a:t>
            </a:r>
            <a:endParaRPr lang="en-US" altLang="en-US" sz="2000" dirty="0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79B49633-3F07-49CA-96DA-6EE66DCE19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sz="2400" dirty="0"/>
              <a:t>Example: create a dictionary in which the keys are the integers 1 through 4 and the values are the squares of the keys</a:t>
            </a:r>
          </a:p>
        </p:txBody>
      </p:sp>
      <p:sp>
        <p:nvSpPr>
          <p:cNvPr id="25604" name="TextBox 1">
            <a:extLst>
              <a:ext uri="{FF2B5EF4-FFF2-40B4-BE49-F238E27FC236}">
                <a16:creationId xmlns:a16="http://schemas.microsoft.com/office/drawing/2014/main" id="{D2EE30D6-95D5-46A9-8D3F-37A926F2D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5743" y="2529636"/>
            <a:ext cx="6262688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7FA3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numbers = [1, 2, 3, 4]</a:t>
            </a:r>
          </a:p>
          <a:p>
            <a:pPr>
              <a:defRPr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squares = {}</a:t>
            </a:r>
          </a:p>
          <a:p>
            <a:pPr>
              <a:defRPr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for item in numbers:</a:t>
            </a:r>
          </a:p>
          <a:p>
            <a:pPr>
              <a:defRPr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...     squares[item] = item**2</a:t>
            </a:r>
          </a:p>
          <a:p>
            <a:pPr>
              <a:defRPr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>
              <a:defRPr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squares</a:t>
            </a:r>
          </a:p>
          <a:p>
            <a:pPr>
              <a:defRPr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{1: 1, 2: 4, 3: 9, 4: 16}</a:t>
            </a:r>
          </a:p>
          <a:p>
            <a:pPr>
              <a:defRPr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25605" name="TextBox 2">
            <a:extLst>
              <a:ext uri="{FF2B5EF4-FFF2-40B4-BE49-F238E27FC236}">
                <a16:creationId xmlns:a16="http://schemas.microsoft.com/office/drawing/2014/main" id="{4D7F17D6-D001-426A-951B-2321682FF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0775" y="4735513"/>
            <a:ext cx="6307138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FA3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squares = {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item:item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**2 for item in numbers}</a:t>
            </a:r>
          </a:p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squares</a:t>
            </a:r>
          </a:p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{1: 1, 2: 4, 3: 9, 4: 16}</a:t>
            </a:r>
          </a:p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17414" name="TextBox 1">
            <a:extLst>
              <a:ext uri="{FF2B5EF4-FFF2-40B4-BE49-F238E27FC236}">
                <a16:creationId xmlns:a16="http://schemas.microsoft.com/office/drawing/2014/main" id="{F4C8B7B2-0DC4-44F7-9CDE-EC27B9D2F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819400"/>
            <a:ext cx="1676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 dirty="0"/>
              <a:t>Using a </a:t>
            </a:r>
            <a:r>
              <a:rPr lang="en-US" altLang="en-US" sz="1800" b="0" dirty="0">
                <a:latin typeface="Consolas" panose="020B0609020204030204" pitchFamily="49" charset="0"/>
              </a:rPr>
              <a:t>for</a:t>
            </a:r>
            <a:r>
              <a:rPr lang="en-US" altLang="en-US" sz="1800" b="0" dirty="0"/>
              <a:t> loop</a:t>
            </a:r>
          </a:p>
        </p:txBody>
      </p:sp>
      <p:sp>
        <p:nvSpPr>
          <p:cNvPr id="17415" name="TextBox 6">
            <a:extLst>
              <a:ext uri="{FF2B5EF4-FFF2-40B4-BE49-F238E27FC236}">
                <a16:creationId xmlns:a16="http://schemas.microsoft.com/office/drawing/2014/main" id="{6D1A9A8F-2B50-401A-9C52-5BEC15528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795838"/>
            <a:ext cx="17827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0" dirty="0"/>
              <a:t>Using a dictionary comprehension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4CF5C884-8962-4E55-8B86-6EC9BA7DB9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Dictionary Comprehensions</a:t>
            </a:r>
            <a:r>
              <a:rPr lang="en-US" altLang="en-US" sz="2000" b="0" dirty="0"/>
              <a:t> (3 of 6)</a:t>
            </a:r>
            <a:endParaRPr lang="en-US" altLang="en-US" sz="2000" dirty="0"/>
          </a:p>
        </p:txBody>
      </p:sp>
      <p:sp>
        <p:nvSpPr>
          <p:cNvPr id="18435" name="TextBox 2">
            <a:extLst>
              <a:ext uri="{FF2B5EF4-FFF2-40B4-BE49-F238E27FC236}">
                <a16:creationId xmlns:a16="http://schemas.microsoft.com/office/drawing/2014/main" id="{E157A40A-83B5-44B3-8648-090EE9A08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1860550"/>
            <a:ext cx="82958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Courier New" panose="02070309020205020404" pitchFamily="49" charset="0"/>
                <a:cs typeface="Courier New" panose="02070309020205020404" pitchFamily="49" charset="0"/>
              </a:rPr>
              <a:t>squares = {</a:t>
            </a:r>
            <a:r>
              <a:rPr lang="en-US" altLang="en-US" sz="24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item:item</a:t>
            </a:r>
            <a:r>
              <a:rPr lang="en-US" altLang="en-US" sz="2400" b="0" dirty="0">
                <a:latin typeface="Courier New" panose="02070309020205020404" pitchFamily="49" charset="0"/>
                <a:cs typeface="Courier New" panose="02070309020205020404" pitchFamily="49" charset="0"/>
              </a:rPr>
              <a:t>**2 for item in numbers}</a:t>
            </a:r>
          </a:p>
        </p:txBody>
      </p:sp>
      <p:sp>
        <p:nvSpPr>
          <p:cNvPr id="18436" name="Left Brace 3">
            <a:extLst>
              <a:ext uri="{FF2B5EF4-FFF2-40B4-BE49-F238E27FC236}">
                <a16:creationId xmlns:a16="http://schemas.microsoft.com/office/drawing/2014/main" id="{E36D3541-EBC5-4F4E-A8BF-8740425AC593}"/>
              </a:ext>
            </a:extLst>
          </p:cNvPr>
          <p:cNvSpPr>
            <a:spLocks/>
          </p:cNvSpPr>
          <p:nvPr/>
        </p:nvSpPr>
        <p:spPr bwMode="auto">
          <a:xfrm rot="-5400000">
            <a:off x="3581400" y="1509713"/>
            <a:ext cx="228600" cy="19050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18437" name="Left Brace 6">
            <a:extLst>
              <a:ext uri="{FF2B5EF4-FFF2-40B4-BE49-F238E27FC236}">
                <a16:creationId xmlns:a16="http://schemas.microsoft.com/office/drawing/2014/main" id="{B3F74DEF-C369-47F0-B26D-A9725063C23F}"/>
              </a:ext>
            </a:extLst>
          </p:cNvPr>
          <p:cNvSpPr>
            <a:spLocks/>
          </p:cNvSpPr>
          <p:nvPr/>
        </p:nvSpPr>
        <p:spPr bwMode="auto">
          <a:xfrm rot="-5400000">
            <a:off x="6362700" y="862013"/>
            <a:ext cx="228600" cy="3200400"/>
          </a:xfrm>
          <a:prstGeom prst="leftBrace">
            <a:avLst>
              <a:gd name="adj1" fmla="val 8296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18438" name="TextBox 4">
            <a:extLst>
              <a:ext uri="{FF2B5EF4-FFF2-40B4-BE49-F238E27FC236}">
                <a16:creationId xmlns:a16="http://schemas.microsoft.com/office/drawing/2014/main" id="{6A39699C-F2D0-4862-9175-13E5D41DC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619375"/>
            <a:ext cx="2224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007DC4"/>
                </a:solidFill>
              </a:rPr>
              <a:t>Iteration Expression</a:t>
            </a:r>
          </a:p>
        </p:txBody>
      </p:sp>
      <p:sp>
        <p:nvSpPr>
          <p:cNvPr id="18439" name="TextBox 8">
            <a:extLst>
              <a:ext uri="{FF2B5EF4-FFF2-40B4-BE49-F238E27FC236}">
                <a16:creationId xmlns:a16="http://schemas.microsoft.com/office/drawing/2014/main" id="{8A79AAE2-3069-4334-BF34-1B412CCE8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350" y="2598738"/>
            <a:ext cx="2044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007DC4"/>
                </a:solidFill>
              </a:rPr>
              <a:t>Result Expression</a:t>
            </a:r>
          </a:p>
        </p:txBody>
      </p:sp>
      <p:sp>
        <p:nvSpPr>
          <p:cNvPr id="18440" name="TextBox 5">
            <a:extLst>
              <a:ext uri="{FF2B5EF4-FFF2-40B4-BE49-F238E27FC236}">
                <a16:creationId xmlns:a16="http://schemas.microsoft.com/office/drawing/2014/main" id="{090FA8CC-4158-4A24-9917-1AC23B543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57600"/>
            <a:ext cx="807720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rgbClr val="007FA3"/>
              </a:buClr>
            </a:pPr>
            <a:r>
              <a:rPr lang="en-US" altLang="en-US" sz="2000" b="0" dirty="0">
                <a:latin typeface="+mj-lt"/>
              </a:rPr>
              <a:t>The iteration expression iterates over the elements of numbers</a:t>
            </a:r>
          </a:p>
          <a:p>
            <a:pPr>
              <a:spcBef>
                <a:spcPts val="600"/>
              </a:spcBef>
              <a:buClr>
                <a:srgbClr val="007FA3"/>
              </a:buClr>
            </a:pPr>
            <a:r>
              <a:rPr lang="en-US" altLang="en-US" sz="2000" b="0" dirty="0">
                <a:latin typeface="+mj-lt"/>
              </a:rPr>
              <a:t>Each time it iterates, the target variable item is assigned the value of an element</a:t>
            </a:r>
          </a:p>
          <a:p>
            <a:pPr>
              <a:spcBef>
                <a:spcPts val="600"/>
              </a:spcBef>
              <a:buClr>
                <a:srgbClr val="007FA3"/>
              </a:buClr>
            </a:pPr>
            <a:r>
              <a:rPr lang="en-US" altLang="en-US" sz="2000" b="0" dirty="0">
                <a:latin typeface="+mj-lt"/>
              </a:rPr>
              <a:t>At the end of each iteration, an element containing item as the key and item**2 as the value is added to the new dictionary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B2BC6588-3C8A-4E0A-B1F2-F962C5B6A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Dictionary Comprehensions</a:t>
            </a:r>
            <a:r>
              <a:rPr lang="en-US" altLang="en-US" sz="2000" b="0" dirty="0"/>
              <a:t> (4 of 6)</a:t>
            </a:r>
            <a:endParaRPr lang="en-US" altLang="en-US" sz="2000" dirty="0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CFC00C5F-91DE-4838-B416-00139082AB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Example: You have an existing list of strings. Create a dictionary in which the keys are the stings in the list, and the values are the lengths of the strings</a:t>
            </a:r>
          </a:p>
        </p:txBody>
      </p:sp>
      <p:sp>
        <p:nvSpPr>
          <p:cNvPr id="25604" name="TextBox 1">
            <a:extLst>
              <a:ext uri="{FF2B5EF4-FFF2-40B4-BE49-F238E27FC236}">
                <a16:creationId xmlns:a16="http://schemas.microsoft.com/office/drawing/2014/main" id="{9A6DC4DF-615F-4BB8-957B-ED67D9A8D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7" y="3421464"/>
            <a:ext cx="7820025" cy="147796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7FA3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names = ['Jeremy', 'Kate', 'Peg']</a:t>
            </a:r>
          </a:p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str_lengths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item:len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(item) for item in names}</a:t>
            </a:r>
          </a:p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str_lengths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{'Jeremy': 6, 'Kate': 4, 'Peg': 3}</a:t>
            </a:r>
          </a:p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78FF5B1-C488-409A-9B41-43AF58742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Dictionary Comprehensions</a:t>
            </a:r>
            <a:r>
              <a:rPr lang="en-US" altLang="en-US" sz="2000" b="0" dirty="0"/>
              <a:t> (5 of 6)</a:t>
            </a:r>
            <a:endParaRPr lang="en-US" altLang="en-US" sz="2000" dirty="0"/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96DEE1D-0D45-429E-B86C-D6F3F5386B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Example: making a copy of a dictionary</a:t>
            </a:r>
          </a:p>
        </p:txBody>
      </p:sp>
      <p:sp>
        <p:nvSpPr>
          <p:cNvPr id="25604" name="TextBox 1">
            <a:extLst>
              <a:ext uri="{FF2B5EF4-FFF2-40B4-BE49-F238E27FC236}">
                <a16:creationId xmlns:a16="http://schemas.microsoft.com/office/drawing/2014/main" id="{F07A2BB2-8D31-446D-9CEE-2D48A57E8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193" y="2514600"/>
            <a:ext cx="7821613" cy="14779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7FA3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dict1 = {'A':1, 'B':2, 'C':3}</a:t>
            </a:r>
          </a:p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dict2 = {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k:v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for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k,v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dict1.items()}</a:t>
            </a:r>
          </a:p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dict2</a:t>
            </a:r>
          </a:p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{'A': 1, 'B': 2, 'C': 3}</a:t>
            </a:r>
          </a:p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0B694478-593A-4BA2-9B3E-40E3186232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Dictionary Comprehensions</a:t>
            </a:r>
            <a:r>
              <a:rPr lang="en-US" altLang="en-US" sz="2000" b="0" dirty="0"/>
              <a:t> (6 of 6)</a:t>
            </a:r>
            <a:endParaRPr lang="en-US" altLang="en-US" sz="2000" dirty="0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8DBF00B9-9167-402E-842D-71733DD766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You can use an </a:t>
            </a:r>
            <a:r>
              <a:rPr lang="en-US" altLang="en-US" dirty="0">
                <a:latin typeface="Consolas" panose="020B0609020204030204" pitchFamily="49" charset="0"/>
              </a:rPr>
              <a:t>if</a:t>
            </a:r>
            <a:r>
              <a:rPr lang="en-US" altLang="en-US" dirty="0"/>
              <a:t> clause in a dictionary comprehension to select only certain elements of the input sequence</a:t>
            </a:r>
          </a:p>
          <a:p>
            <a:pPr lvl="1"/>
            <a:r>
              <a:rPr lang="en-US" altLang="en-US" sz="2200" dirty="0"/>
              <a:t>Example: A dictionary contains cities and their populations as key-value pairs. Select only the cities with a population greater than 2 million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A294E632-C429-41C0-A8FC-E2BC408A6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4064001"/>
            <a:ext cx="8101012" cy="20621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7FA3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600" dirty="0">
                <a:latin typeface="Consolas" panose="020B0609020204030204" pitchFamily="49" charset="0"/>
              </a:rPr>
              <a:t>&gt;&gt;&gt; populations = {'New York': 8398748, 'Los Angeles': 3990456,</a:t>
            </a:r>
          </a:p>
          <a:p>
            <a:pPr>
              <a:defRPr/>
            </a:pPr>
            <a:r>
              <a:rPr lang="en-US" altLang="en-US" sz="1600" dirty="0">
                <a:latin typeface="Consolas" panose="020B0609020204030204" pitchFamily="49" charset="0"/>
              </a:rPr>
              <a:t>...                'Chicago': 2705994, 'Houston': 2325502, </a:t>
            </a:r>
          </a:p>
          <a:p>
            <a:pPr>
              <a:defRPr/>
            </a:pPr>
            <a:r>
              <a:rPr lang="en-US" altLang="en-US" sz="1600" dirty="0">
                <a:latin typeface="Consolas" panose="020B0609020204030204" pitchFamily="49" charset="0"/>
              </a:rPr>
              <a:t>...                'Phoenix': 1660272, 'Philadelphia': 1584138}</a:t>
            </a:r>
          </a:p>
          <a:p>
            <a:pPr>
              <a:defRPr/>
            </a:pPr>
            <a:r>
              <a:rPr lang="en-US" altLang="en-US" sz="1600" dirty="0">
                <a:latin typeface="Consolas" panose="020B0609020204030204" pitchFamily="49" charset="0"/>
              </a:rPr>
              <a:t>&gt;&gt;&gt; largest = {</a:t>
            </a:r>
            <a:r>
              <a:rPr lang="en-US" altLang="en-US" sz="1600" dirty="0" err="1">
                <a:latin typeface="Consolas" panose="020B0609020204030204" pitchFamily="49" charset="0"/>
              </a:rPr>
              <a:t>k:v</a:t>
            </a:r>
            <a:r>
              <a:rPr lang="en-US" altLang="en-US" sz="1600" dirty="0">
                <a:latin typeface="Consolas" panose="020B0609020204030204" pitchFamily="49" charset="0"/>
              </a:rPr>
              <a:t> for </a:t>
            </a:r>
            <a:r>
              <a:rPr lang="en-US" altLang="en-US" sz="1600" dirty="0" err="1">
                <a:latin typeface="Consolas" panose="020B0609020204030204" pitchFamily="49" charset="0"/>
              </a:rPr>
              <a:t>k,v</a:t>
            </a:r>
            <a:r>
              <a:rPr lang="en-US" altLang="en-US" sz="1600" dirty="0">
                <a:latin typeface="Consolas" panose="020B0609020204030204" pitchFamily="49" charset="0"/>
              </a:rPr>
              <a:t> in </a:t>
            </a:r>
            <a:r>
              <a:rPr lang="en-US" altLang="en-US" sz="1600" dirty="0" err="1">
                <a:latin typeface="Consolas" panose="020B0609020204030204" pitchFamily="49" charset="0"/>
              </a:rPr>
              <a:t>populations.items</a:t>
            </a:r>
            <a:r>
              <a:rPr lang="en-US" altLang="en-US" sz="1600" dirty="0">
                <a:latin typeface="Consolas" panose="020B0609020204030204" pitchFamily="49" charset="0"/>
              </a:rPr>
              <a:t>() if v &gt; 2000000}</a:t>
            </a:r>
          </a:p>
          <a:p>
            <a:pPr>
              <a:defRPr/>
            </a:pPr>
            <a:r>
              <a:rPr lang="en-US" altLang="en-US" sz="1600" dirty="0">
                <a:latin typeface="Consolas" panose="020B0609020204030204" pitchFamily="49" charset="0"/>
              </a:rPr>
              <a:t>&gt;&gt;&gt; largest</a:t>
            </a:r>
          </a:p>
          <a:p>
            <a:pPr>
              <a:defRPr/>
            </a:pPr>
            <a:r>
              <a:rPr lang="en-US" altLang="en-US" sz="1600" dirty="0">
                <a:latin typeface="Consolas" panose="020B0609020204030204" pitchFamily="49" charset="0"/>
              </a:rPr>
              <a:t>{'New York': 8398748, 'Los Angeles': 3990456, 'Chicago': 2705994, 'Houston': 2325502}</a:t>
            </a:r>
          </a:p>
          <a:p>
            <a:pPr>
              <a:defRPr/>
            </a:pPr>
            <a:r>
              <a:rPr lang="en-US" altLang="en-US" sz="1600" dirty="0">
                <a:latin typeface="Consolas" panose="020B0609020204030204" pitchFamily="49" charset="0"/>
              </a:rPr>
              <a:t>&gt;&gt;&gt;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1AAA19C-0116-4E44-81B8-D2FE44699A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9F015195-87EE-4DB5-8E51-580E1BC2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u="sng" dirty="0">
                <a:cs typeface="Courier New" panose="02070309020205020404" pitchFamily="49" charset="0"/>
              </a:rPr>
              <a:t>Set</a:t>
            </a:r>
            <a:r>
              <a:rPr lang="en-US" altLang="en-US" dirty="0">
                <a:cs typeface="Courier New" panose="02070309020205020404" pitchFamily="49" charset="0"/>
              </a:rPr>
              <a:t>: object that stores a collection of data in same way as mathematical set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All items must be unique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Set is unordered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Elements can be of different data types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E50BE134-E5F5-47ED-9B4E-2B75BD2F6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Creating a Set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CCC10F4-210A-411E-ABA0-A926FE4C68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u="sng" dirty="0">
                <a:cs typeface="Courier New" panose="02070309020205020404" pitchFamily="49" charset="0"/>
              </a:rPr>
              <a:t> function</a:t>
            </a:r>
            <a:r>
              <a:rPr lang="en-US" altLang="en-US" dirty="0">
                <a:cs typeface="Courier New" panose="02070309020205020404" pitchFamily="49" charset="0"/>
              </a:rPr>
              <a:t>: used to create a set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For empty set, call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set()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For non-empty set, call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argument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dirty="0">
                <a:cs typeface="Courier New" panose="02070309020205020404" pitchFamily="49" charset="0"/>
              </a:rPr>
              <a:t> where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argument</a:t>
            </a:r>
            <a:r>
              <a:rPr lang="en-US" altLang="en-US" dirty="0">
                <a:cs typeface="Courier New" panose="02070309020205020404" pitchFamily="49" charset="0"/>
              </a:rPr>
              <a:t> is an object that contains </a:t>
            </a:r>
            <a:r>
              <a:rPr lang="en-US" altLang="en-US" dirty="0" err="1">
                <a:cs typeface="Courier New" panose="02070309020205020404" pitchFamily="49" charset="0"/>
              </a:rPr>
              <a:t>iterable</a:t>
            </a:r>
            <a:r>
              <a:rPr lang="en-US" altLang="en-US" dirty="0">
                <a:cs typeface="Courier New" panose="02070309020205020404" pitchFamily="49" charset="0"/>
              </a:rPr>
              <a:t> elements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e.g.,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argument</a:t>
            </a:r>
            <a:r>
              <a:rPr lang="en-US" altLang="en-US" dirty="0">
                <a:cs typeface="Courier New" panose="02070309020205020404" pitchFamily="49" charset="0"/>
              </a:rPr>
              <a:t> can be a list, string, or tuple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If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argument</a:t>
            </a:r>
            <a:r>
              <a:rPr lang="en-US" altLang="en-US" dirty="0">
                <a:cs typeface="Courier New" panose="02070309020205020404" pitchFamily="49" charset="0"/>
              </a:rPr>
              <a:t> is a string, each character becomes a set element</a:t>
            </a:r>
          </a:p>
          <a:p>
            <a:pPr lvl="3" eaLnBrk="1" hangingPunct="1"/>
            <a:r>
              <a:rPr lang="en-US" altLang="en-US" dirty="0">
                <a:cs typeface="Courier New" panose="02070309020205020404" pitchFamily="49" charset="0"/>
              </a:rPr>
              <a:t>For set of strings, pass them to the function as a list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If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argument</a:t>
            </a:r>
            <a:r>
              <a:rPr lang="en-US" altLang="en-US" i="1" dirty="0">
                <a:cs typeface="Courier New" panose="02070309020205020404" pitchFamily="49" charset="0"/>
              </a:rPr>
              <a:t> </a:t>
            </a:r>
            <a:r>
              <a:rPr lang="en-US" altLang="en-US" dirty="0">
                <a:cs typeface="Courier New" panose="02070309020205020404" pitchFamily="49" charset="0"/>
              </a:rPr>
              <a:t>contains duplicates, only one of the duplicates will appear in the set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922303E4-E4FA-41FB-A422-6ADB05199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Getting the Number of and Adding Elements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17976ADB-B3D5-4EF1-A889-02DF27122C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u="sng" dirty="0"/>
              <a:t> function</a:t>
            </a:r>
            <a:r>
              <a:rPr lang="en-US" altLang="en-US" dirty="0"/>
              <a:t>: returns the number of elements in the set</a:t>
            </a:r>
          </a:p>
          <a:p>
            <a:pPr>
              <a:buFontTx/>
              <a:buChar char="•"/>
            </a:pPr>
            <a:r>
              <a:rPr lang="en-US" altLang="en-US" dirty="0"/>
              <a:t>Sets are mutable objects</a:t>
            </a:r>
          </a:p>
          <a:p>
            <a:pPr>
              <a:buFontTx/>
              <a:buChar char="•"/>
            </a:pP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altLang="en-US" u="sng" dirty="0"/>
              <a:t> method</a:t>
            </a:r>
            <a:r>
              <a:rPr lang="en-US" altLang="en-US" dirty="0"/>
              <a:t>: adds an element to a set</a:t>
            </a:r>
          </a:p>
          <a:p>
            <a:pPr>
              <a:buFontTx/>
              <a:buChar char="•"/>
            </a:pP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altLang="en-US" u="sng" dirty="0"/>
              <a:t> method</a:t>
            </a:r>
            <a:r>
              <a:rPr lang="en-US" altLang="en-US" dirty="0"/>
              <a:t>: adds a group of elements to a set</a:t>
            </a:r>
          </a:p>
          <a:p>
            <a:pPr lvl="1"/>
            <a:r>
              <a:rPr lang="en-US" altLang="en-US" dirty="0"/>
              <a:t>Argument must be a sequence containing </a:t>
            </a:r>
            <a:r>
              <a:rPr lang="en-US" altLang="en-US" dirty="0" err="1"/>
              <a:t>iterable</a:t>
            </a:r>
            <a:r>
              <a:rPr lang="en-US" altLang="en-US" dirty="0"/>
              <a:t> elements, and each of the elements is added to the set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8FE65C96-FCDD-4C28-A0CD-51C4A365DB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Deleting Elements From a Set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C622C0AB-AC27-4EDD-A236-58D8D09F0A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US" altLang="en-US" u="sng" dirty="0"/>
              <a:t> and </a:t>
            </a: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discard</a:t>
            </a:r>
            <a:r>
              <a:rPr lang="en-US" altLang="en-US" u="sng" dirty="0"/>
              <a:t> methods</a:t>
            </a:r>
            <a:r>
              <a:rPr lang="en-US" altLang="en-US" dirty="0"/>
              <a:t>: remove the specified item from the set</a:t>
            </a:r>
          </a:p>
          <a:p>
            <a:pPr lvl="1"/>
            <a:r>
              <a:rPr lang="en-US" altLang="en-US" dirty="0"/>
              <a:t>The item that should be removed is passed to both methods as an argument</a:t>
            </a:r>
          </a:p>
          <a:p>
            <a:pPr lvl="1"/>
            <a:r>
              <a:rPr lang="en-US" altLang="en-US" dirty="0"/>
              <a:t>Behave differently when the specified item is not found in the set</a:t>
            </a:r>
          </a:p>
          <a:p>
            <a:pPr lvl="2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US" altLang="en-US" dirty="0"/>
              <a:t> method raises 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KeyError</a:t>
            </a:r>
            <a:r>
              <a:rPr lang="en-US" altLang="en-US" dirty="0"/>
              <a:t> exception</a:t>
            </a:r>
          </a:p>
          <a:p>
            <a:pPr lvl="2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discard</a:t>
            </a:r>
            <a:r>
              <a:rPr lang="en-US" altLang="en-US" dirty="0"/>
              <a:t> method does not raise an exception</a:t>
            </a:r>
          </a:p>
          <a:p>
            <a:pPr>
              <a:buFontTx/>
              <a:buChar char="•"/>
            </a:pPr>
            <a:r>
              <a:rPr lang="en-US" alt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clear</a:t>
            </a:r>
            <a:r>
              <a:rPr lang="en-US" altLang="en-US" u="sng" dirty="0"/>
              <a:t> method</a:t>
            </a:r>
            <a:r>
              <a:rPr lang="en-US" altLang="en-US" dirty="0"/>
              <a:t>: clears all the elements of the set</a:t>
            </a:r>
            <a:endParaRPr lang="he-IL" altLang="en-US" dirty="0"/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772C365A-4BC9-4720-BCFA-07A38F175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Using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dirty="0"/>
              <a:t> Loop,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dirty="0">
                <a:cs typeface="Courier New" panose="02070309020205020404" pitchFamily="49" charset="0"/>
              </a:rPr>
              <a:t>,</a:t>
            </a:r>
            <a:r>
              <a:rPr lang="en-US" altLang="en-US" dirty="0"/>
              <a:t> and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altLang="en-US" dirty="0">
                <a:cs typeface="Courier New" panose="02070309020205020404" pitchFamily="49" charset="0"/>
              </a:rPr>
              <a:t>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dirty="0"/>
              <a:t> Operators With a Set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7B7BDAA0-D13A-4430-B078-9013349E8A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A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dirty="0">
                <a:cs typeface="Courier New" panose="02070309020205020404" pitchFamily="49" charset="0"/>
              </a:rPr>
              <a:t> loop can be used to iterate over elements in a set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General format: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The loop iterates once for each element in the set</a:t>
            </a:r>
          </a:p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dirty="0">
                <a:cs typeface="Courier New" panose="02070309020205020404" pitchFamily="49" charset="0"/>
              </a:rPr>
              <a:t> operator can be used to test whether a value exists in a set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Similarly,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not in</a:t>
            </a:r>
            <a:r>
              <a:rPr lang="en-US" altLang="en-US" dirty="0">
                <a:cs typeface="Courier New" panose="02070309020205020404" pitchFamily="49" charset="0"/>
              </a:rPr>
              <a:t> operator can be used to test whether a value does not exist in a set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BC7DD08B-4A69-4904-ACD6-645F6F60B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Finding the Union of Sets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4352C8D5-7720-47B4-A045-E6F4EB894F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u="sng" dirty="0">
                <a:cs typeface="Courier New" panose="02070309020205020404" pitchFamily="49" charset="0"/>
              </a:rPr>
              <a:t>Union of two sets</a:t>
            </a:r>
            <a:r>
              <a:rPr lang="en-US" altLang="en-US" dirty="0">
                <a:cs typeface="Courier New" panose="02070309020205020404" pitchFamily="49" charset="0"/>
              </a:rPr>
              <a:t>: a set that contains all the elements of both sets</a:t>
            </a:r>
          </a:p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To find the union of two sets: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en-US" altLang="en-US" dirty="0">
                <a:cs typeface="Courier New" panose="02070309020205020404" pitchFamily="49" charset="0"/>
              </a:rPr>
              <a:t> method 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Format: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set1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.union(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set2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altLang="en-US" dirty="0">
                <a:cs typeface="Courier New" panose="02070309020205020404" pitchFamily="49" charset="0"/>
              </a:rPr>
              <a:t> operator 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Format: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set1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set2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Both techniques return a new set which contains the union of both sets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867AB683-15AD-427D-B769-A052E4173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Finding the Intersection of Sets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BBAA4C28-2C6A-4F6B-9CA8-47EA92BE38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u="sng" dirty="0">
                <a:cs typeface="Courier New" panose="02070309020205020404" pitchFamily="49" charset="0"/>
              </a:rPr>
              <a:t>Intersection of two sets</a:t>
            </a:r>
            <a:r>
              <a:rPr lang="en-US" altLang="en-US" dirty="0">
                <a:cs typeface="Courier New" panose="02070309020205020404" pitchFamily="49" charset="0"/>
              </a:rPr>
              <a:t>: a set that contains only the elements found in both sets</a:t>
            </a:r>
          </a:p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To find the intersection of two sets: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intersection</a:t>
            </a:r>
            <a:r>
              <a:rPr lang="en-US" altLang="en-US" dirty="0">
                <a:cs typeface="Courier New" panose="02070309020205020404" pitchFamily="49" charset="0"/>
              </a:rPr>
              <a:t> method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Format: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set1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.intersection(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set2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altLang="en-US" dirty="0">
                <a:cs typeface="Courier New" panose="02070309020205020404" pitchFamily="49" charset="0"/>
              </a:rPr>
              <a:t> operator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Format: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set1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&amp;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set2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Both techniques return a new set which contains the intersection of both sets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470A5A34-14A0-4E48-AC86-6213BC7B6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Finding the Difference of Sets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621969E9-64B9-4F4D-8261-9D701FA26D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u="sng" dirty="0">
                <a:cs typeface="Courier New" panose="02070309020205020404" pitchFamily="49" charset="0"/>
              </a:rPr>
              <a:t>Difference of two sets</a:t>
            </a:r>
            <a:r>
              <a:rPr lang="en-US" altLang="en-US" dirty="0">
                <a:cs typeface="Courier New" panose="02070309020205020404" pitchFamily="49" charset="0"/>
              </a:rPr>
              <a:t>: a set that contains the elements that appear in the first set but do not appear in the second set</a:t>
            </a:r>
          </a:p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To find the difference of two sets: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difference</a:t>
            </a:r>
            <a:r>
              <a:rPr lang="en-US" altLang="en-US" dirty="0">
                <a:cs typeface="Courier New" panose="02070309020205020404" pitchFamily="49" charset="0"/>
              </a:rPr>
              <a:t> method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Format: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set1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.difference(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set2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dirty="0">
                <a:cs typeface="Courier New" panose="02070309020205020404" pitchFamily="49" charset="0"/>
              </a:rPr>
              <a:t> operator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Format: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set1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set2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0577E2A6-1237-42FE-AC20-8071E2265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Finding the Symmetric Difference of Sets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79CF7834-B1EE-4C6C-98E9-9CF31B6EC0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u="sng" dirty="0">
                <a:cs typeface="Courier New" panose="02070309020205020404" pitchFamily="49" charset="0"/>
              </a:rPr>
              <a:t>Symmetric difference of two sets</a:t>
            </a:r>
            <a:r>
              <a:rPr lang="en-US" altLang="en-US" dirty="0">
                <a:cs typeface="Courier New" panose="02070309020205020404" pitchFamily="49" charset="0"/>
              </a:rPr>
              <a:t>: a set that contains the elements that are not shared by the two sets</a:t>
            </a:r>
          </a:p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To find the symmetric difference of two sets: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Use the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symmetric_difference</a:t>
            </a:r>
            <a:r>
              <a:rPr lang="en-US" altLang="en-US" dirty="0">
                <a:cs typeface="Courier New" panose="02070309020205020404" pitchFamily="49" charset="0"/>
              </a:rPr>
              <a:t> method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Format: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set1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.symmetric_difference(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set2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r>
              <a:rPr lang="en-US" altLang="en-US" dirty="0">
                <a:cs typeface="Courier New" panose="02070309020205020404" pitchFamily="49" charset="0"/>
              </a:rPr>
              <a:t> operator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Format: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set1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^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set2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23A54D40-03DF-4D5F-92C7-AB2D5B1950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Finding Subsets and Supersets</a:t>
            </a:r>
            <a:r>
              <a:rPr lang="en-US" altLang="en-US" sz="2000" b="0" dirty="0"/>
              <a:t> (1 of 2)</a:t>
            </a:r>
            <a:endParaRPr lang="en-US" altLang="en-US" sz="2000" dirty="0"/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DC8DBF5C-24CE-4E39-9D16-C9944ACB8A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Set A is subset of set B if all the elements in set A are included in set B</a:t>
            </a:r>
          </a:p>
          <a:p>
            <a:pPr>
              <a:buFontTx/>
              <a:buChar char="•"/>
            </a:pPr>
            <a:r>
              <a:rPr lang="en-US" altLang="en-US" dirty="0"/>
              <a:t>To determine whether set A is subset of set B</a:t>
            </a:r>
          </a:p>
          <a:p>
            <a:pPr lvl="1"/>
            <a:r>
              <a:rPr lang="en-US" altLang="en-US" dirty="0"/>
              <a:t>Use the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issubset</a:t>
            </a:r>
            <a:r>
              <a:rPr lang="en-US" altLang="en-US" dirty="0"/>
              <a:t> method </a:t>
            </a:r>
          </a:p>
          <a:p>
            <a:pPr lvl="2"/>
            <a:r>
              <a:rPr lang="en-US" altLang="en-US" dirty="0"/>
              <a:t>Format: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.issubset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setB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altLang="en-US" dirty="0"/>
              <a:t>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altLang="en-US" dirty="0"/>
              <a:t> operator </a:t>
            </a:r>
          </a:p>
          <a:p>
            <a:pPr lvl="2"/>
            <a:r>
              <a:rPr lang="en-US" altLang="en-US" dirty="0"/>
              <a:t>Format: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setB</a:t>
            </a:r>
            <a:endParaRPr lang="en-US" alt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2D3AF1EB-1586-4932-B5FD-966473E7D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Finding Subsets and Supersets</a:t>
            </a:r>
            <a:r>
              <a:rPr lang="en-US" altLang="en-US" sz="2000" b="0" dirty="0"/>
              <a:t> (2 of 2)</a:t>
            </a:r>
            <a:endParaRPr lang="en-US" altLang="en-US" sz="2000" dirty="0"/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156894C8-2BCA-417F-953D-1E87D3F071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Set A is superset of set B if it contains all the elements of set B</a:t>
            </a:r>
          </a:p>
          <a:p>
            <a:pPr>
              <a:buFontTx/>
              <a:buChar char="•"/>
            </a:pPr>
            <a:r>
              <a:rPr lang="en-US" altLang="en-US" dirty="0"/>
              <a:t>To determine whether set A is superset of set B</a:t>
            </a:r>
          </a:p>
          <a:p>
            <a:pPr lvl="1"/>
            <a:r>
              <a:rPr lang="en-US" altLang="en-US" dirty="0"/>
              <a:t>Use the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issuperset</a:t>
            </a:r>
            <a:r>
              <a:rPr lang="en-US" altLang="en-US" dirty="0"/>
              <a:t> method</a:t>
            </a:r>
          </a:p>
          <a:p>
            <a:pPr lvl="2"/>
            <a:r>
              <a:rPr lang="en-US" altLang="en-US" dirty="0"/>
              <a:t>Format: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.issuperset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setB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altLang="en-US" dirty="0"/>
              <a:t>Use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altLang="en-US" dirty="0"/>
              <a:t> operator </a:t>
            </a:r>
          </a:p>
          <a:p>
            <a:pPr lvl="2"/>
            <a:r>
              <a:rPr lang="en-US" altLang="en-US" dirty="0"/>
              <a:t>Format: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alt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setB</a:t>
            </a:r>
            <a:endParaRPr lang="en-US" alt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192E7B2C-BA0C-4251-965D-1E2229CE15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Set Comprehensions</a:t>
            </a:r>
            <a:r>
              <a:rPr lang="en-US" altLang="en-US" sz="2000" b="0" dirty="0"/>
              <a:t> (1 of 4)</a:t>
            </a:r>
            <a:endParaRPr lang="en-US" altLang="en-US" sz="2000" dirty="0"/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B2A5FEC7-6633-475D-B054-BBDA7B4DD5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Set comprehension: a concise expression that creates a new set by iterating over the elements of a sequence</a:t>
            </a:r>
          </a:p>
          <a:p>
            <a:pPr>
              <a:buFontTx/>
              <a:buChar char="•"/>
            </a:pPr>
            <a:r>
              <a:rPr lang="en-US" altLang="en-US" dirty="0"/>
              <a:t>Set comprehensions are written just like list comprehensions, except that a set comprehension is enclosed in curly braces ({}) instead of brackets ([])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52FC7629-BBD8-4F4C-BCA6-F4A4FDDFEA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Set Comprehensions</a:t>
            </a:r>
            <a:r>
              <a:rPr lang="en-US" altLang="en-US" sz="2000" b="0" dirty="0"/>
              <a:t> (2 of 4)</a:t>
            </a:r>
            <a:endParaRPr lang="en-US" altLang="en-US" sz="2000" dirty="0"/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9E7EF117-07D0-491A-90C3-5707879F1A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Example: making a copy of a set</a:t>
            </a:r>
          </a:p>
        </p:txBody>
      </p:sp>
      <p:sp>
        <p:nvSpPr>
          <p:cNvPr id="25604" name="TextBox 1">
            <a:extLst>
              <a:ext uri="{FF2B5EF4-FFF2-40B4-BE49-F238E27FC236}">
                <a16:creationId xmlns:a16="http://schemas.microsoft.com/office/drawing/2014/main" id="{F00D36D3-D73C-475E-A805-A2189F0EC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0"/>
            <a:ext cx="6705600" cy="19383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7FA3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set1 = set([1, 2, 3, 4, 5])</a:t>
            </a:r>
          </a:p>
          <a:p>
            <a:pPr>
              <a:defRPr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set2 = {item for item in set1}</a:t>
            </a:r>
          </a:p>
          <a:p>
            <a:pPr>
              <a:defRPr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set2</a:t>
            </a:r>
          </a:p>
          <a:p>
            <a:pPr>
              <a:defRPr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{1, 2, 3, 4, 5}</a:t>
            </a:r>
          </a:p>
          <a:p>
            <a:pPr>
              <a:defRPr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02AACA78-B7E3-4252-87CF-4B530E1C2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Set Comprehensions</a:t>
            </a:r>
            <a:r>
              <a:rPr lang="en-US" altLang="en-US" sz="2000" b="0" dirty="0"/>
              <a:t> (3 of 4)</a:t>
            </a:r>
            <a:endParaRPr lang="en-US" altLang="en-US" sz="2000" dirty="0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126FB4DB-1271-43AF-9D57-231199E9BC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Example: creating a set that contains the squares of the numbers stored in another set</a:t>
            </a:r>
          </a:p>
        </p:txBody>
      </p:sp>
      <p:sp>
        <p:nvSpPr>
          <p:cNvPr id="25604" name="TextBox 1">
            <a:extLst>
              <a:ext uri="{FF2B5EF4-FFF2-40B4-BE49-F238E27FC236}">
                <a16:creationId xmlns:a16="http://schemas.microsoft.com/office/drawing/2014/main" id="{C4B77055-937E-4144-8004-58AE2C290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667000"/>
            <a:ext cx="70866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7FA3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set1 = set([1, 2, 3, 4, 5])</a:t>
            </a:r>
          </a:p>
          <a:p>
            <a:pPr>
              <a:defRPr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set2 = {item**2 for item in set1}</a:t>
            </a:r>
          </a:p>
          <a:p>
            <a:pPr>
              <a:defRPr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set2</a:t>
            </a:r>
          </a:p>
          <a:p>
            <a:pPr>
              <a:defRPr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{1, 4, 9, 16, 25}</a:t>
            </a:r>
          </a:p>
          <a:p>
            <a:pPr>
              <a:defRPr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38086E49-89C6-48A4-9E92-F325925F33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Set Comprehensions</a:t>
            </a:r>
            <a:r>
              <a:rPr lang="en-US" altLang="en-US" sz="2000" b="0" dirty="0"/>
              <a:t> (4 of 4)</a:t>
            </a:r>
            <a:endParaRPr lang="en-US" altLang="en-US" sz="2000" dirty="0"/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E8E94726-4BD8-4089-862B-A847EA9000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altLang="en-US" dirty="0"/>
              <a:t>Example: copying the numbers in a set that are less than 10</a:t>
            </a:r>
          </a:p>
        </p:txBody>
      </p:sp>
      <p:sp>
        <p:nvSpPr>
          <p:cNvPr id="25604" name="TextBox 1">
            <a:extLst>
              <a:ext uri="{FF2B5EF4-FFF2-40B4-BE49-F238E27FC236}">
                <a16:creationId xmlns:a16="http://schemas.microsoft.com/office/drawing/2014/main" id="{2B931177-D24F-44D2-94F4-C059E6862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667000"/>
            <a:ext cx="8229600" cy="178510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7FA3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set1 = set([1, 20, 2, 40, 3, 50])</a:t>
            </a:r>
          </a:p>
          <a:p>
            <a:pPr>
              <a:defRPr/>
            </a:pP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set2 = {item for item in set1 if item &lt; 10}</a:t>
            </a:r>
          </a:p>
          <a:p>
            <a:pPr>
              <a:defRPr/>
            </a:pP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set2</a:t>
            </a:r>
          </a:p>
          <a:p>
            <a:pPr>
              <a:defRPr/>
            </a:pP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{1, 2, 3}</a:t>
            </a:r>
          </a:p>
          <a:p>
            <a:pPr>
              <a:defRPr/>
            </a:pPr>
            <a:r>
              <a:rPr lang="en-US" alt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C3DAE299-0331-4E84-85D3-56387C1B2D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Serializing Objects</a:t>
            </a:r>
            <a:r>
              <a:rPr lang="en-US" altLang="en-US" sz="2000" b="0" dirty="0"/>
              <a:t> (1 of 3)</a:t>
            </a:r>
            <a:endParaRPr lang="en-US" altLang="en-US" sz="2000" dirty="0"/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3179BBBA-5AFE-481E-9A36-B404CCC92C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u="sng" dirty="0">
                <a:cs typeface="Courier New" panose="02070309020205020404" pitchFamily="49" charset="0"/>
              </a:rPr>
              <a:t>Serialize an object</a:t>
            </a:r>
            <a:r>
              <a:rPr lang="en-US" altLang="en-US" dirty="0">
                <a:cs typeface="Courier New" panose="02070309020205020404" pitchFamily="49" charset="0"/>
              </a:rPr>
              <a:t>: convert the object to a stream of bytes that can easily be stored in a file </a:t>
            </a:r>
          </a:p>
          <a:p>
            <a:pPr eaLnBrk="1" hangingPunct="1">
              <a:buFontTx/>
              <a:buChar char="•"/>
            </a:pPr>
            <a:r>
              <a:rPr lang="en-US" altLang="en-US" u="sng" dirty="0">
                <a:cs typeface="Courier New" panose="02070309020205020404" pitchFamily="49" charset="0"/>
              </a:rPr>
              <a:t>Pickling</a:t>
            </a:r>
            <a:r>
              <a:rPr lang="en-US" altLang="en-US" dirty="0">
                <a:cs typeface="Courier New" panose="02070309020205020404" pitchFamily="49" charset="0"/>
              </a:rPr>
              <a:t>: serializing an object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C71944D6-4B85-4EB9-89B5-96AD65767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Serializing Objects</a:t>
            </a:r>
            <a:r>
              <a:rPr lang="en-US" altLang="en-US" sz="2000" b="0" dirty="0"/>
              <a:t> (2 of 3)</a:t>
            </a:r>
            <a:endParaRPr lang="en-US" altLang="en-US" sz="2000" dirty="0"/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EC98394B-6B2D-4B53-AC39-3C4F6B04E5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To pickle an object: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Import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pickle</a:t>
            </a:r>
            <a:r>
              <a:rPr lang="en-US" altLang="en-US" dirty="0">
                <a:cs typeface="Courier New" panose="02070309020205020404" pitchFamily="49" charset="0"/>
              </a:rPr>
              <a:t> module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Open a file for binary writing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Call the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pickle.dump</a:t>
            </a:r>
            <a:r>
              <a:rPr lang="en-US" altLang="en-US" dirty="0">
                <a:cs typeface="Courier New" panose="02070309020205020404" pitchFamily="49" charset="0"/>
              </a:rPr>
              <a:t> function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Format: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pickle.dump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Close the file</a:t>
            </a:r>
          </a:p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You can pickle multiple objects to one file prior to closing the file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20B40853-05FC-46E7-B43C-ADCC9A834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Serializing Objects</a:t>
            </a:r>
            <a:r>
              <a:rPr lang="en-US" altLang="en-US" sz="2000" b="0" dirty="0"/>
              <a:t> (3 of 3)</a:t>
            </a:r>
            <a:endParaRPr lang="en-US" altLang="en-US" sz="2000" dirty="0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7870A8E5-A004-4737-AEFC-51CACF5502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u="sng" dirty="0">
                <a:cs typeface="Courier New" panose="02070309020205020404" pitchFamily="49" charset="0"/>
              </a:rPr>
              <a:t>Unpickling</a:t>
            </a:r>
            <a:r>
              <a:rPr lang="en-US" altLang="en-US" dirty="0">
                <a:cs typeface="Courier New" panose="02070309020205020404" pitchFamily="49" charset="0"/>
              </a:rPr>
              <a:t>: retrieving pickled object</a:t>
            </a:r>
          </a:p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To unpickle an object: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Import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pickle</a:t>
            </a:r>
            <a:r>
              <a:rPr lang="en-US" altLang="en-US" dirty="0">
                <a:cs typeface="Courier New" panose="02070309020205020404" pitchFamily="49" charset="0"/>
              </a:rPr>
              <a:t> module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Open a file for binary writing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Call the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pickle.load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cs typeface="Courier New" panose="02070309020205020404" pitchFamily="49" charset="0"/>
              </a:rPr>
              <a:t>function</a:t>
            </a:r>
          </a:p>
          <a:p>
            <a:pPr lvl="2"/>
            <a:r>
              <a:rPr lang="en-US" altLang="en-US" dirty="0">
                <a:cs typeface="Courier New" panose="02070309020205020404" pitchFamily="49" charset="0"/>
              </a:rPr>
              <a:t>Format: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pickle.load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 eaLnBrk="1" hangingPunct="1"/>
            <a:r>
              <a:rPr lang="en-US" altLang="en-US" dirty="0">
                <a:cs typeface="Courier New" panose="02070309020205020404" pitchFamily="49" charset="0"/>
              </a:rPr>
              <a:t>Close the file</a:t>
            </a:r>
          </a:p>
          <a:p>
            <a:pPr eaLnBrk="1" hangingPunct="1">
              <a:buFontTx/>
              <a:buChar char="•"/>
            </a:pPr>
            <a:r>
              <a:rPr lang="en-US" altLang="en-US" dirty="0">
                <a:cs typeface="Courier New" panose="02070309020205020404" pitchFamily="49" charset="0"/>
              </a:rPr>
              <a:t>You can unpickle multiple objects from the file</a:t>
            </a:r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FF4AA8E8-5908-45C3-A2FA-57A1C23BD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</a:t>
            </a:r>
            <a:r>
              <a:rPr lang="en-US" altLang="en-US" sz="2000" b="0" dirty="0"/>
              <a:t> (1 of 2)</a:t>
            </a:r>
            <a:endParaRPr lang="he-IL" altLang="en-US" sz="2000" dirty="0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80EBFFB0-36E9-4EBF-A36B-061BF475C3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/>
              <a:t>This chapter covered:</a:t>
            </a:r>
          </a:p>
          <a:p>
            <a:pPr lvl="1" eaLnBrk="1" hangingPunct="1"/>
            <a:r>
              <a:rPr lang="en-US" altLang="en-US" dirty="0"/>
              <a:t>Dictionaries, including:</a:t>
            </a:r>
          </a:p>
          <a:p>
            <a:pPr lvl="2"/>
            <a:r>
              <a:rPr lang="en-US" altLang="en-US" dirty="0"/>
              <a:t>Creating dictionaries</a:t>
            </a:r>
          </a:p>
          <a:p>
            <a:pPr lvl="2"/>
            <a:r>
              <a:rPr lang="en-US" altLang="en-US" dirty="0"/>
              <a:t>Inserting, retrieving, adding, and deleting key-value pairs</a:t>
            </a:r>
          </a:p>
          <a:p>
            <a:pPr lvl="2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dirty="0"/>
              <a:t> loops and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dirty="0"/>
              <a:t> and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not in</a:t>
            </a:r>
            <a:r>
              <a:rPr lang="en-US" altLang="en-US" dirty="0"/>
              <a:t> operators</a:t>
            </a:r>
          </a:p>
          <a:p>
            <a:pPr lvl="2"/>
            <a:r>
              <a:rPr lang="en-US" altLang="en-US" dirty="0"/>
              <a:t>Dictionary methods</a:t>
            </a:r>
          </a:p>
          <a:p>
            <a:pPr lvl="1" eaLnBrk="1" hangingPunct="1"/>
            <a:endParaRPr lang="he-IL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A3274D72-1AAA-4DCE-94F6-DD22E557B6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</a:t>
            </a:r>
            <a:r>
              <a:rPr lang="en-US" altLang="en-US" sz="2000" b="0" dirty="0"/>
              <a:t> (2 of 2)</a:t>
            </a:r>
            <a:endParaRPr lang="en-US" altLang="en-US" sz="2000" dirty="0"/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C48EAD52-30F4-48ED-BBBE-D9A4EEE4E6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/>
              <a:t>This chapter covered (cont’d):</a:t>
            </a:r>
          </a:p>
          <a:p>
            <a:pPr lvl="1" eaLnBrk="1" hangingPunct="1"/>
            <a:r>
              <a:rPr lang="en-US" altLang="en-US" dirty="0"/>
              <a:t>Sets: </a:t>
            </a:r>
          </a:p>
          <a:p>
            <a:pPr lvl="2"/>
            <a:r>
              <a:rPr lang="en-US" altLang="en-US" dirty="0"/>
              <a:t>Creating sets</a:t>
            </a:r>
          </a:p>
          <a:p>
            <a:pPr lvl="2"/>
            <a:r>
              <a:rPr lang="en-US" altLang="en-US" dirty="0"/>
              <a:t>Adding elements to and removing elements from sets</a:t>
            </a:r>
          </a:p>
          <a:p>
            <a:pPr lvl="2"/>
            <a:r>
              <a:rPr lang="en-US" altLang="en-US" dirty="0"/>
              <a:t>Finding set union, intersection, difference and symmetric difference</a:t>
            </a:r>
          </a:p>
          <a:p>
            <a:pPr lvl="2"/>
            <a:r>
              <a:rPr lang="en-US" altLang="en-US" dirty="0"/>
              <a:t>Finding subsets and supersets</a:t>
            </a:r>
          </a:p>
          <a:p>
            <a:pPr lvl="1" eaLnBrk="1" hangingPunct="1"/>
            <a:r>
              <a:rPr lang="en-US" altLang="en-US" dirty="0"/>
              <a:t>Serializing objects</a:t>
            </a:r>
          </a:p>
          <a:p>
            <a:pPr lvl="2"/>
            <a:r>
              <a:rPr lang="en-US" altLang="en-US" dirty="0"/>
              <a:t>Pickling and unpickling objects</a:t>
            </a:r>
            <a:endParaRPr lang="he-IL" altLang="en-US" dirty="0"/>
          </a:p>
          <a:p>
            <a:pPr>
              <a:buFontTx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8593</TotalTime>
  <Words>2417</Words>
  <Application>Microsoft Office PowerPoint</Application>
  <PresentationFormat>On-screen Show (4:3)</PresentationFormat>
  <Paragraphs>276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Consolas</vt:lpstr>
      <vt:lpstr>Courier New</vt:lpstr>
      <vt:lpstr>Times New Roman</vt:lpstr>
      <vt:lpstr>Verdana</vt:lpstr>
      <vt:lpstr>Wingdings</vt:lpstr>
      <vt:lpstr>508 Lecture</vt:lpstr>
      <vt:lpstr>Starting out with Python</vt:lpstr>
      <vt:lpstr>Topics</vt:lpstr>
      <vt:lpstr>Dictionaries</vt:lpstr>
      <vt:lpstr>Retrieving a Value from a Dictionary</vt:lpstr>
      <vt:lpstr>Adding Elements to an Existing Dictionary</vt:lpstr>
      <vt:lpstr>Deleting Elements From an Existing Dictionary</vt:lpstr>
      <vt:lpstr>Getting the Number of Elements and Mixing Data Types</vt:lpstr>
      <vt:lpstr>Creating an Empty Dictionary and Using for Loop to Iterate Over a Dictionary</vt:lpstr>
      <vt:lpstr>Some Dictionary Methods (1 of 5)</vt:lpstr>
      <vt:lpstr>Some Dictionary Methods (2 of 5)</vt:lpstr>
      <vt:lpstr>Some Dictionary Methods (3 of 5)</vt:lpstr>
      <vt:lpstr>Some Dictionary Methods (4 of 5)</vt:lpstr>
      <vt:lpstr>Some Dictionary Methods (5 of 5)</vt:lpstr>
      <vt:lpstr>Dictionary Comprehensions (1 of 6)</vt:lpstr>
      <vt:lpstr>Dictionary Comprehensions (2 of 6)</vt:lpstr>
      <vt:lpstr>Dictionary Comprehensions (3 of 6)</vt:lpstr>
      <vt:lpstr>Dictionary Comprehensions (4 of 6)</vt:lpstr>
      <vt:lpstr>Dictionary Comprehensions (5 of 6)</vt:lpstr>
      <vt:lpstr>Dictionary Comprehensions (6 of 6)</vt:lpstr>
      <vt:lpstr>Sets</vt:lpstr>
      <vt:lpstr>Creating a Set</vt:lpstr>
      <vt:lpstr>Getting the Number of and Adding Elements</vt:lpstr>
      <vt:lpstr>Deleting Elements From a Set</vt:lpstr>
      <vt:lpstr>Using the for Loop, in, and not in Operators With a Set</vt:lpstr>
      <vt:lpstr>Finding the Union of Sets</vt:lpstr>
      <vt:lpstr>Finding the Intersection of Sets</vt:lpstr>
      <vt:lpstr>Finding the Difference of Sets</vt:lpstr>
      <vt:lpstr>Finding the Symmetric Difference of Sets</vt:lpstr>
      <vt:lpstr>Finding Subsets and Supersets (1 of 2)</vt:lpstr>
      <vt:lpstr>Finding Subsets and Supersets (2 of 2)</vt:lpstr>
      <vt:lpstr>Set Comprehensions (1 of 4)</vt:lpstr>
      <vt:lpstr>Set Comprehensions (2 of 4)</vt:lpstr>
      <vt:lpstr>Set Comprehensions (3 of 4)</vt:lpstr>
      <vt:lpstr>Set Comprehensions (4 of 4)</vt:lpstr>
      <vt:lpstr>Serializing Objects (1 of 3)</vt:lpstr>
      <vt:lpstr>Serializing Objects (2 of 3)</vt:lpstr>
      <vt:lpstr>Serializing Objects (3 of 3)</vt:lpstr>
      <vt:lpstr>Summary (1 of 2)</vt:lpstr>
      <vt:lpstr>Summary (2 of 2)</vt:lpstr>
    </vt:vector>
  </TitlesOfParts>
  <Company>SPi-Global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Starting out with Python, Fifth Edition</dc:title>
  <dc:subject>Computer Science</dc:subject>
  <dc:creator>Tony Gaddis</dc:creator>
  <cp:keywords>Computer program language</cp:keywords>
  <cp:lastModifiedBy>Kathiravan Natarajan</cp:lastModifiedBy>
  <cp:revision>664</cp:revision>
  <dcterms:created xsi:type="dcterms:W3CDTF">2014-07-14T20:04:21Z</dcterms:created>
  <dcterms:modified xsi:type="dcterms:W3CDTF">2024-04-01T03:46:56Z</dcterms:modified>
  <cp:category>IT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UniqueId">
    <vt:lpwstr>682740</vt:lpwstr>
  </property>
  <property fmtid="{D5CDD505-2E9C-101B-9397-08002B2CF9AE}" pid="3" name="Offisync_UpdateToken">
    <vt:lpwstr>1</vt:lpwstr>
  </property>
  <property fmtid="{D5CDD505-2E9C-101B-9397-08002B2CF9AE}" pid="4" name="Jive_VersionGuid">
    <vt:lpwstr>7b502893-ac4a-4309-967d-6eb652f6b574</vt:lpwstr>
  </property>
  <property fmtid="{D5CDD505-2E9C-101B-9397-08002B2CF9AE}" pid="5" name="Offisync_ProviderInitializationData">
    <vt:lpwstr>https://neo.pearson.com</vt:lpwstr>
  </property>
  <property fmtid="{D5CDD505-2E9C-101B-9397-08002B2CF9AE}" pid="6" name="Offisync_ServerID">
    <vt:lpwstr>7e960520-0e88-4f05-9fa0-24079b61e486</vt:lpwstr>
  </property>
  <property fmtid="{D5CDD505-2E9C-101B-9397-08002B2CF9AE}" pid="7" name="Jive_LatestUserAccountName">
    <vt:lpwstr>sumit.gupta</vt:lpwstr>
  </property>
</Properties>
</file>